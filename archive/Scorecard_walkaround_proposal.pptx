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6"/>
  </p:notesMasterIdLst>
  <p:sldIdLst>
    <p:sldId id="260" r:id="rId5"/>
    <p:sldId id="2147483624" r:id="rId6"/>
    <p:sldId id="2147483581" r:id="rId7"/>
    <p:sldId id="2147483619" r:id="rId8"/>
    <p:sldId id="2147483631" r:id="rId9"/>
    <p:sldId id="2147483627" r:id="rId10"/>
    <p:sldId id="2147483633" r:id="rId11"/>
    <p:sldId id="2147483634" r:id="rId12"/>
    <p:sldId id="2147483635" r:id="rId13"/>
    <p:sldId id="2147483636" r:id="rId14"/>
    <p:sldId id="2147483637" r:id="rId15"/>
  </p:sldIdLst>
  <p:sldSz cx="12192000" cy="6858000"/>
  <p:notesSz cx="6858000" cy="91440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6B8E3A8-9C5F-48ED-82D4-4158B14341D2}">
          <p14:sldIdLst>
            <p14:sldId id="260"/>
            <p14:sldId id="2147483624"/>
            <p14:sldId id="2147483581"/>
            <p14:sldId id="2147483619"/>
            <p14:sldId id="2147483631"/>
            <p14:sldId id="2147483627"/>
            <p14:sldId id="2147483633"/>
            <p14:sldId id="2147483634"/>
            <p14:sldId id="2147483635"/>
            <p14:sldId id="2147483636"/>
            <p14:sldId id="214748363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0707"/>
    <a:srgbClr val="003399"/>
    <a:srgbClr val="002F8E"/>
    <a:srgbClr val="297FD5"/>
    <a:srgbClr val="0070C0"/>
    <a:srgbClr val="002060"/>
    <a:srgbClr val="A5A5A5"/>
    <a:srgbClr val="374D81"/>
    <a:srgbClr val="4A66AC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113209-94C2-4EAC-8731-12979A23D251}" v="8" dt="2026-01-27T14:11:05.1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665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3D796-758E-F14E-B169-DEB491B42CB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857A70-0B65-0243-95A8-A131372B9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561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857A70-0B65-0243-95A8-A131372B93A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209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7D816-E5BA-ED18-4387-3CCAD9628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9EF3C7-2081-86CB-4F27-D917BF9BC5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5C98DC-5047-3A6D-3B5F-2BCA1AB85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690BA-E926-C0BA-1E6A-AE2B7C0947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857A70-0B65-0243-95A8-A131372B93A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1374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4F39A-8B1C-D092-B095-DD3E17BE6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A0A280-CD5E-7C6F-92BD-F6DC655A68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8CF1C9-AF29-5DA5-CB5C-0A76203DB1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86741-FFC1-E1F8-8062-A6D5030B7A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857A70-0B65-0243-95A8-A131372B93A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1124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19A00-A73B-4C69-0FF7-971228734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E58363-8635-7B06-7900-306804A5A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7889D8-B4C5-3B4C-B960-B9169C2A96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076A78-2AD7-8FA0-24FE-3B73C45F7A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857A70-0B65-0243-95A8-A131372B93A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5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29ABF54-5751-76A0-98D2-2FA3699FB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2195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uide - Icon Libr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CECD371-7C06-488E-AA23-EB47BBF733D9}"/>
              </a:ext>
            </a:extLst>
          </p:cNvPr>
          <p:cNvSpPr txBox="1">
            <a:spLocks/>
          </p:cNvSpPr>
          <p:nvPr userDrawn="1"/>
        </p:nvSpPr>
        <p:spPr>
          <a:xfrm>
            <a:off x="381000" y="381000"/>
            <a:ext cx="11430000" cy="9144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33E58D9-1063-D569-06F6-7A4C8E2D4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62615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2B1AC-3D0C-D3E8-2C9E-7B0AA87DC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16240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 –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999-EAA8-4CA8-A67B-BC7BA786A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18639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11" Type="http://schemas.microsoft.com/office/2007/relationships/hdphoto" Target="../media/hdphoto1.wdp"/><Relationship Id="rId5" Type="http://schemas.openxmlformats.org/officeDocument/2006/relationships/theme" Target="../theme/theme1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ABDF845-9486-118F-44BA-ECCCB7F083D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3777951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16" imgH="416" progId="TCLayout.ActiveDocument.1">
                  <p:embed/>
                </p:oleObj>
              </mc:Choice>
              <mc:Fallback>
                <p:oleObj name="think-cell Slide" r:id="rId7" imgW="416" imgH="41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ABDF845-9486-118F-44BA-ECCCB7F083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1000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1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F1B88C-5A43-DDE4-8534-A153D4698142}"/>
              </a:ext>
            </a:extLst>
          </p:cNvPr>
          <p:cNvSpPr/>
          <p:nvPr userDrawn="1"/>
        </p:nvSpPr>
        <p:spPr bwMode="auto">
          <a:xfrm>
            <a:off x="11568678" y="6338381"/>
            <a:ext cx="584367" cy="35062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rot="0" spcFirstLastPara="0" vertOverflow="overflow" horzOverflow="overflow" vert="horz" wrap="square" lIns="91430" tIns="45715" rIns="91430" bIns="45715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cxnSp>
        <p:nvCxnSpPr>
          <p:cNvPr id="8" name="Google Shape;425;p64">
            <a:extLst>
              <a:ext uri="{FF2B5EF4-FFF2-40B4-BE49-F238E27FC236}">
                <a16:creationId xmlns:a16="http://schemas.microsoft.com/office/drawing/2014/main" id="{2145CA3C-A906-3AE5-4D84-136A50A8B5A7}"/>
              </a:ext>
            </a:extLst>
          </p:cNvPr>
          <p:cNvCxnSpPr/>
          <p:nvPr userDrawn="1"/>
        </p:nvCxnSpPr>
        <p:spPr>
          <a:xfrm>
            <a:off x="1086263" y="6436129"/>
            <a:ext cx="0" cy="129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2" name="Picture 11" descr="NFL Logo (National Football League) and symbol, meaning, history, PNG, brand">
            <a:extLst>
              <a:ext uri="{FF2B5EF4-FFF2-40B4-BE49-F238E27FC236}">
                <a16:creationId xmlns:a16="http://schemas.microsoft.com/office/drawing/2014/main" id="{DB1C2BAC-E9A9-2549-CED2-A330A25CB12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94" r="25471"/>
          <a:stretch/>
        </p:blipFill>
        <p:spPr bwMode="auto">
          <a:xfrm>
            <a:off x="1177499" y="6301271"/>
            <a:ext cx="272013" cy="37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Accenture Song">
            <a:extLst>
              <a:ext uri="{FF2B5EF4-FFF2-40B4-BE49-F238E27FC236}">
                <a16:creationId xmlns:a16="http://schemas.microsoft.com/office/drawing/2014/main" id="{94FC5A53-FC3E-3C72-437F-6E0F6AFF044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100000" contrast="100000"/>
                    </a14:imgEffect>
                  </a14:imgLayer>
                </a14:imgProps>
              </a:ext>
            </a:extLst>
          </a:blip>
          <a:srcRect t="1" r="33616" b="-1"/>
          <a:stretch/>
        </p:blipFill>
        <p:spPr>
          <a:xfrm>
            <a:off x="289368" y="6409289"/>
            <a:ext cx="720278" cy="181935"/>
          </a:xfrm>
          <a:prstGeom prst="rect">
            <a:avLst/>
          </a:prstGeom>
        </p:spPr>
      </p:pic>
      <p:sp>
        <p:nvSpPr>
          <p:cNvPr id="14" name="SlideNumber">
            <a:extLst>
              <a:ext uri="{FF2B5EF4-FFF2-40B4-BE49-F238E27FC236}">
                <a16:creationId xmlns:a16="http://schemas.microsoft.com/office/drawing/2014/main" id="{AA24A62A-DEE6-E008-F910-BC2D1D1B577A}"/>
              </a:ext>
            </a:extLst>
          </p:cNvPr>
          <p:cNvSpPr/>
          <p:nvPr userDrawn="1"/>
        </p:nvSpPr>
        <p:spPr>
          <a:xfrm>
            <a:off x="9425424" y="6369695"/>
            <a:ext cx="2539999" cy="457200"/>
          </a:xfrm>
          <a:prstGeom prst="roundRect">
            <a:avLst/>
          </a:prstGeom>
          <a:noFill/>
          <a:ln w="19050" cap="flat" cmpd="sng" algn="ctr">
            <a:noFill/>
            <a:prstDash val="solid"/>
          </a:ln>
          <a:effectLst/>
        </p:spPr>
        <p:txBody>
          <a:bodyPr wrap="none" lIns="91440" tIns="45720" rIns="91440" bIns="45720" rtlCol="0" anchor="t" anchorCtr="0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69BBE8-4DB2-4642-B003-B220ACD5A2FD}" type="slidenum">
              <a:rPr kumimoji="0" lang="en-US" sz="800" b="0" i="0" u="none" strike="noStrike" kern="0" cap="none" spc="0" normalizeH="0" baseline="0" noProof="0" smtClean="0">
                <a:ln>
                  <a:noFill/>
                </a:ln>
                <a:solidFill>
                  <a:srgbClr val="013269"/>
                </a:solidFill>
                <a:effectLst/>
                <a:uLnTx/>
                <a:uFillTx/>
                <a:latin typeface="Graphik-Light" panose="020B0403030202060203" pitchFamily="34" charset="0"/>
                <a:ea typeface="+mn-ea"/>
                <a:cs typeface="+mn-cs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FR" sz="1100" b="0" i="0" u="none" strike="noStrike" kern="0" cap="none" spc="0" normalizeH="0" baseline="0" noProof="0">
              <a:ln>
                <a:noFill/>
              </a:ln>
              <a:solidFill>
                <a:srgbClr val="013269"/>
              </a:solidFill>
              <a:effectLst/>
              <a:uLnTx/>
              <a:uFillTx/>
              <a:latin typeface="Graphik-Light" panose="020B0403030202060203" pitchFamily="34" charset="0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90551C-BA8C-ED6E-4E92-CF2F9FF67A77}"/>
              </a:ext>
            </a:extLst>
          </p:cNvPr>
          <p:cNvSpPr txBox="1"/>
          <p:nvPr userDrawn="1"/>
        </p:nvSpPr>
        <p:spPr>
          <a:xfrm>
            <a:off x="6946099" y="6379120"/>
            <a:ext cx="4318719" cy="25603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defPPr>
              <a:defRPr lang="en-US"/>
            </a:defPPr>
            <a:lvl1pPr algn="r">
              <a:lnSpc>
                <a:spcPct val="90000"/>
              </a:lnSpc>
              <a:defRPr sz="800"/>
            </a:lvl1pPr>
            <a:lvl2pPr marL="0" indent="0" algn="r">
              <a:defRPr sz="800"/>
            </a:lvl2pPr>
            <a:lvl3pPr marL="0" algn="r">
              <a:defRPr sz="800"/>
            </a:lvl3pPr>
            <a:lvl4pPr marL="0" algn="r">
              <a:defRPr sz="800"/>
            </a:lvl4pPr>
            <a:lvl5pPr marL="0" algn="r">
              <a:defRPr sz="800"/>
            </a:lvl5pPr>
            <a:lvl6pPr marL="0" indent="0" algn="r">
              <a:defRPr sz="800"/>
            </a:lvl6pPr>
            <a:lvl7pPr marL="0" algn="r">
              <a:defRPr sz="800"/>
            </a:lvl7pPr>
            <a:lvl8pPr marL="0" indent="0" algn="r">
              <a:defRPr sz="800"/>
            </a:lvl8pPr>
            <a:lvl9pPr marL="0" algn="r">
              <a:spcBef>
                <a:spcPts val="0"/>
              </a:spcBef>
              <a:defRPr sz="800"/>
            </a:lvl9pPr>
          </a:lstStyle>
          <a:p>
            <a:pPr defTabSz="228600">
              <a:lnSpc>
                <a:spcPct val="100000"/>
              </a:lnSpc>
              <a:spcAft>
                <a:spcPts val="1200"/>
              </a:spcAft>
              <a:defRPr/>
            </a:pPr>
            <a:r>
              <a:rPr lang="en-US">
                <a:solidFill>
                  <a:srgbClr val="013269"/>
                </a:solidFill>
                <a:latin typeface="Graphik Light" panose="020B0403030202060203" pitchFamily="34" charset="77"/>
              </a:rPr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71901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</p:sldLayoutIdLst>
  <p:hf hdr="0" dt="0"/>
  <p:txStyles>
    <p:titleStyle>
      <a:lvl1pPr algn="l" defTabSz="914363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1" indent="-228591" algn="l" defTabSz="228591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indent="-228591" algn="l" defTabSz="228591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3" indent="-228591" algn="l" defTabSz="228591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363" indent="-228591" algn="l" defTabSz="228591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2954" indent="-228591" algn="l" defTabSz="228591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591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591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591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591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svg"/><Relationship Id="rId19" Type="http://schemas.openxmlformats.org/officeDocument/2006/relationships/image" Target="../media/image32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Relationship Id="rId14" Type="http://schemas.openxmlformats.org/officeDocument/2006/relationships/image" Target="../media/image27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.pn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484C5A8D-BBDB-F1FE-E2D8-87DD96EB09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18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F2F0C-52C8-3A45-9E13-0F419FA0F25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F8EB60C-7CC2-49F0-B2EE-C81F067DE041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696831-DD38-5813-14DC-C10146F13D0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8077200" y="6488113"/>
            <a:ext cx="4114800" cy="198437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Copyright © 2025 Accenture. All rights reserved.</a:t>
            </a:r>
          </a:p>
        </p:txBody>
      </p:sp>
      <p:sp>
        <p:nvSpPr>
          <p:cNvPr id="5" name="Accenture GTS" descr="Accenture GTS">
            <a:extLst>
              <a:ext uri="{FF2B5EF4-FFF2-40B4-BE49-F238E27FC236}">
                <a16:creationId xmlns:a16="http://schemas.microsoft.com/office/drawing/2014/main" id="{2173EB24-B56D-522F-85F9-818BC6E824CF}"/>
              </a:ext>
            </a:extLst>
          </p:cNvPr>
          <p:cNvSpPr/>
          <p:nvPr/>
        </p:nvSpPr>
        <p:spPr>
          <a:xfrm>
            <a:off x="702000" y="381160"/>
            <a:ext cx="487848" cy="535593"/>
          </a:xfrm>
          <a:custGeom>
            <a:avLst/>
            <a:gdLst/>
            <a:ahLst/>
            <a:cxnLst/>
            <a:rect l="l" t="t" r="r" b="b"/>
            <a:pathLst>
              <a:path w="804544" h="883285">
                <a:moveTo>
                  <a:pt x="0" y="0"/>
                </a:moveTo>
                <a:lnTo>
                  <a:pt x="0" y="230485"/>
                </a:lnTo>
                <a:lnTo>
                  <a:pt x="520130" y="441368"/>
                </a:lnTo>
                <a:lnTo>
                  <a:pt x="0" y="652252"/>
                </a:lnTo>
                <a:lnTo>
                  <a:pt x="0" y="882737"/>
                </a:lnTo>
                <a:lnTo>
                  <a:pt x="804373" y="556611"/>
                </a:lnTo>
                <a:lnTo>
                  <a:pt x="804373" y="32612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pPr marL="0" marR="0" lvl="0" indent="0" algn="l" defTabSz="55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9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9A12DE4-C518-25E2-8C4F-44EB4CFA64F7}"/>
              </a:ext>
            </a:extLst>
          </p:cNvPr>
          <p:cNvSpPr txBox="1">
            <a:spLocks/>
          </p:cNvSpPr>
          <p:nvPr/>
        </p:nvSpPr>
        <p:spPr>
          <a:xfrm>
            <a:off x="539558" y="2943915"/>
            <a:ext cx="7040753" cy="391408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21903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8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Semibold" panose="020B0703030202060203" pitchFamily="34" charset="0"/>
                <a:ea typeface="Open Sans"/>
                <a:cs typeface="Open Sans"/>
              </a:rPr>
              <a:t>NFL</a:t>
            </a:r>
          </a:p>
          <a:p>
            <a:pPr marL="0" marR="0" lvl="0" indent="0" algn="l" defTabSz="121903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b="0" spc="80">
                <a:solidFill>
                  <a:srgbClr val="FFFFFF"/>
                </a:solidFill>
                <a:latin typeface="Graphik Semibold" panose="020B0703030202060203" pitchFamily="34" charset="0"/>
                <a:ea typeface="Open Sans"/>
                <a:cs typeface="Open Sans"/>
              </a:rPr>
              <a:t>Scorecard Overview</a:t>
            </a:r>
            <a:br>
              <a:rPr kumimoji="0" lang="en-US" sz="4800" b="1" i="0" u="none" strike="noStrike" kern="1200" cap="none" spc="8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Semibold" panose="020B0703030202060203" pitchFamily="34" charset="0"/>
                <a:ea typeface="Open Sans"/>
                <a:cs typeface="Open Sans"/>
              </a:rPr>
            </a:br>
            <a:br>
              <a:rPr kumimoji="0" lang="en-US" sz="2400" b="0" i="0" u="none" strike="noStrike" kern="1200" cap="none" spc="8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Open Sans"/>
                <a:cs typeface="Open Sans"/>
              </a:rPr>
            </a:br>
            <a:r>
              <a:rPr lang="en-US" sz="2400" b="0" spc="80">
                <a:solidFill>
                  <a:srgbClr val="FFFFFF"/>
                </a:solidFill>
                <a:latin typeface="Graphik Light" panose="020B0403030202060203" pitchFamily="34" charset="0"/>
                <a:ea typeface="Open Sans"/>
                <a:cs typeface="Open Sans"/>
              </a:rPr>
              <a:t>January</a:t>
            </a:r>
            <a:r>
              <a:rPr kumimoji="0" lang="en-US" sz="2400" b="0" i="0" u="none" strike="noStrike" kern="1200" cap="none" spc="8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Light" panose="020B0403030202060203" pitchFamily="34" charset="0"/>
                <a:ea typeface="Open Sans"/>
                <a:cs typeface="Open Sans"/>
              </a:rPr>
              <a:t> 2026</a:t>
            </a:r>
            <a:br>
              <a:rPr kumimoji="0" lang="en-US" sz="2400" b="1" i="0" u="none" strike="noStrike" kern="1200" cap="none" spc="8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Open Sans"/>
                <a:cs typeface="Open Sans"/>
              </a:rPr>
            </a:br>
            <a:endParaRPr kumimoji="0" lang="en-US" sz="7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j-ea"/>
              <a:cs typeface="+mj-cs"/>
            </a:endParaRPr>
          </a:p>
        </p:txBody>
      </p:sp>
      <p:pic>
        <p:nvPicPr>
          <p:cNvPr id="7" name="Picture 6" descr="NFL_Shield_web.png">
            <a:extLst>
              <a:ext uri="{FF2B5EF4-FFF2-40B4-BE49-F238E27FC236}">
                <a16:creationId xmlns:a16="http://schemas.microsoft.com/office/drawing/2014/main" id="{07D359F8-820E-FE5F-6777-4B464095BF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8" y="1216818"/>
            <a:ext cx="1361456" cy="187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131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265A1-2326-A79B-48F7-D0353A6FF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31BC64-0187-A160-FCAC-7D5F093C80DB}"/>
              </a:ext>
            </a:extLst>
          </p:cNvPr>
          <p:cNvSpPr/>
          <p:nvPr/>
        </p:nvSpPr>
        <p:spPr>
          <a:xfrm>
            <a:off x="3630758" y="1156447"/>
            <a:ext cx="4893482" cy="50208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FCAA50-7AAE-A4B8-54BA-746629022021}"/>
              </a:ext>
            </a:extLst>
          </p:cNvPr>
          <p:cNvSpPr/>
          <p:nvPr/>
        </p:nvSpPr>
        <p:spPr>
          <a:xfrm>
            <a:off x="2149490" y="1971173"/>
            <a:ext cx="2578521" cy="604134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58F8625-7765-B1AE-A08C-EB755B2D8248}"/>
              </a:ext>
            </a:extLst>
          </p:cNvPr>
          <p:cNvSpPr/>
          <p:nvPr/>
        </p:nvSpPr>
        <p:spPr>
          <a:xfrm>
            <a:off x="7745804" y="1971173"/>
            <a:ext cx="2578521" cy="604134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C0824D8-80DB-F641-C1E5-C52B872E4331}"/>
              </a:ext>
            </a:extLst>
          </p:cNvPr>
          <p:cNvSpPr/>
          <p:nvPr/>
        </p:nvSpPr>
        <p:spPr>
          <a:xfrm>
            <a:off x="8651461" y="1173953"/>
            <a:ext cx="2361738" cy="2409978"/>
          </a:xfrm>
          <a:prstGeom prst="rect">
            <a:avLst/>
          </a:prstGeom>
          <a:solidFill>
            <a:schemeClr val="bg1"/>
          </a:solidFill>
          <a:ln w="19050">
            <a:gradFill flip="none" rotWithShape="1">
              <a:gsLst>
                <a:gs pos="48000">
                  <a:srgbClr val="002F8E"/>
                </a:gs>
                <a:gs pos="53000">
                  <a:srgbClr val="D50707"/>
                </a:gs>
              </a:gsLst>
              <a:lin ang="2700000" scaled="1"/>
              <a:tileRect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sz="1600" b="1" kern="0">
              <a:solidFill>
                <a:srgbClr val="297FD5"/>
              </a:solidFill>
              <a:latin typeface="Graphik" panose="020B0503030202060203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B5770B-2C1D-7D47-99FE-E279DB129223}"/>
              </a:ext>
            </a:extLst>
          </p:cNvPr>
          <p:cNvSpPr/>
          <p:nvPr/>
        </p:nvSpPr>
        <p:spPr>
          <a:xfrm>
            <a:off x="6933839" y="4207770"/>
            <a:ext cx="2974331" cy="604134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2" name="Rectangle: Rounded Corners 11">
            <a:extLst>
              <a:ext uri="{FF2B5EF4-FFF2-40B4-BE49-F238E27FC236}">
                <a16:creationId xmlns:a16="http://schemas.microsoft.com/office/drawing/2014/main" id="{CB3A0C7B-C794-1F10-6F4F-88A40A4E9861}"/>
              </a:ext>
            </a:extLst>
          </p:cNvPr>
          <p:cNvSpPr/>
          <p:nvPr/>
        </p:nvSpPr>
        <p:spPr>
          <a:xfrm rot="5400000">
            <a:off x="4934062" y="2551056"/>
            <a:ext cx="2272553" cy="402844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en-US" sz="1600" b="1">
              <a:solidFill>
                <a:srgbClr val="FFFFFF"/>
              </a:solidFill>
            </a:endParaRPr>
          </a:p>
        </p:txBody>
      </p:sp>
      <p:sp>
        <p:nvSpPr>
          <p:cNvPr id="20" name="Rectangle: Rounded Corners 11">
            <a:extLst>
              <a:ext uri="{FF2B5EF4-FFF2-40B4-BE49-F238E27FC236}">
                <a16:creationId xmlns:a16="http://schemas.microsoft.com/office/drawing/2014/main" id="{DFD41F31-C8F7-6250-DBA4-EA42697E1EE2}"/>
              </a:ext>
            </a:extLst>
          </p:cNvPr>
          <p:cNvSpPr/>
          <p:nvPr/>
        </p:nvSpPr>
        <p:spPr>
          <a:xfrm rot="5400000">
            <a:off x="5515430" y="443013"/>
            <a:ext cx="1109817" cy="4028440"/>
          </a:xfrm>
          <a:prstGeom prst="homePlate">
            <a:avLst>
              <a:gd name="adj" fmla="val 39044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en-US" sz="1600" b="1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224EA5-968B-4075-8E56-EFEA6D9437C7}"/>
              </a:ext>
            </a:extLst>
          </p:cNvPr>
          <p:cNvSpPr/>
          <p:nvPr/>
        </p:nvSpPr>
        <p:spPr>
          <a:xfrm>
            <a:off x="2149490" y="4207770"/>
            <a:ext cx="2812538" cy="604134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7B3E72-E044-89FD-6DC8-EF015FBACBA6}"/>
              </a:ext>
            </a:extLst>
          </p:cNvPr>
          <p:cNvSpPr/>
          <p:nvPr/>
        </p:nvSpPr>
        <p:spPr>
          <a:xfrm flipH="1">
            <a:off x="3801758" y="4586210"/>
            <a:ext cx="4512355" cy="6400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Network and Connectivity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Wired/wireless communications connecting </a:t>
            </a:r>
            <a:b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</a:b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platforms, devices, and users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D6CBE7-CF28-04C7-F1DE-4E81ED2381DF}"/>
              </a:ext>
            </a:extLst>
          </p:cNvPr>
          <p:cNvSpPr/>
          <p:nvPr/>
        </p:nvSpPr>
        <p:spPr>
          <a:xfrm>
            <a:off x="3801759" y="3846500"/>
            <a:ext cx="4512356" cy="6400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Cloud and Edge Platform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Remote and scaled management of devices </a:t>
            </a:r>
            <a:b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</a:b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and experiences plus Edge compute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97E61D-E9AC-D15E-5C30-76041A9B2308}"/>
              </a:ext>
            </a:extLst>
          </p:cNvPr>
          <p:cNvSpPr/>
          <p:nvPr/>
        </p:nvSpPr>
        <p:spPr>
          <a:xfrm>
            <a:off x="3801759" y="3106790"/>
            <a:ext cx="4512356" cy="640080"/>
          </a:xfrm>
          <a:prstGeom prst="rect">
            <a:avLst/>
          </a:prstGeom>
          <a:solidFill>
            <a:schemeClr val="bg1"/>
          </a:solidFill>
          <a:ln>
            <a:solidFill>
              <a:srgbClr val="0619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Graphik" panose="020B0503030202060203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AI &amp; Innovation Services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Agentic AI and next generation Innovation enabling the Fan Experience and Team Operations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B9C18D-A329-C072-25B2-176AB04DCB17}"/>
              </a:ext>
            </a:extLst>
          </p:cNvPr>
          <p:cNvSpPr/>
          <p:nvPr/>
        </p:nvSpPr>
        <p:spPr>
          <a:xfrm>
            <a:off x="3801759" y="2118160"/>
            <a:ext cx="4512356" cy="640080"/>
          </a:xfrm>
          <a:prstGeom prst="rect">
            <a:avLst/>
          </a:prstGeom>
          <a:solidFill>
            <a:srgbClr val="003399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Operations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Capabilities that facilitate venue and team staff to </a:t>
            </a:r>
            <a:b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</a:b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optimize operations and support the fan, team and event experience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0ED60F-C3CE-408C-1B85-7393032F5CC0}"/>
              </a:ext>
            </a:extLst>
          </p:cNvPr>
          <p:cNvSpPr/>
          <p:nvPr/>
        </p:nvSpPr>
        <p:spPr>
          <a:xfrm>
            <a:off x="3801757" y="1378450"/>
            <a:ext cx="4512356" cy="640080"/>
          </a:xfrm>
          <a:prstGeom prst="rect">
            <a:avLst/>
          </a:prstGeom>
          <a:solidFill>
            <a:srgbClr val="D50707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Helvetica Neue" panose="02000503000000020004" pitchFamily="2" charset="0"/>
                <a:cs typeface="Helvetica Neue" panose="02000503000000020004" pitchFamily="2" charset="0"/>
              </a:rPr>
              <a:t>Fan Experience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Physical and digital interactions experienced </a:t>
            </a:r>
            <a:b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</a:b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by fans / visitors throughout their journey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A102E8-EF2D-2DDC-38B0-93E950CB672A}"/>
              </a:ext>
            </a:extLst>
          </p:cNvPr>
          <p:cNvSpPr/>
          <p:nvPr/>
        </p:nvSpPr>
        <p:spPr>
          <a:xfrm>
            <a:off x="3801757" y="5325920"/>
            <a:ext cx="4512356" cy="6400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Physical Infrastructure and Devices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Devices and sensors collecting interaction and source data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1D93F7-20DA-D7EE-89BB-84364C7F59D1}"/>
              </a:ext>
            </a:extLst>
          </p:cNvPr>
          <p:cNvSpPr/>
          <p:nvPr/>
        </p:nvSpPr>
        <p:spPr>
          <a:xfrm>
            <a:off x="1101380" y="1707694"/>
            <a:ext cx="2361738" cy="1097570"/>
          </a:xfrm>
          <a:prstGeom prst="rect">
            <a:avLst/>
          </a:prstGeom>
          <a:solidFill>
            <a:schemeClr val="bg1"/>
          </a:solidFill>
          <a:ln w="19050">
            <a:gradFill flip="none" rotWithShape="1">
              <a:gsLst>
                <a:gs pos="49000">
                  <a:srgbClr val="D50707"/>
                </a:gs>
                <a:gs pos="59000">
                  <a:srgbClr val="002F8E"/>
                </a:gs>
              </a:gsLst>
              <a:lin ang="2700000" scaled="1"/>
              <a:tileRect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550" b="1" kern="0">
                <a:solidFill>
                  <a:schemeClr val="accent6">
                    <a:lumMod val="50000"/>
                  </a:schemeClr>
                </a:solidFill>
                <a:latin typeface="Graphik" panose="020B0503030202060203" pitchFamily="34" charset="0"/>
              </a:rPr>
              <a:t>DIFFERENTIATED  </a:t>
            </a:r>
          </a:p>
          <a:p>
            <a:pPr algn="ctr"/>
            <a:r>
              <a:rPr lang="en-US" sz="1550" b="1" kern="0">
                <a:solidFill>
                  <a:schemeClr val="accent6">
                    <a:lumMod val="50000"/>
                  </a:schemeClr>
                </a:solidFill>
                <a:latin typeface="Graphik" panose="020B0503030202060203" pitchFamily="34" charset="0"/>
              </a:rPr>
              <a:t>EXPERIENCE AND CAPABILITIES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98A7D1-EA96-B7BE-48F7-C278C01EC116}"/>
              </a:ext>
            </a:extLst>
          </p:cNvPr>
          <p:cNvSpPr/>
          <p:nvPr/>
        </p:nvSpPr>
        <p:spPr>
          <a:xfrm>
            <a:off x="1101380" y="3886235"/>
            <a:ext cx="2361738" cy="109757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550" b="1" kern="0">
                <a:solidFill>
                  <a:schemeClr val="accent6">
                    <a:lumMod val="50000"/>
                  </a:schemeClr>
                </a:solidFill>
                <a:latin typeface="Graphik" panose="020B0503030202060203" pitchFamily="34" charset="0"/>
              </a:rPr>
              <a:t>TECHNOLOGY </a:t>
            </a:r>
            <a:br>
              <a:rPr lang="en-US" sz="1550" b="1" kern="0">
                <a:solidFill>
                  <a:schemeClr val="accent6">
                    <a:lumMod val="50000"/>
                  </a:schemeClr>
                </a:solidFill>
                <a:latin typeface="Graphik" panose="020B0503030202060203" pitchFamily="34" charset="0"/>
              </a:rPr>
            </a:br>
            <a:r>
              <a:rPr lang="en-US" sz="1550" b="1" kern="0">
                <a:solidFill>
                  <a:schemeClr val="accent6">
                    <a:lumMod val="50000"/>
                  </a:schemeClr>
                </a:solidFill>
                <a:latin typeface="Graphik" panose="020B0503030202060203" pitchFamily="34" charset="0"/>
              </a:rPr>
              <a:t>VISION AND </a:t>
            </a:r>
          </a:p>
          <a:p>
            <a:pPr algn="ctr"/>
            <a:r>
              <a:rPr lang="en-US" sz="1550" b="1" kern="0">
                <a:solidFill>
                  <a:schemeClr val="accent6">
                    <a:lumMod val="50000"/>
                  </a:schemeClr>
                </a:solidFill>
                <a:latin typeface="Graphik" panose="020B0503030202060203" pitchFamily="34" charset="0"/>
              </a:rPr>
              <a:t>PLATFORM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18EB32-9BDB-92AA-CBD2-ED9F2D8B469D}"/>
              </a:ext>
            </a:extLst>
          </p:cNvPr>
          <p:cNvSpPr/>
          <p:nvPr/>
        </p:nvSpPr>
        <p:spPr>
          <a:xfrm>
            <a:off x="8651461" y="3886235"/>
            <a:ext cx="2361738" cy="109757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550" b="1" kern="0">
                <a:solidFill>
                  <a:schemeClr val="accent6">
                    <a:lumMod val="50000"/>
                  </a:schemeClr>
                </a:solidFill>
                <a:latin typeface="Graphik" panose="020B0503030202060203" pitchFamily="34" charset="0"/>
              </a:rPr>
              <a:t>PHYSICAL + DIGITAL</a:t>
            </a:r>
          </a:p>
          <a:p>
            <a:pPr algn="ctr"/>
            <a:r>
              <a:rPr lang="en-US" sz="1550" b="1" kern="0">
                <a:solidFill>
                  <a:schemeClr val="accent6">
                    <a:lumMod val="50000"/>
                  </a:schemeClr>
                </a:solidFill>
                <a:latin typeface="Graphik" panose="020B0503030202060203" pitchFamily="34" charset="0"/>
              </a:rPr>
              <a:t>ENABLEMENT</a:t>
            </a:r>
          </a:p>
          <a:p>
            <a:pPr algn="ctr"/>
            <a:r>
              <a:rPr lang="en-US" sz="1550" b="1" kern="0">
                <a:solidFill>
                  <a:schemeClr val="accent6">
                    <a:lumMod val="50000"/>
                  </a:schemeClr>
                </a:solidFill>
                <a:latin typeface="Graphik" panose="020B0503030202060203" pitchFamily="34" charset="0"/>
              </a:rPr>
              <a:t>AND EXECUTION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AE5F4D-2D7C-6BEC-24A4-9395F1C1586E}"/>
              </a:ext>
            </a:extLst>
          </p:cNvPr>
          <p:cNvSpPr txBox="1"/>
          <p:nvPr/>
        </p:nvSpPr>
        <p:spPr>
          <a:xfrm>
            <a:off x="382772" y="644092"/>
            <a:ext cx="112332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+mn-cs"/>
              </a:rPr>
              <a:t>Exploring experience and technology to create a frictionless physical + digital journey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9080F3A-E36E-8E6C-E2B9-80D7E56FD7AC}"/>
              </a:ext>
            </a:extLst>
          </p:cNvPr>
          <p:cNvSpPr txBox="1">
            <a:spLocks/>
          </p:cNvSpPr>
          <p:nvPr/>
        </p:nvSpPr>
        <p:spPr bwMode="auto">
          <a:xfrm>
            <a:off x="382772" y="116551"/>
            <a:ext cx="10944224" cy="720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Graphik-Semibold" panose="020B0703030202060203" pitchFamily="34" charset="0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9pPr>
          </a:lstStyle>
          <a:p>
            <a:pPr marL="0" marR="0" lvl="0" indent="0" algn="l" defTabSz="914363" fontAlgn="base">
              <a:lnSpc>
                <a:spcPct val="80000"/>
              </a:lnSpc>
              <a:spcAft>
                <a:spcPct val="0"/>
              </a:spcAft>
              <a:buClrTx/>
              <a:buSzTx/>
              <a:tabLst/>
              <a:defRPr/>
            </a:pPr>
            <a:r>
              <a:rPr lang="en-US" sz="3200">
                <a:solidFill>
                  <a:schemeClr val="tx1"/>
                </a:solidFill>
                <a:latin typeface="+mj-lt"/>
              </a:rPr>
              <a:t>Enabling The Digital Fan &amp; Operations Experience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381141A-8B93-8DA2-2A0A-B4A1609CAB69}"/>
              </a:ext>
            </a:extLst>
          </p:cNvPr>
          <p:cNvGrpSpPr/>
          <p:nvPr/>
        </p:nvGrpSpPr>
        <p:grpSpPr>
          <a:xfrm>
            <a:off x="8771828" y="1332628"/>
            <a:ext cx="2102541" cy="2050189"/>
            <a:chOff x="9079519" y="1332628"/>
            <a:chExt cx="2102541" cy="2050189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2FD2471-554F-0132-3D11-BB992AF629A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3968" y="1663151"/>
              <a:ext cx="1554480" cy="1554480"/>
            </a:xfrm>
            <a:prstGeom prst="ellipse">
              <a:avLst/>
            </a:prstGeom>
            <a:solidFill>
              <a:schemeClr val="bg1"/>
            </a:solidFill>
            <a:ln>
              <a:gradFill flip="none" rotWithShape="1">
                <a:gsLst>
                  <a:gs pos="0">
                    <a:srgbClr val="D50707"/>
                  </a:gs>
                  <a:gs pos="100000">
                    <a:srgbClr val="002F8E"/>
                  </a:gs>
                </a:gsLst>
                <a:path path="circle">
                  <a:fillToRect l="100000" b="100000"/>
                </a:path>
                <a:tileRect t="-100000" r="-100000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sz="2000" b="1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2F474577-BA11-7BBA-89E6-BE7496B651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541980" y="1950979"/>
              <a:ext cx="640080" cy="64008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2F8E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sz="2000" b="1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2FAC50A-EFB2-5326-2DBC-0F824E0D31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96485" y="2742737"/>
              <a:ext cx="640080" cy="64008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2F8E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sz="2000" b="1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2F5BCFB-B1A0-9725-F564-703035F3CE6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3968" y="2742737"/>
              <a:ext cx="640080" cy="64008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2F8E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sz="2000" b="1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73E0916-9A78-C038-473D-D6FE178F47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9519" y="1950979"/>
              <a:ext cx="640080" cy="64008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2F8E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sz="2000" b="1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C852A28-30AB-7C28-B9C1-CFAB5F39AC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10749" y="1332628"/>
              <a:ext cx="640080" cy="64008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2F8E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sz="2000" b="1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pic>
          <p:nvPicPr>
            <p:cNvPr id="26" name="Graphic 25" descr="Wi-Fi with solid fill">
              <a:extLst>
                <a:ext uri="{FF2B5EF4-FFF2-40B4-BE49-F238E27FC236}">
                  <a16:creationId xmlns:a16="http://schemas.microsoft.com/office/drawing/2014/main" id="{03A27EF5-E8F8-7DED-6329-14A0CC7C8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365370" y="2810113"/>
              <a:ext cx="533292" cy="533292"/>
            </a:xfrm>
            <a:prstGeom prst="rect">
              <a:avLst/>
            </a:prstGeom>
          </p:spPr>
        </p:pic>
        <p:pic>
          <p:nvPicPr>
            <p:cNvPr id="27" name="Graphic 26" descr="Stadium with solid fill">
              <a:extLst>
                <a:ext uri="{FF2B5EF4-FFF2-40B4-BE49-F238E27FC236}">
                  <a16:creationId xmlns:a16="http://schemas.microsoft.com/office/drawing/2014/main" id="{B275DA38-AE98-E435-D647-D6CF13EA13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633420" y="2029288"/>
              <a:ext cx="457200" cy="457200"/>
            </a:xfrm>
            <a:prstGeom prst="rect">
              <a:avLst/>
            </a:prstGeom>
          </p:spPr>
        </p:pic>
        <p:pic>
          <p:nvPicPr>
            <p:cNvPr id="28" name="Graphic 27" descr="Football with solid fill">
              <a:extLst>
                <a:ext uri="{FF2B5EF4-FFF2-40B4-BE49-F238E27FC236}">
                  <a16:creationId xmlns:a16="http://schemas.microsoft.com/office/drawing/2014/main" id="{08A06ED2-626D-15A2-BADA-D27C895811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161202" y="2051110"/>
              <a:ext cx="457200" cy="457200"/>
            </a:xfrm>
            <a:prstGeom prst="rect">
              <a:avLst/>
            </a:prstGeom>
          </p:spPr>
        </p:pic>
        <p:pic>
          <p:nvPicPr>
            <p:cNvPr id="30" name="Graphic 29" descr="Group of men with solid fill">
              <a:extLst>
                <a:ext uri="{FF2B5EF4-FFF2-40B4-BE49-F238E27FC236}">
                  <a16:creationId xmlns:a16="http://schemas.microsoft.com/office/drawing/2014/main" id="{AEC69BA6-3B55-E3BF-C4BB-C7D87AE2A48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908170" y="1419517"/>
              <a:ext cx="457200" cy="457200"/>
            </a:xfrm>
            <a:prstGeom prst="rect">
              <a:avLst/>
            </a:prstGeom>
          </p:spPr>
        </p:pic>
        <p:pic>
          <p:nvPicPr>
            <p:cNvPr id="32" name="Graphic 31" descr="Head with gears with solid fill">
              <a:extLst>
                <a:ext uri="{FF2B5EF4-FFF2-40B4-BE49-F238E27FC236}">
                  <a16:creationId xmlns:a16="http://schemas.microsoft.com/office/drawing/2014/main" id="{810A5AEC-F7E4-3402-47CB-AF3A5264B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425408" y="2843024"/>
              <a:ext cx="457200" cy="457200"/>
            </a:xfrm>
            <a:prstGeom prst="rect">
              <a:avLst/>
            </a:prstGeom>
          </p:spPr>
        </p:pic>
        <p:pic>
          <p:nvPicPr>
            <p:cNvPr id="34" name="Picture 33" descr="NFL Logo (National Football League) and symbol, meaning, history, PNG, brand">
              <a:extLst>
                <a:ext uri="{FF2B5EF4-FFF2-40B4-BE49-F238E27FC236}">
                  <a16:creationId xmlns:a16="http://schemas.microsoft.com/office/drawing/2014/main" id="{E2AFB55F-B1D5-A5A4-4F1F-E5979DA10B2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494" r="25471"/>
            <a:stretch/>
          </p:blipFill>
          <p:spPr bwMode="auto">
            <a:xfrm>
              <a:off x="9852402" y="2042642"/>
              <a:ext cx="559915" cy="7707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14319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E0CD9-EDEF-6167-FC9D-E3D900D49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2870D00D-875F-B227-FCE4-FBC917423BF7}"/>
              </a:ext>
            </a:extLst>
          </p:cNvPr>
          <p:cNvCxnSpPr>
            <a:cxnSpLocks/>
          </p:cNvCxnSpPr>
          <p:nvPr/>
        </p:nvCxnSpPr>
        <p:spPr>
          <a:xfrm>
            <a:off x="1025118" y="3264412"/>
            <a:ext cx="16601" cy="2734055"/>
          </a:xfrm>
          <a:prstGeom prst="line">
            <a:avLst/>
          </a:prstGeom>
          <a:ln w="19050">
            <a:solidFill>
              <a:srgbClr val="00339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BC3950F6-4C27-6C9F-FA5E-68B876C579E2}"/>
              </a:ext>
            </a:extLst>
          </p:cNvPr>
          <p:cNvCxnSpPr>
            <a:cxnSpLocks/>
          </p:cNvCxnSpPr>
          <p:nvPr/>
        </p:nvCxnSpPr>
        <p:spPr>
          <a:xfrm>
            <a:off x="11215285" y="3264411"/>
            <a:ext cx="16601" cy="2834640"/>
          </a:xfrm>
          <a:prstGeom prst="line">
            <a:avLst/>
          </a:prstGeom>
          <a:ln w="19050">
            <a:solidFill>
              <a:srgbClr val="D50707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5DE3EEDA-05FD-5444-2DAC-1DBD3527F3E6}"/>
              </a:ext>
            </a:extLst>
          </p:cNvPr>
          <p:cNvCxnSpPr>
            <a:cxnSpLocks/>
          </p:cNvCxnSpPr>
          <p:nvPr/>
        </p:nvCxnSpPr>
        <p:spPr>
          <a:xfrm>
            <a:off x="9759546" y="3264411"/>
            <a:ext cx="16601" cy="2834640"/>
          </a:xfrm>
          <a:prstGeom prst="line">
            <a:avLst/>
          </a:prstGeom>
          <a:ln w="19050">
            <a:solidFill>
              <a:srgbClr val="00339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30B1DE62-7504-51B1-7979-92DDB964AFDC}"/>
              </a:ext>
            </a:extLst>
          </p:cNvPr>
          <p:cNvCxnSpPr>
            <a:cxnSpLocks/>
          </p:cNvCxnSpPr>
          <p:nvPr/>
        </p:nvCxnSpPr>
        <p:spPr>
          <a:xfrm>
            <a:off x="8303808" y="3264411"/>
            <a:ext cx="16601" cy="2834640"/>
          </a:xfrm>
          <a:prstGeom prst="line">
            <a:avLst/>
          </a:prstGeom>
          <a:ln w="19050">
            <a:solidFill>
              <a:srgbClr val="D50707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A7CAF514-5314-E0D0-6EE5-DEFEC0074330}"/>
              </a:ext>
            </a:extLst>
          </p:cNvPr>
          <p:cNvCxnSpPr>
            <a:cxnSpLocks/>
          </p:cNvCxnSpPr>
          <p:nvPr/>
        </p:nvCxnSpPr>
        <p:spPr>
          <a:xfrm>
            <a:off x="6848070" y="3264411"/>
            <a:ext cx="16601" cy="2834640"/>
          </a:xfrm>
          <a:prstGeom prst="line">
            <a:avLst/>
          </a:prstGeom>
          <a:ln w="19050">
            <a:solidFill>
              <a:srgbClr val="00339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E00AA2EE-B323-86B8-4910-7FB6AC4158AE}"/>
              </a:ext>
            </a:extLst>
          </p:cNvPr>
          <p:cNvCxnSpPr>
            <a:cxnSpLocks/>
          </p:cNvCxnSpPr>
          <p:nvPr/>
        </p:nvCxnSpPr>
        <p:spPr>
          <a:xfrm>
            <a:off x="5392332" y="3264411"/>
            <a:ext cx="16601" cy="2834640"/>
          </a:xfrm>
          <a:prstGeom prst="line">
            <a:avLst/>
          </a:prstGeom>
          <a:ln w="19050">
            <a:solidFill>
              <a:srgbClr val="D50707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DA69C6E0-8853-DD8D-81FC-3D95ABC43BA7}"/>
              </a:ext>
            </a:extLst>
          </p:cNvPr>
          <p:cNvCxnSpPr>
            <a:cxnSpLocks/>
          </p:cNvCxnSpPr>
          <p:nvPr/>
        </p:nvCxnSpPr>
        <p:spPr>
          <a:xfrm>
            <a:off x="3936594" y="3264411"/>
            <a:ext cx="16601" cy="2834640"/>
          </a:xfrm>
          <a:prstGeom prst="line">
            <a:avLst/>
          </a:prstGeom>
          <a:ln w="19050">
            <a:solidFill>
              <a:srgbClr val="00339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D4F3C36E-FE1C-B0D4-2F73-16379EDDCD4D}"/>
              </a:ext>
            </a:extLst>
          </p:cNvPr>
          <p:cNvCxnSpPr>
            <a:cxnSpLocks/>
          </p:cNvCxnSpPr>
          <p:nvPr/>
        </p:nvCxnSpPr>
        <p:spPr>
          <a:xfrm>
            <a:off x="2480856" y="3264411"/>
            <a:ext cx="16601" cy="2834640"/>
          </a:xfrm>
          <a:prstGeom prst="line">
            <a:avLst/>
          </a:prstGeom>
          <a:ln w="19050">
            <a:solidFill>
              <a:srgbClr val="D50707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A558DBC6-DF16-E63D-95FC-42C0FC0E4F59}"/>
              </a:ext>
            </a:extLst>
          </p:cNvPr>
          <p:cNvSpPr/>
          <p:nvPr/>
        </p:nvSpPr>
        <p:spPr>
          <a:xfrm>
            <a:off x="0" y="831147"/>
            <a:ext cx="12192000" cy="23966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37160" bIns="91440" rtlCol="0" anchor="t"/>
          <a:lstStyle/>
          <a:p>
            <a:pPr algn="ctr"/>
            <a:r>
              <a:rPr lang="en-US" sz="1400" b="1">
                <a:solidFill>
                  <a:srgbClr val="003399"/>
                </a:solidFill>
              </a:rPr>
              <a:t>Fan and Operational Needs from Start to Finish</a:t>
            </a: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BE37035D-42D9-4D03-0516-908F023C4F37}"/>
              </a:ext>
            </a:extLst>
          </p:cNvPr>
          <p:cNvSpPr txBox="1">
            <a:spLocks/>
          </p:cNvSpPr>
          <p:nvPr/>
        </p:nvSpPr>
        <p:spPr bwMode="auto">
          <a:xfrm>
            <a:off x="382771" y="116551"/>
            <a:ext cx="11483163" cy="720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R="0" lvl="0" indent="0" defTabSz="914363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 sz="3200" b="1">
                <a:latin typeface="+mj-lt"/>
                <a:ea typeface="+mj-ea"/>
                <a:cs typeface="+mj-cs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9pPr>
          </a:lstStyle>
          <a:p>
            <a:r>
              <a:rPr lang="en-US">
                <a:sym typeface="Arial"/>
              </a:rPr>
              <a:t>The Seamless Journey Starts Here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AAA2C37-CD90-9046-F2A7-9190E819F4AB}"/>
              </a:ext>
            </a:extLst>
          </p:cNvPr>
          <p:cNvSpPr/>
          <p:nvPr/>
        </p:nvSpPr>
        <p:spPr>
          <a:xfrm>
            <a:off x="382772" y="1508683"/>
            <a:ext cx="1284695" cy="537112"/>
          </a:xfrm>
          <a:prstGeom prst="roundRect">
            <a:avLst/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91440" rtlCol="0" anchor="ctr"/>
          <a:lstStyle/>
          <a:p>
            <a:pPr algn="ctr"/>
            <a:r>
              <a:rPr lang="en-US" sz="1050" b="1"/>
              <a:t>1. Research &amp; Buy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0BAA262-CE78-BA2B-3BB7-6089545E4B82}"/>
              </a:ext>
            </a:extLst>
          </p:cNvPr>
          <p:cNvSpPr/>
          <p:nvPr/>
        </p:nvSpPr>
        <p:spPr>
          <a:xfrm>
            <a:off x="1839696" y="1508683"/>
            <a:ext cx="1284695" cy="537112"/>
          </a:xfrm>
          <a:prstGeom prst="roundRect">
            <a:avLst/>
          </a:prstGeom>
          <a:solidFill>
            <a:srgbClr val="D50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91440" rtlCol="0" anchor="ctr"/>
          <a:lstStyle/>
          <a:p>
            <a:pPr algn="ctr"/>
            <a:r>
              <a:rPr lang="en-US" sz="1050" b="1"/>
              <a:t>2. Transportation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F689D551-8519-5DA5-C26D-A5203D2FEC20}"/>
              </a:ext>
            </a:extLst>
          </p:cNvPr>
          <p:cNvSpPr/>
          <p:nvPr/>
        </p:nvSpPr>
        <p:spPr>
          <a:xfrm>
            <a:off x="3296620" y="1508683"/>
            <a:ext cx="1284695" cy="537112"/>
          </a:xfrm>
          <a:prstGeom prst="roundRect">
            <a:avLst/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91440" rtlCol="0" anchor="ctr"/>
          <a:lstStyle/>
          <a:p>
            <a:pPr algn="ctr"/>
            <a:r>
              <a:rPr lang="en-US" sz="1050" b="1"/>
              <a:t>3. Stadium Entry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0055CE32-875F-C5E4-E8CA-1803A57AF892}"/>
              </a:ext>
            </a:extLst>
          </p:cNvPr>
          <p:cNvSpPr/>
          <p:nvPr/>
        </p:nvSpPr>
        <p:spPr>
          <a:xfrm>
            <a:off x="4753544" y="1508683"/>
            <a:ext cx="1284695" cy="537112"/>
          </a:xfrm>
          <a:prstGeom prst="roundRect">
            <a:avLst/>
          </a:prstGeom>
          <a:solidFill>
            <a:srgbClr val="D50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91440" rtlCol="0" anchor="ctr"/>
          <a:lstStyle/>
          <a:p>
            <a:pPr algn="ctr"/>
            <a:r>
              <a:rPr lang="en-US" sz="1050" b="1"/>
              <a:t>4. Food &amp; Beverage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759D39BE-4BED-DB7F-A298-24D8371A4C56}"/>
              </a:ext>
            </a:extLst>
          </p:cNvPr>
          <p:cNvSpPr/>
          <p:nvPr/>
        </p:nvSpPr>
        <p:spPr>
          <a:xfrm>
            <a:off x="6210468" y="1508683"/>
            <a:ext cx="1284695" cy="537112"/>
          </a:xfrm>
          <a:prstGeom prst="roundRect">
            <a:avLst/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91440" rtlCol="0" anchor="ctr"/>
          <a:lstStyle/>
          <a:p>
            <a:pPr algn="ctr"/>
            <a:r>
              <a:rPr lang="en-US" sz="1050" b="1"/>
              <a:t>5. During Game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EE519C21-9653-759E-C44F-3F968E5F21AB}"/>
              </a:ext>
            </a:extLst>
          </p:cNvPr>
          <p:cNvSpPr/>
          <p:nvPr/>
        </p:nvSpPr>
        <p:spPr>
          <a:xfrm>
            <a:off x="7667392" y="1508683"/>
            <a:ext cx="1284695" cy="537112"/>
          </a:xfrm>
          <a:prstGeom prst="roundRect">
            <a:avLst/>
          </a:prstGeom>
          <a:solidFill>
            <a:srgbClr val="D50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91440" rtlCol="0" anchor="ctr"/>
          <a:lstStyle/>
          <a:p>
            <a:pPr algn="ctr"/>
            <a:r>
              <a:rPr lang="en-US" sz="1050" b="1"/>
              <a:t>6. Restrooms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9FCB4CAA-A5F7-29F2-86B3-50C456C58BAA}"/>
              </a:ext>
            </a:extLst>
          </p:cNvPr>
          <p:cNvSpPr/>
          <p:nvPr/>
        </p:nvSpPr>
        <p:spPr>
          <a:xfrm>
            <a:off x="9124316" y="1508683"/>
            <a:ext cx="1284695" cy="537112"/>
          </a:xfrm>
          <a:prstGeom prst="roundRect">
            <a:avLst/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91440" rtlCol="0" anchor="ctr"/>
          <a:lstStyle/>
          <a:p>
            <a:pPr algn="ctr"/>
            <a:r>
              <a:rPr lang="en-US" sz="1050" b="1"/>
              <a:t>7. Merchandise</a:t>
            </a: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232230B1-F6FB-5CBA-9498-782D7E1E4D43}"/>
              </a:ext>
            </a:extLst>
          </p:cNvPr>
          <p:cNvSpPr/>
          <p:nvPr/>
        </p:nvSpPr>
        <p:spPr>
          <a:xfrm>
            <a:off x="10581239" y="1508683"/>
            <a:ext cx="1284695" cy="537112"/>
          </a:xfrm>
          <a:prstGeom prst="roundRect">
            <a:avLst/>
          </a:prstGeom>
          <a:solidFill>
            <a:srgbClr val="D50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91440" rtlCol="0" anchor="ctr"/>
          <a:lstStyle/>
          <a:p>
            <a:pPr algn="ctr"/>
            <a:r>
              <a:rPr lang="en-US" sz="1050" b="1"/>
              <a:t>8. After Game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0179DA-9F08-3E60-44F8-7851EDC33D73}"/>
              </a:ext>
            </a:extLst>
          </p:cNvPr>
          <p:cNvSpPr txBox="1"/>
          <p:nvPr/>
        </p:nvSpPr>
        <p:spPr>
          <a:xfrm>
            <a:off x="405841" y="2278717"/>
            <a:ext cx="1238554" cy="8278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000" noProof="0"/>
              <a:t>View stadium layout with seating POVs and purchase tickets or additional passes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417DC91-3FAD-5918-4A06-60C3317E3113}"/>
              </a:ext>
            </a:extLst>
          </p:cNvPr>
          <p:cNvCxnSpPr>
            <a:cxnSpLocks/>
          </p:cNvCxnSpPr>
          <p:nvPr/>
        </p:nvCxnSpPr>
        <p:spPr>
          <a:xfrm>
            <a:off x="354419" y="1365853"/>
            <a:ext cx="11483163" cy="0"/>
          </a:xfrm>
          <a:prstGeom prst="straightConnector1">
            <a:avLst/>
          </a:prstGeom>
          <a:ln w="28575">
            <a:solidFill>
              <a:srgbClr val="0033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7239887-ADE3-CAAF-A009-4FBE16506F20}"/>
              </a:ext>
            </a:extLst>
          </p:cNvPr>
          <p:cNvSpPr txBox="1"/>
          <p:nvPr/>
        </p:nvSpPr>
        <p:spPr>
          <a:xfrm>
            <a:off x="1862808" y="2278717"/>
            <a:ext cx="1238554" cy="8278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000" noProof="0"/>
              <a:t>Real-time info on public transit, parking wayfinding, and where to meet friends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0A1F7A-714E-152E-A7C0-FFCB6791BF1C}"/>
              </a:ext>
            </a:extLst>
          </p:cNvPr>
          <p:cNvSpPr txBox="1"/>
          <p:nvPr/>
        </p:nvSpPr>
        <p:spPr>
          <a:xfrm>
            <a:off x="3319775" y="2278717"/>
            <a:ext cx="1238554" cy="8278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000" noProof="0"/>
              <a:t>Identify correct </a:t>
            </a:r>
            <a:r>
              <a:rPr lang="en-US" sz="1000"/>
              <a:t>entry gate and pass through security with speed</a:t>
            </a:r>
            <a:endParaRPr lang="en-US" sz="1000" noProof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B15E00-2A3D-CB6B-1B5A-4047B64B2287}"/>
              </a:ext>
            </a:extLst>
          </p:cNvPr>
          <p:cNvSpPr txBox="1"/>
          <p:nvPr/>
        </p:nvSpPr>
        <p:spPr>
          <a:xfrm>
            <a:off x="4776742" y="2278717"/>
            <a:ext cx="1238554" cy="8278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000" noProof="0"/>
              <a:t>Discover, order, pay, and pick up or deliver food fast with 3rd-party integration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B35694-47C9-065A-CB8B-83F3E8E39BFD}"/>
              </a:ext>
            </a:extLst>
          </p:cNvPr>
          <p:cNvSpPr txBox="1"/>
          <p:nvPr/>
        </p:nvSpPr>
        <p:spPr>
          <a:xfrm>
            <a:off x="6233709" y="2278717"/>
            <a:ext cx="1238554" cy="8278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000" noProof="0"/>
              <a:t>Custom replays, fantasy league tracking, social sharing, and  betting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8B4C9C-6D15-4E4E-C73F-4AD6E29AF812}"/>
              </a:ext>
            </a:extLst>
          </p:cNvPr>
          <p:cNvSpPr txBox="1"/>
          <p:nvPr/>
        </p:nvSpPr>
        <p:spPr>
          <a:xfrm>
            <a:off x="7690676" y="2278717"/>
            <a:ext cx="1238554" cy="8278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000" noProof="0"/>
              <a:t>Find closest restroom with shortest 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34AA4D-FF7A-E856-FF56-3188F65CC3AE}"/>
              </a:ext>
            </a:extLst>
          </p:cNvPr>
          <p:cNvSpPr txBox="1"/>
          <p:nvPr/>
        </p:nvSpPr>
        <p:spPr>
          <a:xfrm>
            <a:off x="9147643" y="2278717"/>
            <a:ext cx="1238554" cy="8278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000" noProof="0"/>
              <a:t>Discover and purchase items; ship items not in stock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9FECC1-DDC2-B859-DED2-FBF485D7F28B}"/>
              </a:ext>
            </a:extLst>
          </p:cNvPr>
          <p:cNvSpPr txBox="1"/>
          <p:nvPr/>
        </p:nvSpPr>
        <p:spPr>
          <a:xfrm>
            <a:off x="10604613" y="2278717"/>
            <a:ext cx="1238554" cy="8278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000" noProof="0"/>
              <a:t>A safe &amp; smooth exit, rideshare matching, and traffic coordination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1C1BAA-69E4-FD0B-A50C-7CCEF7F9FF70}"/>
              </a:ext>
            </a:extLst>
          </p:cNvPr>
          <p:cNvSpPr txBox="1"/>
          <p:nvPr/>
        </p:nvSpPr>
        <p:spPr>
          <a:xfrm rot="16200000">
            <a:off x="-892856" y="4747110"/>
            <a:ext cx="2194174" cy="275624"/>
          </a:xfrm>
          <a:prstGeom prst="rect">
            <a:avLst/>
          </a:prstGeom>
          <a:solidFill>
            <a:srgbClr val="ACCBF9"/>
          </a:solidFill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400" b="1" noProof="0">
                <a:solidFill>
                  <a:srgbClr val="003399"/>
                </a:solidFill>
              </a:rPr>
              <a:t>Technology Enablers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7B189C3-CC35-B10E-91C3-CF8F04582A39}"/>
              </a:ext>
            </a:extLst>
          </p:cNvPr>
          <p:cNvSpPr/>
          <p:nvPr/>
        </p:nvSpPr>
        <p:spPr>
          <a:xfrm>
            <a:off x="0" y="3227772"/>
            <a:ext cx="12188952" cy="27432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5B7F268-26F7-A550-9842-C51543E082F1}"/>
              </a:ext>
            </a:extLst>
          </p:cNvPr>
          <p:cNvSpPr txBox="1"/>
          <p:nvPr/>
        </p:nvSpPr>
        <p:spPr>
          <a:xfrm>
            <a:off x="529920" y="3706336"/>
            <a:ext cx="1023598" cy="514047"/>
          </a:xfrm>
          <a:prstGeom prst="rect">
            <a:avLst/>
          </a:prstGeom>
          <a:solidFill>
            <a:srgbClr val="ACCBF9"/>
          </a:solidFill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000" noProof="0"/>
              <a:t>Augmented-reality seat previews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A7BCCD7-B7FC-0484-C658-561A6EC2B4FE}"/>
              </a:ext>
            </a:extLst>
          </p:cNvPr>
          <p:cNvSpPr txBox="1"/>
          <p:nvPr/>
        </p:nvSpPr>
        <p:spPr>
          <a:xfrm>
            <a:off x="1935707" y="3999154"/>
            <a:ext cx="1125958" cy="684197"/>
          </a:xfrm>
          <a:prstGeom prst="rect">
            <a:avLst/>
          </a:prstGeom>
          <a:solidFill>
            <a:srgbClr val="ACCBF9"/>
          </a:solidFill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000" noProof="0"/>
              <a:t>Edge computer processing updates transport flows instantly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318C20B-6C52-1527-21FF-141F5F7E9B1C}"/>
              </a:ext>
            </a:extLst>
          </p:cNvPr>
          <p:cNvSpPr txBox="1"/>
          <p:nvPr/>
        </p:nvSpPr>
        <p:spPr>
          <a:xfrm>
            <a:off x="3443854" y="3706336"/>
            <a:ext cx="1023598" cy="827879"/>
          </a:xfrm>
          <a:prstGeom prst="rect">
            <a:avLst/>
          </a:prstGeom>
          <a:solidFill>
            <a:srgbClr val="ACCBF9"/>
          </a:solidFill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000" noProof="0"/>
              <a:t>Instant facial recognition and wait time predictions by gate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B067445-C32D-307C-19E4-4F3F950B00DB}"/>
              </a:ext>
            </a:extLst>
          </p:cNvPr>
          <p:cNvSpPr txBox="1"/>
          <p:nvPr/>
        </p:nvSpPr>
        <p:spPr>
          <a:xfrm>
            <a:off x="4849641" y="3999154"/>
            <a:ext cx="1125958" cy="514047"/>
          </a:xfrm>
          <a:prstGeom prst="rect">
            <a:avLst/>
          </a:prstGeom>
          <a:solidFill>
            <a:srgbClr val="ACCBF9"/>
          </a:solidFill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000"/>
              <a:t>Personalized menu and order recommendations</a:t>
            </a:r>
            <a:endParaRPr lang="en-US" sz="1000" noProof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F204C43-84C9-B29B-371F-950285058D0F}"/>
              </a:ext>
            </a:extLst>
          </p:cNvPr>
          <p:cNvSpPr txBox="1"/>
          <p:nvPr/>
        </p:nvSpPr>
        <p:spPr>
          <a:xfrm>
            <a:off x="6357788" y="3706336"/>
            <a:ext cx="1023598" cy="621997"/>
          </a:xfrm>
          <a:prstGeom prst="rect">
            <a:avLst/>
          </a:prstGeom>
          <a:solidFill>
            <a:srgbClr val="ACCBF9"/>
          </a:solidFill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000"/>
              <a:t>Instant replays with options to highlight star players</a:t>
            </a:r>
            <a:endParaRPr lang="en-US" sz="1000" noProof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669D5F1-B4AB-986B-C3D5-BD31F19A49D0}"/>
              </a:ext>
            </a:extLst>
          </p:cNvPr>
          <p:cNvSpPr txBox="1"/>
          <p:nvPr/>
        </p:nvSpPr>
        <p:spPr>
          <a:xfrm>
            <a:off x="7814755" y="3999154"/>
            <a:ext cx="1023598" cy="514047"/>
          </a:xfrm>
          <a:prstGeom prst="rect">
            <a:avLst/>
          </a:prstGeom>
          <a:solidFill>
            <a:srgbClr val="ACCBF9"/>
          </a:solidFill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000"/>
              <a:t>Crowd density and wait-time predictions</a:t>
            </a:r>
            <a:endParaRPr lang="en-US" sz="1000" noProof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32671BB-C91C-A76D-E31E-8FB5F2398F81}"/>
              </a:ext>
            </a:extLst>
          </p:cNvPr>
          <p:cNvSpPr txBox="1"/>
          <p:nvPr/>
        </p:nvSpPr>
        <p:spPr>
          <a:xfrm>
            <a:off x="9271722" y="3706336"/>
            <a:ext cx="1023598" cy="827879"/>
          </a:xfrm>
          <a:prstGeom prst="rect">
            <a:avLst/>
          </a:prstGeom>
          <a:solidFill>
            <a:srgbClr val="ACCBF9"/>
          </a:solidFill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000" noProof="0"/>
              <a:t>Ability to browse on mobile and pick-up in stadium Pro Shop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2E7C048-341E-393C-5091-62267BB13215}"/>
              </a:ext>
            </a:extLst>
          </p:cNvPr>
          <p:cNvSpPr txBox="1"/>
          <p:nvPr/>
        </p:nvSpPr>
        <p:spPr>
          <a:xfrm>
            <a:off x="10728692" y="3999154"/>
            <a:ext cx="1023598" cy="752617"/>
          </a:xfrm>
          <a:prstGeom prst="rect">
            <a:avLst/>
          </a:prstGeom>
          <a:solidFill>
            <a:srgbClr val="ACCBF9"/>
          </a:solidFill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000"/>
              <a:t>Transition from stadium to city </a:t>
            </a:r>
            <a:r>
              <a:rPr lang="en-US" sz="1000" err="1"/>
              <a:t>WiFi</a:t>
            </a:r>
            <a:r>
              <a:rPr lang="en-US" sz="1000"/>
              <a:t> without a hitch</a:t>
            </a:r>
            <a:endParaRPr lang="en-US" sz="1000" noProof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5F3426A-8719-54C1-61F7-0D29AAC1D5C1}"/>
              </a:ext>
            </a:extLst>
          </p:cNvPr>
          <p:cNvSpPr txBox="1"/>
          <p:nvPr/>
        </p:nvSpPr>
        <p:spPr>
          <a:xfrm>
            <a:off x="529920" y="5022035"/>
            <a:ext cx="1023598" cy="827879"/>
          </a:xfrm>
          <a:prstGeom prst="rect">
            <a:avLst/>
          </a:prstGeom>
          <a:solidFill>
            <a:srgbClr val="ACCBF9"/>
          </a:solidFill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000" noProof="0"/>
              <a:t>A.I. chatbots answer questions and create custom packages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CA33657-6C75-75A2-531B-44C806EAD090}"/>
              </a:ext>
            </a:extLst>
          </p:cNvPr>
          <p:cNvSpPr txBox="1"/>
          <p:nvPr/>
        </p:nvSpPr>
        <p:spPr>
          <a:xfrm>
            <a:off x="1986887" y="5325699"/>
            <a:ext cx="1023598" cy="684197"/>
          </a:xfrm>
          <a:prstGeom prst="rect">
            <a:avLst/>
          </a:prstGeom>
          <a:solidFill>
            <a:srgbClr val="ACCBF9"/>
          </a:solidFill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000" noProof="0"/>
              <a:t>Integration across stadium mobile app and transit apps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4A85E0E-70D7-BA20-448D-D42A151E5709}"/>
              </a:ext>
            </a:extLst>
          </p:cNvPr>
          <p:cNvSpPr txBox="1"/>
          <p:nvPr/>
        </p:nvSpPr>
        <p:spPr>
          <a:xfrm>
            <a:off x="3443854" y="5075200"/>
            <a:ext cx="1023598" cy="565452"/>
          </a:xfrm>
          <a:prstGeom prst="rect">
            <a:avLst/>
          </a:prstGeom>
          <a:solidFill>
            <a:srgbClr val="ACCBF9"/>
          </a:solidFill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000" noProof="0"/>
              <a:t>Stadium </a:t>
            </a:r>
            <a:r>
              <a:rPr lang="en-US" sz="1000" noProof="0" err="1"/>
              <a:t>WiFi</a:t>
            </a:r>
            <a:r>
              <a:rPr lang="en-US" sz="1000" noProof="0"/>
              <a:t> and Bluetooth enable mobile ticketing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3140BBE-442F-C202-EEFA-57C17D8F3E8B}"/>
              </a:ext>
            </a:extLst>
          </p:cNvPr>
          <p:cNvSpPr txBox="1"/>
          <p:nvPr/>
        </p:nvSpPr>
        <p:spPr>
          <a:xfrm>
            <a:off x="4900821" y="5325699"/>
            <a:ext cx="1023598" cy="827879"/>
          </a:xfrm>
          <a:prstGeom prst="rect">
            <a:avLst/>
          </a:prstGeom>
          <a:solidFill>
            <a:srgbClr val="ACCBF9"/>
          </a:solidFill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000"/>
              <a:t>Centralized order flow and monitoring across concessionaires</a:t>
            </a:r>
            <a:endParaRPr lang="en-US" sz="1000" noProof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18473B4-5749-BBB0-5572-600404878D97}"/>
              </a:ext>
            </a:extLst>
          </p:cNvPr>
          <p:cNvSpPr txBox="1"/>
          <p:nvPr/>
        </p:nvSpPr>
        <p:spPr>
          <a:xfrm>
            <a:off x="6357788" y="5022035"/>
            <a:ext cx="1023598" cy="621997"/>
          </a:xfrm>
          <a:prstGeom prst="rect">
            <a:avLst/>
          </a:prstGeom>
          <a:solidFill>
            <a:srgbClr val="ACCBF9"/>
          </a:solidFill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000" noProof="0" err="1"/>
              <a:t>WiFi</a:t>
            </a:r>
            <a:r>
              <a:rPr lang="en-US" sz="1000" noProof="0"/>
              <a:t> to support 100,000 people at any given time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AE847238-9717-8D1B-B830-9475B8D4D6AC}"/>
              </a:ext>
            </a:extLst>
          </p:cNvPr>
          <p:cNvSpPr txBox="1"/>
          <p:nvPr/>
        </p:nvSpPr>
        <p:spPr>
          <a:xfrm>
            <a:off x="7814755" y="5325699"/>
            <a:ext cx="1023598" cy="827879"/>
          </a:xfrm>
          <a:prstGeom prst="rect">
            <a:avLst/>
          </a:prstGeom>
          <a:solidFill>
            <a:srgbClr val="ACCBF9"/>
          </a:solidFill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000" noProof="0"/>
              <a:t>Stadium wayfinding to find the fastest route and limit congestion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355DDF2-3F62-3886-C1C7-375EC1FCD175}"/>
              </a:ext>
            </a:extLst>
          </p:cNvPr>
          <p:cNvSpPr txBox="1"/>
          <p:nvPr/>
        </p:nvSpPr>
        <p:spPr>
          <a:xfrm>
            <a:off x="9271722" y="5022035"/>
            <a:ext cx="1023598" cy="827879"/>
          </a:xfrm>
          <a:prstGeom prst="rect">
            <a:avLst/>
          </a:prstGeom>
          <a:solidFill>
            <a:srgbClr val="ACCBF9"/>
          </a:solidFill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000" noProof="0"/>
              <a:t>Inventory is constantly refreshed and marked as “going fast”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7BF8B7C8-450E-9028-6E5C-37809F71F36D}"/>
              </a:ext>
            </a:extLst>
          </p:cNvPr>
          <p:cNvSpPr txBox="1"/>
          <p:nvPr/>
        </p:nvSpPr>
        <p:spPr>
          <a:xfrm>
            <a:off x="10728692" y="5325699"/>
            <a:ext cx="1023598" cy="514047"/>
          </a:xfrm>
          <a:prstGeom prst="rect">
            <a:avLst/>
          </a:prstGeom>
          <a:solidFill>
            <a:srgbClr val="ACCBF9"/>
          </a:solidFill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000" noProof="0"/>
              <a:t>Cloud-based egress modeling to ensure safety</a:t>
            </a: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91EAC498-84D8-A2D8-35C9-868D8B32C309}"/>
              </a:ext>
            </a:extLst>
          </p:cNvPr>
          <p:cNvGrpSpPr/>
          <p:nvPr/>
        </p:nvGrpSpPr>
        <p:grpSpPr>
          <a:xfrm>
            <a:off x="842238" y="4666279"/>
            <a:ext cx="365760" cy="365760"/>
            <a:chOff x="-1363891" y="1696665"/>
            <a:chExt cx="365760" cy="365760"/>
          </a:xfrm>
        </p:grpSpPr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9733D460-C6C3-4850-6756-183644C614B8}"/>
                </a:ext>
              </a:extLst>
            </p:cNvPr>
            <p:cNvSpPr/>
            <p:nvPr/>
          </p:nvSpPr>
          <p:spPr>
            <a:xfrm>
              <a:off x="-1363891" y="1696665"/>
              <a:ext cx="365760" cy="365760"/>
            </a:xfrm>
            <a:prstGeom prst="ellipse">
              <a:avLst/>
            </a:prstGeom>
            <a:solidFill>
              <a:srgbClr val="00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grpSp>
          <p:nvGrpSpPr>
            <p:cNvPr id="158" name="Group 73">
              <a:extLst>
                <a:ext uri="{FF2B5EF4-FFF2-40B4-BE49-F238E27FC236}">
                  <a16:creationId xmlns:a16="http://schemas.microsoft.com/office/drawing/2014/main" id="{2567230E-3C08-58C0-F01E-FBFA7C972F1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-1304886" y="1756250"/>
              <a:ext cx="247751" cy="246591"/>
              <a:chOff x="2400" y="1721"/>
              <a:chExt cx="427" cy="425"/>
            </a:xfrm>
            <a:solidFill>
              <a:schemeClr val="bg1"/>
            </a:solidFill>
          </p:grpSpPr>
          <p:sp>
            <p:nvSpPr>
              <p:cNvPr id="159" name="Freeform 74">
                <a:extLst>
                  <a:ext uri="{FF2B5EF4-FFF2-40B4-BE49-F238E27FC236}">
                    <a16:creationId xmlns:a16="http://schemas.microsoft.com/office/drawing/2014/main" id="{2C9F5950-405A-1973-4663-F4C58523325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00" y="1721"/>
                <a:ext cx="427" cy="425"/>
              </a:xfrm>
              <a:custGeom>
                <a:avLst/>
                <a:gdLst>
                  <a:gd name="T0" fmla="*/ 234 w 288"/>
                  <a:gd name="T1" fmla="*/ 288 h 288"/>
                  <a:gd name="T2" fmla="*/ 54 w 288"/>
                  <a:gd name="T3" fmla="*/ 288 h 288"/>
                  <a:gd name="T4" fmla="*/ 0 w 288"/>
                  <a:gd name="T5" fmla="*/ 234 h 288"/>
                  <a:gd name="T6" fmla="*/ 0 w 288"/>
                  <a:gd name="T7" fmla="*/ 54 h 288"/>
                  <a:gd name="T8" fmla="*/ 54 w 288"/>
                  <a:gd name="T9" fmla="*/ 0 h 288"/>
                  <a:gd name="T10" fmla="*/ 234 w 288"/>
                  <a:gd name="T11" fmla="*/ 0 h 288"/>
                  <a:gd name="T12" fmla="*/ 288 w 288"/>
                  <a:gd name="T13" fmla="*/ 54 h 288"/>
                  <a:gd name="T14" fmla="*/ 288 w 288"/>
                  <a:gd name="T15" fmla="*/ 234 h 288"/>
                  <a:gd name="T16" fmla="*/ 234 w 288"/>
                  <a:gd name="T17" fmla="*/ 288 h 288"/>
                  <a:gd name="T18" fmla="*/ 54 w 288"/>
                  <a:gd name="T19" fmla="*/ 12 h 288"/>
                  <a:gd name="T20" fmla="*/ 12 w 288"/>
                  <a:gd name="T21" fmla="*/ 54 h 288"/>
                  <a:gd name="T22" fmla="*/ 12 w 288"/>
                  <a:gd name="T23" fmla="*/ 234 h 288"/>
                  <a:gd name="T24" fmla="*/ 54 w 288"/>
                  <a:gd name="T25" fmla="*/ 276 h 288"/>
                  <a:gd name="T26" fmla="*/ 234 w 288"/>
                  <a:gd name="T27" fmla="*/ 276 h 288"/>
                  <a:gd name="T28" fmla="*/ 276 w 288"/>
                  <a:gd name="T29" fmla="*/ 234 h 288"/>
                  <a:gd name="T30" fmla="*/ 276 w 288"/>
                  <a:gd name="T31" fmla="*/ 54 h 288"/>
                  <a:gd name="T32" fmla="*/ 234 w 288"/>
                  <a:gd name="T33" fmla="*/ 12 h 288"/>
                  <a:gd name="T34" fmla="*/ 54 w 288"/>
                  <a:gd name="T35" fmla="*/ 12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88" h="288">
                    <a:moveTo>
                      <a:pt x="234" y="288"/>
                    </a:moveTo>
                    <a:cubicBezTo>
                      <a:pt x="54" y="288"/>
                      <a:pt x="54" y="288"/>
                      <a:pt x="54" y="288"/>
                    </a:cubicBezTo>
                    <a:cubicBezTo>
                      <a:pt x="24" y="288"/>
                      <a:pt x="0" y="263"/>
                      <a:pt x="0" y="234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0" y="24"/>
                      <a:pt x="24" y="0"/>
                      <a:pt x="54" y="0"/>
                    </a:cubicBezTo>
                    <a:cubicBezTo>
                      <a:pt x="234" y="0"/>
                      <a:pt x="234" y="0"/>
                      <a:pt x="234" y="0"/>
                    </a:cubicBezTo>
                    <a:cubicBezTo>
                      <a:pt x="264" y="0"/>
                      <a:pt x="288" y="24"/>
                      <a:pt x="288" y="54"/>
                    </a:cubicBezTo>
                    <a:cubicBezTo>
                      <a:pt x="288" y="234"/>
                      <a:pt x="288" y="234"/>
                      <a:pt x="288" y="234"/>
                    </a:cubicBezTo>
                    <a:cubicBezTo>
                      <a:pt x="288" y="263"/>
                      <a:pt x="264" y="288"/>
                      <a:pt x="234" y="288"/>
                    </a:cubicBezTo>
                    <a:close/>
                    <a:moveTo>
                      <a:pt x="54" y="12"/>
                    </a:moveTo>
                    <a:cubicBezTo>
                      <a:pt x="31" y="12"/>
                      <a:pt x="12" y="30"/>
                      <a:pt x="12" y="54"/>
                    </a:cubicBezTo>
                    <a:cubicBezTo>
                      <a:pt x="12" y="234"/>
                      <a:pt x="12" y="234"/>
                      <a:pt x="12" y="234"/>
                    </a:cubicBezTo>
                    <a:cubicBezTo>
                      <a:pt x="12" y="257"/>
                      <a:pt x="31" y="276"/>
                      <a:pt x="54" y="276"/>
                    </a:cubicBezTo>
                    <a:cubicBezTo>
                      <a:pt x="234" y="276"/>
                      <a:pt x="234" y="276"/>
                      <a:pt x="234" y="276"/>
                    </a:cubicBezTo>
                    <a:cubicBezTo>
                      <a:pt x="257" y="276"/>
                      <a:pt x="276" y="257"/>
                      <a:pt x="276" y="234"/>
                    </a:cubicBezTo>
                    <a:cubicBezTo>
                      <a:pt x="276" y="54"/>
                      <a:pt x="276" y="54"/>
                      <a:pt x="276" y="54"/>
                    </a:cubicBezTo>
                    <a:cubicBezTo>
                      <a:pt x="276" y="30"/>
                      <a:pt x="257" y="12"/>
                      <a:pt x="234" y="12"/>
                    </a:cubicBezTo>
                    <a:lnTo>
                      <a:pt x="54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160" name="Freeform 75">
                <a:extLst>
                  <a:ext uri="{FF2B5EF4-FFF2-40B4-BE49-F238E27FC236}">
                    <a16:creationId xmlns:a16="http://schemas.microsoft.com/office/drawing/2014/main" id="{45EE9771-89A1-7579-9742-F338827E52F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57" y="1886"/>
                <a:ext cx="111" cy="111"/>
              </a:xfrm>
              <a:custGeom>
                <a:avLst/>
                <a:gdLst>
                  <a:gd name="T0" fmla="*/ 38 w 75"/>
                  <a:gd name="T1" fmla="*/ 75 h 75"/>
                  <a:gd name="T2" fmla="*/ 0 w 75"/>
                  <a:gd name="T3" fmla="*/ 38 h 75"/>
                  <a:gd name="T4" fmla="*/ 38 w 75"/>
                  <a:gd name="T5" fmla="*/ 0 h 75"/>
                  <a:gd name="T6" fmla="*/ 75 w 75"/>
                  <a:gd name="T7" fmla="*/ 38 h 75"/>
                  <a:gd name="T8" fmla="*/ 38 w 75"/>
                  <a:gd name="T9" fmla="*/ 75 h 75"/>
                  <a:gd name="T10" fmla="*/ 38 w 75"/>
                  <a:gd name="T11" fmla="*/ 12 h 75"/>
                  <a:gd name="T12" fmla="*/ 12 w 75"/>
                  <a:gd name="T13" fmla="*/ 38 h 75"/>
                  <a:gd name="T14" fmla="*/ 38 w 75"/>
                  <a:gd name="T15" fmla="*/ 63 h 75"/>
                  <a:gd name="T16" fmla="*/ 63 w 75"/>
                  <a:gd name="T17" fmla="*/ 38 h 75"/>
                  <a:gd name="T18" fmla="*/ 38 w 75"/>
                  <a:gd name="T19" fmla="*/ 12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5" h="75">
                    <a:moveTo>
                      <a:pt x="38" y="75"/>
                    </a:moveTo>
                    <a:cubicBezTo>
                      <a:pt x="17" y="75"/>
                      <a:pt x="0" y="58"/>
                      <a:pt x="0" y="38"/>
                    </a:cubicBezTo>
                    <a:cubicBezTo>
                      <a:pt x="0" y="17"/>
                      <a:pt x="17" y="0"/>
                      <a:pt x="38" y="0"/>
                    </a:cubicBezTo>
                    <a:cubicBezTo>
                      <a:pt x="59" y="0"/>
                      <a:pt x="75" y="17"/>
                      <a:pt x="75" y="38"/>
                    </a:cubicBezTo>
                    <a:cubicBezTo>
                      <a:pt x="75" y="58"/>
                      <a:pt x="59" y="75"/>
                      <a:pt x="38" y="75"/>
                    </a:cubicBezTo>
                    <a:close/>
                    <a:moveTo>
                      <a:pt x="38" y="12"/>
                    </a:moveTo>
                    <a:cubicBezTo>
                      <a:pt x="24" y="12"/>
                      <a:pt x="12" y="24"/>
                      <a:pt x="12" y="38"/>
                    </a:cubicBezTo>
                    <a:cubicBezTo>
                      <a:pt x="12" y="52"/>
                      <a:pt x="24" y="63"/>
                      <a:pt x="38" y="63"/>
                    </a:cubicBezTo>
                    <a:cubicBezTo>
                      <a:pt x="52" y="63"/>
                      <a:pt x="63" y="52"/>
                      <a:pt x="63" y="38"/>
                    </a:cubicBezTo>
                    <a:cubicBezTo>
                      <a:pt x="63" y="24"/>
                      <a:pt x="52" y="12"/>
                      <a:pt x="3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161" name="Freeform 76">
                <a:extLst>
                  <a:ext uri="{FF2B5EF4-FFF2-40B4-BE49-F238E27FC236}">
                    <a16:creationId xmlns:a16="http://schemas.microsoft.com/office/drawing/2014/main" id="{803BF238-BEBB-1FA7-6FAC-58242AD7211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82" y="1809"/>
                <a:ext cx="265" cy="266"/>
              </a:xfrm>
              <a:custGeom>
                <a:avLst/>
                <a:gdLst>
                  <a:gd name="T0" fmla="*/ 69 w 179"/>
                  <a:gd name="T1" fmla="*/ 180 h 180"/>
                  <a:gd name="T2" fmla="*/ 63 w 179"/>
                  <a:gd name="T3" fmla="*/ 159 h 180"/>
                  <a:gd name="T4" fmla="*/ 30 w 179"/>
                  <a:gd name="T5" fmla="*/ 155 h 180"/>
                  <a:gd name="T6" fmla="*/ 1 w 179"/>
                  <a:gd name="T7" fmla="*/ 116 h 180"/>
                  <a:gd name="T8" fmla="*/ 3 w 179"/>
                  <a:gd name="T9" fmla="*/ 108 h 180"/>
                  <a:gd name="T10" fmla="*/ 15 w 179"/>
                  <a:gd name="T11" fmla="*/ 90 h 180"/>
                  <a:gd name="T12" fmla="*/ 3 w 179"/>
                  <a:gd name="T13" fmla="*/ 71 h 180"/>
                  <a:gd name="T14" fmla="*/ 1 w 179"/>
                  <a:gd name="T15" fmla="*/ 63 h 180"/>
                  <a:gd name="T16" fmla="*/ 30 w 179"/>
                  <a:gd name="T17" fmla="*/ 24 h 180"/>
                  <a:gd name="T18" fmla="*/ 63 w 179"/>
                  <a:gd name="T19" fmla="*/ 20 h 180"/>
                  <a:gd name="T20" fmla="*/ 69 w 179"/>
                  <a:gd name="T21" fmla="*/ 0 h 180"/>
                  <a:gd name="T22" fmla="*/ 117 w 179"/>
                  <a:gd name="T23" fmla="*/ 6 h 180"/>
                  <a:gd name="T24" fmla="*/ 136 w 179"/>
                  <a:gd name="T25" fmla="*/ 32 h 180"/>
                  <a:gd name="T26" fmla="*/ 153 w 179"/>
                  <a:gd name="T27" fmla="*/ 24 h 180"/>
                  <a:gd name="T28" fmla="*/ 177 w 179"/>
                  <a:gd name="T29" fmla="*/ 63 h 180"/>
                  <a:gd name="T30" fmla="*/ 175 w 179"/>
                  <a:gd name="T31" fmla="*/ 71 h 180"/>
                  <a:gd name="T32" fmla="*/ 163 w 179"/>
                  <a:gd name="T33" fmla="*/ 90 h 180"/>
                  <a:gd name="T34" fmla="*/ 175 w 179"/>
                  <a:gd name="T35" fmla="*/ 108 h 180"/>
                  <a:gd name="T36" fmla="*/ 157 w 179"/>
                  <a:gd name="T37" fmla="*/ 153 h 180"/>
                  <a:gd name="T38" fmla="*/ 148 w 179"/>
                  <a:gd name="T39" fmla="*/ 155 h 180"/>
                  <a:gd name="T40" fmla="*/ 117 w 179"/>
                  <a:gd name="T41" fmla="*/ 159 h 180"/>
                  <a:gd name="T42" fmla="*/ 111 w 179"/>
                  <a:gd name="T43" fmla="*/ 180 h 180"/>
                  <a:gd name="T44" fmla="*/ 105 w 179"/>
                  <a:gd name="T45" fmla="*/ 168 h 180"/>
                  <a:gd name="T46" fmla="*/ 109 w 179"/>
                  <a:gd name="T47" fmla="*/ 149 h 180"/>
                  <a:gd name="T48" fmla="*/ 138 w 179"/>
                  <a:gd name="T49" fmla="*/ 135 h 180"/>
                  <a:gd name="T50" fmla="*/ 164 w 179"/>
                  <a:gd name="T51" fmla="*/ 116 h 180"/>
                  <a:gd name="T52" fmla="*/ 150 w 179"/>
                  <a:gd name="T53" fmla="*/ 103 h 180"/>
                  <a:gd name="T54" fmla="*/ 150 w 179"/>
                  <a:gd name="T55" fmla="*/ 77 h 180"/>
                  <a:gd name="T56" fmla="*/ 164 w 179"/>
                  <a:gd name="T57" fmla="*/ 64 h 180"/>
                  <a:gd name="T58" fmla="*/ 138 w 179"/>
                  <a:gd name="T59" fmla="*/ 44 h 180"/>
                  <a:gd name="T60" fmla="*/ 109 w 179"/>
                  <a:gd name="T61" fmla="*/ 30 h 180"/>
                  <a:gd name="T62" fmla="*/ 105 w 179"/>
                  <a:gd name="T63" fmla="*/ 12 h 180"/>
                  <a:gd name="T64" fmla="*/ 75 w 179"/>
                  <a:gd name="T65" fmla="*/ 25 h 180"/>
                  <a:gd name="T66" fmla="*/ 48 w 179"/>
                  <a:gd name="T67" fmla="*/ 43 h 180"/>
                  <a:gd name="T68" fmla="*/ 29 w 179"/>
                  <a:gd name="T69" fmla="*/ 38 h 180"/>
                  <a:gd name="T70" fmla="*/ 25 w 179"/>
                  <a:gd name="T71" fmla="*/ 70 h 180"/>
                  <a:gd name="T72" fmla="*/ 27 w 179"/>
                  <a:gd name="T73" fmla="*/ 90 h 180"/>
                  <a:gd name="T74" fmla="*/ 25 w 179"/>
                  <a:gd name="T75" fmla="*/ 109 h 180"/>
                  <a:gd name="T76" fmla="*/ 29 w 179"/>
                  <a:gd name="T77" fmla="*/ 142 h 180"/>
                  <a:gd name="T78" fmla="*/ 48 w 179"/>
                  <a:gd name="T79" fmla="*/ 136 h 180"/>
                  <a:gd name="T80" fmla="*/ 75 w 179"/>
                  <a:gd name="T81" fmla="*/ 155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79" h="180">
                    <a:moveTo>
                      <a:pt x="111" y="180"/>
                    </a:moveTo>
                    <a:cubicBezTo>
                      <a:pt x="69" y="180"/>
                      <a:pt x="69" y="180"/>
                      <a:pt x="69" y="180"/>
                    </a:cubicBezTo>
                    <a:cubicBezTo>
                      <a:pt x="65" y="180"/>
                      <a:pt x="63" y="177"/>
                      <a:pt x="63" y="174"/>
                    </a:cubicBezTo>
                    <a:cubicBezTo>
                      <a:pt x="63" y="159"/>
                      <a:pt x="63" y="159"/>
                      <a:pt x="63" y="159"/>
                    </a:cubicBezTo>
                    <a:cubicBezTo>
                      <a:pt x="56" y="156"/>
                      <a:pt x="49" y="153"/>
                      <a:pt x="43" y="148"/>
                    </a:cubicBezTo>
                    <a:cubicBezTo>
                      <a:pt x="30" y="155"/>
                      <a:pt x="30" y="155"/>
                      <a:pt x="30" y="155"/>
                    </a:cubicBezTo>
                    <a:cubicBezTo>
                      <a:pt x="27" y="157"/>
                      <a:pt x="23" y="156"/>
                      <a:pt x="22" y="153"/>
                    </a:cubicBezTo>
                    <a:cubicBezTo>
                      <a:pt x="1" y="116"/>
                      <a:pt x="1" y="116"/>
                      <a:pt x="1" y="116"/>
                    </a:cubicBezTo>
                    <a:cubicBezTo>
                      <a:pt x="0" y="115"/>
                      <a:pt x="0" y="113"/>
                      <a:pt x="0" y="112"/>
                    </a:cubicBezTo>
                    <a:cubicBezTo>
                      <a:pt x="0" y="110"/>
                      <a:pt x="1" y="109"/>
                      <a:pt x="3" y="108"/>
                    </a:cubicBezTo>
                    <a:cubicBezTo>
                      <a:pt x="16" y="101"/>
                      <a:pt x="16" y="101"/>
                      <a:pt x="16" y="101"/>
                    </a:cubicBezTo>
                    <a:cubicBezTo>
                      <a:pt x="15" y="97"/>
                      <a:pt x="15" y="93"/>
                      <a:pt x="15" y="90"/>
                    </a:cubicBezTo>
                    <a:cubicBezTo>
                      <a:pt x="15" y="86"/>
                      <a:pt x="15" y="82"/>
                      <a:pt x="16" y="78"/>
                    </a:cubicBezTo>
                    <a:cubicBezTo>
                      <a:pt x="3" y="71"/>
                      <a:pt x="3" y="71"/>
                      <a:pt x="3" y="71"/>
                    </a:cubicBezTo>
                    <a:cubicBezTo>
                      <a:pt x="1" y="70"/>
                      <a:pt x="0" y="69"/>
                      <a:pt x="0" y="67"/>
                    </a:cubicBezTo>
                    <a:cubicBezTo>
                      <a:pt x="0" y="66"/>
                      <a:pt x="0" y="64"/>
                      <a:pt x="1" y="63"/>
                    </a:cubicBezTo>
                    <a:cubicBezTo>
                      <a:pt x="22" y="26"/>
                      <a:pt x="22" y="26"/>
                      <a:pt x="22" y="26"/>
                    </a:cubicBezTo>
                    <a:cubicBezTo>
                      <a:pt x="23" y="24"/>
                      <a:pt x="27" y="23"/>
                      <a:pt x="30" y="24"/>
                    </a:cubicBezTo>
                    <a:cubicBezTo>
                      <a:pt x="43" y="32"/>
                      <a:pt x="43" y="32"/>
                      <a:pt x="43" y="32"/>
                    </a:cubicBezTo>
                    <a:cubicBezTo>
                      <a:pt x="49" y="27"/>
                      <a:pt x="56" y="23"/>
                      <a:pt x="63" y="20"/>
                    </a:cubicBezTo>
                    <a:cubicBezTo>
                      <a:pt x="63" y="6"/>
                      <a:pt x="63" y="6"/>
                      <a:pt x="63" y="6"/>
                    </a:cubicBezTo>
                    <a:cubicBezTo>
                      <a:pt x="63" y="2"/>
                      <a:pt x="65" y="0"/>
                      <a:pt x="69" y="0"/>
                    </a:cubicBezTo>
                    <a:cubicBezTo>
                      <a:pt x="111" y="0"/>
                      <a:pt x="111" y="0"/>
                      <a:pt x="111" y="0"/>
                    </a:cubicBezTo>
                    <a:cubicBezTo>
                      <a:pt x="114" y="0"/>
                      <a:pt x="117" y="2"/>
                      <a:pt x="117" y="6"/>
                    </a:cubicBezTo>
                    <a:cubicBezTo>
                      <a:pt x="117" y="20"/>
                      <a:pt x="117" y="20"/>
                      <a:pt x="117" y="20"/>
                    </a:cubicBezTo>
                    <a:cubicBezTo>
                      <a:pt x="124" y="23"/>
                      <a:pt x="130" y="27"/>
                      <a:pt x="136" y="32"/>
                    </a:cubicBezTo>
                    <a:cubicBezTo>
                      <a:pt x="148" y="24"/>
                      <a:pt x="148" y="24"/>
                      <a:pt x="148" y="24"/>
                    </a:cubicBezTo>
                    <a:cubicBezTo>
                      <a:pt x="150" y="23"/>
                      <a:pt x="151" y="23"/>
                      <a:pt x="153" y="24"/>
                    </a:cubicBezTo>
                    <a:cubicBezTo>
                      <a:pt x="154" y="24"/>
                      <a:pt x="156" y="25"/>
                      <a:pt x="156" y="26"/>
                    </a:cubicBezTo>
                    <a:cubicBezTo>
                      <a:pt x="177" y="63"/>
                      <a:pt x="177" y="63"/>
                      <a:pt x="177" y="63"/>
                    </a:cubicBezTo>
                    <a:cubicBezTo>
                      <a:pt x="178" y="64"/>
                      <a:pt x="178" y="66"/>
                      <a:pt x="178" y="67"/>
                    </a:cubicBezTo>
                    <a:cubicBezTo>
                      <a:pt x="178" y="69"/>
                      <a:pt x="177" y="70"/>
                      <a:pt x="175" y="71"/>
                    </a:cubicBezTo>
                    <a:cubicBezTo>
                      <a:pt x="162" y="78"/>
                      <a:pt x="162" y="78"/>
                      <a:pt x="162" y="78"/>
                    </a:cubicBezTo>
                    <a:cubicBezTo>
                      <a:pt x="163" y="82"/>
                      <a:pt x="163" y="86"/>
                      <a:pt x="163" y="90"/>
                    </a:cubicBezTo>
                    <a:cubicBezTo>
                      <a:pt x="163" y="93"/>
                      <a:pt x="163" y="97"/>
                      <a:pt x="162" y="101"/>
                    </a:cubicBezTo>
                    <a:cubicBezTo>
                      <a:pt x="175" y="108"/>
                      <a:pt x="175" y="108"/>
                      <a:pt x="175" y="108"/>
                    </a:cubicBezTo>
                    <a:cubicBezTo>
                      <a:pt x="178" y="110"/>
                      <a:pt x="179" y="114"/>
                      <a:pt x="178" y="116"/>
                    </a:cubicBezTo>
                    <a:cubicBezTo>
                      <a:pt x="157" y="153"/>
                      <a:pt x="157" y="153"/>
                      <a:pt x="157" y="153"/>
                    </a:cubicBezTo>
                    <a:cubicBezTo>
                      <a:pt x="156" y="154"/>
                      <a:pt x="154" y="155"/>
                      <a:pt x="153" y="156"/>
                    </a:cubicBezTo>
                    <a:cubicBezTo>
                      <a:pt x="151" y="156"/>
                      <a:pt x="150" y="156"/>
                      <a:pt x="148" y="155"/>
                    </a:cubicBezTo>
                    <a:cubicBezTo>
                      <a:pt x="136" y="148"/>
                      <a:pt x="136" y="148"/>
                      <a:pt x="136" y="148"/>
                    </a:cubicBezTo>
                    <a:cubicBezTo>
                      <a:pt x="130" y="152"/>
                      <a:pt x="124" y="156"/>
                      <a:pt x="117" y="159"/>
                    </a:cubicBezTo>
                    <a:cubicBezTo>
                      <a:pt x="117" y="174"/>
                      <a:pt x="117" y="174"/>
                      <a:pt x="117" y="174"/>
                    </a:cubicBezTo>
                    <a:cubicBezTo>
                      <a:pt x="117" y="177"/>
                      <a:pt x="114" y="180"/>
                      <a:pt x="111" y="180"/>
                    </a:cubicBezTo>
                    <a:close/>
                    <a:moveTo>
                      <a:pt x="75" y="168"/>
                    </a:moveTo>
                    <a:cubicBezTo>
                      <a:pt x="105" y="168"/>
                      <a:pt x="105" y="168"/>
                      <a:pt x="105" y="168"/>
                    </a:cubicBezTo>
                    <a:cubicBezTo>
                      <a:pt x="105" y="155"/>
                      <a:pt x="105" y="155"/>
                      <a:pt x="105" y="155"/>
                    </a:cubicBezTo>
                    <a:cubicBezTo>
                      <a:pt x="105" y="152"/>
                      <a:pt x="107" y="150"/>
                      <a:pt x="109" y="149"/>
                    </a:cubicBezTo>
                    <a:cubicBezTo>
                      <a:pt x="118" y="146"/>
                      <a:pt x="124" y="142"/>
                      <a:pt x="131" y="136"/>
                    </a:cubicBezTo>
                    <a:cubicBezTo>
                      <a:pt x="133" y="134"/>
                      <a:pt x="136" y="134"/>
                      <a:pt x="138" y="135"/>
                    </a:cubicBezTo>
                    <a:cubicBezTo>
                      <a:pt x="149" y="142"/>
                      <a:pt x="149" y="142"/>
                      <a:pt x="149" y="142"/>
                    </a:cubicBezTo>
                    <a:cubicBezTo>
                      <a:pt x="164" y="116"/>
                      <a:pt x="164" y="116"/>
                      <a:pt x="164" y="116"/>
                    </a:cubicBezTo>
                    <a:cubicBezTo>
                      <a:pt x="153" y="109"/>
                      <a:pt x="153" y="109"/>
                      <a:pt x="153" y="109"/>
                    </a:cubicBezTo>
                    <a:cubicBezTo>
                      <a:pt x="151" y="108"/>
                      <a:pt x="149" y="105"/>
                      <a:pt x="150" y="103"/>
                    </a:cubicBezTo>
                    <a:cubicBezTo>
                      <a:pt x="151" y="99"/>
                      <a:pt x="151" y="94"/>
                      <a:pt x="151" y="90"/>
                    </a:cubicBezTo>
                    <a:cubicBezTo>
                      <a:pt x="151" y="85"/>
                      <a:pt x="151" y="81"/>
                      <a:pt x="150" y="77"/>
                    </a:cubicBezTo>
                    <a:cubicBezTo>
                      <a:pt x="149" y="74"/>
                      <a:pt x="150" y="71"/>
                      <a:pt x="153" y="70"/>
                    </a:cubicBezTo>
                    <a:cubicBezTo>
                      <a:pt x="164" y="64"/>
                      <a:pt x="164" y="64"/>
                      <a:pt x="164" y="64"/>
                    </a:cubicBezTo>
                    <a:cubicBezTo>
                      <a:pt x="149" y="38"/>
                      <a:pt x="149" y="38"/>
                      <a:pt x="149" y="38"/>
                    </a:cubicBezTo>
                    <a:cubicBezTo>
                      <a:pt x="138" y="44"/>
                      <a:pt x="138" y="44"/>
                      <a:pt x="138" y="44"/>
                    </a:cubicBezTo>
                    <a:cubicBezTo>
                      <a:pt x="136" y="46"/>
                      <a:pt x="133" y="45"/>
                      <a:pt x="131" y="43"/>
                    </a:cubicBezTo>
                    <a:cubicBezTo>
                      <a:pt x="124" y="37"/>
                      <a:pt x="118" y="33"/>
                      <a:pt x="109" y="30"/>
                    </a:cubicBezTo>
                    <a:cubicBezTo>
                      <a:pt x="107" y="30"/>
                      <a:pt x="105" y="27"/>
                      <a:pt x="105" y="25"/>
                    </a:cubicBezTo>
                    <a:cubicBezTo>
                      <a:pt x="105" y="12"/>
                      <a:pt x="105" y="12"/>
                      <a:pt x="105" y="12"/>
                    </a:cubicBezTo>
                    <a:cubicBezTo>
                      <a:pt x="75" y="12"/>
                      <a:pt x="75" y="12"/>
                      <a:pt x="75" y="12"/>
                    </a:cubicBezTo>
                    <a:cubicBezTo>
                      <a:pt x="75" y="25"/>
                      <a:pt x="75" y="25"/>
                      <a:pt x="75" y="25"/>
                    </a:cubicBezTo>
                    <a:cubicBezTo>
                      <a:pt x="75" y="27"/>
                      <a:pt x="73" y="30"/>
                      <a:pt x="70" y="30"/>
                    </a:cubicBezTo>
                    <a:cubicBezTo>
                      <a:pt x="62" y="33"/>
                      <a:pt x="55" y="37"/>
                      <a:pt x="48" y="43"/>
                    </a:cubicBezTo>
                    <a:cubicBezTo>
                      <a:pt x="46" y="45"/>
                      <a:pt x="43" y="46"/>
                      <a:pt x="41" y="44"/>
                    </a:cubicBezTo>
                    <a:cubicBezTo>
                      <a:pt x="29" y="38"/>
                      <a:pt x="29" y="38"/>
                      <a:pt x="29" y="38"/>
                    </a:cubicBezTo>
                    <a:cubicBezTo>
                      <a:pt x="14" y="64"/>
                      <a:pt x="14" y="64"/>
                      <a:pt x="14" y="64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8" y="71"/>
                      <a:pt x="29" y="74"/>
                      <a:pt x="28" y="77"/>
                    </a:cubicBezTo>
                    <a:cubicBezTo>
                      <a:pt x="27" y="81"/>
                      <a:pt x="27" y="85"/>
                      <a:pt x="27" y="90"/>
                    </a:cubicBezTo>
                    <a:cubicBezTo>
                      <a:pt x="27" y="94"/>
                      <a:pt x="27" y="98"/>
                      <a:pt x="28" y="103"/>
                    </a:cubicBezTo>
                    <a:cubicBezTo>
                      <a:pt x="29" y="105"/>
                      <a:pt x="28" y="108"/>
                      <a:pt x="25" y="109"/>
                    </a:cubicBezTo>
                    <a:cubicBezTo>
                      <a:pt x="14" y="116"/>
                      <a:pt x="14" y="116"/>
                      <a:pt x="14" y="116"/>
                    </a:cubicBezTo>
                    <a:cubicBezTo>
                      <a:pt x="29" y="142"/>
                      <a:pt x="29" y="142"/>
                      <a:pt x="29" y="142"/>
                    </a:cubicBezTo>
                    <a:cubicBezTo>
                      <a:pt x="41" y="135"/>
                      <a:pt x="41" y="135"/>
                      <a:pt x="41" y="135"/>
                    </a:cubicBezTo>
                    <a:cubicBezTo>
                      <a:pt x="43" y="134"/>
                      <a:pt x="46" y="134"/>
                      <a:pt x="48" y="136"/>
                    </a:cubicBezTo>
                    <a:cubicBezTo>
                      <a:pt x="55" y="142"/>
                      <a:pt x="62" y="146"/>
                      <a:pt x="70" y="149"/>
                    </a:cubicBezTo>
                    <a:cubicBezTo>
                      <a:pt x="73" y="150"/>
                      <a:pt x="75" y="152"/>
                      <a:pt x="75" y="155"/>
                    </a:cubicBezTo>
                    <a:lnTo>
                      <a:pt x="75" y="1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</p:grpSp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EC26AC41-4A62-0B7A-C481-A883341FB772}"/>
              </a:ext>
            </a:extLst>
          </p:cNvPr>
          <p:cNvGrpSpPr/>
          <p:nvPr/>
        </p:nvGrpSpPr>
        <p:grpSpPr>
          <a:xfrm>
            <a:off x="842238" y="3345371"/>
            <a:ext cx="365760" cy="365760"/>
            <a:chOff x="-1057941" y="2486722"/>
            <a:chExt cx="365760" cy="365760"/>
          </a:xfrm>
        </p:grpSpPr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F317531C-53FE-B82D-2E94-6045A7488794}"/>
                </a:ext>
              </a:extLst>
            </p:cNvPr>
            <p:cNvSpPr/>
            <p:nvPr/>
          </p:nvSpPr>
          <p:spPr>
            <a:xfrm>
              <a:off x="-1057941" y="2486722"/>
              <a:ext cx="365760" cy="365760"/>
            </a:xfrm>
            <a:prstGeom prst="ellipse">
              <a:avLst/>
            </a:prstGeom>
            <a:solidFill>
              <a:srgbClr val="00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8E9A4EB0-6C23-E42B-31D9-1BD0BA74EBB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-957502" y="2531495"/>
              <a:ext cx="164883" cy="276214"/>
              <a:chOff x="579438" y="3989388"/>
              <a:chExt cx="371475" cy="622300"/>
            </a:xfrm>
            <a:solidFill>
              <a:schemeClr val="bg1"/>
            </a:solidFill>
          </p:grpSpPr>
          <p:sp>
            <p:nvSpPr>
              <p:cNvPr id="163" name="Freeform 9">
                <a:extLst>
                  <a:ext uri="{FF2B5EF4-FFF2-40B4-BE49-F238E27FC236}">
                    <a16:creationId xmlns:a16="http://schemas.microsoft.com/office/drawing/2014/main" id="{6795A7C9-9C8C-B4C1-C533-66E60469F4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9438" y="3989388"/>
                <a:ext cx="371475" cy="622300"/>
              </a:xfrm>
              <a:custGeom>
                <a:avLst/>
                <a:gdLst>
                  <a:gd name="T0" fmla="*/ 46 w 56"/>
                  <a:gd name="T1" fmla="*/ 0 h 96"/>
                  <a:gd name="T2" fmla="*/ 10 w 56"/>
                  <a:gd name="T3" fmla="*/ 0 h 96"/>
                  <a:gd name="T4" fmla="*/ 0 w 56"/>
                  <a:gd name="T5" fmla="*/ 10 h 96"/>
                  <a:gd name="T6" fmla="*/ 0 w 56"/>
                  <a:gd name="T7" fmla="*/ 86 h 96"/>
                  <a:gd name="T8" fmla="*/ 10 w 56"/>
                  <a:gd name="T9" fmla="*/ 96 h 96"/>
                  <a:gd name="T10" fmla="*/ 46 w 56"/>
                  <a:gd name="T11" fmla="*/ 96 h 96"/>
                  <a:gd name="T12" fmla="*/ 56 w 56"/>
                  <a:gd name="T13" fmla="*/ 86 h 96"/>
                  <a:gd name="T14" fmla="*/ 56 w 56"/>
                  <a:gd name="T15" fmla="*/ 10 h 96"/>
                  <a:gd name="T16" fmla="*/ 46 w 56"/>
                  <a:gd name="T17" fmla="*/ 0 h 96"/>
                  <a:gd name="T18" fmla="*/ 4 w 56"/>
                  <a:gd name="T19" fmla="*/ 20 h 96"/>
                  <a:gd name="T20" fmla="*/ 52 w 56"/>
                  <a:gd name="T21" fmla="*/ 20 h 96"/>
                  <a:gd name="T22" fmla="*/ 52 w 56"/>
                  <a:gd name="T23" fmla="*/ 76 h 96"/>
                  <a:gd name="T24" fmla="*/ 4 w 56"/>
                  <a:gd name="T25" fmla="*/ 76 h 96"/>
                  <a:gd name="T26" fmla="*/ 4 w 56"/>
                  <a:gd name="T27" fmla="*/ 20 h 96"/>
                  <a:gd name="T28" fmla="*/ 10 w 56"/>
                  <a:gd name="T29" fmla="*/ 4 h 96"/>
                  <a:gd name="T30" fmla="*/ 46 w 56"/>
                  <a:gd name="T31" fmla="*/ 4 h 96"/>
                  <a:gd name="T32" fmla="*/ 52 w 56"/>
                  <a:gd name="T33" fmla="*/ 10 h 96"/>
                  <a:gd name="T34" fmla="*/ 52 w 56"/>
                  <a:gd name="T35" fmla="*/ 16 h 96"/>
                  <a:gd name="T36" fmla="*/ 4 w 56"/>
                  <a:gd name="T37" fmla="*/ 16 h 96"/>
                  <a:gd name="T38" fmla="*/ 4 w 56"/>
                  <a:gd name="T39" fmla="*/ 10 h 96"/>
                  <a:gd name="T40" fmla="*/ 10 w 56"/>
                  <a:gd name="T41" fmla="*/ 4 h 96"/>
                  <a:gd name="T42" fmla="*/ 46 w 56"/>
                  <a:gd name="T43" fmla="*/ 92 h 96"/>
                  <a:gd name="T44" fmla="*/ 10 w 56"/>
                  <a:gd name="T45" fmla="*/ 92 h 96"/>
                  <a:gd name="T46" fmla="*/ 4 w 56"/>
                  <a:gd name="T47" fmla="*/ 86 h 96"/>
                  <a:gd name="T48" fmla="*/ 4 w 56"/>
                  <a:gd name="T49" fmla="*/ 80 h 96"/>
                  <a:gd name="T50" fmla="*/ 52 w 56"/>
                  <a:gd name="T51" fmla="*/ 80 h 96"/>
                  <a:gd name="T52" fmla="*/ 52 w 56"/>
                  <a:gd name="T53" fmla="*/ 86 h 96"/>
                  <a:gd name="T54" fmla="*/ 46 w 56"/>
                  <a:gd name="T55" fmla="*/ 9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56" h="96">
                    <a:moveTo>
                      <a:pt x="46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0" y="92"/>
                      <a:pt x="4" y="96"/>
                      <a:pt x="10" y="96"/>
                    </a:cubicBezTo>
                    <a:cubicBezTo>
                      <a:pt x="46" y="96"/>
                      <a:pt x="46" y="96"/>
                      <a:pt x="46" y="96"/>
                    </a:cubicBezTo>
                    <a:cubicBezTo>
                      <a:pt x="52" y="96"/>
                      <a:pt x="56" y="92"/>
                      <a:pt x="56" y="86"/>
                    </a:cubicBezTo>
                    <a:cubicBezTo>
                      <a:pt x="56" y="10"/>
                      <a:pt x="56" y="10"/>
                      <a:pt x="56" y="10"/>
                    </a:cubicBezTo>
                    <a:cubicBezTo>
                      <a:pt x="56" y="4"/>
                      <a:pt x="52" y="0"/>
                      <a:pt x="46" y="0"/>
                    </a:cubicBezTo>
                    <a:close/>
                    <a:moveTo>
                      <a:pt x="4" y="20"/>
                    </a:moveTo>
                    <a:cubicBezTo>
                      <a:pt x="52" y="20"/>
                      <a:pt x="52" y="20"/>
                      <a:pt x="52" y="20"/>
                    </a:cubicBezTo>
                    <a:cubicBezTo>
                      <a:pt x="52" y="76"/>
                      <a:pt x="52" y="76"/>
                      <a:pt x="52" y="76"/>
                    </a:cubicBezTo>
                    <a:cubicBezTo>
                      <a:pt x="4" y="76"/>
                      <a:pt x="4" y="76"/>
                      <a:pt x="4" y="76"/>
                    </a:cubicBezTo>
                    <a:lnTo>
                      <a:pt x="4" y="20"/>
                    </a:lnTo>
                    <a:close/>
                    <a:moveTo>
                      <a:pt x="10" y="4"/>
                    </a:moveTo>
                    <a:cubicBezTo>
                      <a:pt x="46" y="4"/>
                      <a:pt x="46" y="4"/>
                      <a:pt x="46" y="4"/>
                    </a:cubicBezTo>
                    <a:cubicBezTo>
                      <a:pt x="49" y="4"/>
                      <a:pt x="52" y="7"/>
                      <a:pt x="52" y="10"/>
                    </a:cubicBezTo>
                    <a:cubicBezTo>
                      <a:pt x="52" y="16"/>
                      <a:pt x="52" y="16"/>
                      <a:pt x="52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lose/>
                    <a:moveTo>
                      <a:pt x="46" y="92"/>
                    </a:moveTo>
                    <a:cubicBezTo>
                      <a:pt x="10" y="92"/>
                      <a:pt x="10" y="92"/>
                      <a:pt x="10" y="92"/>
                    </a:cubicBezTo>
                    <a:cubicBezTo>
                      <a:pt x="7" y="92"/>
                      <a:pt x="4" y="89"/>
                      <a:pt x="4" y="86"/>
                    </a:cubicBezTo>
                    <a:cubicBezTo>
                      <a:pt x="4" y="80"/>
                      <a:pt x="4" y="80"/>
                      <a:pt x="4" y="80"/>
                    </a:cubicBezTo>
                    <a:cubicBezTo>
                      <a:pt x="52" y="80"/>
                      <a:pt x="52" y="80"/>
                      <a:pt x="52" y="80"/>
                    </a:cubicBezTo>
                    <a:cubicBezTo>
                      <a:pt x="52" y="86"/>
                      <a:pt x="52" y="86"/>
                      <a:pt x="52" y="86"/>
                    </a:cubicBezTo>
                    <a:cubicBezTo>
                      <a:pt x="52" y="89"/>
                      <a:pt x="49" y="92"/>
                      <a:pt x="46" y="9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164" name="Freeform 10">
                <a:extLst>
                  <a:ext uri="{FF2B5EF4-FFF2-40B4-BE49-F238E27FC236}">
                    <a16:creationId xmlns:a16="http://schemas.microsoft.com/office/drawing/2014/main" id="{AB31C8C5-1150-5693-9FBF-BDF9E056F3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5800" y="4041775"/>
                <a:ext cx="158750" cy="25400"/>
              </a:xfrm>
              <a:custGeom>
                <a:avLst/>
                <a:gdLst>
                  <a:gd name="T0" fmla="*/ 2 w 24"/>
                  <a:gd name="T1" fmla="*/ 4 h 4"/>
                  <a:gd name="T2" fmla="*/ 22 w 24"/>
                  <a:gd name="T3" fmla="*/ 4 h 4"/>
                  <a:gd name="T4" fmla="*/ 24 w 24"/>
                  <a:gd name="T5" fmla="*/ 2 h 4"/>
                  <a:gd name="T6" fmla="*/ 22 w 24"/>
                  <a:gd name="T7" fmla="*/ 0 h 4"/>
                  <a:gd name="T8" fmla="*/ 2 w 24"/>
                  <a:gd name="T9" fmla="*/ 0 h 4"/>
                  <a:gd name="T10" fmla="*/ 0 w 24"/>
                  <a:gd name="T11" fmla="*/ 2 h 4"/>
                  <a:gd name="T12" fmla="*/ 2 w 24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4">
                    <a:moveTo>
                      <a:pt x="2" y="4"/>
                    </a:moveTo>
                    <a:cubicBezTo>
                      <a:pt x="22" y="4"/>
                      <a:pt x="22" y="4"/>
                      <a:pt x="22" y="4"/>
                    </a:cubicBezTo>
                    <a:cubicBezTo>
                      <a:pt x="23" y="4"/>
                      <a:pt x="24" y="3"/>
                      <a:pt x="24" y="2"/>
                    </a:cubicBezTo>
                    <a:cubicBezTo>
                      <a:pt x="24" y="1"/>
                      <a:pt x="23" y="0"/>
                      <a:pt x="2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165" name="Freeform 11">
                <a:extLst>
                  <a:ext uri="{FF2B5EF4-FFF2-40B4-BE49-F238E27FC236}">
                    <a16:creationId xmlns:a16="http://schemas.microsoft.com/office/drawing/2014/main" id="{4A83C60C-0B95-7727-8926-551368C496A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8188" y="4521200"/>
                <a:ext cx="53975" cy="52388"/>
              </a:xfrm>
              <a:custGeom>
                <a:avLst/>
                <a:gdLst>
                  <a:gd name="T0" fmla="*/ 4 w 8"/>
                  <a:gd name="T1" fmla="*/ 0 h 8"/>
                  <a:gd name="T2" fmla="*/ 0 w 8"/>
                  <a:gd name="T3" fmla="*/ 4 h 8"/>
                  <a:gd name="T4" fmla="*/ 4 w 8"/>
                  <a:gd name="T5" fmla="*/ 8 h 8"/>
                  <a:gd name="T6" fmla="*/ 8 w 8"/>
                  <a:gd name="T7" fmla="*/ 4 h 8"/>
                  <a:gd name="T8" fmla="*/ 4 w 8"/>
                  <a:gd name="T9" fmla="*/ 0 h 8"/>
                  <a:gd name="T10" fmla="*/ 4 w 8"/>
                  <a:gd name="T11" fmla="*/ 6 h 8"/>
                  <a:gd name="T12" fmla="*/ 4 w 8"/>
                  <a:gd name="T13" fmla="*/ 4 h 8"/>
                  <a:gd name="T14" fmla="*/ 4 w 8"/>
                  <a:gd name="T15" fmla="*/ 4 h 8"/>
                  <a:gd name="T16" fmla="*/ 4 w 8"/>
                  <a:gd name="T17" fmla="*/ 6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" h="8">
                    <a:moveTo>
                      <a:pt x="4" y="0"/>
                    </a:move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2" y="8"/>
                      <a:pt x="4" y="8"/>
                    </a:cubicBezTo>
                    <a:cubicBezTo>
                      <a:pt x="6" y="8"/>
                      <a:pt x="8" y="6"/>
                      <a:pt x="8" y="4"/>
                    </a:cubicBezTo>
                    <a:cubicBezTo>
                      <a:pt x="8" y="2"/>
                      <a:pt x="6" y="0"/>
                      <a:pt x="4" y="0"/>
                    </a:cubicBezTo>
                    <a:close/>
                    <a:moveTo>
                      <a:pt x="4" y="6"/>
                    </a:move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lnTo>
                      <a:pt x="4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166" name="Freeform 12">
                <a:extLst>
                  <a:ext uri="{FF2B5EF4-FFF2-40B4-BE49-F238E27FC236}">
                    <a16:creationId xmlns:a16="http://schemas.microsoft.com/office/drawing/2014/main" id="{F702F48A-930D-E63E-A165-DCB7920C09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813" y="4171950"/>
                <a:ext cx="212725" cy="25400"/>
              </a:xfrm>
              <a:custGeom>
                <a:avLst/>
                <a:gdLst>
                  <a:gd name="T0" fmla="*/ 2 w 32"/>
                  <a:gd name="T1" fmla="*/ 4 h 4"/>
                  <a:gd name="T2" fmla="*/ 30 w 32"/>
                  <a:gd name="T3" fmla="*/ 4 h 4"/>
                  <a:gd name="T4" fmla="*/ 32 w 32"/>
                  <a:gd name="T5" fmla="*/ 2 h 4"/>
                  <a:gd name="T6" fmla="*/ 30 w 32"/>
                  <a:gd name="T7" fmla="*/ 0 h 4"/>
                  <a:gd name="T8" fmla="*/ 2 w 32"/>
                  <a:gd name="T9" fmla="*/ 0 h 4"/>
                  <a:gd name="T10" fmla="*/ 0 w 32"/>
                  <a:gd name="T11" fmla="*/ 2 h 4"/>
                  <a:gd name="T12" fmla="*/ 2 w 3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4">
                    <a:moveTo>
                      <a:pt x="2" y="4"/>
                    </a:moveTo>
                    <a:cubicBezTo>
                      <a:pt x="30" y="4"/>
                      <a:pt x="30" y="4"/>
                      <a:pt x="30" y="4"/>
                    </a:cubicBezTo>
                    <a:cubicBezTo>
                      <a:pt x="31" y="4"/>
                      <a:pt x="32" y="3"/>
                      <a:pt x="32" y="2"/>
                    </a:cubicBezTo>
                    <a:cubicBezTo>
                      <a:pt x="32" y="1"/>
                      <a:pt x="31" y="0"/>
                      <a:pt x="30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167" name="Freeform 13">
                <a:extLst>
                  <a:ext uri="{FF2B5EF4-FFF2-40B4-BE49-F238E27FC236}">
                    <a16:creationId xmlns:a16="http://schemas.microsoft.com/office/drawing/2014/main" id="{18987240-C8FB-3BDB-4939-DB169762A5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813" y="4222750"/>
                <a:ext cx="212725" cy="26988"/>
              </a:xfrm>
              <a:custGeom>
                <a:avLst/>
                <a:gdLst>
                  <a:gd name="T0" fmla="*/ 30 w 32"/>
                  <a:gd name="T1" fmla="*/ 0 h 4"/>
                  <a:gd name="T2" fmla="*/ 2 w 32"/>
                  <a:gd name="T3" fmla="*/ 0 h 4"/>
                  <a:gd name="T4" fmla="*/ 0 w 32"/>
                  <a:gd name="T5" fmla="*/ 2 h 4"/>
                  <a:gd name="T6" fmla="*/ 2 w 32"/>
                  <a:gd name="T7" fmla="*/ 4 h 4"/>
                  <a:gd name="T8" fmla="*/ 30 w 32"/>
                  <a:gd name="T9" fmla="*/ 4 h 4"/>
                  <a:gd name="T10" fmla="*/ 32 w 32"/>
                  <a:gd name="T11" fmla="*/ 2 h 4"/>
                  <a:gd name="T12" fmla="*/ 30 w 32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4">
                    <a:moveTo>
                      <a:pt x="30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1" y="4"/>
                      <a:pt x="32" y="3"/>
                      <a:pt x="32" y="2"/>
                    </a:cubicBezTo>
                    <a:cubicBezTo>
                      <a:pt x="32" y="1"/>
                      <a:pt x="31" y="0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168" name="Freeform 14">
                <a:extLst>
                  <a:ext uri="{FF2B5EF4-FFF2-40B4-BE49-F238E27FC236}">
                    <a16:creationId xmlns:a16="http://schemas.microsoft.com/office/drawing/2014/main" id="{F91C3656-048D-DD21-DFEF-D3A049C75E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813" y="4275138"/>
                <a:ext cx="212725" cy="25400"/>
              </a:xfrm>
              <a:custGeom>
                <a:avLst/>
                <a:gdLst>
                  <a:gd name="T0" fmla="*/ 30 w 32"/>
                  <a:gd name="T1" fmla="*/ 0 h 4"/>
                  <a:gd name="T2" fmla="*/ 2 w 32"/>
                  <a:gd name="T3" fmla="*/ 0 h 4"/>
                  <a:gd name="T4" fmla="*/ 0 w 32"/>
                  <a:gd name="T5" fmla="*/ 2 h 4"/>
                  <a:gd name="T6" fmla="*/ 2 w 32"/>
                  <a:gd name="T7" fmla="*/ 4 h 4"/>
                  <a:gd name="T8" fmla="*/ 30 w 32"/>
                  <a:gd name="T9" fmla="*/ 4 h 4"/>
                  <a:gd name="T10" fmla="*/ 32 w 32"/>
                  <a:gd name="T11" fmla="*/ 2 h 4"/>
                  <a:gd name="T12" fmla="*/ 30 w 32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4">
                    <a:moveTo>
                      <a:pt x="30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1" y="4"/>
                      <a:pt x="32" y="3"/>
                      <a:pt x="32" y="2"/>
                    </a:cubicBezTo>
                    <a:cubicBezTo>
                      <a:pt x="32" y="1"/>
                      <a:pt x="31" y="0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169" name="Freeform 15">
                <a:extLst>
                  <a:ext uri="{FF2B5EF4-FFF2-40B4-BE49-F238E27FC236}">
                    <a16:creationId xmlns:a16="http://schemas.microsoft.com/office/drawing/2014/main" id="{1FA83495-E892-56D8-CDFC-CD485E8C23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813" y="4325938"/>
                <a:ext cx="212725" cy="26988"/>
              </a:xfrm>
              <a:custGeom>
                <a:avLst/>
                <a:gdLst>
                  <a:gd name="T0" fmla="*/ 30 w 32"/>
                  <a:gd name="T1" fmla="*/ 0 h 4"/>
                  <a:gd name="T2" fmla="*/ 2 w 32"/>
                  <a:gd name="T3" fmla="*/ 0 h 4"/>
                  <a:gd name="T4" fmla="*/ 0 w 32"/>
                  <a:gd name="T5" fmla="*/ 2 h 4"/>
                  <a:gd name="T6" fmla="*/ 2 w 32"/>
                  <a:gd name="T7" fmla="*/ 4 h 4"/>
                  <a:gd name="T8" fmla="*/ 30 w 32"/>
                  <a:gd name="T9" fmla="*/ 4 h 4"/>
                  <a:gd name="T10" fmla="*/ 32 w 32"/>
                  <a:gd name="T11" fmla="*/ 2 h 4"/>
                  <a:gd name="T12" fmla="*/ 30 w 32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4">
                    <a:moveTo>
                      <a:pt x="30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1" y="4"/>
                      <a:pt x="32" y="3"/>
                      <a:pt x="32" y="2"/>
                    </a:cubicBezTo>
                    <a:cubicBezTo>
                      <a:pt x="32" y="1"/>
                      <a:pt x="31" y="0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170" name="Freeform 16">
                <a:extLst>
                  <a:ext uri="{FF2B5EF4-FFF2-40B4-BE49-F238E27FC236}">
                    <a16:creationId xmlns:a16="http://schemas.microsoft.com/office/drawing/2014/main" id="{097F4E60-E30E-AA7D-EE88-DC1EAF0575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813" y="4378325"/>
                <a:ext cx="133350" cy="25400"/>
              </a:xfrm>
              <a:custGeom>
                <a:avLst/>
                <a:gdLst>
                  <a:gd name="T0" fmla="*/ 18 w 20"/>
                  <a:gd name="T1" fmla="*/ 0 h 4"/>
                  <a:gd name="T2" fmla="*/ 2 w 20"/>
                  <a:gd name="T3" fmla="*/ 0 h 4"/>
                  <a:gd name="T4" fmla="*/ 0 w 20"/>
                  <a:gd name="T5" fmla="*/ 2 h 4"/>
                  <a:gd name="T6" fmla="*/ 2 w 20"/>
                  <a:gd name="T7" fmla="*/ 4 h 4"/>
                  <a:gd name="T8" fmla="*/ 18 w 20"/>
                  <a:gd name="T9" fmla="*/ 4 h 4"/>
                  <a:gd name="T10" fmla="*/ 20 w 20"/>
                  <a:gd name="T11" fmla="*/ 2 h 4"/>
                  <a:gd name="T12" fmla="*/ 18 w 20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4">
                    <a:moveTo>
                      <a:pt x="18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9" y="4"/>
                      <a:pt x="20" y="3"/>
                      <a:pt x="20" y="2"/>
                    </a:cubicBezTo>
                    <a:cubicBezTo>
                      <a:pt x="20" y="1"/>
                      <a:pt x="19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</p:grpSp>
      </p:grpSp>
      <p:sp>
        <p:nvSpPr>
          <p:cNvPr id="388" name="Rectangle: Rounded Corners 387">
            <a:extLst>
              <a:ext uri="{FF2B5EF4-FFF2-40B4-BE49-F238E27FC236}">
                <a16:creationId xmlns:a16="http://schemas.microsoft.com/office/drawing/2014/main" id="{7705984C-5268-85D3-3E5C-AF7E4B7186D5}"/>
              </a:ext>
            </a:extLst>
          </p:cNvPr>
          <p:cNvSpPr/>
          <p:nvPr/>
        </p:nvSpPr>
        <p:spPr>
          <a:xfrm>
            <a:off x="2220808" y="6340328"/>
            <a:ext cx="6072592" cy="464477"/>
          </a:xfrm>
          <a:prstGeom prst="round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grpSp>
        <p:nvGrpSpPr>
          <p:cNvPr id="389" name="Group 143">
            <a:extLst>
              <a:ext uri="{FF2B5EF4-FFF2-40B4-BE49-F238E27FC236}">
                <a16:creationId xmlns:a16="http://schemas.microsoft.com/office/drawing/2014/main" id="{C51E173F-0F66-3E70-CFBE-DFDF4DB2D45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379035" y="6458529"/>
            <a:ext cx="222090" cy="228075"/>
            <a:chOff x="6565" y="1732"/>
            <a:chExt cx="371" cy="381"/>
          </a:xfrm>
          <a:solidFill>
            <a:srgbClr val="000000"/>
          </a:solidFill>
        </p:grpSpPr>
        <p:sp>
          <p:nvSpPr>
            <p:cNvPr id="390" name="Freeform 144">
              <a:extLst>
                <a:ext uri="{FF2B5EF4-FFF2-40B4-BE49-F238E27FC236}">
                  <a16:creationId xmlns:a16="http://schemas.microsoft.com/office/drawing/2014/main" id="{C476D29F-66D0-059C-C6D5-9A8D30A7C5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5" y="1846"/>
              <a:ext cx="271" cy="71"/>
            </a:xfrm>
            <a:custGeom>
              <a:avLst/>
              <a:gdLst>
                <a:gd name="T0" fmla="*/ 177 w 183"/>
                <a:gd name="T1" fmla="*/ 47 h 48"/>
                <a:gd name="T2" fmla="*/ 172 w 183"/>
                <a:gd name="T3" fmla="*/ 46 h 48"/>
                <a:gd name="T4" fmla="*/ 92 w 183"/>
                <a:gd name="T5" fmla="*/ 12 h 48"/>
                <a:gd name="T6" fmla="*/ 92 w 183"/>
                <a:gd name="T7" fmla="*/ 12 h 48"/>
                <a:gd name="T8" fmla="*/ 11 w 183"/>
                <a:gd name="T9" fmla="*/ 46 h 48"/>
                <a:gd name="T10" fmla="*/ 3 w 183"/>
                <a:gd name="T11" fmla="*/ 46 h 48"/>
                <a:gd name="T12" fmla="*/ 3 w 183"/>
                <a:gd name="T13" fmla="*/ 37 h 48"/>
                <a:gd name="T14" fmla="*/ 92 w 183"/>
                <a:gd name="T15" fmla="*/ 0 h 48"/>
                <a:gd name="T16" fmla="*/ 92 w 183"/>
                <a:gd name="T17" fmla="*/ 0 h 48"/>
                <a:gd name="T18" fmla="*/ 181 w 183"/>
                <a:gd name="T19" fmla="*/ 37 h 48"/>
                <a:gd name="T20" fmla="*/ 181 w 183"/>
                <a:gd name="T21" fmla="*/ 46 h 48"/>
                <a:gd name="T22" fmla="*/ 177 w 183"/>
                <a:gd name="T23" fmla="*/ 47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3" h="48">
                  <a:moveTo>
                    <a:pt x="177" y="47"/>
                  </a:moveTo>
                  <a:cubicBezTo>
                    <a:pt x="175" y="47"/>
                    <a:pt x="174" y="47"/>
                    <a:pt x="172" y="46"/>
                  </a:cubicBezTo>
                  <a:cubicBezTo>
                    <a:pt x="151" y="24"/>
                    <a:pt x="12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61" y="12"/>
                    <a:pt x="33" y="24"/>
                    <a:pt x="11" y="46"/>
                  </a:cubicBezTo>
                  <a:cubicBezTo>
                    <a:pt x="9" y="48"/>
                    <a:pt x="5" y="48"/>
                    <a:pt x="3" y="46"/>
                  </a:cubicBezTo>
                  <a:cubicBezTo>
                    <a:pt x="0" y="43"/>
                    <a:pt x="0" y="39"/>
                    <a:pt x="3" y="37"/>
                  </a:cubicBezTo>
                  <a:cubicBezTo>
                    <a:pt x="27" y="13"/>
                    <a:pt x="58" y="0"/>
                    <a:pt x="92" y="0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126" y="0"/>
                    <a:pt x="157" y="13"/>
                    <a:pt x="181" y="37"/>
                  </a:cubicBezTo>
                  <a:cubicBezTo>
                    <a:pt x="183" y="39"/>
                    <a:pt x="183" y="43"/>
                    <a:pt x="181" y="46"/>
                  </a:cubicBezTo>
                  <a:cubicBezTo>
                    <a:pt x="180" y="47"/>
                    <a:pt x="178" y="47"/>
                    <a:pt x="177" y="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391" name="Freeform 145">
              <a:extLst>
                <a:ext uri="{FF2B5EF4-FFF2-40B4-BE49-F238E27FC236}">
                  <a16:creationId xmlns:a16="http://schemas.microsoft.com/office/drawing/2014/main" id="{BDAB8D39-C83F-02D8-81E2-47E180821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5" y="1732"/>
              <a:ext cx="371" cy="117"/>
            </a:xfrm>
            <a:custGeom>
              <a:avLst/>
              <a:gdLst>
                <a:gd name="T0" fmla="*/ 245 w 251"/>
                <a:gd name="T1" fmla="*/ 78 h 79"/>
                <a:gd name="T2" fmla="*/ 240 w 251"/>
                <a:gd name="T3" fmla="*/ 77 h 79"/>
                <a:gd name="T4" fmla="*/ 11 w 251"/>
                <a:gd name="T5" fmla="*/ 77 h 79"/>
                <a:gd name="T6" fmla="*/ 3 w 251"/>
                <a:gd name="T7" fmla="*/ 77 h 79"/>
                <a:gd name="T8" fmla="*/ 3 w 251"/>
                <a:gd name="T9" fmla="*/ 68 h 79"/>
                <a:gd name="T10" fmla="*/ 249 w 251"/>
                <a:gd name="T11" fmla="*/ 68 h 79"/>
                <a:gd name="T12" fmla="*/ 249 w 251"/>
                <a:gd name="T13" fmla="*/ 77 h 79"/>
                <a:gd name="T14" fmla="*/ 245 w 251"/>
                <a:gd name="T15" fmla="*/ 78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79">
                  <a:moveTo>
                    <a:pt x="245" y="78"/>
                  </a:moveTo>
                  <a:cubicBezTo>
                    <a:pt x="243" y="78"/>
                    <a:pt x="242" y="78"/>
                    <a:pt x="240" y="77"/>
                  </a:cubicBezTo>
                  <a:cubicBezTo>
                    <a:pt x="177" y="13"/>
                    <a:pt x="74" y="13"/>
                    <a:pt x="11" y="77"/>
                  </a:cubicBezTo>
                  <a:cubicBezTo>
                    <a:pt x="9" y="79"/>
                    <a:pt x="5" y="79"/>
                    <a:pt x="3" y="77"/>
                  </a:cubicBezTo>
                  <a:cubicBezTo>
                    <a:pt x="0" y="74"/>
                    <a:pt x="0" y="71"/>
                    <a:pt x="3" y="68"/>
                  </a:cubicBezTo>
                  <a:cubicBezTo>
                    <a:pt x="71" y="0"/>
                    <a:pt x="181" y="0"/>
                    <a:pt x="249" y="68"/>
                  </a:cubicBezTo>
                  <a:cubicBezTo>
                    <a:pt x="251" y="71"/>
                    <a:pt x="251" y="74"/>
                    <a:pt x="249" y="77"/>
                  </a:cubicBezTo>
                  <a:cubicBezTo>
                    <a:pt x="248" y="78"/>
                    <a:pt x="246" y="78"/>
                    <a:pt x="245" y="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392" name="Freeform 146">
              <a:extLst>
                <a:ext uri="{FF2B5EF4-FFF2-40B4-BE49-F238E27FC236}">
                  <a16:creationId xmlns:a16="http://schemas.microsoft.com/office/drawing/2014/main" id="{CB724F92-218B-A533-7FA1-D4E0492490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6" y="1925"/>
              <a:ext cx="170" cy="60"/>
            </a:xfrm>
            <a:custGeom>
              <a:avLst/>
              <a:gdLst>
                <a:gd name="T0" fmla="*/ 109 w 115"/>
                <a:gd name="T1" fmla="*/ 40 h 41"/>
                <a:gd name="T2" fmla="*/ 105 w 115"/>
                <a:gd name="T3" fmla="*/ 39 h 41"/>
                <a:gd name="T4" fmla="*/ 11 w 115"/>
                <a:gd name="T5" fmla="*/ 39 h 41"/>
                <a:gd name="T6" fmla="*/ 3 w 115"/>
                <a:gd name="T7" fmla="*/ 39 h 41"/>
                <a:gd name="T8" fmla="*/ 3 w 115"/>
                <a:gd name="T9" fmla="*/ 30 h 41"/>
                <a:gd name="T10" fmla="*/ 113 w 115"/>
                <a:gd name="T11" fmla="*/ 30 h 41"/>
                <a:gd name="T12" fmla="*/ 113 w 115"/>
                <a:gd name="T13" fmla="*/ 39 h 41"/>
                <a:gd name="T14" fmla="*/ 109 w 115"/>
                <a:gd name="T15" fmla="*/ 4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5" h="41">
                  <a:moveTo>
                    <a:pt x="109" y="40"/>
                  </a:moveTo>
                  <a:cubicBezTo>
                    <a:pt x="107" y="40"/>
                    <a:pt x="106" y="40"/>
                    <a:pt x="105" y="39"/>
                  </a:cubicBezTo>
                  <a:cubicBezTo>
                    <a:pt x="79" y="13"/>
                    <a:pt x="37" y="13"/>
                    <a:pt x="11" y="39"/>
                  </a:cubicBezTo>
                  <a:cubicBezTo>
                    <a:pt x="9" y="41"/>
                    <a:pt x="5" y="41"/>
                    <a:pt x="3" y="39"/>
                  </a:cubicBezTo>
                  <a:cubicBezTo>
                    <a:pt x="0" y="36"/>
                    <a:pt x="0" y="32"/>
                    <a:pt x="3" y="30"/>
                  </a:cubicBezTo>
                  <a:cubicBezTo>
                    <a:pt x="33" y="0"/>
                    <a:pt x="83" y="0"/>
                    <a:pt x="113" y="30"/>
                  </a:cubicBezTo>
                  <a:cubicBezTo>
                    <a:pt x="115" y="32"/>
                    <a:pt x="115" y="36"/>
                    <a:pt x="113" y="39"/>
                  </a:cubicBezTo>
                  <a:cubicBezTo>
                    <a:pt x="112" y="40"/>
                    <a:pt x="110" y="40"/>
                    <a:pt x="109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393" name="Freeform 147">
              <a:extLst>
                <a:ext uri="{FF2B5EF4-FFF2-40B4-BE49-F238E27FC236}">
                  <a16:creationId xmlns:a16="http://schemas.microsoft.com/office/drawing/2014/main" id="{4EF8420A-5A5A-E673-CFD5-C31D25EC6B49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5" y="1846"/>
              <a:ext cx="271" cy="71"/>
            </a:xfrm>
            <a:custGeom>
              <a:avLst/>
              <a:gdLst>
                <a:gd name="T0" fmla="*/ 177 w 183"/>
                <a:gd name="T1" fmla="*/ 47 h 48"/>
                <a:gd name="T2" fmla="*/ 172 w 183"/>
                <a:gd name="T3" fmla="*/ 46 h 48"/>
                <a:gd name="T4" fmla="*/ 92 w 183"/>
                <a:gd name="T5" fmla="*/ 12 h 48"/>
                <a:gd name="T6" fmla="*/ 92 w 183"/>
                <a:gd name="T7" fmla="*/ 12 h 48"/>
                <a:gd name="T8" fmla="*/ 11 w 183"/>
                <a:gd name="T9" fmla="*/ 46 h 48"/>
                <a:gd name="T10" fmla="*/ 3 w 183"/>
                <a:gd name="T11" fmla="*/ 46 h 48"/>
                <a:gd name="T12" fmla="*/ 3 w 183"/>
                <a:gd name="T13" fmla="*/ 37 h 48"/>
                <a:gd name="T14" fmla="*/ 92 w 183"/>
                <a:gd name="T15" fmla="*/ 0 h 48"/>
                <a:gd name="T16" fmla="*/ 92 w 183"/>
                <a:gd name="T17" fmla="*/ 0 h 48"/>
                <a:gd name="T18" fmla="*/ 181 w 183"/>
                <a:gd name="T19" fmla="*/ 37 h 48"/>
                <a:gd name="T20" fmla="*/ 181 w 183"/>
                <a:gd name="T21" fmla="*/ 46 h 48"/>
                <a:gd name="T22" fmla="*/ 177 w 183"/>
                <a:gd name="T23" fmla="*/ 47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3" h="48">
                  <a:moveTo>
                    <a:pt x="177" y="47"/>
                  </a:moveTo>
                  <a:cubicBezTo>
                    <a:pt x="175" y="47"/>
                    <a:pt x="174" y="47"/>
                    <a:pt x="172" y="46"/>
                  </a:cubicBezTo>
                  <a:cubicBezTo>
                    <a:pt x="151" y="24"/>
                    <a:pt x="12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61" y="12"/>
                    <a:pt x="33" y="24"/>
                    <a:pt x="11" y="46"/>
                  </a:cubicBezTo>
                  <a:cubicBezTo>
                    <a:pt x="9" y="48"/>
                    <a:pt x="5" y="48"/>
                    <a:pt x="3" y="46"/>
                  </a:cubicBezTo>
                  <a:cubicBezTo>
                    <a:pt x="0" y="43"/>
                    <a:pt x="0" y="39"/>
                    <a:pt x="3" y="37"/>
                  </a:cubicBezTo>
                  <a:cubicBezTo>
                    <a:pt x="27" y="13"/>
                    <a:pt x="58" y="0"/>
                    <a:pt x="92" y="0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126" y="0"/>
                    <a:pt x="157" y="13"/>
                    <a:pt x="181" y="37"/>
                  </a:cubicBezTo>
                  <a:cubicBezTo>
                    <a:pt x="183" y="39"/>
                    <a:pt x="183" y="43"/>
                    <a:pt x="181" y="46"/>
                  </a:cubicBezTo>
                  <a:cubicBezTo>
                    <a:pt x="180" y="47"/>
                    <a:pt x="178" y="47"/>
                    <a:pt x="177" y="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394" name="Freeform 148">
              <a:extLst>
                <a:ext uri="{FF2B5EF4-FFF2-40B4-BE49-F238E27FC236}">
                  <a16:creationId xmlns:a16="http://schemas.microsoft.com/office/drawing/2014/main" id="{9F88A223-55C3-5A67-B50F-2F4146FD2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6" y="1925"/>
              <a:ext cx="170" cy="60"/>
            </a:xfrm>
            <a:custGeom>
              <a:avLst/>
              <a:gdLst>
                <a:gd name="T0" fmla="*/ 7 w 115"/>
                <a:gd name="T1" fmla="*/ 40 h 41"/>
                <a:gd name="T2" fmla="*/ 3 w 115"/>
                <a:gd name="T3" fmla="*/ 39 h 41"/>
                <a:gd name="T4" fmla="*/ 3 w 115"/>
                <a:gd name="T5" fmla="*/ 30 h 41"/>
                <a:gd name="T6" fmla="*/ 113 w 115"/>
                <a:gd name="T7" fmla="*/ 30 h 41"/>
                <a:gd name="T8" fmla="*/ 113 w 115"/>
                <a:gd name="T9" fmla="*/ 39 h 41"/>
                <a:gd name="T10" fmla="*/ 105 w 115"/>
                <a:gd name="T11" fmla="*/ 39 h 41"/>
                <a:gd name="T12" fmla="*/ 11 w 115"/>
                <a:gd name="T13" fmla="*/ 39 h 41"/>
                <a:gd name="T14" fmla="*/ 7 w 115"/>
                <a:gd name="T15" fmla="*/ 4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5" h="41">
                  <a:moveTo>
                    <a:pt x="7" y="40"/>
                  </a:moveTo>
                  <a:cubicBezTo>
                    <a:pt x="5" y="40"/>
                    <a:pt x="4" y="40"/>
                    <a:pt x="3" y="39"/>
                  </a:cubicBezTo>
                  <a:cubicBezTo>
                    <a:pt x="0" y="36"/>
                    <a:pt x="0" y="32"/>
                    <a:pt x="3" y="30"/>
                  </a:cubicBezTo>
                  <a:cubicBezTo>
                    <a:pt x="33" y="0"/>
                    <a:pt x="83" y="0"/>
                    <a:pt x="113" y="30"/>
                  </a:cubicBezTo>
                  <a:cubicBezTo>
                    <a:pt x="115" y="32"/>
                    <a:pt x="115" y="36"/>
                    <a:pt x="113" y="39"/>
                  </a:cubicBezTo>
                  <a:cubicBezTo>
                    <a:pt x="111" y="41"/>
                    <a:pt x="107" y="41"/>
                    <a:pt x="105" y="39"/>
                  </a:cubicBezTo>
                  <a:cubicBezTo>
                    <a:pt x="79" y="13"/>
                    <a:pt x="37" y="13"/>
                    <a:pt x="11" y="39"/>
                  </a:cubicBezTo>
                  <a:cubicBezTo>
                    <a:pt x="10" y="40"/>
                    <a:pt x="8" y="40"/>
                    <a:pt x="7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395" name="Freeform 149">
              <a:extLst>
                <a:ext uri="{FF2B5EF4-FFF2-40B4-BE49-F238E27FC236}">
                  <a16:creationId xmlns:a16="http://schemas.microsoft.com/office/drawing/2014/main" id="{6479C172-3CD3-304F-D9FD-65A1144B71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07" y="2024"/>
              <a:ext cx="89" cy="89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3" y="60"/>
                    <a:pt x="0" y="47"/>
                    <a:pt x="0" y="30"/>
                  </a:cubicBezTo>
                  <a:cubicBezTo>
                    <a:pt x="0" y="14"/>
                    <a:pt x="13" y="0"/>
                    <a:pt x="30" y="0"/>
                  </a:cubicBezTo>
                  <a:cubicBezTo>
                    <a:pt x="46" y="0"/>
                    <a:pt x="60" y="14"/>
                    <a:pt x="60" y="30"/>
                  </a:cubicBezTo>
                  <a:cubicBezTo>
                    <a:pt x="60" y="47"/>
                    <a:pt x="46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</p:grpSp>
      <p:grpSp>
        <p:nvGrpSpPr>
          <p:cNvPr id="396" name="Group 72">
            <a:extLst>
              <a:ext uri="{FF2B5EF4-FFF2-40B4-BE49-F238E27FC236}">
                <a16:creationId xmlns:a16="http://schemas.microsoft.com/office/drawing/2014/main" id="{1B4E83FC-D65E-1CCE-7350-EA681A295A6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38286" y="6444551"/>
            <a:ext cx="191272" cy="256031"/>
            <a:chOff x="3489" y="1716"/>
            <a:chExt cx="319" cy="427"/>
          </a:xfrm>
          <a:solidFill>
            <a:srgbClr val="000000"/>
          </a:solidFill>
        </p:grpSpPr>
        <p:sp>
          <p:nvSpPr>
            <p:cNvPr id="397" name="Freeform 73">
              <a:extLst>
                <a:ext uri="{FF2B5EF4-FFF2-40B4-BE49-F238E27FC236}">
                  <a16:creationId xmlns:a16="http://schemas.microsoft.com/office/drawing/2014/main" id="{2554B87C-12EC-D19A-C2F2-0A890B6342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89" y="1716"/>
              <a:ext cx="319" cy="196"/>
            </a:xfrm>
            <a:custGeom>
              <a:avLst/>
              <a:gdLst>
                <a:gd name="T0" fmla="*/ 41 w 216"/>
                <a:gd name="T1" fmla="*/ 132 h 132"/>
                <a:gd name="T2" fmla="*/ 10 w 216"/>
                <a:gd name="T3" fmla="*/ 120 h 132"/>
                <a:gd name="T4" fmla="*/ 0 w 216"/>
                <a:gd name="T5" fmla="*/ 94 h 132"/>
                <a:gd name="T6" fmla="*/ 14 w 216"/>
                <a:gd name="T7" fmla="*/ 65 h 132"/>
                <a:gd name="T8" fmla="*/ 41 w 216"/>
                <a:gd name="T9" fmla="*/ 56 h 132"/>
                <a:gd name="T10" fmla="*/ 108 w 216"/>
                <a:gd name="T11" fmla="*/ 0 h 132"/>
                <a:gd name="T12" fmla="*/ 168 w 216"/>
                <a:gd name="T13" fmla="*/ 34 h 132"/>
                <a:gd name="T14" fmla="*/ 201 w 216"/>
                <a:gd name="T15" fmla="*/ 49 h 132"/>
                <a:gd name="T16" fmla="*/ 216 w 216"/>
                <a:gd name="T17" fmla="*/ 83 h 132"/>
                <a:gd name="T18" fmla="*/ 171 w 216"/>
                <a:gd name="T19" fmla="*/ 132 h 132"/>
                <a:gd name="T20" fmla="*/ 170 w 216"/>
                <a:gd name="T21" fmla="*/ 132 h 132"/>
                <a:gd name="T22" fmla="*/ 41 w 216"/>
                <a:gd name="T23" fmla="*/ 132 h 132"/>
                <a:gd name="T24" fmla="*/ 41 w 216"/>
                <a:gd name="T25" fmla="*/ 132 h 132"/>
                <a:gd name="T26" fmla="*/ 39 w 216"/>
                <a:gd name="T27" fmla="*/ 68 h 132"/>
                <a:gd name="T28" fmla="*/ 21 w 216"/>
                <a:gd name="T29" fmla="*/ 74 h 132"/>
                <a:gd name="T30" fmla="*/ 12 w 216"/>
                <a:gd name="T31" fmla="*/ 94 h 132"/>
                <a:gd name="T32" fmla="*/ 18 w 216"/>
                <a:gd name="T33" fmla="*/ 112 h 132"/>
                <a:gd name="T34" fmla="*/ 41 w 216"/>
                <a:gd name="T35" fmla="*/ 120 h 132"/>
                <a:gd name="T36" fmla="*/ 170 w 216"/>
                <a:gd name="T37" fmla="*/ 120 h 132"/>
                <a:gd name="T38" fmla="*/ 204 w 216"/>
                <a:gd name="T39" fmla="*/ 83 h 132"/>
                <a:gd name="T40" fmla="*/ 193 w 216"/>
                <a:gd name="T41" fmla="*/ 57 h 132"/>
                <a:gd name="T42" fmla="*/ 164 w 216"/>
                <a:gd name="T43" fmla="*/ 46 h 132"/>
                <a:gd name="T44" fmla="*/ 159 w 216"/>
                <a:gd name="T45" fmla="*/ 43 h 132"/>
                <a:gd name="T46" fmla="*/ 108 w 216"/>
                <a:gd name="T47" fmla="*/ 12 h 132"/>
                <a:gd name="T48" fmla="*/ 52 w 216"/>
                <a:gd name="T49" fmla="*/ 63 h 132"/>
                <a:gd name="T50" fmla="*/ 50 w 216"/>
                <a:gd name="T51" fmla="*/ 67 h 132"/>
                <a:gd name="T52" fmla="*/ 45 w 216"/>
                <a:gd name="T53" fmla="*/ 68 h 132"/>
                <a:gd name="T54" fmla="*/ 39 w 216"/>
                <a:gd name="T55" fmla="*/ 68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16" h="132">
                  <a:moveTo>
                    <a:pt x="41" y="132"/>
                  </a:moveTo>
                  <a:cubicBezTo>
                    <a:pt x="39" y="132"/>
                    <a:pt x="22" y="132"/>
                    <a:pt x="10" y="120"/>
                  </a:cubicBezTo>
                  <a:cubicBezTo>
                    <a:pt x="3" y="114"/>
                    <a:pt x="0" y="105"/>
                    <a:pt x="0" y="94"/>
                  </a:cubicBezTo>
                  <a:cubicBezTo>
                    <a:pt x="0" y="83"/>
                    <a:pt x="5" y="72"/>
                    <a:pt x="14" y="65"/>
                  </a:cubicBezTo>
                  <a:cubicBezTo>
                    <a:pt x="21" y="59"/>
                    <a:pt x="31" y="55"/>
                    <a:pt x="41" y="56"/>
                  </a:cubicBezTo>
                  <a:cubicBezTo>
                    <a:pt x="46" y="24"/>
                    <a:pt x="74" y="0"/>
                    <a:pt x="108" y="0"/>
                  </a:cubicBezTo>
                  <a:cubicBezTo>
                    <a:pt x="133" y="0"/>
                    <a:pt x="156" y="13"/>
                    <a:pt x="168" y="34"/>
                  </a:cubicBezTo>
                  <a:cubicBezTo>
                    <a:pt x="180" y="35"/>
                    <a:pt x="192" y="40"/>
                    <a:pt x="201" y="49"/>
                  </a:cubicBezTo>
                  <a:cubicBezTo>
                    <a:pt x="211" y="58"/>
                    <a:pt x="216" y="70"/>
                    <a:pt x="216" y="83"/>
                  </a:cubicBezTo>
                  <a:cubicBezTo>
                    <a:pt x="216" y="117"/>
                    <a:pt x="186" y="130"/>
                    <a:pt x="171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41" y="132"/>
                    <a:pt x="41" y="132"/>
                    <a:pt x="41" y="132"/>
                  </a:cubicBezTo>
                  <a:cubicBezTo>
                    <a:pt x="41" y="132"/>
                    <a:pt x="41" y="132"/>
                    <a:pt x="41" y="132"/>
                  </a:cubicBezTo>
                  <a:close/>
                  <a:moveTo>
                    <a:pt x="39" y="68"/>
                  </a:moveTo>
                  <a:cubicBezTo>
                    <a:pt x="33" y="68"/>
                    <a:pt x="26" y="70"/>
                    <a:pt x="21" y="74"/>
                  </a:cubicBezTo>
                  <a:cubicBezTo>
                    <a:pt x="15" y="79"/>
                    <a:pt x="12" y="86"/>
                    <a:pt x="12" y="94"/>
                  </a:cubicBezTo>
                  <a:cubicBezTo>
                    <a:pt x="12" y="101"/>
                    <a:pt x="14" y="107"/>
                    <a:pt x="18" y="112"/>
                  </a:cubicBezTo>
                  <a:cubicBezTo>
                    <a:pt x="27" y="120"/>
                    <a:pt x="41" y="120"/>
                    <a:pt x="41" y="120"/>
                  </a:cubicBezTo>
                  <a:cubicBezTo>
                    <a:pt x="170" y="120"/>
                    <a:pt x="170" y="120"/>
                    <a:pt x="170" y="120"/>
                  </a:cubicBezTo>
                  <a:cubicBezTo>
                    <a:pt x="173" y="119"/>
                    <a:pt x="204" y="114"/>
                    <a:pt x="204" y="83"/>
                  </a:cubicBezTo>
                  <a:cubicBezTo>
                    <a:pt x="204" y="73"/>
                    <a:pt x="200" y="64"/>
                    <a:pt x="193" y="57"/>
                  </a:cubicBezTo>
                  <a:cubicBezTo>
                    <a:pt x="185" y="50"/>
                    <a:pt x="175" y="46"/>
                    <a:pt x="164" y="46"/>
                  </a:cubicBezTo>
                  <a:cubicBezTo>
                    <a:pt x="162" y="46"/>
                    <a:pt x="160" y="45"/>
                    <a:pt x="159" y="43"/>
                  </a:cubicBezTo>
                  <a:cubicBezTo>
                    <a:pt x="149" y="24"/>
                    <a:pt x="129" y="12"/>
                    <a:pt x="108" y="12"/>
                  </a:cubicBezTo>
                  <a:cubicBezTo>
                    <a:pt x="78" y="12"/>
                    <a:pt x="54" y="34"/>
                    <a:pt x="52" y="63"/>
                  </a:cubicBezTo>
                  <a:cubicBezTo>
                    <a:pt x="52" y="65"/>
                    <a:pt x="51" y="66"/>
                    <a:pt x="50" y="67"/>
                  </a:cubicBezTo>
                  <a:cubicBezTo>
                    <a:pt x="48" y="68"/>
                    <a:pt x="46" y="69"/>
                    <a:pt x="45" y="68"/>
                  </a:cubicBezTo>
                  <a:cubicBezTo>
                    <a:pt x="43" y="68"/>
                    <a:pt x="41" y="68"/>
                    <a:pt x="39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398" name="Freeform 74">
              <a:extLst>
                <a:ext uri="{FF2B5EF4-FFF2-40B4-BE49-F238E27FC236}">
                  <a16:creationId xmlns:a16="http://schemas.microsoft.com/office/drawing/2014/main" id="{451B3363-F5AE-F04C-2CBF-C845B2AC41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89" y="1947"/>
              <a:ext cx="319" cy="107"/>
            </a:xfrm>
            <a:custGeom>
              <a:avLst/>
              <a:gdLst>
                <a:gd name="T0" fmla="*/ 210 w 216"/>
                <a:gd name="T1" fmla="*/ 72 h 72"/>
                <a:gd name="T2" fmla="*/ 6 w 216"/>
                <a:gd name="T3" fmla="*/ 72 h 72"/>
                <a:gd name="T4" fmla="*/ 0 w 216"/>
                <a:gd name="T5" fmla="*/ 66 h 72"/>
                <a:gd name="T6" fmla="*/ 0 w 216"/>
                <a:gd name="T7" fmla="*/ 6 h 72"/>
                <a:gd name="T8" fmla="*/ 6 w 216"/>
                <a:gd name="T9" fmla="*/ 0 h 72"/>
                <a:gd name="T10" fmla="*/ 210 w 216"/>
                <a:gd name="T11" fmla="*/ 0 h 72"/>
                <a:gd name="T12" fmla="*/ 216 w 216"/>
                <a:gd name="T13" fmla="*/ 6 h 72"/>
                <a:gd name="T14" fmla="*/ 216 w 216"/>
                <a:gd name="T15" fmla="*/ 66 h 72"/>
                <a:gd name="T16" fmla="*/ 210 w 216"/>
                <a:gd name="T17" fmla="*/ 72 h 72"/>
                <a:gd name="T18" fmla="*/ 12 w 216"/>
                <a:gd name="T19" fmla="*/ 60 h 72"/>
                <a:gd name="T20" fmla="*/ 204 w 216"/>
                <a:gd name="T21" fmla="*/ 60 h 72"/>
                <a:gd name="T22" fmla="*/ 204 w 216"/>
                <a:gd name="T23" fmla="*/ 12 h 72"/>
                <a:gd name="T24" fmla="*/ 12 w 216"/>
                <a:gd name="T25" fmla="*/ 12 h 72"/>
                <a:gd name="T26" fmla="*/ 12 w 216"/>
                <a:gd name="T27" fmla="*/ 6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6" h="72">
                  <a:moveTo>
                    <a:pt x="210" y="72"/>
                  </a:moveTo>
                  <a:cubicBezTo>
                    <a:pt x="6" y="72"/>
                    <a:pt x="6" y="72"/>
                    <a:pt x="6" y="72"/>
                  </a:cubicBezTo>
                  <a:cubicBezTo>
                    <a:pt x="3" y="72"/>
                    <a:pt x="0" y="69"/>
                    <a:pt x="0" y="6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10" y="0"/>
                    <a:pt x="210" y="0"/>
                    <a:pt x="210" y="0"/>
                  </a:cubicBezTo>
                  <a:cubicBezTo>
                    <a:pt x="213" y="0"/>
                    <a:pt x="216" y="3"/>
                    <a:pt x="216" y="6"/>
                  </a:cubicBezTo>
                  <a:cubicBezTo>
                    <a:pt x="216" y="66"/>
                    <a:pt x="216" y="66"/>
                    <a:pt x="216" y="66"/>
                  </a:cubicBezTo>
                  <a:cubicBezTo>
                    <a:pt x="216" y="69"/>
                    <a:pt x="213" y="72"/>
                    <a:pt x="210" y="72"/>
                  </a:cubicBezTo>
                  <a:close/>
                  <a:moveTo>
                    <a:pt x="12" y="60"/>
                  </a:moveTo>
                  <a:cubicBezTo>
                    <a:pt x="204" y="60"/>
                    <a:pt x="204" y="60"/>
                    <a:pt x="204" y="60"/>
                  </a:cubicBezTo>
                  <a:cubicBezTo>
                    <a:pt x="204" y="12"/>
                    <a:pt x="204" y="12"/>
                    <a:pt x="204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399" name="Freeform 75">
              <a:extLst>
                <a:ext uri="{FF2B5EF4-FFF2-40B4-BE49-F238E27FC236}">
                  <a16:creationId xmlns:a16="http://schemas.microsoft.com/office/drawing/2014/main" id="{74832217-C93A-C358-3323-FB8E9C3DF2F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89" y="2036"/>
              <a:ext cx="319" cy="107"/>
            </a:xfrm>
            <a:custGeom>
              <a:avLst/>
              <a:gdLst>
                <a:gd name="T0" fmla="*/ 210 w 216"/>
                <a:gd name="T1" fmla="*/ 72 h 72"/>
                <a:gd name="T2" fmla="*/ 6 w 216"/>
                <a:gd name="T3" fmla="*/ 72 h 72"/>
                <a:gd name="T4" fmla="*/ 0 w 216"/>
                <a:gd name="T5" fmla="*/ 66 h 72"/>
                <a:gd name="T6" fmla="*/ 0 w 216"/>
                <a:gd name="T7" fmla="*/ 6 h 72"/>
                <a:gd name="T8" fmla="*/ 6 w 216"/>
                <a:gd name="T9" fmla="*/ 0 h 72"/>
                <a:gd name="T10" fmla="*/ 210 w 216"/>
                <a:gd name="T11" fmla="*/ 0 h 72"/>
                <a:gd name="T12" fmla="*/ 216 w 216"/>
                <a:gd name="T13" fmla="*/ 6 h 72"/>
                <a:gd name="T14" fmla="*/ 216 w 216"/>
                <a:gd name="T15" fmla="*/ 66 h 72"/>
                <a:gd name="T16" fmla="*/ 210 w 216"/>
                <a:gd name="T17" fmla="*/ 72 h 72"/>
                <a:gd name="T18" fmla="*/ 12 w 216"/>
                <a:gd name="T19" fmla="*/ 60 h 72"/>
                <a:gd name="T20" fmla="*/ 204 w 216"/>
                <a:gd name="T21" fmla="*/ 60 h 72"/>
                <a:gd name="T22" fmla="*/ 204 w 216"/>
                <a:gd name="T23" fmla="*/ 12 h 72"/>
                <a:gd name="T24" fmla="*/ 12 w 216"/>
                <a:gd name="T25" fmla="*/ 12 h 72"/>
                <a:gd name="T26" fmla="*/ 12 w 216"/>
                <a:gd name="T27" fmla="*/ 6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6" h="72">
                  <a:moveTo>
                    <a:pt x="210" y="72"/>
                  </a:moveTo>
                  <a:cubicBezTo>
                    <a:pt x="6" y="72"/>
                    <a:pt x="6" y="72"/>
                    <a:pt x="6" y="72"/>
                  </a:cubicBezTo>
                  <a:cubicBezTo>
                    <a:pt x="3" y="72"/>
                    <a:pt x="0" y="69"/>
                    <a:pt x="0" y="6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10" y="0"/>
                    <a:pt x="210" y="0"/>
                    <a:pt x="210" y="0"/>
                  </a:cubicBezTo>
                  <a:cubicBezTo>
                    <a:pt x="213" y="0"/>
                    <a:pt x="216" y="3"/>
                    <a:pt x="216" y="6"/>
                  </a:cubicBezTo>
                  <a:cubicBezTo>
                    <a:pt x="216" y="66"/>
                    <a:pt x="216" y="66"/>
                    <a:pt x="216" y="66"/>
                  </a:cubicBezTo>
                  <a:cubicBezTo>
                    <a:pt x="216" y="69"/>
                    <a:pt x="213" y="72"/>
                    <a:pt x="210" y="72"/>
                  </a:cubicBezTo>
                  <a:close/>
                  <a:moveTo>
                    <a:pt x="12" y="60"/>
                  </a:moveTo>
                  <a:cubicBezTo>
                    <a:pt x="204" y="60"/>
                    <a:pt x="204" y="60"/>
                    <a:pt x="204" y="60"/>
                  </a:cubicBezTo>
                  <a:cubicBezTo>
                    <a:pt x="204" y="12"/>
                    <a:pt x="204" y="12"/>
                    <a:pt x="204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400" name="Freeform 76">
              <a:extLst>
                <a:ext uri="{FF2B5EF4-FFF2-40B4-BE49-F238E27FC236}">
                  <a16:creationId xmlns:a16="http://schemas.microsoft.com/office/drawing/2014/main" id="{12528FB8-7943-9A51-2F6A-C1D4AE112B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33" y="1974"/>
              <a:ext cx="53" cy="53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5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1" y="24"/>
                    <a:pt x="24" y="21"/>
                    <a:pt x="24" y="18"/>
                  </a:cubicBezTo>
                  <a:cubicBezTo>
                    <a:pt x="24" y="15"/>
                    <a:pt x="21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401" name="Oval 77">
              <a:extLst>
                <a:ext uri="{FF2B5EF4-FFF2-40B4-BE49-F238E27FC236}">
                  <a16:creationId xmlns:a16="http://schemas.microsoft.com/office/drawing/2014/main" id="{DC5B3DFB-D689-B641-F8C3-3BA1A377A8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0" y="1983"/>
              <a:ext cx="35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402" name="Oval 78">
              <a:extLst>
                <a:ext uri="{FF2B5EF4-FFF2-40B4-BE49-F238E27FC236}">
                  <a16:creationId xmlns:a16="http://schemas.microsoft.com/office/drawing/2014/main" id="{8F397D99-EBB9-C024-07DE-1E92F67E0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6" y="1983"/>
              <a:ext cx="36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403" name="Freeform 79">
              <a:extLst>
                <a:ext uri="{FF2B5EF4-FFF2-40B4-BE49-F238E27FC236}">
                  <a16:creationId xmlns:a16="http://schemas.microsoft.com/office/drawing/2014/main" id="{E9E942A7-3674-D832-7612-D01E349DC6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33" y="2063"/>
              <a:ext cx="53" cy="53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5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1" y="24"/>
                    <a:pt x="24" y="21"/>
                    <a:pt x="24" y="18"/>
                  </a:cubicBezTo>
                  <a:cubicBezTo>
                    <a:pt x="24" y="15"/>
                    <a:pt x="21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404" name="Oval 80">
              <a:extLst>
                <a:ext uri="{FF2B5EF4-FFF2-40B4-BE49-F238E27FC236}">
                  <a16:creationId xmlns:a16="http://schemas.microsoft.com/office/drawing/2014/main" id="{F5C2BABC-4E2F-69C6-6B1D-0DFDED939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0" y="2072"/>
              <a:ext cx="35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405" name="Oval 81">
              <a:extLst>
                <a:ext uri="{FF2B5EF4-FFF2-40B4-BE49-F238E27FC236}">
                  <a16:creationId xmlns:a16="http://schemas.microsoft.com/office/drawing/2014/main" id="{4801128E-1E41-B8C6-59CB-E79F999E6C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6" y="2072"/>
              <a:ext cx="36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</p:grpSp>
      <p:grpSp>
        <p:nvGrpSpPr>
          <p:cNvPr id="406" name="Group 73">
            <a:extLst>
              <a:ext uri="{FF2B5EF4-FFF2-40B4-BE49-F238E27FC236}">
                <a16:creationId xmlns:a16="http://schemas.microsoft.com/office/drawing/2014/main" id="{59B784B1-9C42-F43B-3A3D-DB499CA32D8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666719" y="6436941"/>
            <a:ext cx="272526" cy="271250"/>
            <a:chOff x="2400" y="1721"/>
            <a:chExt cx="427" cy="425"/>
          </a:xfrm>
          <a:solidFill>
            <a:srgbClr val="000000"/>
          </a:solidFill>
        </p:grpSpPr>
        <p:sp>
          <p:nvSpPr>
            <p:cNvPr id="407" name="Freeform 74">
              <a:extLst>
                <a:ext uri="{FF2B5EF4-FFF2-40B4-BE49-F238E27FC236}">
                  <a16:creationId xmlns:a16="http://schemas.microsoft.com/office/drawing/2014/main" id="{F3CA3457-85C4-47FD-7176-469D86D9A4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00" y="1721"/>
              <a:ext cx="427" cy="425"/>
            </a:xfrm>
            <a:custGeom>
              <a:avLst/>
              <a:gdLst>
                <a:gd name="T0" fmla="*/ 234 w 288"/>
                <a:gd name="T1" fmla="*/ 288 h 288"/>
                <a:gd name="T2" fmla="*/ 54 w 288"/>
                <a:gd name="T3" fmla="*/ 288 h 288"/>
                <a:gd name="T4" fmla="*/ 0 w 288"/>
                <a:gd name="T5" fmla="*/ 234 h 288"/>
                <a:gd name="T6" fmla="*/ 0 w 288"/>
                <a:gd name="T7" fmla="*/ 54 h 288"/>
                <a:gd name="T8" fmla="*/ 54 w 288"/>
                <a:gd name="T9" fmla="*/ 0 h 288"/>
                <a:gd name="T10" fmla="*/ 234 w 288"/>
                <a:gd name="T11" fmla="*/ 0 h 288"/>
                <a:gd name="T12" fmla="*/ 288 w 288"/>
                <a:gd name="T13" fmla="*/ 54 h 288"/>
                <a:gd name="T14" fmla="*/ 288 w 288"/>
                <a:gd name="T15" fmla="*/ 234 h 288"/>
                <a:gd name="T16" fmla="*/ 234 w 288"/>
                <a:gd name="T17" fmla="*/ 288 h 288"/>
                <a:gd name="T18" fmla="*/ 54 w 288"/>
                <a:gd name="T19" fmla="*/ 12 h 288"/>
                <a:gd name="T20" fmla="*/ 12 w 288"/>
                <a:gd name="T21" fmla="*/ 54 h 288"/>
                <a:gd name="T22" fmla="*/ 12 w 288"/>
                <a:gd name="T23" fmla="*/ 234 h 288"/>
                <a:gd name="T24" fmla="*/ 54 w 288"/>
                <a:gd name="T25" fmla="*/ 276 h 288"/>
                <a:gd name="T26" fmla="*/ 234 w 288"/>
                <a:gd name="T27" fmla="*/ 276 h 288"/>
                <a:gd name="T28" fmla="*/ 276 w 288"/>
                <a:gd name="T29" fmla="*/ 234 h 288"/>
                <a:gd name="T30" fmla="*/ 276 w 288"/>
                <a:gd name="T31" fmla="*/ 54 h 288"/>
                <a:gd name="T32" fmla="*/ 234 w 288"/>
                <a:gd name="T33" fmla="*/ 12 h 288"/>
                <a:gd name="T34" fmla="*/ 54 w 288"/>
                <a:gd name="T35" fmla="*/ 12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8" h="288">
                  <a:moveTo>
                    <a:pt x="234" y="288"/>
                  </a:moveTo>
                  <a:cubicBezTo>
                    <a:pt x="54" y="288"/>
                    <a:pt x="54" y="288"/>
                    <a:pt x="54" y="288"/>
                  </a:cubicBezTo>
                  <a:cubicBezTo>
                    <a:pt x="24" y="288"/>
                    <a:pt x="0" y="263"/>
                    <a:pt x="0" y="23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24"/>
                    <a:pt x="24" y="0"/>
                    <a:pt x="54" y="0"/>
                  </a:cubicBezTo>
                  <a:cubicBezTo>
                    <a:pt x="234" y="0"/>
                    <a:pt x="234" y="0"/>
                    <a:pt x="234" y="0"/>
                  </a:cubicBezTo>
                  <a:cubicBezTo>
                    <a:pt x="264" y="0"/>
                    <a:pt x="288" y="24"/>
                    <a:pt x="288" y="54"/>
                  </a:cubicBezTo>
                  <a:cubicBezTo>
                    <a:pt x="288" y="234"/>
                    <a:pt x="288" y="234"/>
                    <a:pt x="288" y="234"/>
                  </a:cubicBezTo>
                  <a:cubicBezTo>
                    <a:pt x="288" y="263"/>
                    <a:pt x="264" y="288"/>
                    <a:pt x="234" y="288"/>
                  </a:cubicBezTo>
                  <a:close/>
                  <a:moveTo>
                    <a:pt x="54" y="12"/>
                  </a:moveTo>
                  <a:cubicBezTo>
                    <a:pt x="31" y="12"/>
                    <a:pt x="12" y="30"/>
                    <a:pt x="12" y="54"/>
                  </a:cubicBezTo>
                  <a:cubicBezTo>
                    <a:pt x="12" y="234"/>
                    <a:pt x="12" y="234"/>
                    <a:pt x="12" y="234"/>
                  </a:cubicBezTo>
                  <a:cubicBezTo>
                    <a:pt x="12" y="257"/>
                    <a:pt x="31" y="276"/>
                    <a:pt x="54" y="276"/>
                  </a:cubicBezTo>
                  <a:cubicBezTo>
                    <a:pt x="234" y="276"/>
                    <a:pt x="234" y="276"/>
                    <a:pt x="234" y="276"/>
                  </a:cubicBezTo>
                  <a:cubicBezTo>
                    <a:pt x="257" y="276"/>
                    <a:pt x="276" y="257"/>
                    <a:pt x="276" y="234"/>
                  </a:cubicBezTo>
                  <a:cubicBezTo>
                    <a:pt x="276" y="54"/>
                    <a:pt x="276" y="54"/>
                    <a:pt x="276" y="54"/>
                  </a:cubicBezTo>
                  <a:cubicBezTo>
                    <a:pt x="276" y="30"/>
                    <a:pt x="257" y="12"/>
                    <a:pt x="234" y="12"/>
                  </a:cubicBezTo>
                  <a:lnTo>
                    <a:pt x="54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408" name="Freeform 75">
              <a:extLst>
                <a:ext uri="{FF2B5EF4-FFF2-40B4-BE49-F238E27FC236}">
                  <a16:creationId xmlns:a16="http://schemas.microsoft.com/office/drawing/2014/main" id="{6CF7CA99-033A-30B1-3400-F93E10134CE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57" y="1886"/>
              <a:ext cx="111" cy="111"/>
            </a:xfrm>
            <a:custGeom>
              <a:avLst/>
              <a:gdLst>
                <a:gd name="T0" fmla="*/ 38 w 75"/>
                <a:gd name="T1" fmla="*/ 75 h 75"/>
                <a:gd name="T2" fmla="*/ 0 w 75"/>
                <a:gd name="T3" fmla="*/ 38 h 75"/>
                <a:gd name="T4" fmla="*/ 38 w 75"/>
                <a:gd name="T5" fmla="*/ 0 h 75"/>
                <a:gd name="T6" fmla="*/ 75 w 75"/>
                <a:gd name="T7" fmla="*/ 38 h 75"/>
                <a:gd name="T8" fmla="*/ 38 w 75"/>
                <a:gd name="T9" fmla="*/ 75 h 75"/>
                <a:gd name="T10" fmla="*/ 38 w 75"/>
                <a:gd name="T11" fmla="*/ 12 h 75"/>
                <a:gd name="T12" fmla="*/ 12 w 75"/>
                <a:gd name="T13" fmla="*/ 38 h 75"/>
                <a:gd name="T14" fmla="*/ 38 w 75"/>
                <a:gd name="T15" fmla="*/ 63 h 75"/>
                <a:gd name="T16" fmla="*/ 63 w 75"/>
                <a:gd name="T17" fmla="*/ 38 h 75"/>
                <a:gd name="T18" fmla="*/ 38 w 75"/>
                <a:gd name="T19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5" h="75">
                  <a:moveTo>
                    <a:pt x="38" y="75"/>
                  </a:moveTo>
                  <a:cubicBezTo>
                    <a:pt x="17" y="75"/>
                    <a:pt x="0" y="58"/>
                    <a:pt x="0" y="38"/>
                  </a:cubicBezTo>
                  <a:cubicBezTo>
                    <a:pt x="0" y="17"/>
                    <a:pt x="17" y="0"/>
                    <a:pt x="38" y="0"/>
                  </a:cubicBezTo>
                  <a:cubicBezTo>
                    <a:pt x="59" y="0"/>
                    <a:pt x="75" y="17"/>
                    <a:pt x="75" y="38"/>
                  </a:cubicBezTo>
                  <a:cubicBezTo>
                    <a:pt x="75" y="58"/>
                    <a:pt x="59" y="75"/>
                    <a:pt x="38" y="75"/>
                  </a:cubicBezTo>
                  <a:close/>
                  <a:moveTo>
                    <a:pt x="38" y="12"/>
                  </a:moveTo>
                  <a:cubicBezTo>
                    <a:pt x="24" y="12"/>
                    <a:pt x="12" y="24"/>
                    <a:pt x="12" y="38"/>
                  </a:cubicBezTo>
                  <a:cubicBezTo>
                    <a:pt x="12" y="52"/>
                    <a:pt x="24" y="63"/>
                    <a:pt x="38" y="63"/>
                  </a:cubicBezTo>
                  <a:cubicBezTo>
                    <a:pt x="52" y="63"/>
                    <a:pt x="63" y="52"/>
                    <a:pt x="63" y="38"/>
                  </a:cubicBezTo>
                  <a:cubicBezTo>
                    <a:pt x="63" y="24"/>
                    <a:pt x="52" y="12"/>
                    <a:pt x="3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409" name="Freeform 76">
              <a:extLst>
                <a:ext uri="{FF2B5EF4-FFF2-40B4-BE49-F238E27FC236}">
                  <a16:creationId xmlns:a16="http://schemas.microsoft.com/office/drawing/2014/main" id="{35B85EBA-DCCE-A58C-B578-39DC8E92EA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82" y="1809"/>
              <a:ext cx="265" cy="266"/>
            </a:xfrm>
            <a:custGeom>
              <a:avLst/>
              <a:gdLst>
                <a:gd name="T0" fmla="*/ 69 w 179"/>
                <a:gd name="T1" fmla="*/ 180 h 180"/>
                <a:gd name="T2" fmla="*/ 63 w 179"/>
                <a:gd name="T3" fmla="*/ 159 h 180"/>
                <a:gd name="T4" fmla="*/ 30 w 179"/>
                <a:gd name="T5" fmla="*/ 155 h 180"/>
                <a:gd name="T6" fmla="*/ 1 w 179"/>
                <a:gd name="T7" fmla="*/ 116 h 180"/>
                <a:gd name="T8" fmla="*/ 3 w 179"/>
                <a:gd name="T9" fmla="*/ 108 h 180"/>
                <a:gd name="T10" fmla="*/ 15 w 179"/>
                <a:gd name="T11" fmla="*/ 90 h 180"/>
                <a:gd name="T12" fmla="*/ 3 w 179"/>
                <a:gd name="T13" fmla="*/ 71 h 180"/>
                <a:gd name="T14" fmla="*/ 1 w 179"/>
                <a:gd name="T15" fmla="*/ 63 h 180"/>
                <a:gd name="T16" fmla="*/ 30 w 179"/>
                <a:gd name="T17" fmla="*/ 24 h 180"/>
                <a:gd name="T18" fmla="*/ 63 w 179"/>
                <a:gd name="T19" fmla="*/ 20 h 180"/>
                <a:gd name="T20" fmla="*/ 69 w 179"/>
                <a:gd name="T21" fmla="*/ 0 h 180"/>
                <a:gd name="T22" fmla="*/ 117 w 179"/>
                <a:gd name="T23" fmla="*/ 6 h 180"/>
                <a:gd name="T24" fmla="*/ 136 w 179"/>
                <a:gd name="T25" fmla="*/ 32 h 180"/>
                <a:gd name="T26" fmla="*/ 153 w 179"/>
                <a:gd name="T27" fmla="*/ 24 h 180"/>
                <a:gd name="T28" fmla="*/ 177 w 179"/>
                <a:gd name="T29" fmla="*/ 63 h 180"/>
                <a:gd name="T30" fmla="*/ 175 w 179"/>
                <a:gd name="T31" fmla="*/ 71 h 180"/>
                <a:gd name="T32" fmla="*/ 163 w 179"/>
                <a:gd name="T33" fmla="*/ 90 h 180"/>
                <a:gd name="T34" fmla="*/ 175 w 179"/>
                <a:gd name="T35" fmla="*/ 108 h 180"/>
                <a:gd name="T36" fmla="*/ 157 w 179"/>
                <a:gd name="T37" fmla="*/ 153 h 180"/>
                <a:gd name="T38" fmla="*/ 148 w 179"/>
                <a:gd name="T39" fmla="*/ 155 h 180"/>
                <a:gd name="T40" fmla="*/ 117 w 179"/>
                <a:gd name="T41" fmla="*/ 159 h 180"/>
                <a:gd name="T42" fmla="*/ 111 w 179"/>
                <a:gd name="T43" fmla="*/ 180 h 180"/>
                <a:gd name="T44" fmla="*/ 105 w 179"/>
                <a:gd name="T45" fmla="*/ 168 h 180"/>
                <a:gd name="T46" fmla="*/ 109 w 179"/>
                <a:gd name="T47" fmla="*/ 149 h 180"/>
                <a:gd name="T48" fmla="*/ 138 w 179"/>
                <a:gd name="T49" fmla="*/ 135 h 180"/>
                <a:gd name="T50" fmla="*/ 164 w 179"/>
                <a:gd name="T51" fmla="*/ 116 h 180"/>
                <a:gd name="T52" fmla="*/ 150 w 179"/>
                <a:gd name="T53" fmla="*/ 103 h 180"/>
                <a:gd name="T54" fmla="*/ 150 w 179"/>
                <a:gd name="T55" fmla="*/ 77 h 180"/>
                <a:gd name="T56" fmla="*/ 164 w 179"/>
                <a:gd name="T57" fmla="*/ 64 h 180"/>
                <a:gd name="T58" fmla="*/ 138 w 179"/>
                <a:gd name="T59" fmla="*/ 44 h 180"/>
                <a:gd name="T60" fmla="*/ 109 w 179"/>
                <a:gd name="T61" fmla="*/ 30 h 180"/>
                <a:gd name="T62" fmla="*/ 105 w 179"/>
                <a:gd name="T63" fmla="*/ 12 h 180"/>
                <a:gd name="T64" fmla="*/ 75 w 179"/>
                <a:gd name="T65" fmla="*/ 25 h 180"/>
                <a:gd name="T66" fmla="*/ 48 w 179"/>
                <a:gd name="T67" fmla="*/ 43 h 180"/>
                <a:gd name="T68" fmla="*/ 29 w 179"/>
                <a:gd name="T69" fmla="*/ 38 h 180"/>
                <a:gd name="T70" fmla="*/ 25 w 179"/>
                <a:gd name="T71" fmla="*/ 70 h 180"/>
                <a:gd name="T72" fmla="*/ 27 w 179"/>
                <a:gd name="T73" fmla="*/ 90 h 180"/>
                <a:gd name="T74" fmla="*/ 25 w 179"/>
                <a:gd name="T75" fmla="*/ 109 h 180"/>
                <a:gd name="T76" fmla="*/ 29 w 179"/>
                <a:gd name="T77" fmla="*/ 142 h 180"/>
                <a:gd name="T78" fmla="*/ 48 w 179"/>
                <a:gd name="T79" fmla="*/ 136 h 180"/>
                <a:gd name="T80" fmla="*/ 75 w 179"/>
                <a:gd name="T81" fmla="*/ 155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79" h="180">
                  <a:moveTo>
                    <a:pt x="111" y="180"/>
                  </a:moveTo>
                  <a:cubicBezTo>
                    <a:pt x="69" y="180"/>
                    <a:pt x="69" y="180"/>
                    <a:pt x="69" y="180"/>
                  </a:cubicBezTo>
                  <a:cubicBezTo>
                    <a:pt x="65" y="180"/>
                    <a:pt x="63" y="177"/>
                    <a:pt x="63" y="174"/>
                  </a:cubicBezTo>
                  <a:cubicBezTo>
                    <a:pt x="63" y="159"/>
                    <a:pt x="63" y="159"/>
                    <a:pt x="63" y="159"/>
                  </a:cubicBezTo>
                  <a:cubicBezTo>
                    <a:pt x="56" y="156"/>
                    <a:pt x="49" y="153"/>
                    <a:pt x="43" y="148"/>
                  </a:cubicBezTo>
                  <a:cubicBezTo>
                    <a:pt x="30" y="155"/>
                    <a:pt x="30" y="155"/>
                    <a:pt x="30" y="155"/>
                  </a:cubicBezTo>
                  <a:cubicBezTo>
                    <a:pt x="27" y="157"/>
                    <a:pt x="23" y="156"/>
                    <a:pt x="22" y="153"/>
                  </a:cubicBezTo>
                  <a:cubicBezTo>
                    <a:pt x="1" y="116"/>
                    <a:pt x="1" y="116"/>
                    <a:pt x="1" y="116"/>
                  </a:cubicBezTo>
                  <a:cubicBezTo>
                    <a:pt x="0" y="115"/>
                    <a:pt x="0" y="113"/>
                    <a:pt x="0" y="112"/>
                  </a:cubicBezTo>
                  <a:cubicBezTo>
                    <a:pt x="0" y="110"/>
                    <a:pt x="1" y="109"/>
                    <a:pt x="3" y="108"/>
                  </a:cubicBezTo>
                  <a:cubicBezTo>
                    <a:pt x="16" y="101"/>
                    <a:pt x="16" y="101"/>
                    <a:pt x="16" y="101"/>
                  </a:cubicBezTo>
                  <a:cubicBezTo>
                    <a:pt x="15" y="97"/>
                    <a:pt x="15" y="93"/>
                    <a:pt x="15" y="90"/>
                  </a:cubicBezTo>
                  <a:cubicBezTo>
                    <a:pt x="15" y="86"/>
                    <a:pt x="15" y="82"/>
                    <a:pt x="16" y="78"/>
                  </a:cubicBezTo>
                  <a:cubicBezTo>
                    <a:pt x="3" y="71"/>
                    <a:pt x="3" y="71"/>
                    <a:pt x="3" y="71"/>
                  </a:cubicBezTo>
                  <a:cubicBezTo>
                    <a:pt x="1" y="70"/>
                    <a:pt x="0" y="69"/>
                    <a:pt x="0" y="67"/>
                  </a:cubicBezTo>
                  <a:cubicBezTo>
                    <a:pt x="0" y="66"/>
                    <a:pt x="0" y="64"/>
                    <a:pt x="1" y="63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3" y="24"/>
                    <a:pt x="27" y="23"/>
                    <a:pt x="30" y="24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9" y="27"/>
                    <a:pt x="56" y="23"/>
                    <a:pt x="63" y="20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63" y="2"/>
                    <a:pt x="65" y="0"/>
                    <a:pt x="69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4" y="0"/>
                    <a:pt x="117" y="2"/>
                    <a:pt x="117" y="6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24" y="23"/>
                    <a:pt x="130" y="27"/>
                    <a:pt x="136" y="32"/>
                  </a:cubicBezTo>
                  <a:cubicBezTo>
                    <a:pt x="148" y="24"/>
                    <a:pt x="148" y="24"/>
                    <a:pt x="148" y="24"/>
                  </a:cubicBezTo>
                  <a:cubicBezTo>
                    <a:pt x="150" y="23"/>
                    <a:pt x="151" y="23"/>
                    <a:pt x="153" y="24"/>
                  </a:cubicBezTo>
                  <a:cubicBezTo>
                    <a:pt x="154" y="24"/>
                    <a:pt x="156" y="25"/>
                    <a:pt x="156" y="26"/>
                  </a:cubicBezTo>
                  <a:cubicBezTo>
                    <a:pt x="177" y="63"/>
                    <a:pt x="177" y="63"/>
                    <a:pt x="177" y="63"/>
                  </a:cubicBezTo>
                  <a:cubicBezTo>
                    <a:pt x="178" y="64"/>
                    <a:pt x="178" y="66"/>
                    <a:pt x="178" y="67"/>
                  </a:cubicBezTo>
                  <a:cubicBezTo>
                    <a:pt x="178" y="69"/>
                    <a:pt x="177" y="70"/>
                    <a:pt x="175" y="71"/>
                  </a:cubicBezTo>
                  <a:cubicBezTo>
                    <a:pt x="162" y="78"/>
                    <a:pt x="162" y="78"/>
                    <a:pt x="162" y="78"/>
                  </a:cubicBezTo>
                  <a:cubicBezTo>
                    <a:pt x="163" y="82"/>
                    <a:pt x="163" y="86"/>
                    <a:pt x="163" y="90"/>
                  </a:cubicBezTo>
                  <a:cubicBezTo>
                    <a:pt x="163" y="93"/>
                    <a:pt x="163" y="97"/>
                    <a:pt x="162" y="10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8" y="110"/>
                    <a:pt x="179" y="114"/>
                    <a:pt x="178" y="116"/>
                  </a:cubicBezTo>
                  <a:cubicBezTo>
                    <a:pt x="157" y="153"/>
                    <a:pt x="157" y="153"/>
                    <a:pt x="157" y="153"/>
                  </a:cubicBezTo>
                  <a:cubicBezTo>
                    <a:pt x="156" y="154"/>
                    <a:pt x="154" y="155"/>
                    <a:pt x="153" y="156"/>
                  </a:cubicBezTo>
                  <a:cubicBezTo>
                    <a:pt x="151" y="156"/>
                    <a:pt x="150" y="156"/>
                    <a:pt x="148" y="155"/>
                  </a:cubicBezTo>
                  <a:cubicBezTo>
                    <a:pt x="136" y="148"/>
                    <a:pt x="136" y="148"/>
                    <a:pt x="136" y="148"/>
                  </a:cubicBezTo>
                  <a:cubicBezTo>
                    <a:pt x="130" y="152"/>
                    <a:pt x="124" y="156"/>
                    <a:pt x="117" y="159"/>
                  </a:cubicBezTo>
                  <a:cubicBezTo>
                    <a:pt x="117" y="174"/>
                    <a:pt x="117" y="174"/>
                    <a:pt x="117" y="174"/>
                  </a:cubicBezTo>
                  <a:cubicBezTo>
                    <a:pt x="117" y="177"/>
                    <a:pt x="114" y="180"/>
                    <a:pt x="111" y="180"/>
                  </a:cubicBezTo>
                  <a:close/>
                  <a:moveTo>
                    <a:pt x="75" y="168"/>
                  </a:moveTo>
                  <a:cubicBezTo>
                    <a:pt x="105" y="168"/>
                    <a:pt x="105" y="168"/>
                    <a:pt x="105" y="168"/>
                  </a:cubicBezTo>
                  <a:cubicBezTo>
                    <a:pt x="105" y="155"/>
                    <a:pt x="105" y="155"/>
                    <a:pt x="105" y="155"/>
                  </a:cubicBezTo>
                  <a:cubicBezTo>
                    <a:pt x="105" y="152"/>
                    <a:pt x="107" y="150"/>
                    <a:pt x="109" y="149"/>
                  </a:cubicBezTo>
                  <a:cubicBezTo>
                    <a:pt x="118" y="146"/>
                    <a:pt x="124" y="142"/>
                    <a:pt x="131" y="136"/>
                  </a:cubicBezTo>
                  <a:cubicBezTo>
                    <a:pt x="133" y="134"/>
                    <a:pt x="136" y="134"/>
                    <a:pt x="138" y="135"/>
                  </a:cubicBezTo>
                  <a:cubicBezTo>
                    <a:pt x="149" y="142"/>
                    <a:pt x="149" y="142"/>
                    <a:pt x="149" y="142"/>
                  </a:cubicBezTo>
                  <a:cubicBezTo>
                    <a:pt x="164" y="116"/>
                    <a:pt x="164" y="116"/>
                    <a:pt x="164" y="116"/>
                  </a:cubicBezTo>
                  <a:cubicBezTo>
                    <a:pt x="153" y="109"/>
                    <a:pt x="153" y="109"/>
                    <a:pt x="153" y="109"/>
                  </a:cubicBezTo>
                  <a:cubicBezTo>
                    <a:pt x="151" y="108"/>
                    <a:pt x="149" y="105"/>
                    <a:pt x="150" y="103"/>
                  </a:cubicBezTo>
                  <a:cubicBezTo>
                    <a:pt x="151" y="99"/>
                    <a:pt x="151" y="94"/>
                    <a:pt x="151" y="90"/>
                  </a:cubicBezTo>
                  <a:cubicBezTo>
                    <a:pt x="151" y="85"/>
                    <a:pt x="151" y="81"/>
                    <a:pt x="150" y="77"/>
                  </a:cubicBezTo>
                  <a:cubicBezTo>
                    <a:pt x="149" y="74"/>
                    <a:pt x="150" y="71"/>
                    <a:pt x="153" y="70"/>
                  </a:cubicBezTo>
                  <a:cubicBezTo>
                    <a:pt x="164" y="64"/>
                    <a:pt x="164" y="64"/>
                    <a:pt x="164" y="64"/>
                  </a:cubicBezTo>
                  <a:cubicBezTo>
                    <a:pt x="149" y="38"/>
                    <a:pt x="149" y="38"/>
                    <a:pt x="149" y="38"/>
                  </a:cubicBezTo>
                  <a:cubicBezTo>
                    <a:pt x="138" y="44"/>
                    <a:pt x="138" y="44"/>
                    <a:pt x="138" y="44"/>
                  </a:cubicBezTo>
                  <a:cubicBezTo>
                    <a:pt x="136" y="46"/>
                    <a:pt x="133" y="45"/>
                    <a:pt x="131" y="43"/>
                  </a:cubicBezTo>
                  <a:cubicBezTo>
                    <a:pt x="124" y="37"/>
                    <a:pt x="118" y="33"/>
                    <a:pt x="109" y="30"/>
                  </a:cubicBezTo>
                  <a:cubicBezTo>
                    <a:pt x="107" y="30"/>
                    <a:pt x="105" y="27"/>
                    <a:pt x="105" y="25"/>
                  </a:cubicBezTo>
                  <a:cubicBezTo>
                    <a:pt x="105" y="12"/>
                    <a:pt x="105" y="12"/>
                    <a:pt x="105" y="12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5" y="27"/>
                    <a:pt x="73" y="30"/>
                    <a:pt x="70" y="30"/>
                  </a:cubicBezTo>
                  <a:cubicBezTo>
                    <a:pt x="62" y="33"/>
                    <a:pt x="55" y="37"/>
                    <a:pt x="48" y="43"/>
                  </a:cubicBezTo>
                  <a:cubicBezTo>
                    <a:pt x="46" y="45"/>
                    <a:pt x="43" y="46"/>
                    <a:pt x="41" y="44"/>
                  </a:cubicBezTo>
                  <a:cubicBezTo>
                    <a:pt x="29" y="38"/>
                    <a:pt x="29" y="38"/>
                    <a:pt x="29" y="38"/>
                  </a:cubicBezTo>
                  <a:cubicBezTo>
                    <a:pt x="14" y="64"/>
                    <a:pt x="14" y="64"/>
                    <a:pt x="14" y="64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8" y="71"/>
                    <a:pt x="29" y="74"/>
                    <a:pt x="28" y="77"/>
                  </a:cubicBezTo>
                  <a:cubicBezTo>
                    <a:pt x="27" y="81"/>
                    <a:pt x="27" y="85"/>
                    <a:pt x="27" y="90"/>
                  </a:cubicBezTo>
                  <a:cubicBezTo>
                    <a:pt x="27" y="94"/>
                    <a:pt x="27" y="98"/>
                    <a:pt x="28" y="103"/>
                  </a:cubicBezTo>
                  <a:cubicBezTo>
                    <a:pt x="29" y="105"/>
                    <a:pt x="28" y="108"/>
                    <a:pt x="25" y="109"/>
                  </a:cubicBezTo>
                  <a:cubicBezTo>
                    <a:pt x="14" y="116"/>
                    <a:pt x="14" y="116"/>
                    <a:pt x="14" y="116"/>
                  </a:cubicBezTo>
                  <a:cubicBezTo>
                    <a:pt x="29" y="142"/>
                    <a:pt x="29" y="142"/>
                    <a:pt x="29" y="142"/>
                  </a:cubicBezTo>
                  <a:cubicBezTo>
                    <a:pt x="41" y="135"/>
                    <a:pt x="41" y="135"/>
                    <a:pt x="41" y="135"/>
                  </a:cubicBezTo>
                  <a:cubicBezTo>
                    <a:pt x="43" y="134"/>
                    <a:pt x="46" y="134"/>
                    <a:pt x="48" y="136"/>
                  </a:cubicBezTo>
                  <a:cubicBezTo>
                    <a:pt x="55" y="142"/>
                    <a:pt x="62" y="146"/>
                    <a:pt x="70" y="149"/>
                  </a:cubicBezTo>
                  <a:cubicBezTo>
                    <a:pt x="73" y="150"/>
                    <a:pt x="75" y="152"/>
                    <a:pt x="75" y="155"/>
                  </a:cubicBezTo>
                  <a:lnTo>
                    <a:pt x="7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</p:grpSp>
      <p:grpSp>
        <p:nvGrpSpPr>
          <p:cNvPr id="410" name="Group 409">
            <a:extLst>
              <a:ext uri="{FF2B5EF4-FFF2-40B4-BE49-F238E27FC236}">
                <a16:creationId xmlns:a16="http://schemas.microsoft.com/office/drawing/2014/main" id="{27E18C7D-9655-8F07-ABD4-AEEA447155E5}"/>
              </a:ext>
            </a:extLst>
          </p:cNvPr>
          <p:cNvGrpSpPr>
            <a:grpSpLocks noChangeAspect="1"/>
          </p:cNvGrpSpPr>
          <p:nvPr/>
        </p:nvGrpSpPr>
        <p:grpSpPr>
          <a:xfrm>
            <a:off x="5876406" y="6434459"/>
            <a:ext cx="164883" cy="276214"/>
            <a:chOff x="579438" y="3989388"/>
            <a:chExt cx="371475" cy="622300"/>
          </a:xfrm>
          <a:solidFill>
            <a:srgbClr val="000000"/>
          </a:solidFill>
        </p:grpSpPr>
        <p:sp>
          <p:nvSpPr>
            <p:cNvPr id="411" name="Freeform 9">
              <a:extLst>
                <a:ext uri="{FF2B5EF4-FFF2-40B4-BE49-F238E27FC236}">
                  <a16:creationId xmlns:a16="http://schemas.microsoft.com/office/drawing/2014/main" id="{2E83A831-DEE6-9C96-EE9D-020CBDE9FF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9438" y="3989388"/>
              <a:ext cx="371475" cy="622300"/>
            </a:xfrm>
            <a:custGeom>
              <a:avLst/>
              <a:gdLst>
                <a:gd name="T0" fmla="*/ 46 w 56"/>
                <a:gd name="T1" fmla="*/ 0 h 96"/>
                <a:gd name="T2" fmla="*/ 10 w 56"/>
                <a:gd name="T3" fmla="*/ 0 h 96"/>
                <a:gd name="T4" fmla="*/ 0 w 56"/>
                <a:gd name="T5" fmla="*/ 10 h 96"/>
                <a:gd name="T6" fmla="*/ 0 w 56"/>
                <a:gd name="T7" fmla="*/ 86 h 96"/>
                <a:gd name="T8" fmla="*/ 10 w 56"/>
                <a:gd name="T9" fmla="*/ 96 h 96"/>
                <a:gd name="T10" fmla="*/ 46 w 56"/>
                <a:gd name="T11" fmla="*/ 96 h 96"/>
                <a:gd name="T12" fmla="*/ 56 w 56"/>
                <a:gd name="T13" fmla="*/ 86 h 96"/>
                <a:gd name="T14" fmla="*/ 56 w 56"/>
                <a:gd name="T15" fmla="*/ 10 h 96"/>
                <a:gd name="T16" fmla="*/ 46 w 56"/>
                <a:gd name="T17" fmla="*/ 0 h 96"/>
                <a:gd name="T18" fmla="*/ 4 w 56"/>
                <a:gd name="T19" fmla="*/ 20 h 96"/>
                <a:gd name="T20" fmla="*/ 52 w 56"/>
                <a:gd name="T21" fmla="*/ 20 h 96"/>
                <a:gd name="T22" fmla="*/ 52 w 56"/>
                <a:gd name="T23" fmla="*/ 76 h 96"/>
                <a:gd name="T24" fmla="*/ 4 w 56"/>
                <a:gd name="T25" fmla="*/ 76 h 96"/>
                <a:gd name="T26" fmla="*/ 4 w 56"/>
                <a:gd name="T27" fmla="*/ 20 h 96"/>
                <a:gd name="T28" fmla="*/ 10 w 56"/>
                <a:gd name="T29" fmla="*/ 4 h 96"/>
                <a:gd name="T30" fmla="*/ 46 w 56"/>
                <a:gd name="T31" fmla="*/ 4 h 96"/>
                <a:gd name="T32" fmla="*/ 52 w 56"/>
                <a:gd name="T33" fmla="*/ 10 h 96"/>
                <a:gd name="T34" fmla="*/ 52 w 56"/>
                <a:gd name="T35" fmla="*/ 16 h 96"/>
                <a:gd name="T36" fmla="*/ 4 w 56"/>
                <a:gd name="T37" fmla="*/ 16 h 96"/>
                <a:gd name="T38" fmla="*/ 4 w 56"/>
                <a:gd name="T39" fmla="*/ 10 h 96"/>
                <a:gd name="T40" fmla="*/ 10 w 56"/>
                <a:gd name="T41" fmla="*/ 4 h 96"/>
                <a:gd name="T42" fmla="*/ 46 w 56"/>
                <a:gd name="T43" fmla="*/ 92 h 96"/>
                <a:gd name="T44" fmla="*/ 10 w 56"/>
                <a:gd name="T45" fmla="*/ 92 h 96"/>
                <a:gd name="T46" fmla="*/ 4 w 56"/>
                <a:gd name="T47" fmla="*/ 86 h 96"/>
                <a:gd name="T48" fmla="*/ 4 w 56"/>
                <a:gd name="T49" fmla="*/ 80 h 96"/>
                <a:gd name="T50" fmla="*/ 52 w 56"/>
                <a:gd name="T51" fmla="*/ 80 h 96"/>
                <a:gd name="T52" fmla="*/ 52 w 56"/>
                <a:gd name="T53" fmla="*/ 86 h 96"/>
                <a:gd name="T54" fmla="*/ 46 w 56"/>
                <a:gd name="T55" fmla="*/ 9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6" h="96">
                  <a:moveTo>
                    <a:pt x="46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92"/>
                    <a:pt x="4" y="96"/>
                    <a:pt x="10" y="96"/>
                  </a:cubicBezTo>
                  <a:cubicBezTo>
                    <a:pt x="46" y="96"/>
                    <a:pt x="46" y="96"/>
                    <a:pt x="46" y="96"/>
                  </a:cubicBezTo>
                  <a:cubicBezTo>
                    <a:pt x="52" y="96"/>
                    <a:pt x="56" y="92"/>
                    <a:pt x="56" y="86"/>
                  </a:cubicBezTo>
                  <a:cubicBezTo>
                    <a:pt x="56" y="10"/>
                    <a:pt x="56" y="10"/>
                    <a:pt x="56" y="10"/>
                  </a:cubicBezTo>
                  <a:cubicBezTo>
                    <a:pt x="56" y="4"/>
                    <a:pt x="52" y="0"/>
                    <a:pt x="46" y="0"/>
                  </a:cubicBezTo>
                  <a:close/>
                  <a:moveTo>
                    <a:pt x="4" y="20"/>
                  </a:moveTo>
                  <a:cubicBezTo>
                    <a:pt x="52" y="20"/>
                    <a:pt x="52" y="20"/>
                    <a:pt x="52" y="20"/>
                  </a:cubicBezTo>
                  <a:cubicBezTo>
                    <a:pt x="52" y="76"/>
                    <a:pt x="52" y="76"/>
                    <a:pt x="52" y="76"/>
                  </a:cubicBezTo>
                  <a:cubicBezTo>
                    <a:pt x="4" y="76"/>
                    <a:pt x="4" y="76"/>
                    <a:pt x="4" y="76"/>
                  </a:cubicBezTo>
                  <a:lnTo>
                    <a:pt x="4" y="20"/>
                  </a:lnTo>
                  <a:close/>
                  <a:moveTo>
                    <a:pt x="10" y="4"/>
                  </a:moveTo>
                  <a:cubicBezTo>
                    <a:pt x="46" y="4"/>
                    <a:pt x="46" y="4"/>
                    <a:pt x="46" y="4"/>
                  </a:cubicBezTo>
                  <a:cubicBezTo>
                    <a:pt x="49" y="4"/>
                    <a:pt x="52" y="7"/>
                    <a:pt x="52" y="10"/>
                  </a:cubicBezTo>
                  <a:cubicBezTo>
                    <a:pt x="52" y="16"/>
                    <a:pt x="52" y="16"/>
                    <a:pt x="52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7"/>
                    <a:pt x="7" y="4"/>
                    <a:pt x="10" y="4"/>
                  </a:cubicBezTo>
                  <a:close/>
                  <a:moveTo>
                    <a:pt x="46" y="92"/>
                  </a:moveTo>
                  <a:cubicBezTo>
                    <a:pt x="10" y="92"/>
                    <a:pt x="10" y="92"/>
                    <a:pt x="10" y="92"/>
                  </a:cubicBezTo>
                  <a:cubicBezTo>
                    <a:pt x="7" y="92"/>
                    <a:pt x="4" y="89"/>
                    <a:pt x="4" y="86"/>
                  </a:cubicBezTo>
                  <a:cubicBezTo>
                    <a:pt x="4" y="80"/>
                    <a:pt x="4" y="80"/>
                    <a:pt x="4" y="80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52" y="86"/>
                    <a:pt x="52" y="86"/>
                    <a:pt x="52" y="86"/>
                  </a:cubicBezTo>
                  <a:cubicBezTo>
                    <a:pt x="52" y="89"/>
                    <a:pt x="49" y="92"/>
                    <a:pt x="46" y="9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412" name="Freeform 10">
              <a:extLst>
                <a:ext uri="{FF2B5EF4-FFF2-40B4-BE49-F238E27FC236}">
                  <a16:creationId xmlns:a16="http://schemas.microsoft.com/office/drawing/2014/main" id="{FE856C51-D2A5-0058-0E43-6040D7686B9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800" y="4041775"/>
              <a:ext cx="158750" cy="25400"/>
            </a:xfrm>
            <a:custGeom>
              <a:avLst/>
              <a:gdLst>
                <a:gd name="T0" fmla="*/ 2 w 24"/>
                <a:gd name="T1" fmla="*/ 4 h 4"/>
                <a:gd name="T2" fmla="*/ 22 w 24"/>
                <a:gd name="T3" fmla="*/ 4 h 4"/>
                <a:gd name="T4" fmla="*/ 24 w 24"/>
                <a:gd name="T5" fmla="*/ 2 h 4"/>
                <a:gd name="T6" fmla="*/ 22 w 24"/>
                <a:gd name="T7" fmla="*/ 0 h 4"/>
                <a:gd name="T8" fmla="*/ 2 w 24"/>
                <a:gd name="T9" fmla="*/ 0 h 4"/>
                <a:gd name="T10" fmla="*/ 0 w 24"/>
                <a:gd name="T11" fmla="*/ 2 h 4"/>
                <a:gd name="T12" fmla="*/ 2 w 24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4">
                  <a:moveTo>
                    <a:pt x="2" y="4"/>
                  </a:moveTo>
                  <a:cubicBezTo>
                    <a:pt x="22" y="4"/>
                    <a:pt x="22" y="4"/>
                    <a:pt x="22" y="4"/>
                  </a:cubicBezTo>
                  <a:cubicBezTo>
                    <a:pt x="23" y="4"/>
                    <a:pt x="24" y="3"/>
                    <a:pt x="24" y="2"/>
                  </a:cubicBezTo>
                  <a:cubicBezTo>
                    <a:pt x="24" y="1"/>
                    <a:pt x="23" y="0"/>
                    <a:pt x="2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413" name="Freeform 11">
              <a:extLst>
                <a:ext uri="{FF2B5EF4-FFF2-40B4-BE49-F238E27FC236}">
                  <a16:creationId xmlns:a16="http://schemas.microsoft.com/office/drawing/2014/main" id="{24C745E1-3CBD-003C-6CE4-A73F697768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8188" y="4521200"/>
              <a:ext cx="53975" cy="52388"/>
            </a:xfrm>
            <a:custGeom>
              <a:avLst/>
              <a:gdLst>
                <a:gd name="T0" fmla="*/ 4 w 8"/>
                <a:gd name="T1" fmla="*/ 0 h 8"/>
                <a:gd name="T2" fmla="*/ 0 w 8"/>
                <a:gd name="T3" fmla="*/ 4 h 8"/>
                <a:gd name="T4" fmla="*/ 4 w 8"/>
                <a:gd name="T5" fmla="*/ 8 h 8"/>
                <a:gd name="T6" fmla="*/ 8 w 8"/>
                <a:gd name="T7" fmla="*/ 4 h 8"/>
                <a:gd name="T8" fmla="*/ 4 w 8"/>
                <a:gd name="T9" fmla="*/ 0 h 8"/>
                <a:gd name="T10" fmla="*/ 4 w 8"/>
                <a:gd name="T11" fmla="*/ 6 h 8"/>
                <a:gd name="T12" fmla="*/ 4 w 8"/>
                <a:gd name="T13" fmla="*/ 4 h 8"/>
                <a:gd name="T14" fmla="*/ 4 w 8"/>
                <a:gd name="T15" fmla="*/ 4 h 8"/>
                <a:gd name="T16" fmla="*/ 4 w 8"/>
                <a:gd name="T17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8">
                  <a:moveTo>
                    <a:pt x="4" y="0"/>
                  </a:move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6" y="8"/>
                    <a:pt x="8" y="6"/>
                    <a:pt x="8" y="4"/>
                  </a:cubicBezTo>
                  <a:cubicBezTo>
                    <a:pt x="8" y="2"/>
                    <a:pt x="6" y="0"/>
                    <a:pt x="4" y="0"/>
                  </a:cubicBezTo>
                  <a:close/>
                  <a:moveTo>
                    <a:pt x="4" y="6"/>
                  </a:move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lnTo>
                    <a:pt x="4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414" name="Freeform 12">
              <a:extLst>
                <a:ext uri="{FF2B5EF4-FFF2-40B4-BE49-F238E27FC236}">
                  <a16:creationId xmlns:a16="http://schemas.microsoft.com/office/drawing/2014/main" id="{47EC9C5B-69B4-C46D-514E-D56A2B8B07F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813" y="4171950"/>
              <a:ext cx="212725" cy="25400"/>
            </a:xfrm>
            <a:custGeom>
              <a:avLst/>
              <a:gdLst>
                <a:gd name="T0" fmla="*/ 2 w 32"/>
                <a:gd name="T1" fmla="*/ 4 h 4"/>
                <a:gd name="T2" fmla="*/ 30 w 32"/>
                <a:gd name="T3" fmla="*/ 4 h 4"/>
                <a:gd name="T4" fmla="*/ 32 w 32"/>
                <a:gd name="T5" fmla="*/ 2 h 4"/>
                <a:gd name="T6" fmla="*/ 30 w 32"/>
                <a:gd name="T7" fmla="*/ 0 h 4"/>
                <a:gd name="T8" fmla="*/ 2 w 32"/>
                <a:gd name="T9" fmla="*/ 0 h 4"/>
                <a:gd name="T10" fmla="*/ 0 w 32"/>
                <a:gd name="T11" fmla="*/ 2 h 4"/>
                <a:gd name="T12" fmla="*/ 2 w 3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4">
                  <a:moveTo>
                    <a:pt x="2" y="4"/>
                  </a:moveTo>
                  <a:cubicBezTo>
                    <a:pt x="30" y="4"/>
                    <a:pt x="30" y="4"/>
                    <a:pt x="30" y="4"/>
                  </a:cubicBezTo>
                  <a:cubicBezTo>
                    <a:pt x="31" y="4"/>
                    <a:pt x="32" y="3"/>
                    <a:pt x="32" y="2"/>
                  </a:cubicBezTo>
                  <a:cubicBezTo>
                    <a:pt x="32" y="1"/>
                    <a:pt x="31" y="0"/>
                    <a:pt x="3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415" name="Freeform 13">
              <a:extLst>
                <a:ext uri="{FF2B5EF4-FFF2-40B4-BE49-F238E27FC236}">
                  <a16:creationId xmlns:a16="http://schemas.microsoft.com/office/drawing/2014/main" id="{D8595A09-F1A7-F6D3-6973-BA8EEDA96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813" y="4222750"/>
              <a:ext cx="212725" cy="26988"/>
            </a:xfrm>
            <a:custGeom>
              <a:avLst/>
              <a:gdLst>
                <a:gd name="T0" fmla="*/ 30 w 32"/>
                <a:gd name="T1" fmla="*/ 0 h 4"/>
                <a:gd name="T2" fmla="*/ 2 w 32"/>
                <a:gd name="T3" fmla="*/ 0 h 4"/>
                <a:gd name="T4" fmla="*/ 0 w 32"/>
                <a:gd name="T5" fmla="*/ 2 h 4"/>
                <a:gd name="T6" fmla="*/ 2 w 32"/>
                <a:gd name="T7" fmla="*/ 4 h 4"/>
                <a:gd name="T8" fmla="*/ 30 w 32"/>
                <a:gd name="T9" fmla="*/ 4 h 4"/>
                <a:gd name="T10" fmla="*/ 32 w 32"/>
                <a:gd name="T11" fmla="*/ 2 h 4"/>
                <a:gd name="T12" fmla="*/ 30 w 32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4">
                  <a:moveTo>
                    <a:pt x="30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0" y="4"/>
                    <a:pt x="30" y="4"/>
                    <a:pt x="30" y="4"/>
                  </a:cubicBezTo>
                  <a:cubicBezTo>
                    <a:pt x="31" y="4"/>
                    <a:pt x="32" y="3"/>
                    <a:pt x="32" y="2"/>
                  </a:cubicBezTo>
                  <a:cubicBezTo>
                    <a:pt x="32" y="1"/>
                    <a:pt x="31" y="0"/>
                    <a:pt x="3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416" name="Freeform 14">
              <a:extLst>
                <a:ext uri="{FF2B5EF4-FFF2-40B4-BE49-F238E27FC236}">
                  <a16:creationId xmlns:a16="http://schemas.microsoft.com/office/drawing/2014/main" id="{495818CB-8B64-F31B-6885-BA5FEA2F6B0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813" y="4275138"/>
              <a:ext cx="212725" cy="25400"/>
            </a:xfrm>
            <a:custGeom>
              <a:avLst/>
              <a:gdLst>
                <a:gd name="T0" fmla="*/ 30 w 32"/>
                <a:gd name="T1" fmla="*/ 0 h 4"/>
                <a:gd name="T2" fmla="*/ 2 w 32"/>
                <a:gd name="T3" fmla="*/ 0 h 4"/>
                <a:gd name="T4" fmla="*/ 0 w 32"/>
                <a:gd name="T5" fmla="*/ 2 h 4"/>
                <a:gd name="T6" fmla="*/ 2 w 32"/>
                <a:gd name="T7" fmla="*/ 4 h 4"/>
                <a:gd name="T8" fmla="*/ 30 w 32"/>
                <a:gd name="T9" fmla="*/ 4 h 4"/>
                <a:gd name="T10" fmla="*/ 32 w 32"/>
                <a:gd name="T11" fmla="*/ 2 h 4"/>
                <a:gd name="T12" fmla="*/ 30 w 32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4">
                  <a:moveTo>
                    <a:pt x="30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0" y="4"/>
                    <a:pt x="30" y="4"/>
                    <a:pt x="30" y="4"/>
                  </a:cubicBezTo>
                  <a:cubicBezTo>
                    <a:pt x="31" y="4"/>
                    <a:pt x="32" y="3"/>
                    <a:pt x="32" y="2"/>
                  </a:cubicBezTo>
                  <a:cubicBezTo>
                    <a:pt x="32" y="1"/>
                    <a:pt x="31" y="0"/>
                    <a:pt x="3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417" name="Freeform 15">
              <a:extLst>
                <a:ext uri="{FF2B5EF4-FFF2-40B4-BE49-F238E27FC236}">
                  <a16:creationId xmlns:a16="http://schemas.microsoft.com/office/drawing/2014/main" id="{0FCCE8CD-8542-A5E9-8302-73B7408BE1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813" y="4325938"/>
              <a:ext cx="212725" cy="26988"/>
            </a:xfrm>
            <a:custGeom>
              <a:avLst/>
              <a:gdLst>
                <a:gd name="T0" fmla="*/ 30 w 32"/>
                <a:gd name="T1" fmla="*/ 0 h 4"/>
                <a:gd name="T2" fmla="*/ 2 w 32"/>
                <a:gd name="T3" fmla="*/ 0 h 4"/>
                <a:gd name="T4" fmla="*/ 0 w 32"/>
                <a:gd name="T5" fmla="*/ 2 h 4"/>
                <a:gd name="T6" fmla="*/ 2 w 32"/>
                <a:gd name="T7" fmla="*/ 4 h 4"/>
                <a:gd name="T8" fmla="*/ 30 w 32"/>
                <a:gd name="T9" fmla="*/ 4 h 4"/>
                <a:gd name="T10" fmla="*/ 32 w 32"/>
                <a:gd name="T11" fmla="*/ 2 h 4"/>
                <a:gd name="T12" fmla="*/ 30 w 32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4">
                  <a:moveTo>
                    <a:pt x="30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0" y="4"/>
                    <a:pt x="30" y="4"/>
                    <a:pt x="30" y="4"/>
                  </a:cubicBezTo>
                  <a:cubicBezTo>
                    <a:pt x="31" y="4"/>
                    <a:pt x="32" y="3"/>
                    <a:pt x="32" y="2"/>
                  </a:cubicBezTo>
                  <a:cubicBezTo>
                    <a:pt x="32" y="1"/>
                    <a:pt x="31" y="0"/>
                    <a:pt x="3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418" name="Freeform 16">
              <a:extLst>
                <a:ext uri="{FF2B5EF4-FFF2-40B4-BE49-F238E27FC236}">
                  <a16:creationId xmlns:a16="http://schemas.microsoft.com/office/drawing/2014/main" id="{6FA12538-1F48-6131-B01F-744F3C1BFC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813" y="4378325"/>
              <a:ext cx="133350" cy="25400"/>
            </a:xfrm>
            <a:custGeom>
              <a:avLst/>
              <a:gdLst>
                <a:gd name="T0" fmla="*/ 18 w 20"/>
                <a:gd name="T1" fmla="*/ 0 h 4"/>
                <a:gd name="T2" fmla="*/ 2 w 20"/>
                <a:gd name="T3" fmla="*/ 0 h 4"/>
                <a:gd name="T4" fmla="*/ 0 w 20"/>
                <a:gd name="T5" fmla="*/ 2 h 4"/>
                <a:gd name="T6" fmla="*/ 2 w 20"/>
                <a:gd name="T7" fmla="*/ 4 h 4"/>
                <a:gd name="T8" fmla="*/ 18 w 20"/>
                <a:gd name="T9" fmla="*/ 4 h 4"/>
                <a:gd name="T10" fmla="*/ 20 w 20"/>
                <a:gd name="T11" fmla="*/ 2 h 4"/>
                <a:gd name="T12" fmla="*/ 18 w 20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4">
                  <a:moveTo>
                    <a:pt x="18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9" y="4"/>
                    <a:pt x="20" y="3"/>
                    <a:pt x="20" y="2"/>
                  </a:cubicBezTo>
                  <a:cubicBezTo>
                    <a:pt x="20" y="1"/>
                    <a:pt x="19" y="0"/>
                    <a:pt x="1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</p:grpSp>
      <p:grpSp>
        <p:nvGrpSpPr>
          <p:cNvPr id="419" name="Group 199">
            <a:extLst>
              <a:ext uri="{FF2B5EF4-FFF2-40B4-BE49-F238E27FC236}">
                <a16:creationId xmlns:a16="http://schemas.microsoft.com/office/drawing/2014/main" id="{25027ADD-AF4B-8CFA-8260-B39058553A2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978450" y="6432268"/>
            <a:ext cx="306424" cy="280596"/>
            <a:chOff x="3435" y="3010"/>
            <a:chExt cx="427" cy="391"/>
          </a:xfrm>
          <a:solidFill>
            <a:srgbClr val="000000"/>
          </a:solidFill>
        </p:grpSpPr>
        <p:sp>
          <p:nvSpPr>
            <p:cNvPr id="420" name="Freeform 200">
              <a:extLst>
                <a:ext uri="{FF2B5EF4-FFF2-40B4-BE49-F238E27FC236}">
                  <a16:creationId xmlns:a16="http://schemas.microsoft.com/office/drawing/2014/main" id="{535A29FD-D3F0-B88C-B2CA-644F57D1BC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35" y="3010"/>
              <a:ext cx="427" cy="391"/>
            </a:xfrm>
            <a:custGeom>
              <a:avLst/>
              <a:gdLst>
                <a:gd name="T0" fmla="*/ 258 w 288"/>
                <a:gd name="T1" fmla="*/ 264 h 264"/>
                <a:gd name="T2" fmla="*/ 30 w 288"/>
                <a:gd name="T3" fmla="*/ 264 h 264"/>
                <a:gd name="T4" fmla="*/ 0 w 288"/>
                <a:gd name="T5" fmla="*/ 234 h 264"/>
                <a:gd name="T6" fmla="*/ 0 w 288"/>
                <a:gd name="T7" fmla="*/ 30 h 264"/>
                <a:gd name="T8" fmla="*/ 30 w 288"/>
                <a:gd name="T9" fmla="*/ 0 h 264"/>
                <a:gd name="T10" fmla="*/ 258 w 288"/>
                <a:gd name="T11" fmla="*/ 0 h 264"/>
                <a:gd name="T12" fmla="*/ 288 w 288"/>
                <a:gd name="T13" fmla="*/ 30 h 264"/>
                <a:gd name="T14" fmla="*/ 288 w 288"/>
                <a:gd name="T15" fmla="*/ 234 h 264"/>
                <a:gd name="T16" fmla="*/ 258 w 288"/>
                <a:gd name="T17" fmla="*/ 264 h 264"/>
                <a:gd name="T18" fmla="*/ 30 w 288"/>
                <a:gd name="T19" fmla="*/ 12 h 264"/>
                <a:gd name="T20" fmla="*/ 12 w 288"/>
                <a:gd name="T21" fmla="*/ 30 h 264"/>
                <a:gd name="T22" fmla="*/ 12 w 288"/>
                <a:gd name="T23" fmla="*/ 234 h 264"/>
                <a:gd name="T24" fmla="*/ 30 w 288"/>
                <a:gd name="T25" fmla="*/ 252 h 264"/>
                <a:gd name="T26" fmla="*/ 258 w 288"/>
                <a:gd name="T27" fmla="*/ 252 h 264"/>
                <a:gd name="T28" fmla="*/ 276 w 288"/>
                <a:gd name="T29" fmla="*/ 234 h 264"/>
                <a:gd name="T30" fmla="*/ 276 w 288"/>
                <a:gd name="T31" fmla="*/ 30 h 264"/>
                <a:gd name="T32" fmla="*/ 258 w 288"/>
                <a:gd name="T33" fmla="*/ 12 h 264"/>
                <a:gd name="T34" fmla="*/ 30 w 288"/>
                <a:gd name="T35" fmla="*/ 12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8" h="264">
                  <a:moveTo>
                    <a:pt x="258" y="264"/>
                  </a:moveTo>
                  <a:cubicBezTo>
                    <a:pt x="30" y="264"/>
                    <a:pt x="30" y="264"/>
                    <a:pt x="30" y="264"/>
                  </a:cubicBezTo>
                  <a:cubicBezTo>
                    <a:pt x="14" y="264"/>
                    <a:pt x="0" y="251"/>
                    <a:pt x="0" y="234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258" y="0"/>
                    <a:pt x="258" y="0"/>
                    <a:pt x="258" y="0"/>
                  </a:cubicBezTo>
                  <a:cubicBezTo>
                    <a:pt x="275" y="0"/>
                    <a:pt x="288" y="13"/>
                    <a:pt x="288" y="30"/>
                  </a:cubicBezTo>
                  <a:cubicBezTo>
                    <a:pt x="288" y="234"/>
                    <a:pt x="288" y="234"/>
                    <a:pt x="288" y="234"/>
                  </a:cubicBezTo>
                  <a:cubicBezTo>
                    <a:pt x="288" y="251"/>
                    <a:pt x="275" y="264"/>
                    <a:pt x="258" y="264"/>
                  </a:cubicBezTo>
                  <a:close/>
                  <a:moveTo>
                    <a:pt x="30" y="12"/>
                  </a:moveTo>
                  <a:cubicBezTo>
                    <a:pt x="21" y="12"/>
                    <a:pt x="12" y="20"/>
                    <a:pt x="12" y="30"/>
                  </a:cubicBezTo>
                  <a:cubicBezTo>
                    <a:pt x="12" y="234"/>
                    <a:pt x="12" y="234"/>
                    <a:pt x="12" y="234"/>
                  </a:cubicBezTo>
                  <a:cubicBezTo>
                    <a:pt x="12" y="244"/>
                    <a:pt x="21" y="252"/>
                    <a:pt x="30" y="252"/>
                  </a:cubicBezTo>
                  <a:cubicBezTo>
                    <a:pt x="258" y="252"/>
                    <a:pt x="258" y="252"/>
                    <a:pt x="258" y="252"/>
                  </a:cubicBezTo>
                  <a:cubicBezTo>
                    <a:pt x="268" y="252"/>
                    <a:pt x="276" y="244"/>
                    <a:pt x="276" y="234"/>
                  </a:cubicBezTo>
                  <a:cubicBezTo>
                    <a:pt x="276" y="30"/>
                    <a:pt x="276" y="30"/>
                    <a:pt x="276" y="30"/>
                  </a:cubicBezTo>
                  <a:cubicBezTo>
                    <a:pt x="276" y="20"/>
                    <a:pt x="268" y="12"/>
                    <a:pt x="258" y="12"/>
                  </a:cubicBezTo>
                  <a:lnTo>
                    <a:pt x="3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421" name="Freeform 201">
              <a:extLst>
                <a:ext uri="{FF2B5EF4-FFF2-40B4-BE49-F238E27FC236}">
                  <a16:creationId xmlns:a16="http://schemas.microsoft.com/office/drawing/2014/main" id="{8A188BED-2952-9ACA-31AB-125EBA354B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5" y="3099"/>
              <a:ext cx="427" cy="18"/>
            </a:xfrm>
            <a:custGeom>
              <a:avLst/>
              <a:gdLst>
                <a:gd name="T0" fmla="*/ 282 w 288"/>
                <a:gd name="T1" fmla="*/ 12 h 12"/>
                <a:gd name="T2" fmla="*/ 6 w 288"/>
                <a:gd name="T3" fmla="*/ 12 h 12"/>
                <a:gd name="T4" fmla="*/ 0 w 288"/>
                <a:gd name="T5" fmla="*/ 6 h 12"/>
                <a:gd name="T6" fmla="*/ 6 w 288"/>
                <a:gd name="T7" fmla="*/ 0 h 12"/>
                <a:gd name="T8" fmla="*/ 282 w 288"/>
                <a:gd name="T9" fmla="*/ 0 h 12"/>
                <a:gd name="T10" fmla="*/ 288 w 288"/>
                <a:gd name="T11" fmla="*/ 6 h 12"/>
                <a:gd name="T12" fmla="*/ 282 w 28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8" h="12">
                  <a:moveTo>
                    <a:pt x="28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6" y="0"/>
                    <a:pt x="288" y="3"/>
                    <a:pt x="288" y="6"/>
                  </a:cubicBezTo>
                  <a:cubicBezTo>
                    <a:pt x="288" y="9"/>
                    <a:pt x="286" y="12"/>
                    <a:pt x="28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422" name="Oval 202">
              <a:extLst>
                <a:ext uri="{FF2B5EF4-FFF2-40B4-BE49-F238E27FC236}">
                  <a16:creationId xmlns:a16="http://schemas.microsoft.com/office/drawing/2014/main" id="{E101243B-3968-7DAE-0C79-47873CB2E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9" y="3046"/>
              <a:ext cx="35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423" name="Oval 203">
              <a:extLst>
                <a:ext uri="{FF2B5EF4-FFF2-40B4-BE49-F238E27FC236}">
                  <a16:creationId xmlns:a16="http://schemas.microsoft.com/office/drawing/2014/main" id="{71EE376E-AC28-B35D-C503-1161874D93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2" y="3046"/>
              <a:ext cx="36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424" name="Oval 204">
              <a:extLst>
                <a:ext uri="{FF2B5EF4-FFF2-40B4-BE49-F238E27FC236}">
                  <a16:creationId xmlns:a16="http://schemas.microsoft.com/office/drawing/2014/main" id="{BE7F194B-E77C-C529-A9A4-D4840FC653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5" y="3046"/>
              <a:ext cx="36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425" name="Freeform 205">
              <a:extLst>
                <a:ext uri="{FF2B5EF4-FFF2-40B4-BE49-F238E27FC236}">
                  <a16:creationId xmlns:a16="http://schemas.microsoft.com/office/drawing/2014/main" id="{7170B6EA-36CE-54E0-F2D8-8E25CEE8F9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80" y="3152"/>
              <a:ext cx="195" cy="196"/>
            </a:xfrm>
            <a:custGeom>
              <a:avLst/>
              <a:gdLst>
                <a:gd name="T0" fmla="*/ 66 w 132"/>
                <a:gd name="T1" fmla="*/ 132 h 132"/>
                <a:gd name="T2" fmla="*/ 0 w 132"/>
                <a:gd name="T3" fmla="*/ 66 h 132"/>
                <a:gd name="T4" fmla="*/ 66 w 132"/>
                <a:gd name="T5" fmla="*/ 0 h 132"/>
                <a:gd name="T6" fmla="*/ 132 w 132"/>
                <a:gd name="T7" fmla="*/ 66 h 132"/>
                <a:gd name="T8" fmla="*/ 66 w 132"/>
                <a:gd name="T9" fmla="*/ 132 h 132"/>
                <a:gd name="T10" fmla="*/ 66 w 132"/>
                <a:gd name="T11" fmla="*/ 12 h 132"/>
                <a:gd name="T12" fmla="*/ 12 w 132"/>
                <a:gd name="T13" fmla="*/ 66 h 132"/>
                <a:gd name="T14" fmla="*/ 66 w 132"/>
                <a:gd name="T15" fmla="*/ 120 h 132"/>
                <a:gd name="T16" fmla="*/ 120 w 132"/>
                <a:gd name="T17" fmla="*/ 66 h 132"/>
                <a:gd name="T18" fmla="*/ 66 w 132"/>
                <a:gd name="T19" fmla="*/ 1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2" h="132">
                  <a:moveTo>
                    <a:pt x="66" y="132"/>
                  </a:moveTo>
                  <a:cubicBezTo>
                    <a:pt x="30" y="132"/>
                    <a:pt x="0" y="102"/>
                    <a:pt x="0" y="66"/>
                  </a:cubicBezTo>
                  <a:cubicBezTo>
                    <a:pt x="0" y="30"/>
                    <a:pt x="30" y="0"/>
                    <a:pt x="66" y="0"/>
                  </a:cubicBezTo>
                  <a:cubicBezTo>
                    <a:pt x="103" y="0"/>
                    <a:pt x="132" y="30"/>
                    <a:pt x="132" y="66"/>
                  </a:cubicBezTo>
                  <a:cubicBezTo>
                    <a:pt x="132" y="102"/>
                    <a:pt x="103" y="132"/>
                    <a:pt x="66" y="132"/>
                  </a:cubicBezTo>
                  <a:close/>
                  <a:moveTo>
                    <a:pt x="66" y="12"/>
                  </a:moveTo>
                  <a:cubicBezTo>
                    <a:pt x="37" y="12"/>
                    <a:pt x="12" y="36"/>
                    <a:pt x="12" y="66"/>
                  </a:cubicBezTo>
                  <a:cubicBezTo>
                    <a:pt x="12" y="96"/>
                    <a:pt x="37" y="120"/>
                    <a:pt x="66" y="120"/>
                  </a:cubicBezTo>
                  <a:cubicBezTo>
                    <a:pt x="96" y="120"/>
                    <a:pt x="120" y="96"/>
                    <a:pt x="120" y="66"/>
                  </a:cubicBezTo>
                  <a:cubicBezTo>
                    <a:pt x="120" y="36"/>
                    <a:pt x="96" y="12"/>
                    <a:pt x="6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426" name="Freeform 206">
              <a:extLst>
                <a:ext uri="{FF2B5EF4-FFF2-40B4-BE49-F238E27FC236}">
                  <a16:creationId xmlns:a16="http://schemas.microsoft.com/office/drawing/2014/main" id="{D69EE882-E9BA-326E-2CA8-1876FC1E1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9" y="3167"/>
              <a:ext cx="77" cy="160"/>
            </a:xfrm>
            <a:custGeom>
              <a:avLst/>
              <a:gdLst>
                <a:gd name="T0" fmla="*/ 45 w 52"/>
                <a:gd name="T1" fmla="*/ 108 h 108"/>
                <a:gd name="T2" fmla="*/ 40 w 52"/>
                <a:gd name="T3" fmla="*/ 106 h 108"/>
                <a:gd name="T4" fmla="*/ 2 w 52"/>
                <a:gd name="T5" fmla="*/ 60 h 108"/>
                <a:gd name="T6" fmla="*/ 1 w 52"/>
                <a:gd name="T7" fmla="*/ 53 h 108"/>
                <a:gd name="T8" fmla="*/ 35 w 52"/>
                <a:gd name="T9" fmla="*/ 3 h 108"/>
                <a:gd name="T10" fmla="*/ 44 w 52"/>
                <a:gd name="T11" fmla="*/ 2 h 108"/>
                <a:gd name="T12" fmla="*/ 45 w 52"/>
                <a:gd name="T13" fmla="*/ 10 h 108"/>
                <a:gd name="T14" fmla="*/ 14 w 52"/>
                <a:gd name="T15" fmla="*/ 56 h 108"/>
                <a:gd name="T16" fmla="*/ 50 w 52"/>
                <a:gd name="T17" fmla="*/ 98 h 108"/>
                <a:gd name="T18" fmla="*/ 49 w 52"/>
                <a:gd name="T19" fmla="*/ 107 h 108"/>
                <a:gd name="T20" fmla="*/ 45 w 52"/>
                <a:gd name="T21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2" h="108">
                  <a:moveTo>
                    <a:pt x="45" y="108"/>
                  </a:moveTo>
                  <a:cubicBezTo>
                    <a:pt x="43" y="108"/>
                    <a:pt x="41" y="107"/>
                    <a:pt x="40" y="106"/>
                  </a:cubicBezTo>
                  <a:cubicBezTo>
                    <a:pt x="2" y="60"/>
                    <a:pt x="2" y="60"/>
                    <a:pt x="2" y="60"/>
                  </a:cubicBezTo>
                  <a:cubicBezTo>
                    <a:pt x="0" y="58"/>
                    <a:pt x="0" y="55"/>
                    <a:pt x="1" y="5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7" y="0"/>
                    <a:pt x="41" y="0"/>
                    <a:pt x="44" y="2"/>
                  </a:cubicBezTo>
                  <a:cubicBezTo>
                    <a:pt x="46" y="3"/>
                    <a:pt x="47" y="7"/>
                    <a:pt x="45" y="10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50" y="98"/>
                    <a:pt x="50" y="98"/>
                    <a:pt x="50" y="98"/>
                  </a:cubicBezTo>
                  <a:cubicBezTo>
                    <a:pt x="52" y="101"/>
                    <a:pt x="51" y="105"/>
                    <a:pt x="49" y="107"/>
                  </a:cubicBezTo>
                  <a:cubicBezTo>
                    <a:pt x="48" y="108"/>
                    <a:pt x="46" y="108"/>
                    <a:pt x="45" y="10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427" name="Freeform 207">
              <a:extLst>
                <a:ext uri="{FF2B5EF4-FFF2-40B4-BE49-F238E27FC236}">
                  <a16:creationId xmlns:a16="http://schemas.microsoft.com/office/drawing/2014/main" id="{82541ADF-EC5B-849C-FC7A-E8D80E4C4B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0" y="3241"/>
              <a:ext cx="106" cy="18"/>
            </a:xfrm>
            <a:custGeom>
              <a:avLst/>
              <a:gdLst>
                <a:gd name="T0" fmla="*/ 66 w 72"/>
                <a:gd name="T1" fmla="*/ 12 h 12"/>
                <a:gd name="T2" fmla="*/ 6 w 72"/>
                <a:gd name="T3" fmla="*/ 12 h 12"/>
                <a:gd name="T4" fmla="*/ 0 w 72"/>
                <a:gd name="T5" fmla="*/ 6 h 12"/>
                <a:gd name="T6" fmla="*/ 6 w 72"/>
                <a:gd name="T7" fmla="*/ 0 h 12"/>
                <a:gd name="T8" fmla="*/ 66 w 72"/>
                <a:gd name="T9" fmla="*/ 0 h 12"/>
                <a:gd name="T10" fmla="*/ 72 w 72"/>
                <a:gd name="T11" fmla="*/ 6 h 12"/>
                <a:gd name="T12" fmla="*/ 66 w 72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12">
                  <a:moveTo>
                    <a:pt x="6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70" y="0"/>
                    <a:pt x="72" y="3"/>
                    <a:pt x="72" y="6"/>
                  </a:cubicBezTo>
                  <a:cubicBezTo>
                    <a:pt x="72" y="9"/>
                    <a:pt x="70" y="12"/>
                    <a:pt x="6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428" name="Rectangle 208">
              <a:extLst>
                <a:ext uri="{FF2B5EF4-FFF2-40B4-BE49-F238E27FC236}">
                  <a16:creationId xmlns:a16="http://schemas.microsoft.com/office/drawing/2014/main" id="{B6E0E27A-5E20-8D98-C54E-F65CE25558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2" y="3170"/>
              <a:ext cx="107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429" name="Rectangle 209">
              <a:extLst>
                <a:ext uri="{FF2B5EF4-FFF2-40B4-BE49-F238E27FC236}">
                  <a16:creationId xmlns:a16="http://schemas.microsoft.com/office/drawing/2014/main" id="{6B29689E-A4DD-5975-AD4F-8A496DD165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2" y="3223"/>
              <a:ext cx="107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430" name="Rectangle 210">
              <a:extLst>
                <a:ext uri="{FF2B5EF4-FFF2-40B4-BE49-F238E27FC236}">
                  <a16:creationId xmlns:a16="http://schemas.microsoft.com/office/drawing/2014/main" id="{F6FD1548-40B1-B3A6-47AF-F463B4DBC0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2" y="3276"/>
              <a:ext cx="107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</p:grpSp>
      <p:sp>
        <p:nvSpPr>
          <p:cNvPr id="431" name="TextBox 430">
            <a:extLst>
              <a:ext uri="{FF2B5EF4-FFF2-40B4-BE49-F238E27FC236}">
                <a16:creationId xmlns:a16="http://schemas.microsoft.com/office/drawing/2014/main" id="{2169E7D0-4747-E154-309C-E1EFB4C4E200}"/>
              </a:ext>
            </a:extLst>
          </p:cNvPr>
          <p:cNvSpPr txBox="1"/>
          <p:nvPr/>
        </p:nvSpPr>
        <p:spPr>
          <a:xfrm>
            <a:off x="2673507" y="6446844"/>
            <a:ext cx="643535" cy="251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US" sz="900" noProof="0"/>
              <a:t>Network</a:t>
            </a:r>
          </a:p>
        </p:txBody>
      </p:sp>
      <p:sp>
        <p:nvSpPr>
          <p:cNvPr id="432" name="TextBox 431">
            <a:extLst>
              <a:ext uri="{FF2B5EF4-FFF2-40B4-BE49-F238E27FC236}">
                <a16:creationId xmlns:a16="http://schemas.microsoft.com/office/drawing/2014/main" id="{320C9A8D-3713-7C2D-4F1A-E0A86D0841BD}"/>
              </a:ext>
            </a:extLst>
          </p:cNvPr>
          <p:cNvSpPr txBox="1"/>
          <p:nvPr/>
        </p:nvSpPr>
        <p:spPr>
          <a:xfrm>
            <a:off x="3801940" y="6446844"/>
            <a:ext cx="643535" cy="251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US" sz="900" noProof="0"/>
              <a:t>Edge &amp; Cloud</a:t>
            </a:r>
          </a:p>
        </p:txBody>
      </p:sp>
      <p:sp>
        <p:nvSpPr>
          <p:cNvPr id="433" name="TextBox 432">
            <a:extLst>
              <a:ext uri="{FF2B5EF4-FFF2-40B4-BE49-F238E27FC236}">
                <a16:creationId xmlns:a16="http://schemas.microsoft.com/office/drawing/2014/main" id="{9EEE897C-4A44-BAF7-13ED-C290FFA5B2AC}"/>
              </a:ext>
            </a:extLst>
          </p:cNvPr>
          <p:cNvSpPr txBox="1"/>
          <p:nvPr/>
        </p:nvSpPr>
        <p:spPr>
          <a:xfrm>
            <a:off x="5011627" y="6446844"/>
            <a:ext cx="643535" cy="251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US" sz="900" noProof="0"/>
              <a:t>Data &amp; AI</a:t>
            </a:r>
          </a:p>
        </p:txBody>
      </p:sp>
      <p:sp>
        <p:nvSpPr>
          <p:cNvPr id="434" name="TextBox 433">
            <a:extLst>
              <a:ext uri="{FF2B5EF4-FFF2-40B4-BE49-F238E27FC236}">
                <a16:creationId xmlns:a16="http://schemas.microsoft.com/office/drawing/2014/main" id="{F7B68C76-1BB0-5FAF-CD6D-0A0569A271F2}"/>
              </a:ext>
            </a:extLst>
          </p:cNvPr>
          <p:cNvSpPr txBox="1"/>
          <p:nvPr/>
        </p:nvSpPr>
        <p:spPr>
          <a:xfrm>
            <a:off x="6113671" y="6446844"/>
            <a:ext cx="643535" cy="251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US" sz="900" noProof="0"/>
              <a:t>Apps</a:t>
            </a:r>
          </a:p>
        </p:txBody>
      </p:sp>
      <p:sp>
        <p:nvSpPr>
          <p:cNvPr id="435" name="TextBox 434">
            <a:extLst>
              <a:ext uri="{FF2B5EF4-FFF2-40B4-BE49-F238E27FC236}">
                <a16:creationId xmlns:a16="http://schemas.microsoft.com/office/drawing/2014/main" id="{E0060507-1DA8-94F9-B83F-21609A41DA71}"/>
              </a:ext>
            </a:extLst>
          </p:cNvPr>
          <p:cNvSpPr txBox="1"/>
          <p:nvPr/>
        </p:nvSpPr>
        <p:spPr>
          <a:xfrm>
            <a:off x="7357252" y="6446844"/>
            <a:ext cx="643535" cy="251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US" sz="900" noProof="0"/>
              <a:t>Monitoring</a:t>
            </a:r>
          </a:p>
        </p:txBody>
      </p:sp>
      <p:grpSp>
        <p:nvGrpSpPr>
          <p:cNvPr id="436" name="Group 435">
            <a:extLst>
              <a:ext uri="{FF2B5EF4-FFF2-40B4-BE49-F238E27FC236}">
                <a16:creationId xmlns:a16="http://schemas.microsoft.com/office/drawing/2014/main" id="{EB6D830C-5C68-7199-E749-07857731886C}"/>
              </a:ext>
            </a:extLst>
          </p:cNvPr>
          <p:cNvGrpSpPr/>
          <p:nvPr/>
        </p:nvGrpSpPr>
        <p:grpSpPr>
          <a:xfrm>
            <a:off x="2290603" y="3645453"/>
            <a:ext cx="365760" cy="365760"/>
            <a:chOff x="-1573897" y="906608"/>
            <a:chExt cx="365760" cy="365760"/>
          </a:xfrm>
        </p:grpSpPr>
        <p:sp>
          <p:nvSpPr>
            <p:cNvPr id="437" name="Oval 436">
              <a:extLst>
                <a:ext uri="{FF2B5EF4-FFF2-40B4-BE49-F238E27FC236}">
                  <a16:creationId xmlns:a16="http://schemas.microsoft.com/office/drawing/2014/main" id="{A6C9BF7C-86B3-3DCD-EA4C-0EF3AC0B7650}"/>
                </a:ext>
              </a:extLst>
            </p:cNvPr>
            <p:cNvSpPr/>
            <p:nvPr/>
          </p:nvSpPr>
          <p:spPr>
            <a:xfrm>
              <a:off x="-1573897" y="906608"/>
              <a:ext cx="365760" cy="365760"/>
            </a:xfrm>
            <a:prstGeom prst="ellipse">
              <a:avLst/>
            </a:prstGeom>
            <a:solidFill>
              <a:srgbClr val="D507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grpSp>
          <p:nvGrpSpPr>
            <p:cNvPr id="438" name="Group 72">
              <a:extLst>
                <a:ext uri="{FF2B5EF4-FFF2-40B4-BE49-F238E27FC236}">
                  <a16:creationId xmlns:a16="http://schemas.microsoft.com/office/drawing/2014/main" id="{231A10A2-B5EC-89DD-A490-1B9B8850E60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-1486653" y="961473"/>
              <a:ext cx="191272" cy="256031"/>
              <a:chOff x="3489" y="1716"/>
              <a:chExt cx="319" cy="427"/>
            </a:xfrm>
            <a:solidFill>
              <a:schemeClr val="bg1"/>
            </a:solidFill>
          </p:grpSpPr>
          <p:sp>
            <p:nvSpPr>
              <p:cNvPr id="439" name="Freeform 73">
                <a:extLst>
                  <a:ext uri="{FF2B5EF4-FFF2-40B4-BE49-F238E27FC236}">
                    <a16:creationId xmlns:a16="http://schemas.microsoft.com/office/drawing/2014/main" id="{D8252A22-76DE-1E63-20E1-6EDD94A2AD9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89" y="1716"/>
                <a:ext cx="319" cy="196"/>
              </a:xfrm>
              <a:custGeom>
                <a:avLst/>
                <a:gdLst>
                  <a:gd name="T0" fmla="*/ 41 w 216"/>
                  <a:gd name="T1" fmla="*/ 132 h 132"/>
                  <a:gd name="T2" fmla="*/ 10 w 216"/>
                  <a:gd name="T3" fmla="*/ 120 h 132"/>
                  <a:gd name="T4" fmla="*/ 0 w 216"/>
                  <a:gd name="T5" fmla="*/ 94 h 132"/>
                  <a:gd name="T6" fmla="*/ 14 w 216"/>
                  <a:gd name="T7" fmla="*/ 65 h 132"/>
                  <a:gd name="T8" fmla="*/ 41 w 216"/>
                  <a:gd name="T9" fmla="*/ 56 h 132"/>
                  <a:gd name="T10" fmla="*/ 108 w 216"/>
                  <a:gd name="T11" fmla="*/ 0 h 132"/>
                  <a:gd name="T12" fmla="*/ 168 w 216"/>
                  <a:gd name="T13" fmla="*/ 34 h 132"/>
                  <a:gd name="T14" fmla="*/ 201 w 216"/>
                  <a:gd name="T15" fmla="*/ 49 h 132"/>
                  <a:gd name="T16" fmla="*/ 216 w 216"/>
                  <a:gd name="T17" fmla="*/ 83 h 132"/>
                  <a:gd name="T18" fmla="*/ 171 w 216"/>
                  <a:gd name="T19" fmla="*/ 132 h 132"/>
                  <a:gd name="T20" fmla="*/ 170 w 216"/>
                  <a:gd name="T21" fmla="*/ 132 h 132"/>
                  <a:gd name="T22" fmla="*/ 41 w 216"/>
                  <a:gd name="T23" fmla="*/ 132 h 132"/>
                  <a:gd name="T24" fmla="*/ 41 w 216"/>
                  <a:gd name="T25" fmla="*/ 132 h 132"/>
                  <a:gd name="T26" fmla="*/ 39 w 216"/>
                  <a:gd name="T27" fmla="*/ 68 h 132"/>
                  <a:gd name="T28" fmla="*/ 21 w 216"/>
                  <a:gd name="T29" fmla="*/ 74 h 132"/>
                  <a:gd name="T30" fmla="*/ 12 w 216"/>
                  <a:gd name="T31" fmla="*/ 94 h 132"/>
                  <a:gd name="T32" fmla="*/ 18 w 216"/>
                  <a:gd name="T33" fmla="*/ 112 h 132"/>
                  <a:gd name="T34" fmla="*/ 41 w 216"/>
                  <a:gd name="T35" fmla="*/ 120 h 132"/>
                  <a:gd name="T36" fmla="*/ 170 w 216"/>
                  <a:gd name="T37" fmla="*/ 120 h 132"/>
                  <a:gd name="T38" fmla="*/ 204 w 216"/>
                  <a:gd name="T39" fmla="*/ 83 h 132"/>
                  <a:gd name="T40" fmla="*/ 193 w 216"/>
                  <a:gd name="T41" fmla="*/ 57 h 132"/>
                  <a:gd name="T42" fmla="*/ 164 w 216"/>
                  <a:gd name="T43" fmla="*/ 46 h 132"/>
                  <a:gd name="T44" fmla="*/ 159 w 216"/>
                  <a:gd name="T45" fmla="*/ 43 h 132"/>
                  <a:gd name="T46" fmla="*/ 108 w 216"/>
                  <a:gd name="T47" fmla="*/ 12 h 132"/>
                  <a:gd name="T48" fmla="*/ 52 w 216"/>
                  <a:gd name="T49" fmla="*/ 63 h 132"/>
                  <a:gd name="T50" fmla="*/ 50 w 216"/>
                  <a:gd name="T51" fmla="*/ 67 h 132"/>
                  <a:gd name="T52" fmla="*/ 45 w 216"/>
                  <a:gd name="T53" fmla="*/ 68 h 132"/>
                  <a:gd name="T54" fmla="*/ 39 w 216"/>
                  <a:gd name="T55" fmla="*/ 68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216" h="132">
                    <a:moveTo>
                      <a:pt x="41" y="132"/>
                    </a:moveTo>
                    <a:cubicBezTo>
                      <a:pt x="39" y="132"/>
                      <a:pt x="22" y="132"/>
                      <a:pt x="10" y="120"/>
                    </a:cubicBezTo>
                    <a:cubicBezTo>
                      <a:pt x="3" y="114"/>
                      <a:pt x="0" y="105"/>
                      <a:pt x="0" y="94"/>
                    </a:cubicBezTo>
                    <a:cubicBezTo>
                      <a:pt x="0" y="83"/>
                      <a:pt x="5" y="72"/>
                      <a:pt x="14" y="65"/>
                    </a:cubicBezTo>
                    <a:cubicBezTo>
                      <a:pt x="21" y="59"/>
                      <a:pt x="31" y="55"/>
                      <a:pt x="41" y="56"/>
                    </a:cubicBezTo>
                    <a:cubicBezTo>
                      <a:pt x="46" y="24"/>
                      <a:pt x="74" y="0"/>
                      <a:pt x="108" y="0"/>
                    </a:cubicBezTo>
                    <a:cubicBezTo>
                      <a:pt x="133" y="0"/>
                      <a:pt x="156" y="13"/>
                      <a:pt x="168" y="34"/>
                    </a:cubicBezTo>
                    <a:cubicBezTo>
                      <a:pt x="180" y="35"/>
                      <a:pt x="192" y="40"/>
                      <a:pt x="201" y="49"/>
                    </a:cubicBezTo>
                    <a:cubicBezTo>
                      <a:pt x="211" y="58"/>
                      <a:pt x="216" y="70"/>
                      <a:pt x="216" y="83"/>
                    </a:cubicBezTo>
                    <a:cubicBezTo>
                      <a:pt x="216" y="117"/>
                      <a:pt x="186" y="130"/>
                      <a:pt x="171" y="132"/>
                    </a:cubicBezTo>
                    <a:cubicBezTo>
                      <a:pt x="170" y="132"/>
                      <a:pt x="170" y="132"/>
                      <a:pt x="170" y="132"/>
                    </a:cubicBezTo>
                    <a:cubicBezTo>
                      <a:pt x="41" y="132"/>
                      <a:pt x="41" y="132"/>
                      <a:pt x="41" y="132"/>
                    </a:cubicBezTo>
                    <a:cubicBezTo>
                      <a:pt x="41" y="132"/>
                      <a:pt x="41" y="132"/>
                      <a:pt x="41" y="132"/>
                    </a:cubicBezTo>
                    <a:close/>
                    <a:moveTo>
                      <a:pt x="39" y="68"/>
                    </a:moveTo>
                    <a:cubicBezTo>
                      <a:pt x="33" y="68"/>
                      <a:pt x="26" y="70"/>
                      <a:pt x="21" y="74"/>
                    </a:cubicBezTo>
                    <a:cubicBezTo>
                      <a:pt x="15" y="79"/>
                      <a:pt x="12" y="86"/>
                      <a:pt x="12" y="94"/>
                    </a:cubicBezTo>
                    <a:cubicBezTo>
                      <a:pt x="12" y="101"/>
                      <a:pt x="14" y="107"/>
                      <a:pt x="18" y="112"/>
                    </a:cubicBezTo>
                    <a:cubicBezTo>
                      <a:pt x="27" y="120"/>
                      <a:pt x="41" y="120"/>
                      <a:pt x="41" y="120"/>
                    </a:cubicBezTo>
                    <a:cubicBezTo>
                      <a:pt x="170" y="120"/>
                      <a:pt x="170" y="120"/>
                      <a:pt x="170" y="120"/>
                    </a:cubicBezTo>
                    <a:cubicBezTo>
                      <a:pt x="173" y="119"/>
                      <a:pt x="204" y="114"/>
                      <a:pt x="204" y="83"/>
                    </a:cubicBezTo>
                    <a:cubicBezTo>
                      <a:pt x="204" y="73"/>
                      <a:pt x="200" y="64"/>
                      <a:pt x="193" y="57"/>
                    </a:cubicBezTo>
                    <a:cubicBezTo>
                      <a:pt x="185" y="50"/>
                      <a:pt x="175" y="46"/>
                      <a:pt x="164" y="46"/>
                    </a:cubicBezTo>
                    <a:cubicBezTo>
                      <a:pt x="162" y="46"/>
                      <a:pt x="160" y="45"/>
                      <a:pt x="159" y="43"/>
                    </a:cubicBezTo>
                    <a:cubicBezTo>
                      <a:pt x="149" y="24"/>
                      <a:pt x="129" y="12"/>
                      <a:pt x="108" y="12"/>
                    </a:cubicBezTo>
                    <a:cubicBezTo>
                      <a:pt x="78" y="12"/>
                      <a:pt x="54" y="34"/>
                      <a:pt x="52" y="63"/>
                    </a:cubicBezTo>
                    <a:cubicBezTo>
                      <a:pt x="52" y="65"/>
                      <a:pt x="51" y="66"/>
                      <a:pt x="50" y="67"/>
                    </a:cubicBezTo>
                    <a:cubicBezTo>
                      <a:pt x="48" y="68"/>
                      <a:pt x="46" y="69"/>
                      <a:pt x="45" y="68"/>
                    </a:cubicBezTo>
                    <a:cubicBezTo>
                      <a:pt x="43" y="68"/>
                      <a:pt x="41" y="68"/>
                      <a:pt x="39" y="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440" name="Freeform 74">
                <a:extLst>
                  <a:ext uri="{FF2B5EF4-FFF2-40B4-BE49-F238E27FC236}">
                    <a16:creationId xmlns:a16="http://schemas.microsoft.com/office/drawing/2014/main" id="{3ACAA6A4-CA6E-8A7A-7986-A858223BF60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89" y="1947"/>
                <a:ext cx="319" cy="107"/>
              </a:xfrm>
              <a:custGeom>
                <a:avLst/>
                <a:gdLst>
                  <a:gd name="T0" fmla="*/ 210 w 216"/>
                  <a:gd name="T1" fmla="*/ 72 h 72"/>
                  <a:gd name="T2" fmla="*/ 6 w 216"/>
                  <a:gd name="T3" fmla="*/ 72 h 72"/>
                  <a:gd name="T4" fmla="*/ 0 w 216"/>
                  <a:gd name="T5" fmla="*/ 66 h 72"/>
                  <a:gd name="T6" fmla="*/ 0 w 216"/>
                  <a:gd name="T7" fmla="*/ 6 h 72"/>
                  <a:gd name="T8" fmla="*/ 6 w 216"/>
                  <a:gd name="T9" fmla="*/ 0 h 72"/>
                  <a:gd name="T10" fmla="*/ 210 w 216"/>
                  <a:gd name="T11" fmla="*/ 0 h 72"/>
                  <a:gd name="T12" fmla="*/ 216 w 216"/>
                  <a:gd name="T13" fmla="*/ 6 h 72"/>
                  <a:gd name="T14" fmla="*/ 216 w 216"/>
                  <a:gd name="T15" fmla="*/ 66 h 72"/>
                  <a:gd name="T16" fmla="*/ 210 w 216"/>
                  <a:gd name="T17" fmla="*/ 72 h 72"/>
                  <a:gd name="T18" fmla="*/ 12 w 216"/>
                  <a:gd name="T19" fmla="*/ 60 h 72"/>
                  <a:gd name="T20" fmla="*/ 204 w 216"/>
                  <a:gd name="T21" fmla="*/ 60 h 72"/>
                  <a:gd name="T22" fmla="*/ 204 w 216"/>
                  <a:gd name="T23" fmla="*/ 12 h 72"/>
                  <a:gd name="T24" fmla="*/ 12 w 216"/>
                  <a:gd name="T25" fmla="*/ 12 h 72"/>
                  <a:gd name="T26" fmla="*/ 12 w 216"/>
                  <a:gd name="T27" fmla="*/ 6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6" h="72">
                    <a:moveTo>
                      <a:pt x="210" y="72"/>
                    </a:moveTo>
                    <a:cubicBezTo>
                      <a:pt x="6" y="72"/>
                      <a:pt x="6" y="72"/>
                      <a:pt x="6" y="72"/>
                    </a:cubicBezTo>
                    <a:cubicBezTo>
                      <a:pt x="3" y="72"/>
                      <a:pt x="0" y="69"/>
                      <a:pt x="0" y="6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210" y="0"/>
                      <a:pt x="210" y="0"/>
                      <a:pt x="210" y="0"/>
                    </a:cubicBezTo>
                    <a:cubicBezTo>
                      <a:pt x="213" y="0"/>
                      <a:pt x="216" y="3"/>
                      <a:pt x="216" y="6"/>
                    </a:cubicBezTo>
                    <a:cubicBezTo>
                      <a:pt x="216" y="66"/>
                      <a:pt x="216" y="66"/>
                      <a:pt x="216" y="66"/>
                    </a:cubicBezTo>
                    <a:cubicBezTo>
                      <a:pt x="216" y="69"/>
                      <a:pt x="213" y="72"/>
                      <a:pt x="210" y="72"/>
                    </a:cubicBezTo>
                    <a:close/>
                    <a:moveTo>
                      <a:pt x="12" y="60"/>
                    </a:moveTo>
                    <a:cubicBezTo>
                      <a:pt x="204" y="60"/>
                      <a:pt x="204" y="60"/>
                      <a:pt x="204" y="60"/>
                    </a:cubicBezTo>
                    <a:cubicBezTo>
                      <a:pt x="204" y="12"/>
                      <a:pt x="204" y="12"/>
                      <a:pt x="20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441" name="Freeform 75">
                <a:extLst>
                  <a:ext uri="{FF2B5EF4-FFF2-40B4-BE49-F238E27FC236}">
                    <a16:creationId xmlns:a16="http://schemas.microsoft.com/office/drawing/2014/main" id="{D53DC3F1-F441-1939-96B1-44BCBCBE76D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89" y="2036"/>
                <a:ext cx="319" cy="107"/>
              </a:xfrm>
              <a:custGeom>
                <a:avLst/>
                <a:gdLst>
                  <a:gd name="T0" fmla="*/ 210 w 216"/>
                  <a:gd name="T1" fmla="*/ 72 h 72"/>
                  <a:gd name="T2" fmla="*/ 6 w 216"/>
                  <a:gd name="T3" fmla="*/ 72 h 72"/>
                  <a:gd name="T4" fmla="*/ 0 w 216"/>
                  <a:gd name="T5" fmla="*/ 66 h 72"/>
                  <a:gd name="T6" fmla="*/ 0 w 216"/>
                  <a:gd name="T7" fmla="*/ 6 h 72"/>
                  <a:gd name="T8" fmla="*/ 6 w 216"/>
                  <a:gd name="T9" fmla="*/ 0 h 72"/>
                  <a:gd name="T10" fmla="*/ 210 w 216"/>
                  <a:gd name="T11" fmla="*/ 0 h 72"/>
                  <a:gd name="T12" fmla="*/ 216 w 216"/>
                  <a:gd name="T13" fmla="*/ 6 h 72"/>
                  <a:gd name="T14" fmla="*/ 216 w 216"/>
                  <a:gd name="T15" fmla="*/ 66 h 72"/>
                  <a:gd name="T16" fmla="*/ 210 w 216"/>
                  <a:gd name="T17" fmla="*/ 72 h 72"/>
                  <a:gd name="T18" fmla="*/ 12 w 216"/>
                  <a:gd name="T19" fmla="*/ 60 h 72"/>
                  <a:gd name="T20" fmla="*/ 204 w 216"/>
                  <a:gd name="T21" fmla="*/ 60 h 72"/>
                  <a:gd name="T22" fmla="*/ 204 w 216"/>
                  <a:gd name="T23" fmla="*/ 12 h 72"/>
                  <a:gd name="T24" fmla="*/ 12 w 216"/>
                  <a:gd name="T25" fmla="*/ 12 h 72"/>
                  <a:gd name="T26" fmla="*/ 12 w 216"/>
                  <a:gd name="T27" fmla="*/ 6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6" h="72">
                    <a:moveTo>
                      <a:pt x="210" y="72"/>
                    </a:moveTo>
                    <a:cubicBezTo>
                      <a:pt x="6" y="72"/>
                      <a:pt x="6" y="72"/>
                      <a:pt x="6" y="72"/>
                    </a:cubicBezTo>
                    <a:cubicBezTo>
                      <a:pt x="3" y="72"/>
                      <a:pt x="0" y="69"/>
                      <a:pt x="0" y="6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210" y="0"/>
                      <a:pt x="210" y="0"/>
                      <a:pt x="210" y="0"/>
                    </a:cubicBezTo>
                    <a:cubicBezTo>
                      <a:pt x="213" y="0"/>
                      <a:pt x="216" y="3"/>
                      <a:pt x="216" y="6"/>
                    </a:cubicBezTo>
                    <a:cubicBezTo>
                      <a:pt x="216" y="66"/>
                      <a:pt x="216" y="66"/>
                      <a:pt x="216" y="66"/>
                    </a:cubicBezTo>
                    <a:cubicBezTo>
                      <a:pt x="216" y="69"/>
                      <a:pt x="213" y="72"/>
                      <a:pt x="210" y="72"/>
                    </a:cubicBezTo>
                    <a:close/>
                    <a:moveTo>
                      <a:pt x="12" y="60"/>
                    </a:moveTo>
                    <a:cubicBezTo>
                      <a:pt x="204" y="60"/>
                      <a:pt x="204" y="60"/>
                      <a:pt x="204" y="60"/>
                    </a:cubicBezTo>
                    <a:cubicBezTo>
                      <a:pt x="204" y="12"/>
                      <a:pt x="204" y="12"/>
                      <a:pt x="20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442" name="Freeform 76">
                <a:extLst>
                  <a:ext uri="{FF2B5EF4-FFF2-40B4-BE49-F238E27FC236}">
                    <a16:creationId xmlns:a16="http://schemas.microsoft.com/office/drawing/2014/main" id="{BC24585C-E955-71CE-3CC1-92F1B77D451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533" y="1974"/>
                <a:ext cx="53" cy="53"/>
              </a:xfrm>
              <a:custGeom>
                <a:avLst/>
                <a:gdLst>
                  <a:gd name="T0" fmla="*/ 18 w 36"/>
                  <a:gd name="T1" fmla="*/ 36 h 36"/>
                  <a:gd name="T2" fmla="*/ 0 w 36"/>
                  <a:gd name="T3" fmla="*/ 18 h 36"/>
                  <a:gd name="T4" fmla="*/ 18 w 36"/>
                  <a:gd name="T5" fmla="*/ 0 h 36"/>
                  <a:gd name="T6" fmla="*/ 36 w 36"/>
                  <a:gd name="T7" fmla="*/ 18 h 36"/>
                  <a:gd name="T8" fmla="*/ 18 w 36"/>
                  <a:gd name="T9" fmla="*/ 36 h 36"/>
                  <a:gd name="T10" fmla="*/ 18 w 36"/>
                  <a:gd name="T11" fmla="*/ 12 h 36"/>
                  <a:gd name="T12" fmla="*/ 12 w 36"/>
                  <a:gd name="T13" fmla="*/ 18 h 36"/>
                  <a:gd name="T14" fmla="*/ 18 w 36"/>
                  <a:gd name="T15" fmla="*/ 24 h 36"/>
                  <a:gd name="T16" fmla="*/ 24 w 36"/>
                  <a:gd name="T17" fmla="*/ 18 h 36"/>
                  <a:gd name="T18" fmla="*/ 18 w 36"/>
                  <a:gd name="T19" fmla="*/ 1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36">
                    <a:moveTo>
                      <a:pt x="18" y="36"/>
                    </a:moveTo>
                    <a:cubicBezTo>
                      <a:pt x="8" y="36"/>
                      <a:pt x="0" y="28"/>
                      <a:pt x="0" y="18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28" y="0"/>
                      <a:pt x="36" y="8"/>
                      <a:pt x="36" y="18"/>
                    </a:cubicBezTo>
                    <a:cubicBezTo>
                      <a:pt x="36" y="28"/>
                      <a:pt x="28" y="36"/>
                      <a:pt x="18" y="36"/>
                    </a:cubicBezTo>
                    <a:close/>
                    <a:moveTo>
                      <a:pt x="18" y="12"/>
                    </a:moveTo>
                    <a:cubicBezTo>
                      <a:pt x="15" y="12"/>
                      <a:pt x="12" y="15"/>
                      <a:pt x="12" y="18"/>
                    </a:cubicBezTo>
                    <a:cubicBezTo>
                      <a:pt x="12" y="21"/>
                      <a:pt x="15" y="24"/>
                      <a:pt x="18" y="24"/>
                    </a:cubicBezTo>
                    <a:cubicBezTo>
                      <a:pt x="21" y="24"/>
                      <a:pt x="24" y="21"/>
                      <a:pt x="24" y="18"/>
                    </a:cubicBezTo>
                    <a:cubicBezTo>
                      <a:pt x="24" y="15"/>
                      <a:pt x="21" y="12"/>
                      <a:pt x="1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443" name="Oval 77">
                <a:extLst>
                  <a:ext uri="{FF2B5EF4-FFF2-40B4-BE49-F238E27FC236}">
                    <a16:creationId xmlns:a16="http://schemas.microsoft.com/office/drawing/2014/main" id="{E838C7BE-0C65-006E-C9CD-02595FEDC2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20" y="1983"/>
                <a:ext cx="35" cy="3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444" name="Oval 78">
                <a:extLst>
                  <a:ext uri="{FF2B5EF4-FFF2-40B4-BE49-F238E27FC236}">
                    <a16:creationId xmlns:a16="http://schemas.microsoft.com/office/drawing/2014/main" id="{40E0D2E1-72C9-F487-0231-EE00EFF4A7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6" y="1983"/>
                <a:ext cx="36" cy="3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445" name="Freeform 79">
                <a:extLst>
                  <a:ext uri="{FF2B5EF4-FFF2-40B4-BE49-F238E27FC236}">
                    <a16:creationId xmlns:a16="http://schemas.microsoft.com/office/drawing/2014/main" id="{06BB97CF-1CE1-5CBE-74A3-AF8C76B166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533" y="2063"/>
                <a:ext cx="53" cy="53"/>
              </a:xfrm>
              <a:custGeom>
                <a:avLst/>
                <a:gdLst>
                  <a:gd name="T0" fmla="*/ 18 w 36"/>
                  <a:gd name="T1" fmla="*/ 36 h 36"/>
                  <a:gd name="T2" fmla="*/ 0 w 36"/>
                  <a:gd name="T3" fmla="*/ 18 h 36"/>
                  <a:gd name="T4" fmla="*/ 18 w 36"/>
                  <a:gd name="T5" fmla="*/ 0 h 36"/>
                  <a:gd name="T6" fmla="*/ 36 w 36"/>
                  <a:gd name="T7" fmla="*/ 18 h 36"/>
                  <a:gd name="T8" fmla="*/ 18 w 36"/>
                  <a:gd name="T9" fmla="*/ 36 h 36"/>
                  <a:gd name="T10" fmla="*/ 18 w 36"/>
                  <a:gd name="T11" fmla="*/ 12 h 36"/>
                  <a:gd name="T12" fmla="*/ 12 w 36"/>
                  <a:gd name="T13" fmla="*/ 18 h 36"/>
                  <a:gd name="T14" fmla="*/ 18 w 36"/>
                  <a:gd name="T15" fmla="*/ 24 h 36"/>
                  <a:gd name="T16" fmla="*/ 24 w 36"/>
                  <a:gd name="T17" fmla="*/ 18 h 36"/>
                  <a:gd name="T18" fmla="*/ 18 w 36"/>
                  <a:gd name="T19" fmla="*/ 1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36">
                    <a:moveTo>
                      <a:pt x="18" y="36"/>
                    </a:moveTo>
                    <a:cubicBezTo>
                      <a:pt x="8" y="36"/>
                      <a:pt x="0" y="28"/>
                      <a:pt x="0" y="18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28" y="0"/>
                      <a:pt x="36" y="8"/>
                      <a:pt x="36" y="18"/>
                    </a:cubicBezTo>
                    <a:cubicBezTo>
                      <a:pt x="36" y="28"/>
                      <a:pt x="28" y="36"/>
                      <a:pt x="18" y="36"/>
                    </a:cubicBezTo>
                    <a:close/>
                    <a:moveTo>
                      <a:pt x="18" y="12"/>
                    </a:moveTo>
                    <a:cubicBezTo>
                      <a:pt x="15" y="12"/>
                      <a:pt x="12" y="15"/>
                      <a:pt x="12" y="18"/>
                    </a:cubicBezTo>
                    <a:cubicBezTo>
                      <a:pt x="12" y="21"/>
                      <a:pt x="15" y="24"/>
                      <a:pt x="18" y="24"/>
                    </a:cubicBezTo>
                    <a:cubicBezTo>
                      <a:pt x="21" y="24"/>
                      <a:pt x="24" y="21"/>
                      <a:pt x="24" y="18"/>
                    </a:cubicBezTo>
                    <a:cubicBezTo>
                      <a:pt x="24" y="15"/>
                      <a:pt x="21" y="12"/>
                      <a:pt x="1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446" name="Oval 80">
                <a:extLst>
                  <a:ext uri="{FF2B5EF4-FFF2-40B4-BE49-F238E27FC236}">
                    <a16:creationId xmlns:a16="http://schemas.microsoft.com/office/drawing/2014/main" id="{8771F800-5898-E516-0ACE-2159D966D9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20" y="2072"/>
                <a:ext cx="35" cy="3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447" name="Oval 81">
                <a:extLst>
                  <a:ext uri="{FF2B5EF4-FFF2-40B4-BE49-F238E27FC236}">
                    <a16:creationId xmlns:a16="http://schemas.microsoft.com/office/drawing/2014/main" id="{D36EF6B2-DFF3-04FB-0AC6-C4613C56F6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6" y="2072"/>
                <a:ext cx="36" cy="3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</p:grpSp>
      </p:grpSp>
      <p:grpSp>
        <p:nvGrpSpPr>
          <p:cNvPr id="448" name="Group 447">
            <a:extLst>
              <a:ext uri="{FF2B5EF4-FFF2-40B4-BE49-F238E27FC236}">
                <a16:creationId xmlns:a16="http://schemas.microsoft.com/office/drawing/2014/main" id="{046C0AC2-9644-84B9-C80A-62921EAD5911}"/>
              </a:ext>
            </a:extLst>
          </p:cNvPr>
          <p:cNvGrpSpPr/>
          <p:nvPr/>
        </p:nvGrpSpPr>
        <p:grpSpPr>
          <a:xfrm>
            <a:off x="2299456" y="4938542"/>
            <a:ext cx="365760" cy="365760"/>
            <a:chOff x="-1558404" y="3276778"/>
            <a:chExt cx="365760" cy="365760"/>
          </a:xfrm>
        </p:grpSpPr>
        <p:sp>
          <p:nvSpPr>
            <p:cNvPr id="449" name="Oval 448">
              <a:extLst>
                <a:ext uri="{FF2B5EF4-FFF2-40B4-BE49-F238E27FC236}">
                  <a16:creationId xmlns:a16="http://schemas.microsoft.com/office/drawing/2014/main" id="{A7E92DFD-8822-9A09-F2D0-8923566C0A38}"/>
                </a:ext>
              </a:extLst>
            </p:cNvPr>
            <p:cNvSpPr/>
            <p:nvPr/>
          </p:nvSpPr>
          <p:spPr>
            <a:xfrm>
              <a:off x="-1558404" y="3276778"/>
              <a:ext cx="365760" cy="365760"/>
            </a:xfrm>
            <a:prstGeom prst="ellipse">
              <a:avLst/>
            </a:prstGeom>
            <a:solidFill>
              <a:srgbClr val="D507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grpSp>
          <p:nvGrpSpPr>
            <p:cNvPr id="450" name="Group 199">
              <a:extLst>
                <a:ext uri="{FF2B5EF4-FFF2-40B4-BE49-F238E27FC236}">
                  <a16:creationId xmlns:a16="http://schemas.microsoft.com/office/drawing/2014/main" id="{0279D6B1-F306-07CA-8E35-E27C4F13705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-1502145" y="3343710"/>
              <a:ext cx="253243" cy="231897"/>
              <a:chOff x="3435" y="3010"/>
              <a:chExt cx="427" cy="391"/>
            </a:xfrm>
            <a:solidFill>
              <a:schemeClr val="bg1"/>
            </a:solidFill>
          </p:grpSpPr>
          <p:sp>
            <p:nvSpPr>
              <p:cNvPr id="451" name="Freeform 200">
                <a:extLst>
                  <a:ext uri="{FF2B5EF4-FFF2-40B4-BE49-F238E27FC236}">
                    <a16:creationId xmlns:a16="http://schemas.microsoft.com/office/drawing/2014/main" id="{17D00AFA-FF05-373A-F56A-E500998CC5A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35" y="3010"/>
                <a:ext cx="427" cy="391"/>
              </a:xfrm>
              <a:custGeom>
                <a:avLst/>
                <a:gdLst>
                  <a:gd name="T0" fmla="*/ 258 w 288"/>
                  <a:gd name="T1" fmla="*/ 264 h 264"/>
                  <a:gd name="T2" fmla="*/ 30 w 288"/>
                  <a:gd name="T3" fmla="*/ 264 h 264"/>
                  <a:gd name="T4" fmla="*/ 0 w 288"/>
                  <a:gd name="T5" fmla="*/ 234 h 264"/>
                  <a:gd name="T6" fmla="*/ 0 w 288"/>
                  <a:gd name="T7" fmla="*/ 30 h 264"/>
                  <a:gd name="T8" fmla="*/ 30 w 288"/>
                  <a:gd name="T9" fmla="*/ 0 h 264"/>
                  <a:gd name="T10" fmla="*/ 258 w 288"/>
                  <a:gd name="T11" fmla="*/ 0 h 264"/>
                  <a:gd name="T12" fmla="*/ 288 w 288"/>
                  <a:gd name="T13" fmla="*/ 30 h 264"/>
                  <a:gd name="T14" fmla="*/ 288 w 288"/>
                  <a:gd name="T15" fmla="*/ 234 h 264"/>
                  <a:gd name="T16" fmla="*/ 258 w 288"/>
                  <a:gd name="T17" fmla="*/ 264 h 264"/>
                  <a:gd name="T18" fmla="*/ 30 w 288"/>
                  <a:gd name="T19" fmla="*/ 12 h 264"/>
                  <a:gd name="T20" fmla="*/ 12 w 288"/>
                  <a:gd name="T21" fmla="*/ 30 h 264"/>
                  <a:gd name="T22" fmla="*/ 12 w 288"/>
                  <a:gd name="T23" fmla="*/ 234 h 264"/>
                  <a:gd name="T24" fmla="*/ 30 w 288"/>
                  <a:gd name="T25" fmla="*/ 252 h 264"/>
                  <a:gd name="T26" fmla="*/ 258 w 288"/>
                  <a:gd name="T27" fmla="*/ 252 h 264"/>
                  <a:gd name="T28" fmla="*/ 276 w 288"/>
                  <a:gd name="T29" fmla="*/ 234 h 264"/>
                  <a:gd name="T30" fmla="*/ 276 w 288"/>
                  <a:gd name="T31" fmla="*/ 30 h 264"/>
                  <a:gd name="T32" fmla="*/ 258 w 288"/>
                  <a:gd name="T33" fmla="*/ 12 h 264"/>
                  <a:gd name="T34" fmla="*/ 30 w 288"/>
                  <a:gd name="T35" fmla="*/ 12 h 2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88" h="264">
                    <a:moveTo>
                      <a:pt x="258" y="264"/>
                    </a:moveTo>
                    <a:cubicBezTo>
                      <a:pt x="30" y="264"/>
                      <a:pt x="30" y="264"/>
                      <a:pt x="30" y="264"/>
                    </a:cubicBezTo>
                    <a:cubicBezTo>
                      <a:pt x="14" y="264"/>
                      <a:pt x="0" y="251"/>
                      <a:pt x="0" y="234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13"/>
                      <a:pt x="14" y="0"/>
                      <a:pt x="30" y="0"/>
                    </a:cubicBezTo>
                    <a:cubicBezTo>
                      <a:pt x="258" y="0"/>
                      <a:pt x="258" y="0"/>
                      <a:pt x="258" y="0"/>
                    </a:cubicBezTo>
                    <a:cubicBezTo>
                      <a:pt x="275" y="0"/>
                      <a:pt x="288" y="13"/>
                      <a:pt x="288" y="30"/>
                    </a:cubicBezTo>
                    <a:cubicBezTo>
                      <a:pt x="288" y="234"/>
                      <a:pt x="288" y="234"/>
                      <a:pt x="288" y="234"/>
                    </a:cubicBezTo>
                    <a:cubicBezTo>
                      <a:pt x="288" y="251"/>
                      <a:pt x="275" y="264"/>
                      <a:pt x="258" y="264"/>
                    </a:cubicBezTo>
                    <a:close/>
                    <a:moveTo>
                      <a:pt x="30" y="12"/>
                    </a:moveTo>
                    <a:cubicBezTo>
                      <a:pt x="21" y="12"/>
                      <a:pt x="12" y="20"/>
                      <a:pt x="12" y="30"/>
                    </a:cubicBezTo>
                    <a:cubicBezTo>
                      <a:pt x="12" y="234"/>
                      <a:pt x="12" y="234"/>
                      <a:pt x="12" y="234"/>
                    </a:cubicBezTo>
                    <a:cubicBezTo>
                      <a:pt x="12" y="244"/>
                      <a:pt x="21" y="252"/>
                      <a:pt x="30" y="252"/>
                    </a:cubicBezTo>
                    <a:cubicBezTo>
                      <a:pt x="258" y="252"/>
                      <a:pt x="258" y="252"/>
                      <a:pt x="258" y="252"/>
                    </a:cubicBezTo>
                    <a:cubicBezTo>
                      <a:pt x="268" y="252"/>
                      <a:pt x="276" y="244"/>
                      <a:pt x="276" y="234"/>
                    </a:cubicBezTo>
                    <a:cubicBezTo>
                      <a:pt x="276" y="30"/>
                      <a:pt x="276" y="30"/>
                      <a:pt x="276" y="30"/>
                    </a:cubicBezTo>
                    <a:cubicBezTo>
                      <a:pt x="276" y="20"/>
                      <a:pt x="268" y="12"/>
                      <a:pt x="258" y="12"/>
                    </a:cubicBezTo>
                    <a:lnTo>
                      <a:pt x="30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452" name="Freeform 201">
                <a:extLst>
                  <a:ext uri="{FF2B5EF4-FFF2-40B4-BE49-F238E27FC236}">
                    <a16:creationId xmlns:a16="http://schemas.microsoft.com/office/drawing/2014/main" id="{DA036B6B-E25F-F778-43A8-D497DB626A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5" y="3099"/>
                <a:ext cx="427" cy="18"/>
              </a:xfrm>
              <a:custGeom>
                <a:avLst/>
                <a:gdLst>
                  <a:gd name="T0" fmla="*/ 282 w 288"/>
                  <a:gd name="T1" fmla="*/ 12 h 12"/>
                  <a:gd name="T2" fmla="*/ 6 w 288"/>
                  <a:gd name="T3" fmla="*/ 12 h 12"/>
                  <a:gd name="T4" fmla="*/ 0 w 288"/>
                  <a:gd name="T5" fmla="*/ 6 h 12"/>
                  <a:gd name="T6" fmla="*/ 6 w 288"/>
                  <a:gd name="T7" fmla="*/ 0 h 12"/>
                  <a:gd name="T8" fmla="*/ 282 w 288"/>
                  <a:gd name="T9" fmla="*/ 0 h 12"/>
                  <a:gd name="T10" fmla="*/ 288 w 288"/>
                  <a:gd name="T11" fmla="*/ 6 h 12"/>
                  <a:gd name="T12" fmla="*/ 282 w 28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8" h="12">
                    <a:moveTo>
                      <a:pt x="28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282" y="0"/>
                      <a:pt x="282" y="0"/>
                      <a:pt x="282" y="0"/>
                    </a:cubicBezTo>
                    <a:cubicBezTo>
                      <a:pt x="286" y="0"/>
                      <a:pt x="288" y="3"/>
                      <a:pt x="288" y="6"/>
                    </a:cubicBezTo>
                    <a:cubicBezTo>
                      <a:pt x="288" y="9"/>
                      <a:pt x="286" y="12"/>
                      <a:pt x="28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453" name="Oval 202">
                <a:extLst>
                  <a:ext uri="{FF2B5EF4-FFF2-40B4-BE49-F238E27FC236}">
                    <a16:creationId xmlns:a16="http://schemas.microsoft.com/office/drawing/2014/main" id="{25E942B8-CC7C-C430-69E7-03D49F3EA1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89" y="3046"/>
                <a:ext cx="35" cy="3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454" name="Oval 203">
                <a:extLst>
                  <a:ext uri="{FF2B5EF4-FFF2-40B4-BE49-F238E27FC236}">
                    <a16:creationId xmlns:a16="http://schemas.microsoft.com/office/drawing/2014/main" id="{AB83C448-8216-BE7E-CDF0-94F8A4896F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2" y="3046"/>
                <a:ext cx="36" cy="3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455" name="Oval 204">
                <a:extLst>
                  <a:ext uri="{FF2B5EF4-FFF2-40B4-BE49-F238E27FC236}">
                    <a16:creationId xmlns:a16="http://schemas.microsoft.com/office/drawing/2014/main" id="{E66E6463-440A-79EA-92F1-E83F37961C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95" y="3046"/>
                <a:ext cx="36" cy="3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456" name="Freeform 205">
                <a:extLst>
                  <a:ext uri="{FF2B5EF4-FFF2-40B4-BE49-F238E27FC236}">
                    <a16:creationId xmlns:a16="http://schemas.microsoft.com/office/drawing/2014/main" id="{C90F55F0-66D5-71AC-54DF-20495EC34A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80" y="3152"/>
                <a:ext cx="195" cy="196"/>
              </a:xfrm>
              <a:custGeom>
                <a:avLst/>
                <a:gdLst>
                  <a:gd name="T0" fmla="*/ 66 w 132"/>
                  <a:gd name="T1" fmla="*/ 132 h 132"/>
                  <a:gd name="T2" fmla="*/ 0 w 132"/>
                  <a:gd name="T3" fmla="*/ 66 h 132"/>
                  <a:gd name="T4" fmla="*/ 66 w 132"/>
                  <a:gd name="T5" fmla="*/ 0 h 132"/>
                  <a:gd name="T6" fmla="*/ 132 w 132"/>
                  <a:gd name="T7" fmla="*/ 66 h 132"/>
                  <a:gd name="T8" fmla="*/ 66 w 132"/>
                  <a:gd name="T9" fmla="*/ 132 h 132"/>
                  <a:gd name="T10" fmla="*/ 66 w 132"/>
                  <a:gd name="T11" fmla="*/ 12 h 132"/>
                  <a:gd name="T12" fmla="*/ 12 w 132"/>
                  <a:gd name="T13" fmla="*/ 66 h 132"/>
                  <a:gd name="T14" fmla="*/ 66 w 132"/>
                  <a:gd name="T15" fmla="*/ 120 h 132"/>
                  <a:gd name="T16" fmla="*/ 120 w 132"/>
                  <a:gd name="T17" fmla="*/ 66 h 132"/>
                  <a:gd name="T18" fmla="*/ 66 w 132"/>
                  <a:gd name="T19" fmla="*/ 12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2" h="132">
                    <a:moveTo>
                      <a:pt x="66" y="132"/>
                    </a:moveTo>
                    <a:cubicBezTo>
                      <a:pt x="30" y="132"/>
                      <a:pt x="0" y="102"/>
                      <a:pt x="0" y="66"/>
                    </a:cubicBezTo>
                    <a:cubicBezTo>
                      <a:pt x="0" y="30"/>
                      <a:pt x="30" y="0"/>
                      <a:pt x="66" y="0"/>
                    </a:cubicBezTo>
                    <a:cubicBezTo>
                      <a:pt x="103" y="0"/>
                      <a:pt x="132" y="30"/>
                      <a:pt x="132" y="66"/>
                    </a:cubicBezTo>
                    <a:cubicBezTo>
                      <a:pt x="132" y="102"/>
                      <a:pt x="103" y="132"/>
                      <a:pt x="66" y="132"/>
                    </a:cubicBezTo>
                    <a:close/>
                    <a:moveTo>
                      <a:pt x="66" y="12"/>
                    </a:moveTo>
                    <a:cubicBezTo>
                      <a:pt x="37" y="12"/>
                      <a:pt x="12" y="36"/>
                      <a:pt x="12" y="66"/>
                    </a:cubicBezTo>
                    <a:cubicBezTo>
                      <a:pt x="12" y="96"/>
                      <a:pt x="37" y="120"/>
                      <a:pt x="66" y="120"/>
                    </a:cubicBezTo>
                    <a:cubicBezTo>
                      <a:pt x="96" y="120"/>
                      <a:pt x="120" y="96"/>
                      <a:pt x="120" y="66"/>
                    </a:cubicBezTo>
                    <a:cubicBezTo>
                      <a:pt x="120" y="36"/>
                      <a:pt x="96" y="12"/>
                      <a:pt x="6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457" name="Freeform 206">
                <a:extLst>
                  <a:ext uri="{FF2B5EF4-FFF2-40B4-BE49-F238E27FC236}">
                    <a16:creationId xmlns:a16="http://schemas.microsoft.com/office/drawing/2014/main" id="{2CB6C9C1-4BAD-6017-799D-D5C34F9EBE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9" y="3167"/>
                <a:ext cx="77" cy="160"/>
              </a:xfrm>
              <a:custGeom>
                <a:avLst/>
                <a:gdLst>
                  <a:gd name="T0" fmla="*/ 45 w 52"/>
                  <a:gd name="T1" fmla="*/ 108 h 108"/>
                  <a:gd name="T2" fmla="*/ 40 w 52"/>
                  <a:gd name="T3" fmla="*/ 106 h 108"/>
                  <a:gd name="T4" fmla="*/ 2 w 52"/>
                  <a:gd name="T5" fmla="*/ 60 h 108"/>
                  <a:gd name="T6" fmla="*/ 1 w 52"/>
                  <a:gd name="T7" fmla="*/ 53 h 108"/>
                  <a:gd name="T8" fmla="*/ 35 w 52"/>
                  <a:gd name="T9" fmla="*/ 3 h 108"/>
                  <a:gd name="T10" fmla="*/ 44 w 52"/>
                  <a:gd name="T11" fmla="*/ 2 h 108"/>
                  <a:gd name="T12" fmla="*/ 45 w 52"/>
                  <a:gd name="T13" fmla="*/ 10 h 108"/>
                  <a:gd name="T14" fmla="*/ 14 w 52"/>
                  <a:gd name="T15" fmla="*/ 56 h 108"/>
                  <a:gd name="T16" fmla="*/ 50 w 52"/>
                  <a:gd name="T17" fmla="*/ 98 h 108"/>
                  <a:gd name="T18" fmla="*/ 49 w 52"/>
                  <a:gd name="T19" fmla="*/ 107 h 108"/>
                  <a:gd name="T20" fmla="*/ 45 w 52"/>
                  <a:gd name="T21" fmla="*/ 108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2" h="108">
                    <a:moveTo>
                      <a:pt x="45" y="108"/>
                    </a:moveTo>
                    <a:cubicBezTo>
                      <a:pt x="43" y="108"/>
                      <a:pt x="41" y="107"/>
                      <a:pt x="40" y="106"/>
                    </a:cubicBezTo>
                    <a:cubicBezTo>
                      <a:pt x="2" y="60"/>
                      <a:pt x="2" y="60"/>
                      <a:pt x="2" y="60"/>
                    </a:cubicBezTo>
                    <a:cubicBezTo>
                      <a:pt x="0" y="58"/>
                      <a:pt x="0" y="55"/>
                      <a:pt x="1" y="5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7" y="0"/>
                      <a:pt x="41" y="0"/>
                      <a:pt x="44" y="2"/>
                    </a:cubicBezTo>
                    <a:cubicBezTo>
                      <a:pt x="46" y="3"/>
                      <a:pt x="47" y="7"/>
                      <a:pt x="45" y="10"/>
                    </a:cubicBezTo>
                    <a:cubicBezTo>
                      <a:pt x="14" y="56"/>
                      <a:pt x="14" y="56"/>
                      <a:pt x="14" y="56"/>
                    </a:cubicBezTo>
                    <a:cubicBezTo>
                      <a:pt x="50" y="98"/>
                      <a:pt x="50" y="98"/>
                      <a:pt x="50" y="98"/>
                    </a:cubicBezTo>
                    <a:cubicBezTo>
                      <a:pt x="52" y="101"/>
                      <a:pt x="51" y="105"/>
                      <a:pt x="49" y="107"/>
                    </a:cubicBezTo>
                    <a:cubicBezTo>
                      <a:pt x="48" y="108"/>
                      <a:pt x="46" y="108"/>
                      <a:pt x="45" y="1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458" name="Freeform 207">
                <a:extLst>
                  <a:ext uri="{FF2B5EF4-FFF2-40B4-BE49-F238E27FC236}">
                    <a16:creationId xmlns:a16="http://schemas.microsoft.com/office/drawing/2014/main" id="{B7ED14CA-D0AD-736D-0BBF-536A5E8D8E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0" y="3241"/>
                <a:ext cx="106" cy="18"/>
              </a:xfrm>
              <a:custGeom>
                <a:avLst/>
                <a:gdLst>
                  <a:gd name="T0" fmla="*/ 66 w 72"/>
                  <a:gd name="T1" fmla="*/ 12 h 12"/>
                  <a:gd name="T2" fmla="*/ 6 w 72"/>
                  <a:gd name="T3" fmla="*/ 12 h 12"/>
                  <a:gd name="T4" fmla="*/ 0 w 72"/>
                  <a:gd name="T5" fmla="*/ 6 h 12"/>
                  <a:gd name="T6" fmla="*/ 6 w 72"/>
                  <a:gd name="T7" fmla="*/ 0 h 12"/>
                  <a:gd name="T8" fmla="*/ 66 w 72"/>
                  <a:gd name="T9" fmla="*/ 0 h 12"/>
                  <a:gd name="T10" fmla="*/ 72 w 72"/>
                  <a:gd name="T11" fmla="*/ 6 h 12"/>
                  <a:gd name="T12" fmla="*/ 66 w 72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12">
                    <a:moveTo>
                      <a:pt x="6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66" y="0"/>
                      <a:pt x="66" y="0"/>
                      <a:pt x="66" y="0"/>
                    </a:cubicBezTo>
                    <a:cubicBezTo>
                      <a:pt x="70" y="0"/>
                      <a:pt x="72" y="3"/>
                      <a:pt x="72" y="6"/>
                    </a:cubicBezTo>
                    <a:cubicBezTo>
                      <a:pt x="72" y="9"/>
                      <a:pt x="70" y="12"/>
                      <a:pt x="6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459" name="Rectangle 208">
                <a:extLst>
                  <a:ext uri="{FF2B5EF4-FFF2-40B4-BE49-F238E27FC236}">
                    <a16:creationId xmlns:a16="http://schemas.microsoft.com/office/drawing/2014/main" id="{273732E7-7370-9D60-9DAA-D5717995B2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2" y="3170"/>
                <a:ext cx="107" cy="1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460" name="Rectangle 209">
                <a:extLst>
                  <a:ext uri="{FF2B5EF4-FFF2-40B4-BE49-F238E27FC236}">
                    <a16:creationId xmlns:a16="http://schemas.microsoft.com/office/drawing/2014/main" id="{A27EC33D-8F59-E915-658E-57007FB66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2" y="3223"/>
                <a:ext cx="107" cy="1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461" name="Rectangle 210">
                <a:extLst>
                  <a:ext uri="{FF2B5EF4-FFF2-40B4-BE49-F238E27FC236}">
                    <a16:creationId xmlns:a16="http://schemas.microsoft.com/office/drawing/2014/main" id="{1FD0DCE5-FCDE-D996-B01C-9BCC12BCB1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2" y="3276"/>
                <a:ext cx="107" cy="1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</p:grpSp>
      </p:grpSp>
      <p:grpSp>
        <p:nvGrpSpPr>
          <p:cNvPr id="462" name="Group 461">
            <a:extLst>
              <a:ext uri="{FF2B5EF4-FFF2-40B4-BE49-F238E27FC236}">
                <a16:creationId xmlns:a16="http://schemas.microsoft.com/office/drawing/2014/main" id="{64EB8E16-3CEC-0FE3-FEAE-FE2A6188D43F}"/>
              </a:ext>
            </a:extLst>
          </p:cNvPr>
          <p:cNvGrpSpPr/>
          <p:nvPr/>
        </p:nvGrpSpPr>
        <p:grpSpPr>
          <a:xfrm>
            <a:off x="3760071" y="3345371"/>
            <a:ext cx="365760" cy="365760"/>
            <a:chOff x="-1363891" y="1696665"/>
            <a:chExt cx="365760" cy="365760"/>
          </a:xfrm>
        </p:grpSpPr>
        <p:sp>
          <p:nvSpPr>
            <p:cNvPr id="463" name="Oval 462">
              <a:extLst>
                <a:ext uri="{FF2B5EF4-FFF2-40B4-BE49-F238E27FC236}">
                  <a16:creationId xmlns:a16="http://schemas.microsoft.com/office/drawing/2014/main" id="{98CF2815-F741-B749-49D8-F2E71247EB27}"/>
                </a:ext>
              </a:extLst>
            </p:cNvPr>
            <p:cNvSpPr/>
            <p:nvPr/>
          </p:nvSpPr>
          <p:spPr>
            <a:xfrm>
              <a:off x="-1363891" y="1696665"/>
              <a:ext cx="365760" cy="365760"/>
            </a:xfrm>
            <a:prstGeom prst="ellipse">
              <a:avLst/>
            </a:prstGeom>
            <a:solidFill>
              <a:srgbClr val="00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grpSp>
          <p:nvGrpSpPr>
            <p:cNvPr id="464" name="Group 73">
              <a:extLst>
                <a:ext uri="{FF2B5EF4-FFF2-40B4-BE49-F238E27FC236}">
                  <a16:creationId xmlns:a16="http://schemas.microsoft.com/office/drawing/2014/main" id="{EA7A9BDB-8F32-41AB-1C8E-5B8D554E799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-1304886" y="1756250"/>
              <a:ext cx="247751" cy="246591"/>
              <a:chOff x="2400" y="1721"/>
              <a:chExt cx="427" cy="425"/>
            </a:xfrm>
            <a:solidFill>
              <a:schemeClr val="bg1"/>
            </a:solidFill>
          </p:grpSpPr>
          <p:sp>
            <p:nvSpPr>
              <p:cNvPr id="465" name="Freeform 74">
                <a:extLst>
                  <a:ext uri="{FF2B5EF4-FFF2-40B4-BE49-F238E27FC236}">
                    <a16:creationId xmlns:a16="http://schemas.microsoft.com/office/drawing/2014/main" id="{6785FD74-91C1-EA2A-2EB3-1D8CC1668AC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00" y="1721"/>
                <a:ext cx="427" cy="425"/>
              </a:xfrm>
              <a:custGeom>
                <a:avLst/>
                <a:gdLst>
                  <a:gd name="T0" fmla="*/ 234 w 288"/>
                  <a:gd name="T1" fmla="*/ 288 h 288"/>
                  <a:gd name="T2" fmla="*/ 54 w 288"/>
                  <a:gd name="T3" fmla="*/ 288 h 288"/>
                  <a:gd name="T4" fmla="*/ 0 w 288"/>
                  <a:gd name="T5" fmla="*/ 234 h 288"/>
                  <a:gd name="T6" fmla="*/ 0 w 288"/>
                  <a:gd name="T7" fmla="*/ 54 h 288"/>
                  <a:gd name="T8" fmla="*/ 54 w 288"/>
                  <a:gd name="T9" fmla="*/ 0 h 288"/>
                  <a:gd name="T10" fmla="*/ 234 w 288"/>
                  <a:gd name="T11" fmla="*/ 0 h 288"/>
                  <a:gd name="T12" fmla="*/ 288 w 288"/>
                  <a:gd name="T13" fmla="*/ 54 h 288"/>
                  <a:gd name="T14" fmla="*/ 288 w 288"/>
                  <a:gd name="T15" fmla="*/ 234 h 288"/>
                  <a:gd name="T16" fmla="*/ 234 w 288"/>
                  <a:gd name="T17" fmla="*/ 288 h 288"/>
                  <a:gd name="T18" fmla="*/ 54 w 288"/>
                  <a:gd name="T19" fmla="*/ 12 h 288"/>
                  <a:gd name="T20" fmla="*/ 12 w 288"/>
                  <a:gd name="T21" fmla="*/ 54 h 288"/>
                  <a:gd name="T22" fmla="*/ 12 w 288"/>
                  <a:gd name="T23" fmla="*/ 234 h 288"/>
                  <a:gd name="T24" fmla="*/ 54 w 288"/>
                  <a:gd name="T25" fmla="*/ 276 h 288"/>
                  <a:gd name="T26" fmla="*/ 234 w 288"/>
                  <a:gd name="T27" fmla="*/ 276 h 288"/>
                  <a:gd name="T28" fmla="*/ 276 w 288"/>
                  <a:gd name="T29" fmla="*/ 234 h 288"/>
                  <a:gd name="T30" fmla="*/ 276 w 288"/>
                  <a:gd name="T31" fmla="*/ 54 h 288"/>
                  <a:gd name="T32" fmla="*/ 234 w 288"/>
                  <a:gd name="T33" fmla="*/ 12 h 288"/>
                  <a:gd name="T34" fmla="*/ 54 w 288"/>
                  <a:gd name="T35" fmla="*/ 12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88" h="288">
                    <a:moveTo>
                      <a:pt x="234" y="288"/>
                    </a:moveTo>
                    <a:cubicBezTo>
                      <a:pt x="54" y="288"/>
                      <a:pt x="54" y="288"/>
                      <a:pt x="54" y="288"/>
                    </a:cubicBezTo>
                    <a:cubicBezTo>
                      <a:pt x="24" y="288"/>
                      <a:pt x="0" y="263"/>
                      <a:pt x="0" y="234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0" y="24"/>
                      <a:pt x="24" y="0"/>
                      <a:pt x="54" y="0"/>
                    </a:cubicBezTo>
                    <a:cubicBezTo>
                      <a:pt x="234" y="0"/>
                      <a:pt x="234" y="0"/>
                      <a:pt x="234" y="0"/>
                    </a:cubicBezTo>
                    <a:cubicBezTo>
                      <a:pt x="264" y="0"/>
                      <a:pt x="288" y="24"/>
                      <a:pt x="288" y="54"/>
                    </a:cubicBezTo>
                    <a:cubicBezTo>
                      <a:pt x="288" y="234"/>
                      <a:pt x="288" y="234"/>
                      <a:pt x="288" y="234"/>
                    </a:cubicBezTo>
                    <a:cubicBezTo>
                      <a:pt x="288" y="263"/>
                      <a:pt x="264" y="288"/>
                      <a:pt x="234" y="288"/>
                    </a:cubicBezTo>
                    <a:close/>
                    <a:moveTo>
                      <a:pt x="54" y="12"/>
                    </a:moveTo>
                    <a:cubicBezTo>
                      <a:pt x="31" y="12"/>
                      <a:pt x="12" y="30"/>
                      <a:pt x="12" y="54"/>
                    </a:cubicBezTo>
                    <a:cubicBezTo>
                      <a:pt x="12" y="234"/>
                      <a:pt x="12" y="234"/>
                      <a:pt x="12" y="234"/>
                    </a:cubicBezTo>
                    <a:cubicBezTo>
                      <a:pt x="12" y="257"/>
                      <a:pt x="31" y="276"/>
                      <a:pt x="54" y="276"/>
                    </a:cubicBezTo>
                    <a:cubicBezTo>
                      <a:pt x="234" y="276"/>
                      <a:pt x="234" y="276"/>
                      <a:pt x="234" y="276"/>
                    </a:cubicBezTo>
                    <a:cubicBezTo>
                      <a:pt x="257" y="276"/>
                      <a:pt x="276" y="257"/>
                      <a:pt x="276" y="234"/>
                    </a:cubicBezTo>
                    <a:cubicBezTo>
                      <a:pt x="276" y="54"/>
                      <a:pt x="276" y="54"/>
                      <a:pt x="276" y="54"/>
                    </a:cubicBezTo>
                    <a:cubicBezTo>
                      <a:pt x="276" y="30"/>
                      <a:pt x="257" y="12"/>
                      <a:pt x="234" y="12"/>
                    </a:cubicBezTo>
                    <a:lnTo>
                      <a:pt x="54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466" name="Freeform 75">
                <a:extLst>
                  <a:ext uri="{FF2B5EF4-FFF2-40B4-BE49-F238E27FC236}">
                    <a16:creationId xmlns:a16="http://schemas.microsoft.com/office/drawing/2014/main" id="{92DBD735-A8DC-C71D-E619-09C9EE803EC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57" y="1886"/>
                <a:ext cx="111" cy="111"/>
              </a:xfrm>
              <a:custGeom>
                <a:avLst/>
                <a:gdLst>
                  <a:gd name="T0" fmla="*/ 38 w 75"/>
                  <a:gd name="T1" fmla="*/ 75 h 75"/>
                  <a:gd name="T2" fmla="*/ 0 w 75"/>
                  <a:gd name="T3" fmla="*/ 38 h 75"/>
                  <a:gd name="T4" fmla="*/ 38 w 75"/>
                  <a:gd name="T5" fmla="*/ 0 h 75"/>
                  <a:gd name="T6" fmla="*/ 75 w 75"/>
                  <a:gd name="T7" fmla="*/ 38 h 75"/>
                  <a:gd name="T8" fmla="*/ 38 w 75"/>
                  <a:gd name="T9" fmla="*/ 75 h 75"/>
                  <a:gd name="T10" fmla="*/ 38 w 75"/>
                  <a:gd name="T11" fmla="*/ 12 h 75"/>
                  <a:gd name="T12" fmla="*/ 12 w 75"/>
                  <a:gd name="T13" fmla="*/ 38 h 75"/>
                  <a:gd name="T14" fmla="*/ 38 w 75"/>
                  <a:gd name="T15" fmla="*/ 63 h 75"/>
                  <a:gd name="T16" fmla="*/ 63 w 75"/>
                  <a:gd name="T17" fmla="*/ 38 h 75"/>
                  <a:gd name="T18" fmla="*/ 38 w 75"/>
                  <a:gd name="T19" fmla="*/ 12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5" h="75">
                    <a:moveTo>
                      <a:pt x="38" y="75"/>
                    </a:moveTo>
                    <a:cubicBezTo>
                      <a:pt x="17" y="75"/>
                      <a:pt x="0" y="58"/>
                      <a:pt x="0" y="38"/>
                    </a:cubicBezTo>
                    <a:cubicBezTo>
                      <a:pt x="0" y="17"/>
                      <a:pt x="17" y="0"/>
                      <a:pt x="38" y="0"/>
                    </a:cubicBezTo>
                    <a:cubicBezTo>
                      <a:pt x="59" y="0"/>
                      <a:pt x="75" y="17"/>
                      <a:pt x="75" y="38"/>
                    </a:cubicBezTo>
                    <a:cubicBezTo>
                      <a:pt x="75" y="58"/>
                      <a:pt x="59" y="75"/>
                      <a:pt x="38" y="75"/>
                    </a:cubicBezTo>
                    <a:close/>
                    <a:moveTo>
                      <a:pt x="38" y="12"/>
                    </a:moveTo>
                    <a:cubicBezTo>
                      <a:pt x="24" y="12"/>
                      <a:pt x="12" y="24"/>
                      <a:pt x="12" y="38"/>
                    </a:cubicBezTo>
                    <a:cubicBezTo>
                      <a:pt x="12" y="52"/>
                      <a:pt x="24" y="63"/>
                      <a:pt x="38" y="63"/>
                    </a:cubicBezTo>
                    <a:cubicBezTo>
                      <a:pt x="52" y="63"/>
                      <a:pt x="63" y="52"/>
                      <a:pt x="63" y="38"/>
                    </a:cubicBezTo>
                    <a:cubicBezTo>
                      <a:pt x="63" y="24"/>
                      <a:pt x="52" y="12"/>
                      <a:pt x="3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467" name="Freeform 76">
                <a:extLst>
                  <a:ext uri="{FF2B5EF4-FFF2-40B4-BE49-F238E27FC236}">
                    <a16:creationId xmlns:a16="http://schemas.microsoft.com/office/drawing/2014/main" id="{F02A9301-C510-6E4F-8D68-C4F77B0F5B8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82" y="1809"/>
                <a:ext cx="265" cy="266"/>
              </a:xfrm>
              <a:custGeom>
                <a:avLst/>
                <a:gdLst>
                  <a:gd name="T0" fmla="*/ 69 w 179"/>
                  <a:gd name="T1" fmla="*/ 180 h 180"/>
                  <a:gd name="T2" fmla="*/ 63 w 179"/>
                  <a:gd name="T3" fmla="*/ 159 h 180"/>
                  <a:gd name="T4" fmla="*/ 30 w 179"/>
                  <a:gd name="T5" fmla="*/ 155 h 180"/>
                  <a:gd name="T6" fmla="*/ 1 w 179"/>
                  <a:gd name="T7" fmla="*/ 116 h 180"/>
                  <a:gd name="T8" fmla="*/ 3 w 179"/>
                  <a:gd name="T9" fmla="*/ 108 h 180"/>
                  <a:gd name="T10" fmla="*/ 15 w 179"/>
                  <a:gd name="T11" fmla="*/ 90 h 180"/>
                  <a:gd name="T12" fmla="*/ 3 w 179"/>
                  <a:gd name="T13" fmla="*/ 71 h 180"/>
                  <a:gd name="T14" fmla="*/ 1 w 179"/>
                  <a:gd name="T15" fmla="*/ 63 h 180"/>
                  <a:gd name="T16" fmla="*/ 30 w 179"/>
                  <a:gd name="T17" fmla="*/ 24 h 180"/>
                  <a:gd name="T18" fmla="*/ 63 w 179"/>
                  <a:gd name="T19" fmla="*/ 20 h 180"/>
                  <a:gd name="T20" fmla="*/ 69 w 179"/>
                  <a:gd name="T21" fmla="*/ 0 h 180"/>
                  <a:gd name="T22" fmla="*/ 117 w 179"/>
                  <a:gd name="T23" fmla="*/ 6 h 180"/>
                  <a:gd name="T24" fmla="*/ 136 w 179"/>
                  <a:gd name="T25" fmla="*/ 32 h 180"/>
                  <a:gd name="T26" fmla="*/ 153 w 179"/>
                  <a:gd name="T27" fmla="*/ 24 h 180"/>
                  <a:gd name="T28" fmla="*/ 177 w 179"/>
                  <a:gd name="T29" fmla="*/ 63 h 180"/>
                  <a:gd name="T30" fmla="*/ 175 w 179"/>
                  <a:gd name="T31" fmla="*/ 71 h 180"/>
                  <a:gd name="T32" fmla="*/ 163 w 179"/>
                  <a:gd name="T33" fmla="*/ 90 h 180"/>
                  <a:gd name="T34" fmla="*/ 175 w 179"/>
                  <a:gd name="T35" fmla="*/ 108 h 180"/>
                  <a:gd name="T36" fmla="*/ 157 w 179"/>
                  <a:gd name="T37" fmla="*/ 153 h 180"/>
                  <a:gd name="T38" fmla="*/ 148 w 179"/>
                  <a:gd name="T39" fmla="*/ 155 h 180"/>
                  <a:gd name="T40" fmla="*/ 117 w 179"/>
                  <a:gd name="T41" fmla="*/ 159 h 180"/>
                  <a:gd name="T42" fmla="*/ 111 w 179"/>
                  <a:gd name="T43" fmla="*/ 180 h 180"/>
                  <a:gd name="T44" fmla="*/ 105 w 179"/>
                  <a:gd name="T45" fmla="*/ 168 h 180"/>
                  <a:gd name="T46" fmla="*/ 109 w 179"/>
                  <a:gd name="T47" fmla="*/ 149 h 180"/>
                  <a:gd name="T48" fmla="*/ 138 w 179"/>
                  <a:gd name="T49" fmla="*/ 135 h 180"/>
                  <a:gd name="T50" fmla="*/ 164 w 179"/>
                  <a:gd name="T51" fmla="*/ 116 h 180"/>
                  <a:gd name="T52" fmla="*/ 150 w 179"/>
                  <a:gd name="T53" fmla="*/ 103 h 180"/>
                  <a:gd name="T54" fmla="*/ 150 w 179"/>
                  <a:gd name="T55" fmla="*/ 77 h 180"/>
                  <a:gd name="T56" fmla="*/ 164 w 179"/>
                  <a:gd name="T57" fmla="*/ 64 h 180"/>
                  <a:gd name="T58" fmla="*/ 138 w 179"/>
                  <a:gd name="T59" fmla="*/ 44 h 180"/>
                  <a:gd name="T60" fmla="*/ 109 w 179"/>
                  <a:gd name="T61" fmla="*/ 30 h 180"/>
                  <a:gd name="T62" fmla="*/ 105 w 179"/>
                  <a:gd name="T63" fmla="*/ 12 h 180"/>
                  <a:gd name="T64" fmla="*/ 75 w 179"/>
                  <a:gd name="T65" fmla="*/ 25 h 180"/>
                  <a:gd name="T66" fmla="*/ 48 w 179"/>
                  <a:gd name="T67" fmla="*/ 43 h 180"/>
                  <a:gd name="T68" fmla="*/ 29 w 179"/>
                  <a:gd name="T69" fmla="*/ 38 h 180"/>
                  <a:gd name="T70" fmla="*/ 25 w 179"/>
                  <a:gd name="T71" fmla="*/ 70 h 180"/>
                  <a:gd name="T72" fmla="*/ 27 w 179"/>
                  <a:gd name="T73" fmla="*/ 90 h 180"/>
                  <a:gd name="T74" fmla="*/ 25 w 179"/>
                  <a:gd name="T75" fmla="*/ 109 h 180"/>
                  <a:gd name="T76" fmla="*/ 29 w 179"/>
                  <a:gd name="T77" fmla="*/ 142 h 180"/>
                  <a:gd name="T78" fmla="*/ 48 w 179"/>
                  <a:gd name="T79" fmla="*/ 136 h 180"/>
                  <a:gd name="T80" fmla="*/ 75 w 179"/>
                  <a:gd name="T81" fmla="*/ 155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79" h="180">
                    <a:moveTo>
                      <a:pt x="111" y="180"/>
                    </a:moveTo>
                    <a:cubicBezTo>
                      <a:pt x="69" y="180"/>
                      <a:pt x="69" y="180"/>
                      <a:pt x="69" y="180"/>
                    </a:cubicBezTo>
                    <a:cubicBezTo>
                      <a:pt x="65" y="180"/>
                      <a:pt x="63" y="177"/>
                      <a:pt x="63" y="174"/>
                    </a:cubicBezTo>
                    <a:cubicBezTo>
                      <a:pt x="63" y="159"/>
                      <a:pt x="63" y="159"/>
                      <a:pt x="63" y="159"/>
                    </a:cubicBezTo>
                    <a:cubicBezTo>
                      <a:pt x="56" y="156"/>
                      <a:pt x="49" y="153"/>
                      <a:pt x="43" y="148"/>
                    </a:cubicBezTo>
                    <a:cubicBezTo>
                      <a:pt x="30" y="155"/>
                      <a:pt x="30" y="155"/>
                      <a:pt x="30" y="155"/>
                    </a:cubicBezTo>
                    <a:cubicBezTo>
                      <a:pt x="27" y="157"/>
                      <a:pt x="23" y="156"/>
                      <a:pt x="22" y="153"/>
                    </a:cubicBezTo>
                    <a:cubicBezTo>
                      <a:pt x="1" y="116"/>
                      <a:pt x="1" y="116"/>
                      <a:pt x="1" y="116"/>
                    </a:cubicBezTo>
                    <a:cubicBezTo>
                      <a:pt x="0" y="115"/>
                      <a:pt x="0" y="113"/>
                      <a:pt x="0" y="112"/>
                    </a:cubicBezTo>
                    <a:cubicBezTo>
                      <a:pt x="0" y="110"/>
                      <a:pt x="1" y="109"/>
                      <a:pt x="3" y="108"/>
                    </a:cubicBezTo>
                    <a:cubicBezTo>
                      <a:pt x="16" y="101"/>
                      <a:pt x="16" y="101"/>
                      <a:pt x="16" y="101"/>
                    </a:cubicBezTo>
                    <a:cubicBezTo>
                      <a:pt x="15" y="97"/>
                      <a:pt x="15" y="93"/>
                      <a:pt x="15" y="90"/>
                    </a:cubicBezTo>
                    <a:cubicBezTo>
                      <a:pt x="15" y="86"/>
                      <a:pt x="15" y="82"/>
                      <a:pt x="16" y="78"/>
                    </a:cubicBezTo>
                    <a:cubicBezTo>
                      <a:pt x="3" y="71"/>
                      <a:pt x="3" y="71"/>
                      <a:pt x="3" y="71"/>
                    </a:cubicBezTo>
                    <a:cubicBezTo>
                      <a:pt x="1" y="70"/>
                      <a:pt x="0" y="69"/>
                      <a:pt x="0" y="67"/>
                    </a:cubicBezTo>
                    <a:cubicBezTo>
                      <a:pt x="0" y="66"/>
                      <a:pt x="0" y="64"/>
                      <a:pt x="1" y="63"/>
                    </a:cubicBezTo>
                    <a:cubicBezTo>
                      <a:pt x="22" y="26"/>
                      <a:pt x="22" y="26"/>
                      <a:pt x="22" y="26"/>
                    </a:cubicBezTo>
                    <a:cubicBezTo>
                      <a:pt x="23" y="24"/>
                      <a:pt x="27" y="23"/>
                      <a:pt x="30" y="24"/>
                    </a:cubicBezTo>
                    <a:cubicBezTo>
                      <a:pt x="43" y="32"/>
                      <a:pt x="43" y="32"/>
                      <a:pt x="43" y="32"/>
                    </a:cubicBezTo>
                    <a:cubicBezTo>
                      <a:pt x="49" y="27"/>
                      <a:pt x="56" y="23"/>
                      <a:pt x="63" y="20"/>
                    </a:cubicBezTo>
                    <a:cubicBezTo>
                      <a:pt x="63" y="6"/>
                      <a:pt x="63" y="6"/>
                      <a:pt x="63" y="6"/>
                    </a:cubicBezTo>
                    <a:cubicBezTo>
                      <a:pt x="63" y="2"/>
                      <a:pt x="65" y="0"/>
                      <a:pt x="69" y="0"/>
                    </a:cubicBezTo>
                    <a:cubicBezTo>
                      <a:pt x="111" y="0"/>
                      <a:pt x="111" y="0"/>
                      <a:pt x="111" y="0"/>
                    </a:cubicBezTo>
                    <a:cubicBezTo>
                      <a:pt x="114" y="0"/>
                      <a:pt x="117" y="2"/>
                      <a:pt x="117" y="6"/>
                    </a:cubicBezTo>
                    <a:cubicBezTo>
                      <a:pt x="117" y="20"/>
                      <a:pt x="117" y="20"/>
                      <a:pt x="117" y="20"/>
                    </a:cubicBezTo>
                    <a:cubicBezTo>
                      <a:pt x="124" y="23"/>
                      <a:pt x="130" y="27"/>
                      <a:pt x="136" y="32"/>
                    </a:cubicBezTo>
                    <a:cubicBezTo>
                      <a:pt x="148" y="24"/>
                      <a:pt x="148" y="24"/>
                      <a:pt x="148" y="24"/>
                    </a:cubicBezTo>
                    <a:cubicBezTo>
                      <a:pt x="150" y="23"/>
                      <a:pt x="151" y="23"/>
                      <a:pt x="153" y="24"/>
                    </a:cubicBezTo>
                    <a:cubicBezTo>
                      <a:pt x="154" y="24"/>
                      <a:pt x="156" y="25"/>
                      <a:pt x="156" y="26"/>
                    </a:cubicBezTo>
                    <a:cubicBezTo>
                      <a:pt x="177" y="63"/>
                      <a:pt x="177" y="63"/>
                      <a:pt x="177" y="63"/>
                    </a:cubicBezTo>
                    <a:cubicBezTo>
                      <a:pt x="178" y="64"/>
                      <a:pt x="178" y="66"/>
                      <a:pt x="178" y="67"/>
                    </a:cubicBezTo>
                    <a:cubicBezTo>
                      <a:pt x="178" y="69"/>
                      <a:pt x="177" y="70"/>
                      <a:pt x="175" y="71"/>
                    </a:cubicBezTo>
                    <a:cubicBezTo>
                      <a:pt x="162" y="78"/>
                      <a:pt x="162" y="78"/>
                      <a:pt x="162" y="78"/>
                    </a:cubicBezTo>
                    <a:cubicBezTo>
                      <a:pt x="163" y="82"/>
                      <a:pt x="163" y="86"/>
                      <a:pt x="163" y="90"/>
                    </a:cubicBezTo>
                    <a:cubicBezTo>
                      <a:pt x="163" y="93"/>
                      <a:pt x="163" y="97"/>
                      <a:pt x="162" y="101"/>
                    </a:cubicBezTo>
                    <a:cubicBezTo>
                      <a:pt x="175" y="108"/>
                      <a:pt x="175" y="108"/>
                      <a:pt x="175" y="108"/>
                    </a:cubicBezTo>
                    <a:cubicBezTo>
                      <a:pt x="178" y="110"/>
                      <a:pt x="179" y="114"/>
                      <a:pt x="178" y="116"/>
                    </a:cubicBezTo>
                    <a:cubicBezTo>
                      <a:pt x="157" y="153"/>
                      <a:pt x="157" y="153"/>
                      <a:pt x="157" y="153"/>
                    </a:cubicBezTo>
                    <a:cubicBezTo>
                      <a:pt x="156" y="154"/>
                      <a:pt x="154" y="155"/>
                      <a:pt x="153" y="156"/>
                    </a:cubicBezTo>
                    <a:cubicBezTo>
                      <a:pt x="151" y="156"/>
                      <a:pt x="150" y="156"/>
                      <a:pt x="148" y="155"/>
                    </a:cubicBezTo>
                    <a:cubicBezTo>
                      <a:pt x="136" y="148"/>
                      <a:pt x="136" y="148"/>
                      <a:pt x="136" y="148"/>
                    </a:cubicBezTo>
                    <a:cubicBezTo>
                      <a:pt x="130" y="152"/>
                      <a:pt x="124" y="156"/>
                      <a:pt x="117" y="159"/>
                    </a:cubicBezTo>
                    <a:cubicBezTo>
                      <a:pt x="117" y="174"/>
                      <a:pt x="117" y="174"/>
                      <a:pt x="117" y="174"/>
                    </a:cubicBezTo>
                    <a:cubicBezTo>
                      <a:pt x="117" y="177"/>
                      <a:pt x="114" y="180"/>
                      <a:pt x="111" y="180"/>
                    </a:cubicBezTo>
                    <a:close/>
                    <a:moveTo>
                      <a:pt x="75" y="168"/>
                    </a:moveTo>
                    <a:cubicBezTo>
                      <a:pt x="105" y="168"/>
                      <a:pt x="105" y="168"/>
                      <a:pt x="105" y="168"/>
                    </a:cubicBezTo>
                    <a:cubicBezTo>
                      <a:pt x="105" y="155"/>
                      <a:pt x="105" y="155"/>
                      <a:pt x="105" y="155"/>
                    </a:cubicBezTo>
                    <a:cubicBezTo>
                      <a:pt x="105" y="152"/>
                      <a:pt x="107" y="150"/>
                      <a:pt x="109" y="149"/>
                    </a:cubicBezTo>
                    <a:cubicBezTo>
                      <a:pt x="118" y="146"/>
                      <a:pt x="124" y="142"/>
                      <a:pt x="131" y="136"/>
                    </a:cubicBezTo>
                    <a:cubicBezTo>
                      <a:pt x="133" y="134"/>
                      <a:pt x="136" y="134"/>
                      <a:pt x="138" y="135"/>
                    </a:cubicBezTo>
                    <a:cubicBezTo>
                      <a:pt x="149" y="142"/>
                      <a:pt x="149" y="142"/>
                      <a:pt x="149" y="142"/>
                    </a:cubicBezTo>
                    <a:cubicBezTo>
                      <a:pt x="164" y="116"/>
                      <a:pt x="164" y="116"/>
                      <a:pt x="164" y="116"/>
                    </a:cubicBezTo>
                    <a:cubicBezTo>
                      <a:pt x="153" y="109"/>
                      <a:pt x="153" y="109"/>
                      <a:pt x="153" y="109"/>
                    </a:cubicBezTo>
                    <a:cubicBezTo>
                      <a:pt x="151" y="108"/>
                      <a:pt x="149" y="105"/>
                      <a:pt x="150" y="103"/>
                    </a:cubicBezTo>
                    <a:cubicBezTo>
                      <a:pt x="151" y="99"/>
                      <a:pt x="151" y="94"/>
                      <a:pt x="151" y="90"/>
                    </a:cubicBezTo>
                    <a:cubicBezTo>
                      <a:pt x="151" y="85"/>
                      <a:pt x="151" y="81"/>
                      <a:pt x="150" y="77"/>
                    </a:cubicBezTo>
                    <a:cubicBezTo>
                      <a:pt x="149" y="74"/>
                      <a:pt x="150" y="71"/>
                      <a:pt x="153" y="70"/>
                    </a:cubicBezTo>
                    <a:cubicBezTo>
                      <a:pt x="164" y="64"/>
                      <a:pt x="164" y="64"/>
                      <a:pt x="164" y="64"/>
                    </a:cubicBezTo>
                    <a:cubicBezTo>
                      <a:pt x="149" y="38"/>
                      <a:pt x="149" y="38"/>
                      <a:pt x="149" y="38"/>
                    </a:cubicBezTo>
                    <a:cubicBezTo>
                      <a:pt x="138" y="44"/>
                      <a:pt x="138" y="44"/>
                      <a:pt x="138" y="44"/>
                    </a:cubicBezTo>
                    <a:cubicBezTo>
                      <a:pt x="136" y="46"/>
                      <a:pt x="133" y="45"/>
                      <a:pt x="131" y="43"/>
                    </a:cubicBezTo>
                    <a:cubicBezTo>
                      <a:pt x="124" y="37"/>
                      <a:pt x="118" y="33"/>
                      <a:pt x="109" y="30"/>
                    </a:cubicBezTo>
                    <a:cubicBezTo>
                      <a:pt x="107" y="30"/>
                      <a:pt x="105" y="27"/>
                      <a:pt x="105" y="25"/>
                    </a:cubicBezTo>
                    <a:cubicBezTo>
                      <a:pt x="105" y="12"/>
                      <a:pt x="105" y="12"/>
                      <a:pt x="105" y="12"/>
                    </a:cubicBezTo>
                    <a:cubicBezTo>
                      <a:pt x="75" y="12"/>
                      <a:pt x="75" y="12"/>
                      <a:pt x="75" y="12"/>
                    </a:cubicBezTo>
                    <a:cubicBezTo>
                      <a:pt x="75" y="25"/>
                      <a:pt x="75" y="25"/>
                      <a:pt x="75" y="25"/>
                    </a:cubicBezTo>
                    <a:cubicBezTo>
                      <a:pt x="75" y="27"/>
                      <a:pt x="73" y="30"/>
                      <a:pt x="70" y="30"/>
                    </a:cubicBezTo>
                    <a:cubicBezTo>
                      <a:pt x="62" y="33"/>
                      <a:pt x="55" y="37"/>
                      <a:pt x="48" y="43"/>
                    </a:cubicBezTo>
                    <a:cubicBezTo>
                      <a:pt x="46" y="45"/>
                      <a:pt x="43" y="46"/>
                      <a:pt x="41" y="44"/>
                    </a:cubicBezTo>
                    <a:cubicBezTo>
                      <a:pt x="29" y="38"/>
                      <a:pt x="29" y="38"/>
                      <a:pt x="29" y="38"/>
                    </a:cubicBezTo>
                    <a:cubicBezTo>
                      <a:pt x="14" y="64"/>
                      <a:pt x="14" y="64"/>
                      <a:pt x="14" y="64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8" y="71"/>
                      <a:pt x="29" y="74"/>
                      <a:pt x="28" y="77"/>
                    </a:cubicBezTo>
                    <a:cubicBezTo>
                      <a:pt x="27" y="81"/>
                      <a:pt x="27" y="85"/>
                      <a:pt x="27" y="90"/>
                    </a:cubicBezTo>
                    <a:cubicBezTo>
                      <a:pt x="27" y="94"/>
                      <a:pt x="27" y="98"/>
                      <a:pt x="28" y="103"/>
                    </a:cubicBezTo>
                    <a:cubicBezTo>
                      <a:pt x="29" y="105"/>
                      <a:pt x="28" y="108"/>
                      <a:pt x="25" y="109"/>
                    </a:cubicBezTo>
                    <a:cubicBezTo>
                      <a:pt x="14" y="116"/>
                      <a:pt x="14" y="116"/>
                      <a:pt x="14" y="116"/>
                    </a:cubicBezTo>
                    <a:cubicBezTo>
                      <a:pt x="29" y="142"/>
                      <a:pt x="29" y="142"/>
                      <a:pt x="29" y="142"/>
                    </a:cubicBezTo>
                    <a:cubicBezTo>
                      <a:pt x="41" y="135"/>
                      <a:pt x="41" y="135"/>
                      <a:pt x="41" y="135"/>
                    </a:cubicBezTo>
                    <a:cubicBezTo>
                      <a:pt x="43" y="134"/>
                      <a:pt x="46" y="134"/>
                      <a:pt x="48" y="136"/>
                    </a:cubicBezTo>
                    <a:cubicBezTo>
                      <a:pt x="55" y="142"/>
                      <a:pt x="62" y="146"/>
                      <a:pt x="70" y="149"/>
                    </a:cubicBezTo>
                    <a:cubicBezTo>
                      <a:pt x="73" y="150"/>
                      <a:pt x="75" y="152"/>
                      <a:pt x="75" y="155"/>
                    </a:cubicBezTo>
                    <a:lnTo>
                      <a:pt x="75" y="1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</p:grpSp>
      </p:grpSp>
      <p:grpSp>
        <p:nvGrpSpPr>
          <p:cNvPr id="468" name="Group 467">
            <a:extLst>
              <a:ext uri="{FF2B5EF4-FFF2-40B4-BE49-F238E27FC236}">
                <a16:creationId xmlns:a16="http://schemas.microsoft.com/office/drawing/2014/main" id="{276F43D0-EC69-E8A4-CDBC-3975A42CC5DA}"/>
              </a:ext>
            </a:extLst>
          </p:cNvPr>
          <p:cNvGrpSpPr/>
          <p:nvPr/>
        </p:nvGrpSpPr>
        <p:grpSpPr>
          <a:xfrm>
            <a:off x="3759681" y="4666279"/>
            <a:ext cx="365760" cy="365760"/>
            <a:chOff x="-1057941" y="116551"/>
            <a:chExt cx="365760" cy="365760"/>
          </a:xfrm>
        </p:grpSpPr>
        <p:sp>
          <p:nvSpPr>
            <p:cNvPr id="469" name="Oval 468">
              <a:extLst>
                <a:ext uri="{FF2B5EF4-FFF2-40B4-BE49-F238E27FC236}">
                  <a16:creationId xmlns:a16="http://schemas.microsoft.com/office/drawing/2014/main" id="{887AAAE7-90EC-5205-958A-24E592C909CE}"/>
                </a:ext>
              </a:extLst>
            </p:cNvPr>
            <p:cNvSpPr/>
            <p:nvPr/>
          </p:nvSpPr>
          <p:spPr>
            <a:xfrm>
              <a:off x="-1057941" y="116551"/>
              <a:ext cx="365760" cy="365760"/>
            </a:xfrm>
            <a:prstGeom prst="ellipse">
              <a:avLst/>
            </a:prstGeom>
            <a:solidFill>
              <a:srgbClr val="00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grpSp>
          <p:nvGrpSpPr>
            <p:cNvPr id="470" name="Group 143">
              <a:extLst>
                <a:ext uri="{FF2B5EF4-FFF2-40B4-BE49-F238E27FC236}">
                  <a16:creationId xmlns:a16="http://schemas.microsoft.com/office/drawing/2014/main" id="{B52DF4FF-82C0-B019-765F-A7FB5F2F346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-986106" y="185394"/>
              <a:ext cx="222090" cy="228075"/>
              <a:chOff x="6565" y="1732"/>
              <a:chExt cx="371" cy="381"/>
            </a:xfrm>
            <a:solidFill>
              <a:schemeClr val="bg1"/>
            </a:solidFill>
          </p:grpSpPr>
          <p:sp>
            <p:nvSpPr>
              <p:cNvPr id="471" name="Freeform 144">
                <a:extLst>
                  <a:ext uri="{FF2B5EF4-FFF2-40B4-BE49-F238E27FC236}">
                    <a16:creationId xmlns:a16="http://schemas.microsoft.com/office/drawing/2014/main" id="{A58BD921-50AD-3E61-6BBD-530C4B403E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15" y="1846"/>
                <a:ext cx="271" cy="71"/>
              </a:xfrm>
              <a:custGeom>
                <a:avLst/>
                <a:gdLst>
                  <a:gd name="T0" fmla="*/ 177 w 183"/>
                  <a:gd name="T1" fmla="*/ 47 h 48"/>
                  <a:gd name="T2" fmla="*/ 172 w 183"/>
                  <a:gd name="T3" fmla="*/ 46 h 48"/>
                  <a:gd name="T4" fmla="*/ 92 w 183"/>
                  <a:gd name="T5" fmla="*/ 12 h 48"/>
                  <a:gd name="T6" fmla="*/ 92 w 183"/>
                  <a:gd name="T7" fmla="*/ 12 h 48"/>
                  <a:gd name="T8" fmla="*/ 11 w 183"/>
                  <a:gd name="T9" fmla="*/ 46 h 48"/>
                  <a:gd name="T10" fmla="*/ 3 w 183"/>
                  <a:gd name="T11" fmla="*/ 46 h 48"/>
                  <a:gd name="T12" fmla="*/ 3 w 183"/>
                  <a:gd name="T13" fmla="*/ 37 h 48"/>
                  <a:gd name="T14" fmla="*/ 92 w 183"/>
                  <a:gd name="T15" fmla="*/ 0 h 48"/>
                  <a:gd name="T16" fmla="*/ 92 w 183"/>
                  <a:gd name="T17" fmla="*/ 0 h 48"/>
                  <a:gd name="T18" fmla="*/ 181 w 183"/>
                  <a:gd name="T19" fmla="*/ 37 h 48"/>
                  <a:gd name="T20" fmla="*/ 181 w 183"/>
                  <a:gd name="T21" fmla="*/ 46 h 48"/>
                  <a:gd name="T22" fmla="*/ 177 w 183"/>
                  <a:gd name="T23" fmla="*/ 47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83" h="48">
                    <a:moveTo>
                      <a:pt x="177" y="47"/>
                    </a:moveTo>
                    <a:cubicBezTo>
                      <a:pt x="175" y="47"/>
                      <a:pt x="174" y="47"/>
                      <a:pt x="172" y="46"/>
                    </a:cubicBezTo>
                    <a:cubicBezTo>
                      <a:pt x="151" y="24"/>
                      <a:pt x="122" y="12"/>
                      <a:pt x="92" y="12"/>
                    </a:cubicBezTo>
                    <a:cubicBezTo>
                      <a:pt x="92" y="12"/>
                      <a:pt x="92" y="12"/>
                      <a:pt x="92" y="12"/>
                    </a:cubicBezTo>
                    <a:cubicBezTo>
                      <a:pt x="61" y="12"/>
                      <a:pt x="33" y="24"/>
                      <a:pt x="11" y="46"/>
                    </a:cubicBezTo>
                    <a:cubicBezTo>
                      <a:pt x="9" y="48"/>
                      <a:pt x="5" y="48"/>
                      <a:pt x="3" y="46"/>
                    </a:cubicBezTo>
                    <a:cubicBezTo>
                      <a:pt x="0" y="43"/>
                      <a:pt x="0" y="39"/>
                      <a:pt x="3" y="37"/>
                    </a:cubicBezTo>
                    <a:cubicBezTo>
                      <a:pt x="27" y="13"/>
                      <a:pt x="58" y="0"/>
                      <a:pt x="92" y="0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126" y="0"/>
                      <a:pt x="157" y="13"/>
                      <a:pt x="181" y="37"/>
                    </a:cubicBezTo>
                    <a:cubicBezTo>
                      <a:pt x="183" y="39"/>
                      <a:pt x="183" y="43"/>
                      <a:pt x="181" y="46"/>
                    </a:cubicBezTo>
                    <a:cubicBezTo>
                      <a:pt x="180" y="47"/>
                      <a:pt x="178" y="47"/>
                      <a:pt x="177" y="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472" name="Freeform 145">
                <a:extLst>
                  <a:ext uri="{FF2B5EF4-FFF2-40B4-BE49-F238E27FC236}">
                    <a16:creationId xmlns:a16="http://schemas.microsoft.com/office/drawing/2014/main" id="{EC8C2BDD-3924-5A5E-8D8E-E3F566880F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65" y="1732"/>
                <a:ext cx="371" cy="117"/>
              </a:xfrm>
              <a:custGeom>
                <a:avLst/>
                <a:gdLst>
                  <a:gd name="T0" fmla="*/ 245 w 251"/>
                  <a:gd name="T1" fmla="*/ 78 h 79"/>
                  <a:gd name="T2" fmla="*/ 240 w 251"/>
                  <a:gd name="T3" fmla="*/ 77 h 79"/>
                  <a:gd name="T4" fmla="*/ 11 w 251"/>
                  <a:gd name="T5" fmla="*/ 77 h 79"/>
                  <a:gd name="T6" fmla="*/ 3 w 251"/>
                  <a:gd name="T7" fmla="*/ 77 h 79"/>
                  <a:gd name="T8" fmla="*/ 3 w 251"/>
                  <a:gd name="T9" fmla="*/ 68 h 79"/>
                  <a:gd name="T10" fmla="*/ 249 w 251"/>
                  <a:gd name="T11" fmla="*/ 68 h 79"/>
                  <a:gd name="T12" fmla="*/ 249 w 251"/>
                  <a:gd name="T13" fmla="*/ 77 h 79"/>
                  <a:gd name="T14" fmla="*/ 245 w 251"/>
                  <a:gd name="T15" fmla="*/ 78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1" h="79">
                    <a:moveTo>
                      <a:pt x="245" y="78"/>
                    </a:moveTo>
                    <a:cubicBezTo>
                      <a:pt x="243" y="78"/>
                      <a:pt x="242" y="78"/>
                      <a:pt x="240" y="77"/>
                    </a:cubicBezTo>
                    <a:cubicBezTo>
                      <a:pt x="177" y="13"/>
                      <a:pt x="74" y="13"/>
                      <a:pt x="11" y="77"/>
                    </a:cubicBezTo>
                    <a:cubicBezTo>
                      <a:pt x="9" y="79"/>
                      <a:pt x="5" y="79"/>
                      <a:pt x="3" y="77"/>
                    </a:cubicBezTo>
                    <a:cubicBezTo>
                      <a:pt x="0" y="74"/>
                      <a:pt x="0" y="71"/>
                      <a:pt x="3" y="68"/>
                    </a:cubicBezTo>
                    <a:cubicBezTo>
                      <a:pt x="71" y="0"/>
                      <a:pt x="181" y="0"/>
                      <a:pt x="249" y="68"/>
                    </a:cubicBezTo>
                    <a:cubicBezTo>
                      <a:pt x="251" y="71"/>
                      <a:pt x="251" y="74"/>
                      <a:pt x="249" y="77"/>
                    </a:cubicBezTo>
                    <a:cubicBezTo>
                      <a:pt x="248" y="78"/>
                      <a:pt x="246" y="78"/>
                      <a:pt x="245" y="7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473" name="Freeform 146">
                <a:extLst>
                  <a:ext uri="{FF2B5EF4-FFF2-40B4-BE49-F238E27FC236}">
                    <a16:creationId xmlns:a16="http://schemas.microsoft.com/office/drawing/2014/main" id="{7BFB18F1-8594-1896-AE23-3B7C1C0275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6" y="1925"/>
                <a:ext cx="170" cy="60"/>
              </a:xfrm>
              <a:custGeom>
                <a:avLst/>
                <a:gdLst>
                  <a:gd name="T0" fmla="*/ 109 w 115"/>
                  <a:gd name="T1" fmla="*/ 40 h 41"/>
                  <a:gd name="T2" fmla="*/ 105 w 115"/>
                  <a:gd name="T3" fmla="*/ 39 h 41"/>
                  <a:gd name="T4" fmla="*/ 11 w 115"/>
                  <a:gd name="T5" fmla="*/ 39 h 41"/>
                  <a:gd name="T6" fmla="*/ 3 w 115"/>
                  <a:gd name="T7" fmla="*/ 39 h 41"/>
                  <a:gd name="T8" fmla="*/ 3 w 115"/>
                  <a:gd name="T9" fmla="*/ 30 h 41"/>
                  <a:gd name="T10" fmla="*/ 113 w 115"/>
                  <a:gd name="T11" fmla="*/ 30 h 41"/>
                  <a:gd name="T12" fmla="*/ 113 w 115"/>
                  <a:gd name="T13" fmla="*/ 39 h 41"/>
                  <a:gd name="T14" fmla="*/ 109 w 115"/>
                  <a:gd name="T15" fmla="*/ 4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5" h="41">
                    <a:moveTo>
                      <a:pt x="109" y="40"/>
                    </a:moveTo>
                    <a:cubicBezTo>
                      <a:pt x="107" y="40"/>
                      <a:pt x="106" y="40"/>
                      <a:pt x="105" y="39"/>
                    </a:cubicBezTo>
                    <a:cubicBezTo>
                      <a:pt x="79" y="13"/>
                      <a:pt x="37" y="13"/>
                      <a:pt x="11" y="39"/>
                    </a:cubicBezTo>
                    <a:cubicBezTo>
                      <a:pt x="9" y="41"/>
                      <a:pt x="5" y="41"/>
                      <a:pt x="3" y="39"/>
                    </a:cubicBezTo>
                    <a:cubicBezTo>
                      <a:pt x="0" y="36"/>
                      <a:pt x="0" y="32"/>
                      <a:pt x="3" y="30"/>
                    </a:cubicBezTo>
                    <a:cubicBezTo>
                      <a:pt x="33" y="0"/>
                      <a:pt x="83" y="0"/>
                      <a:pt x="113" y="30"/>
                    </a:cubicBezTo>
                    <a:cubicBezTo>
                      <a:pt x="115" y="32"/>
                      <a:pt x="115" y="36"/>
                      <a:pt x="113" y="39"/>
                    </a:cubicBezTo>
                    <a:cubicBezTo>
                      <a:pt x="112" y="40"/>
                      <a:pt x="110" y="40"/>
                      <a:pt x="109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474" name="Freeform 147">
                <a:extLst>
                  <a:ext uri="{FF2B5EF4-FFF2-40B4-BE49-F238E27FC236}">
                    <a16:creationId xmlns:a16="http://schemas.microsoft.com/office/drawing/2014/main" id="{5968791D-C0D8-D2F9-5CE2-B34D7331B8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15" y="1846"/>
                <a:ext cx="271" cy="71"/>
              </a:xfrm>
              <a:custGeom>
                <a:avLst/>
                <a:gdLst>
                  <a:gd name="T0" fmla="*/ 177 w 183"/>
                  <a:gd name="T1" fmla="*/ 47 h 48"/>
                  <a:gd name="T2" fmla="*/ 172 w 183"/>
                  <a:gd name="T3" fmla="*/ 46 h 48"/>
                  <a:gd name="T4" fmla="*/ 92 w 183"/>
                  <a:gd name="T5" fmla="*/ 12 h 48"/>
                  <a:gd name="T6" fmla="*/ 92 w 183"/>
                  <a:gd name="T7" fmla="*/ 12 h 48"/>
                  <a:gd name="T8" fmla="*/ 11 w 183"/>
                  <a:gd name="T9" fmla="*/ 46 h 48"/>
                  <a:gd name="T10" fmla="*/ 3 w 183"/>
                  <a:gd name="T11" fmla="*/ 46 h 48"/>
                  <a:gd name="T12" fmla="*/ 3 w 183"/>
                  <a:gd name="T13" fmla="*/ 37 h 48"/>
                  <a:gd name="T14" fmla="*/ 92 w 183"/>
                  <a:gd name="T15" fmla="*/ 0 h 48"/>
                  <a:gd name="T16" fmla="*/ 92 w 183"/>
                  <a:gd name="T17" fmla="*/ 0 h 48"/>
                  <a:gd name="T18" fmla="*/ 181 w 183"/>
                  <a:gd name="T19" fmla="*/ 37 h 48"/>
                  <a:gd name="T20" fmla="*/ 181 w 183"/>
                  <a:gd name="T21" fmla="*/ 46 h 48"/>
                  <a:gd name="T22" fmla="*/ 177 w 183"/>
                  <a:gd name="T23" fmla="*/ 47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83" h="48">
                    <a:moveTo>
                      <a:pt x="177" y="47"/>
                    </a:moveTo>
                    <a:cubicBezTo>
                      <a:pt x="175" y="47"/>
                      <a:pt x="174" y="47"/>
                      <a:pt x="172" y="46"/>
                    </a:cubicBezTo>
                    <a:cubicBezTo>
                      <a:pt x="151" y="24"/>
                      <a:pt x="122" y="12"/>
                      <a:pt x="92" y="12"/>
                    </a:cubicBezTo>
                    <a:cubicBezTo>
                      <a:pt x="92" y="12"/>
                      <a:pt x="92" y="12"/>
                      <a:pt x="92" y="12"/>
                    </a:cubicBezTo>
                    <a:cubicBezTo>
                      <a:pt x="61" y="12"/>
                      <a:pt x="33" y="24"/>
                      <a:pt x="11" y="46"/>
                    </a:cubicBezTo>
                    <a:cubicBezTo>
                      <a:pt x="9" y="48"/>
                      <a:pt x="5" y="48"/>
                      <a:pt x="3" y="46"/>
                    </a:cubicBezTo>
                    <a:cubicBezTo>
                      <a:pt x="0" y="43"/>
                      <a:pt x="0" y="39"/>
                      <a:pt x="3" y="37"/>
                    </a:cubicBezTo>
                    <a:cubicBezTo>
                      <a:pt x="27" y="13"/>
                      <a:pt x="58" y="0"/>
                      <a:pt x="92" y="0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126" y="0"/>
                      <a:pt x="157" y="13"/>
                      <a:pt x="181" y="37"/>
                    </a:cubicBezTo>
                    <a:cubicBezTo>
                      <a:pt x="183" y="39"/>
                      <a:pt x="183" y="43"/>
                      <a:pt x="181" y="46"/>
                    </a:cubicBezTo>
                    <a:cubicBezTo>
                      <a:pt x="180" y="47"/>
                      <a:pt x="178" y="47"/>
                      <a:pt x="177" y="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475" name="Freeform 148">
                <a:extLst>
                  <a:ext uri="{FF2B5EF4-FFF2-40B4-BE49-F238E27FC236}">
                    <a16:creationId xmlns:a16="http://schemas.microsoft.com/office/drawing/2014/main" id="{ABDD6867-29B3-99E7-F276-82BC84AA2E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6" y="1925"/>
                <a:ext cx="170" cy="60"/>
              </a:xfrm>
              <a:custGeom>
                <a:avLst/>
                <a:gdLst>
                  <a:gd name="T0" fmla="*/ 7 w 115"/>
                  <a:gd name="T1" fmla="*/ 40 h 41"/>
                  <a:gd name="T2" fmla="*/ 3 w 115"/>
                  <a:gd name="T3" fmla="*/ 39 h 41"/>
                  <a:gd name="T4" fmla="*/ 3 w 115"/>
                  <a:gd name="T5" fmla="*/ 30 h 41"/>
                  <a:gd name="T6" fmla="*/ 113 w 115"/>
                  <a:gd name="T7" fmla="*/ 30 h 41"/>
                  <a:gd name="T8" fmla="*/ 113 w 115"/>
                  <a:gd name="T9" fmla="*/ 39 h 41"/>
                  <a:gd name="T10" fmla="*/ 105 w 115"/>
                  <a:gd name="T11" fmla="*/ 39 h 41"/>
                  <a:gd name="T12" fmla="*/ 11 w 115"/>
                  <a:gd name="T13" fmla="*/ 39 h 41"/>
                  <a:gd name="T14" fmla="*/ 7 w 115"/>
                  <a:gd name="T15" fmla="*/ 4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5" h="41">
                    <a:moveTo>
                      <a:pt x="7" y="40"/>
                    </a:moveTo>
                    <a:cubicBezTo>
                      <a:pt x="5" y="40"/>
                      <a:pt x="4" y="40"/>
                      <a:pt x="3" y="39"/>
                    </a:cubicBezTo>
                    <a:cubicBezTo>
                      <a:pt x="0" y="36"/>
                      <a:pt x="0" y="32"/>
                      <a:pt x="3" y="30"/>
                    </a:cubicBezTo>
                    <a:cubicBezTo>
                      <a:pt x="33" y="0"/>
                      <a:pt x="83" y="0"/>
                      <a:pt x="113" y="30"/>
                    </a:cubicBezTo>
                    <a:cubicBezTo>
                      <a:pt x="115" y="32"/>
                      <a:pt x="115" y="36"/>
                      <a:pt x="113" y="39"/>
                    </a:cubicBezTo>
                    <a:cubicBezTo>
                      <a:pt x="111" y="41"/>
                      <a:pt x="107" y="41"/>
                      <a:pt x="105" y="39"/>
                    </a:cubicBezTo>
                    <a:cubicBezTo>
                      <a:pt x="79" y="13"/>
                      <a:pt x="37" y="13"/>
                      <a:pt x="11" y="39"/>
                    </a:cubicBezTo>
                    <a:cubicBezTo>
                      <a:pt x="10" y="40"/>
                      <a:pt x="8" y="40"/>
                      <a:pt x="7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476" name="Freeform 149">
                <a:extLst>
                  <a:ext uri="{FF2B5EF4-FFF2-40B4-BE49-F238E27FC236}">
                    <a16:creationId xmlns:a16="http://schemas.microsoft.com/office/drawing/2014/main" id="{14EA3BE6-44BC-90B3-BBBA-72E3FF575C6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707" y="2024"/>
                <a:ext cx="89" cy="89"/>
              </a:xfrm>
              <a:custGeom>
                <a:avLst/>
                <a:gdLst>
                  <a:gd name="T0" fmla="*/ 30 w 60"/>
                  <a:gd name="T1" fmla="*/ 60 h 60"/>
                  <a:gd name="T2" fmla="*/ 0 w 60"/>
                  <a:gd name="T3" fmla="*/ 30 h 60"/>
                  <a:gd name="T4" fmla="*/ 30 w 60"/>
                  <a:gd name="T5" fmla="*/ 0 h 60"/>
                  <a:gd name="T6" fmla="*/ 60 w 60"/>
                  <a:gd name="T7" fmla="*/ 30 h 60"/>
                  <a:gd name="T8" fmla="*/ 30 w 60"/>
                  <a:gd name="T9" fmla="*/ 60 h 60"/>
                  <a:gd name="T10" fmla="*/ 30 w 60"/>
                  <a:gd name="T11" fmla="*/ 12 h 60"/>
                  <a:gd name="T12" fmla="*/ 12 w 60"/>
                  <a:gd name="T13" fmla="*/ 30 h 60"/>
                  <a:gd name="T14" fmla="*/ 30 w 60"/>
                  <a:gd name="T15" fmla="*/ 48 h 60"/>
                  <a:gd name="T16" fmla="*/ 48 w 60"/>
                  <a:gd name="T17" fmla="*/ 30 h 60"/>
                  <a:gd name="T18" fmla="*/ 30 w 60"/>
                  <a:gd name="T19" fmla="*/ 1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0" h="60">
                    <a:moveTo>
                      <a:pt x="30" y="60"/>
                    </a:moveTo>
                    <a:cubicBezTo>
                      <a:pt x="13" y="60"/>
                      <a:pt x="0" y="47"/>
                      <a:pt x="0" y="30"/>
                    </a:cubicBezTo>
                    <a:cubicBezTo>
                      <a:pt x="0" y="14"/>
                      <a:pt x="13" y="0"/>
                      <a:pt x="30" y="0"/>
                    </a:cubicBezTo>
                    <a:cubicBezTo>
                      <a:pt x="46" y="0"/>
                      <a:pt x="60" y="14"/>
                      <a:pt x="60" y="30"/>
                    </a:cubicBezTo>
                    <a:cubicBezTo>
                      <a:pt x="60" y="47"/>
                      <a:pt x="46" y="60"/>
                      <a:pt x="30" y="60"/>
                    </a:cubicBezTo>
                    <a:close/>
                    <a:moveTo>
                      <a:pt x="30" y="12"/>
                    </a:moveTo>
                    <a:cubicBezTo>
                      <a:pt x="20" y="12"/>
                      <a:pt x="12" y="20"/>
                      <a:pt x="12" y="30"/>
                    </a:cubicBezTo>
                    <a:cubicBezTo>
                      <a:pt x="12" y="40"/>
                      <a:pt x="20" y="48"/>
                      <a:pt x="30" y="48"/>
                    </a:cubicBezTo>
                    <a:cubicBezTo>
                      <a:pt x="40" y="48"/>
                      <a:pt x="48" y="40"/>
                      <a:pt x="48" y="30"/>
                    </a:cubicBezTo>
                    <a:cubicBezTo>
                      <a:pt x="48" y="20"/>
                      <a:pt x="40" y="12"/>
                      <a:pt x="3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</p:grpSp>
      </p:grpSp>
      <p:grpSp>
        <p:nvGrpSpPr>
          <p:cNvPr id="491" name="Group 490">
            <a:extLst>
              <a:ext uri="{FF2B5EF4-FFF2-40B4-BE49-F238E27FC236}">
                <a16:creationId xmlns:a16="http://schemas.microsoft.com/office/drawing/2014/main" id="{5E5124A1-8B3D-D399-4E19-257907F8D4AC}"/>
              </a:ext>
            </a:extLst>
          </p:cNvPr>
          <p:cNvGrpSpPr/>
          <p:nvPr/>
        </p:nvGrpSpPr>
        <p:grpSpPr>
          <a:xfrm>
            <a:off x="5213011" y="3645453"/>
            <a:ext cx="365760" cy="365760"/>
            <a:chOff x="-1580494" y="2486722"/>
            <a:chExt cx="365760" cy="365760"/>
          </a:xfrm>
        </p:grpSpPr>
        <p:sp>
          <p:nvSpPr>
            <p:cNvPr id="492" name="Oval 491">
              <a:extLst>
                <a:ext uri="{FF2B5EF4-FFF2-40B4-BE49-F238E27FC236}">
                  <a16:creationId xmlns:a16="http://schemas.microsoft.com/office/drawing/2014/main" id="{A8239E2F-A5E4-D9DD-29D1-231B54D79100}"/>
                </a:ext>
              </a:extLst>
            </p:cNvPr>
            <p:cNvSpPr/>
            <p:nvPr/>
          </p:nvSpPr>
          <p:spPr>
            <a:xfrm>
              <a:off x="-1580494" y="2486722"/>
              <a:ext cx="365760" cy="365760"/>
            </a:xfrm>
            <a:prstGeom prst="ellipse">
              <a:avLst/>
            </a:prstGeom>
            <a:solidFill>
              <a:srgbClr val="D507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grpSp>
          <p:nvGrpSpPr>
            <p:cNvPr id="493" name="Group 492">
              <a:extLst>
                <a:ext uri="{FF2B5EF4-FFF2-40B4-BE49-F238E27FC236}">
                  <a16:creationId xmlns:a16="http://schemas.microsoft.com/office/drawing/2014/main" id="{E3D44770-6A35-4302-2008-EBF38DFC982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-1480055" y="2531495"/>
              <a:ext cx="164883" cy="276214"/>
              <a:chOff x="579438" y="3989388"/>
              <a:chExt cx="371475" cy="622300"/>
            </a:xfrm>
            <a:solidFill>
              <a:schemeClr val="bg1"/>
            </a:solidFill>
          </p:grpSpPr>
          <p:sp>
            <p:nvSpPr>
              <p:cNvPr id="494" name="Freeform 9">
                <a:extLst>
                  <a:ext uri="{FF2B5EF4-FFF2-40B4-BE49-F238E27FC236}">
                    <a16:creationId xmlns:a16="http://schemas.microsoft.com/office/drawing/2014/main" id="{5D5CDC0C-A919-C5A8-F265-84993E916BB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9438" y="3989388"/>
                <a:ext cx="371475" cy="622300"/>
              </a:xfrm>
              <a:custGeom>
                <a:avLst/>
                <a:gdLst>
                  <a:gd name="T0" fmla="*/ 46 w 56"/>
                  <a:gd name="T1" fmla="*/ 0 h 96"/>
                  <a:gd name="T2" fmla="*/ 10 w 56"/>
                  <a:gd name="T3" fmla="*/ 0 h 96"/>
                  <a:gd name="T4" fmla="*/ 0 w 56"/>
                  <a:gd name="T5" fmla="*/ 10 h 96"/>
                  <a:gd name="T6" fmla="*/ 0 w 56"/>
                  <a:gd name="T7" fmla="*/ 86 h 96"/>
                  <a:gd name="T8" fmla="*/ 10 w 56"/>
                  <a:gd name="T9" fmla="*/ 96 h 96"/>
                  <a:gd name="T10" fmla="*/ 46 w 56"/>
                  <a:gd name="T11" fmla="*/ 96 h 96"/>
                  <a:gd name="T12" fmla="*/ 56 w 56"/>
                  <a:gd name="T13" fmla="*/ 86 h 96"/>
                  <a:gd name="T14" fmla="*/ 56 w 56"/>
                  <a:gd name="T15" fmla="*/ 10 h 96"/>
                  <a:gd name="T16" fmla="*/ 46 w 56"/>
                  <a:gd name="T17" fmla="*/ 0 h 96"/>
                  <a:gd name="T18" fmla="*/ 4 w 56"/>
                  <a:gd name="T19" fmla="*/ 20 h 96"/>
                  <a:gd name="T20" fmla="*/ 52 w 56"/>
                  <a:gd name="T21" fmla="*/ 20 h 96"/>
                  <a:gd name="T22" fmla="*/ 52 w 56"/>
                  <a:gd name="T23" fmla="*/ 76 h 96"/>
                  <a:gd name="T24" fmla="*/ 4 w 56"/>
                  <a:gd name="T25" fmla="*/ 76 h 96"/>
                  <a:gd name="T26" fmla="*/ 4 w 56"/>
                  <a:gd name="T27" fmla="*/ 20 h 96"/>
                  <a:gd name="T28" fmla="*/ 10 w 56"/>
                  <a:gd name="T29" fmla="*/ 4 h 96"/>
                  <a:gd name="T30" fmla="*/ 46 w 56"/>
                  <a:gd name="T31" fmla="*/ 4 h 96"/>
                  <a:gd name="T32" fmla="*/ 52 w 56"/>
                  <a:gd name="T33" fmla="*/ 10 h 96"/>
                  <a:gd name="T34" fmla="*/ 52 w 56"/>
                  <a:gd name="T35" fmla="*/ 16 h 96"/>
                  <a:gd name="T36" fmla="*/ 4 w 56"/>
                  <a:gd name="T37" fmla="*/ 16 h 96"/>
                  <a:gd name="T38" fmla="*/ 4 w 56"/>
                  <a:gd name="T39" fmla="*/ 10 h 96"/>
                  <a:gd name="T40" fmla="*/ 10 w 56"/>
                  <a:gd name="T41" fmla="*/ 4 h 96"/>
                  <a:gd name="T42" fmla="*/ 46 w 56"/>
                  <a:gd name="T43" fmla="*/ 92 h 96"/>
                  <a:gd name="T44" fmla="*/ 10 w 56"/>
                  <a:gd name="T45" fmla="*/ 92 h 96"/>
                  <a:gd name="T46" fmla="*/ 4 w 56"/>
                  <a:gd name="T47" fmla="*/ 86 h 96"/>
                  <a:gd name="T48" fmla="*/ 4 w 56"/>
                  <a:gd name="T49" fmla="*/ 80 h 96"/>
                  <a:gd name="T50" fmla="*/ 52 w 56"/>
                  <a:gd name="T51" fmla="*/ 80 h 96"/>
                  <a:gd name="T52" fmla="*/ 52 w 56"/>
                  <a:gd name="T53" fmla="*/ 86 h 96"/>
                  <a:gd name="T54" fmla="*/ 46 w 56"/>
                  <a:gd name="T55" fmla="*/ 9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56" h="96">
                    <a:moveTo>
                      <a:pt x="46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0" y="92"/>
                      <a:pt x="4" y="96"/>
                      <a:pt x="10" y="96"/>
                    </a:cubicBezTo>
                    <a:cubicBezTo>
                      <a:pt x="46" y="96"/>
                      <a:pt x="46" y="96"/>
                      <a:pt x="46" y="96"/>
                    </a:cubicBezTo>
                    <a:cubicBezTo>
                      <a:pt x="52" y="96"/>
                      <a:pt x="56" y="92"/>
                      <a:pt x="56" y="86"/>
                    </a:cubicBezTo>
                    <a:cubicBezTo>
                      <a:pt x="56" y="10"/>
                      <a:pt x="56" y="10"/>
                      <a:pt x="56" y="10"/>
                    </a:cubicBezTo>
                    <a:cubicBezTo>
                      <a:pt x="56" y="4"/>
                      <a:pt x="52" y="0"/>
                      <a:pt x="46" y="0"/>
                    </a:cubicBezTo>
                    <a:close/>
                    <a:moveTo>
                      <a:pt x="4" y="20"/>
                    </a:moveTo>
                    <a:cubicBezTo>
                      <a:pt x="52" y="20"/>
                      <a:pt x="52" y="20"/>
                      <a:pt x="52" y="20"/>
                    </a:cubicBezTo>
                    <a:cubicBezTo>
                      <a:pt x="52" y="76"/>
                      <a:pt x="52" y="76"/>
                      <a:pt x="52" y="76"/>
                    </a:cubicBezTo>
                    <a:cubicBezTo>
                      <a:pt x="4" y="76"/>
                      <a:pt x="4" y="76"/>
                      <a:pt x="4" y="76"/>
                    </a:cubicBezTo>
                    <a:lnTo>
                      <a:pt x="4" y="20"/>
                    </a:lnTo>
                    <a:close/>
                    <a:moveTo>
                      <a:pt x="10" y="4"/>
                    </a:moveTo>
                    <a:cubicBezTo>
                      <a:pt x="46" y="4"/>
                      <a:pt x="46" y="4"/>
                      <a:pt x="46" y="4"/>
                    </a:cubicBezTo>
                    <a:cubicBezTo>
                      <a:pt x="49" y="4"/>
                      <a:pt x="52" y="7"/>
                      <a:pt x="52" y="10"/>
                    </a:cubicBezTo>
                    <a:cubicBezTo>
                      <a:pt x="52" y="16"/>
                      <a:pt x="52" y="16"/>
                      <a:pt x="52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lose/>
                    <a:moveTo>
                      <a:pt x="46" y="92"/>
                    </a:moveTo>
                    <a:cubicBezTo>
                      <a:pt x="10" y="92"/>
                      <a:pt x="10" y="92"/>
                      <a:pt x="10" y="92"/>
                    </a:cubicBezTo>
                    <a:cubicBezTo>
                      <a:pt x="7" y="92"/>
                      <a:pt x="4" y="89"/>
                      <a:pt x="4" y="86"/>
                    </a:cubicBezTo>
                    <a:cubicBezTo>
                      <a:pt x="4" y="80"/>
                      <a:pt x="4" y="80"/>
                      <a:pt x="4" y="80"/>
                    </a:cubicBezTo>
                    <a:cubicBezTo>
                      <a:pt x="52" y="80"/>
                      <a:pt x="52" y="80"/>
                      <a:pt x="52" y="80"/>
                    </a:cubicBezTo>
                    <a:cubicBezTo>
                      <a:pt x="52" y="86"/>
                      <a:pt x="52" y="86"/>
                      <a:pt x="52" y="86"/>
                    </a:cubicBezTo>
                    <a:cubicBezTo>
                      <a:pt x="52" y="89"/>
                      <a:pt x="49" y="92"/>
                      <a:pt x="46" y="9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495" name="Freeform 10">
                <a:extLst>
                  <a:ext uri="{FF2B5EF4-FFF2-40B4-BE49-F238E27FC236}">
                    <a16:creationId xmlns:a16="http://schemas.microsoft.com/office/drawing/2014/main" id="{D45168B5-E9EF-48EF-BEDE-C22E4D55E2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5800" y="4041775"/>
                <a:ext cx="158750" cy="25400"/>
              </a:xfrm>
              <a:custGeom>
                <a:avLst/>
                <a:gdLst>
                  <a:gd name="T0" fmla="*/ 2 w 24"/>
                  <a:gd name="T1" fmla="*/ 4 h 4"/>
                  <a:gd name="T2" fmla="*/ 22 w 24"/>
                  <a:gd name="T3" fmla="*/ 4 h 4"/>
                  <a:gd name="T4" fmla="*/ 24 w 24"/>
                  <a:gd name="T5" fmla="*/ 2 h 4"/>
                  <a:gd name="T6" fmla="*/ 22 w 24"/>
                  <a:gd name="T7" fmla="*/ 0 h 4"/>
                  <a:gd name="T8" fmla="*/ 2 w 24"/>
                  <a:gd name="T9" fmla="*/ 0 h 4"/>
                  <a:gd name="T10" fmla="*/ 0 w 24"/>
                  <a:gd name="T11" fmla="*/ 2 h 4"/>
                  <a:gd name="T12" fmla="*/ 2 w 24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4">
                    <a:moveTo>
                      <a:pt x="2" y="4"/>
                    </a:moveTo>
                    <a:cubicBezTo>
                      <a:pt x="22" y="4"/>
                      <a:pt x="22" y="4"/>
                      <a:pt x="22" y="4"/>
                    </a:cubicBezTo>
                    <a:cubicBezTo>
                      <a:pt x="23" y="4"/>
                      <a:pt x="24" y="3"/>
                      <a:pt x="24" y="2"/>
                    </a:cubicBezTo>
                    <a:cubicBezTo>
                      <a:pt x="24" y="1"/>
                      <a:pt x="23" y="0"/>
                      <a:pt x="2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496" name="Freeform 11">
                <a:extLst>
                  <a:ext uri="{FF2B5EF4-FFF2-40B4-BE49-F238E27FC236}">
                    <a16:creationId xmlns:a16="http://schemas.microsoft.com/office/drawing/2014/main" id="{BCCD844F-C87B-583C-C8CC-C82F3B2F8DC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8188" y="4521200"/>
                <a:ext cx="53975" cy="52388"/>
              </a:xfrm>
              <a:custGeom>
                <a:avLst/>
                <a:gdLst>
                  <a:gd name="T0" fmla="*/ 4 w 8"/>
                  <a:gd name="T1" fmla="*/ 0 h 8"/>
                  <a:gd name="T2" fmla="*/ 0 w 8"/>
                  <a:gd name="T3" fmla="*/ 4 h 8"/>
                  <a:gd name="T4" fmla="*/ 4 w 8"/>
                  <a:gd name="T5" fmla="*/ 8 h 8"/>
                  <a:gd name="T6" fmla="*/ 8 w 8"/>
                  <a:gd name="T7" fmla="*/ 4 h 8"/>
                  <a:gd name="T8" fmla="*/ 4 w 8"/>
                  <a:gd name="T9" fmla="*/ 0 h 8"/>
                  <a:gd name="T10" fmla="*/ 4 w 8"/>
                  <a:gd name="T11" fmla="*/ 6 h 8"/>
                  <a:gd name="T12" fmla="*/ 4 w 8"/>
                  <a:gd name="T13" fmla="*/ 4 h 8"/>
                  <a:gd name="T14" fmla="*/ 4 w 8"/>
                  <a:gd name="T15" fmla="*/ 4 h 8"/>
                  <a:gd name="T16" fmla="*/ 4 w 8"/>
                  <a:gd name="T17" fmla="*/ 6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" h="8">
                    <a:moveTo>
                      <a:pt x="4" y="0"/>
                    </a:move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2" y="8"/>
                      <a:pt x="4" y="8"/>
                    </a:cubicBezTo>
                    <a:cubicBezTo>
                      <a:pt x="6" y="8"/>
                      <a:pt x="8" y="6"/>
                      <a:pt x="8" y="4"/>
                    </a:cubicBezTo>
                    <a:cubicBezTo>
                      <a:pt x="8" y="2"/>
                      <a:pt x="6" y="0"/>
                      <a:pt x="4" y="0"/>
                    </a:cubicBezTo>
                    <a:close/>
                    <a:moveTo>
                      <a:pt x="4" y="6"/>
                    </a:move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lnTo>
                      <a:pt x="4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497" name="Freeform 12">
                <a:extLst>
                  <a:ext uri="{FF2B5EF4-FFF2-40B4-BE49-F238E27FC236}">
                    <a16:creationId xmlns:a16="http://schemas.microsoft.com/office/drawing/2014/main" id="{7BBA4530-0693-CD43-4E1C-737AAA5DC8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813" y="4171950"/>
                <a:ext cx="212725" cy="25400"/>
              </a:xfrm>
              <a:custGeom>
                <a:avLst/>
                <a:gdLst>
                  <a:gd name="T0" fmla="*/ 2 w 32"/>
                  <a:gd name="T1" fmla="*/ 4 h 4"/>
                  <a:gd name="T2" fmla="*/ 30 w 32"/>
                  <a:gd name="T3" fmla="*/ 4 h 4"/>
                  <a:gd name="T4" fmla="*/ 32 w 32"/>
                  <a:gd name="T5" fmla="*/ 2 h 4"/>
                  <a:gd name="T6" fmla="*/ 30 w 32"/>
                  <a:gd name="T7" fmla="*/ 0 h 4"/>
                  <a:gd name="T8" fmla="*/ 2 w 32"/>
                  <a:gd name="T9" fmla="*/ 0 h 4"/>
                  <a:gd name="T10" fmla="*/ 0 w 32"/>
                  <a:gd name="T11" fmla="*/ 2 h 4"/>
                  <a:gd name="T12" fmla="*/ 2 w 3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4">
                    <a:moveTo>
                      <a:pt x="2" y="4"/>
                    </a:moveTo>
                    <a:cubicBezTo>
                      <a:pt x="30" y="4"/>
                      <a:pt x="30" y="4"/>
                      <a:pt x="30" y="4"/>
                    </a:cubicBezTo>
                    <a:cubicBezTo>
                      <a:pt x="31" y="4"/>
                      <a:pt x="32" y="3"/>
                      <a:pt x="32" y="2"/>
                    </a:cubicBezTo>
                    <a:cubicBezTo>
                      <a:pt x="32" y="1"/>
                      <a:pt x="31" y="0"/>
                      <a:pt x="30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498" name="Freeform 13">
                <a:extLst>
                  <a:ext uri="{FF2B5EF4-FFF2-40B4-BE49-F238E27FC236}">
                    <a16:creationId xmlns:a16="http://schemas.microsoft.com/office/drawing/2014/main" id="{1BF919E8-C702-1ED3-0445-4771CABA75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813" y="4222750"/>
                <a:ext cx="212725" cy="26988"/>
              </a:xfrm>
              <a:custGeom>
                <a:avLst/>
                <a:gdLst>
                  <a:gd name="T0" fmla="*/ 30 w 32"/>
                  <a:gd name="T1" fmla="*/ 0 h 4"/>
                  <a:gd name="T2" fmla="*/ 2 w 32"/>
                  <a:gd name="T3" fmla="*/ 0 h 4"/>
                  <a:gd name="T4" fmla="*/ 0 w 32"/>
                  <a:gd name="T5" fmla="*/ 2 h 4"/>
                  <a:gd name="T6" fmla="*/ 2 w 32"/>
                  <a:gd name="T7" fmla="*/ 4 h 4"/>
                  <a:gd name="T8" fmla="*/ 30 w 32"/>
                  <a:gd name="T9" fmla="*/ 4 h 4"/>
                  <a:gd name="T10" fmla="*/ 32 w 32"/>
                  <a:gd name="T11" fmla="*/ 2 h 4"/>
                  <a:gd name="T12" fmla="*/ 30 w 32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4">
                    <a:moveTo>
                      <a:pt x="30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1" y="4"/>
                      <a:pt x="32" y="3"/>
                      <a:pt x="32" y="2"/>
                    </a:cubicBezTo>
                    <a:cubicBezTo>
                      <a:pt x="32" y="1"/>
                      <a:pt x="31" y="0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499" name="Freeform 14">
                <a:extLst>
                  <a:ext uri="{FF2B5EF4-FFF2-40B4-BE49-F238E27FC236}">
                    <a16:creationId xmlns:a16="http://schemas.microsoft.com/office/drawing/2014/main" id="{F9C8EF7E-18B1-4B73-FB4D-EE4C7821AC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813" y="4275138"/>
                <a:ext cx="212725" cy="25400"/>
              </a:xfrm>
              <a:custGeom>
                <a:avLst/>
                <a:gdLst>
                  <a:gd name="T0" fmla="*/ 30 w 32"/>
                  <a:gd name="T1" fmla="*/ 0 h 4"/>
                  <a:gd name="T2" fmla="*/ 2 w 32"/>
                  <a:gd name="T3" fmla="*/ 0 h 4"/>
                  <a:gd name="T4" fmla="*/ 0 w 32"/>
                  <a:gd name="T5" fmla="*/ 2 h 4"/>
                  <a:gd name="T6" fmla="*/ 2 w 32"/>
                  <a:gd name="T7" fmla="*/ 4 h 4"/>
                  <a:gd name="T8" fmla="*/ 30 w 32"/>
                  <a:gd name="T9" fmla="*/ 4 h 4"/>
                  <a:gd name="T10" fmla="*/ 32 w 32"/>
                  <a:gd name="T11" fmla="*/ 2 h 4"/>
                  <a:gd name="T12" fmla="*/ 30 w 32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4">
                    <a:moveTo>
                      <a:pt x="30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1" y="4"/>
                      <a:pt x="32" y="3"/>
                      <a:pt x="32" y="2"/>
                    </a:cubicBezTo>
                    <a:cubicBezTo>
                      <a:pt x="32" y="1"/>
                      <a:pt x="31" y="0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00" name="Freeform 15">
                <a:extLst>
                  <a:ext uri="{FF2B5EF4-FFF2-40B4-BE49-F238E27FC236}">
                    <a16:creationId xmlns:a16="http://schemas.microsoft.com/office/drawing/2014/main" id="{2BC20733-33FB-E91E-AA1D-6C7F947FE2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813" y="4325938"/>
                <a:ext cx="212725" cy="26988"/>
              </a:xfrm>
              <a:custGeom>
                <a:avLst/>
                <a:gdLst>
                  <a:gd name="T0" fmla="*/ 30 w 32"/>
                  <a:gd name="T1" fmla="*/ 0 h 4"/>
                  <a:gd name="T2" fmla="*/ 2 w 32"/>
                  <a:gd name="T3" fmla="*/ 0 h 4"/>
                  <a:gd name="T4" fmla="*/ 0 w 32"/>
                  <a:gd name="T5" fmla="*/ 2 h 4"/>
                  <a:gd name="T6" fmla="*/ 2 w 32"/>
                  <a:gd name="T7" fmla="*/ 4 h 4"/>
                  <a:gd name="T8" fmla="*/ 30 w 32"/>
                  <a:gd name="T9" fmla="*/ 4 h 4"/>
                  <a:gd name="T10" fmla="*/ 32 w 32"/>
                  <a:gd name="T11" fmla="*/ 2 h 4"/>
                  <a:gd name="T12" fmla="*/ 30 w 32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4">
                    <a:moveTo>
                      <a:pt x="30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1" y="4"/>
                      <a:pt x="32" y="3"/>
                      <a:pt x="32" y="2"/>
                    </a:cubicBezTo>
                    <a:cubicBezTo>
                      <a:pt x="32" y="1"/>
                      <a:pt x="31" y="0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01" name="Freeform 16">
                <a:extLst>
                  <a:ext uri="{FF2B5EF4-FFF2-40B4-BE49-F238E27FC236}">
                    <a16:creationId xmlns:a16="http://schemas.microsoft.com/office/drawing/2014/main" id="{60710D31-C608-61DC-AE76-6FF41AB28F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813" y="4378325"/>
                <a:ext cx="133350" cy="25400"/>
              </a:xfrm>
              <a:custGeom>
                <a:avLst/>
                <a:gdLst>
                  <a:gd name="T0" fmla="*/ 18 w 20"/>
                  <a:gd name="T1" fmla="*/ 0 h 4"/>
                  <a:gd name="T2" fmla="*/ 2 w 20"/>
                  <a:gd name="T3" fmla="*/ 0 h 4"/>
                  <a:gd name="T4" fmla="*/ 0 w 20"/>
                  <a:gd name="T5" fmla="*/ 2 h 4"/>
                  <a:gd name="T6" fmla="*/ 2 w 20"/>
                  <a:gd name="T7" fmla="*/ 4 h 4"/>
                  <a:gd name="T8" fmla="*/ 18 w 20"/>
                  <a:gd name="T9" fmla="*/ 4 h 4"/>
                  <a:gd name="T10" fmla="*/ 20 w 20"/>
                  <a:gd name="T11" fmla="*/ 2 h 4"/>
                  <a:gd name="T12" fmla="*/ 18 w 20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4">
                    <a:moveTo>
                      <a:pt x="18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9" y="4"/>
                      <a:pt x="20" y="3"/>
                      <a:pt x="20" y="2"/>
                    </a:cubicBezTo>
                    <a:cubicBezTo>
                      <a:pt x="20" y="1"/>
                      <a:pt x="19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</p:grpSp>
      </p:grp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0F66B48B-D06B-DF68-10D6-1D5D5E8DD0A8}"/>
              </a:ext>
            </a:extLst>
          </p:cNvPr>
          <p:cNvGrpSpPr/>
          <p:nvPr/>
        </p:nvGrpSpPr>
        <p:grpSpPr>
          <a:xfrm>
            <a:off x="5223902" y="4938542"/>
            <a:ext cx="365760" cy="365760"/>
            <a:chOff x="-1558404" y="3276778"/>
            <a:chExt cx="365760" cy="365760"/>
          </a:xfrm>
        </p:grpSpPr>
        <p:sp>
          <p:nvSpPr>
            <p:cNvPr id="503" name="Oval 502">
              <a:extLst>
                <a:ext uri="{FF2B5EF4-FFF2-40B4-BE49-F238E27FC236}">
                  <a16:creationId xmlns:a16="http://schemas.microsoft.com/office/drawing/2014/main" id="{23C739A9-B1EE-02D1-B291-832F9C5483B6}"/>
                </a:ext>
              </a:extLst>
            </p:cNvPr>
            <p:cNvSpPr/>
            <p:nvPr/>
          </p:nvSpPr>
          <p:spPr>
            <a:xfrm>
              <a:off x="-1558404" y="3276778"/>
              <a:ext cx="365760" cy="365760"/>
            </a:xfrm>
            <a:prstGeom prst="ellipse">
              <a:avLst/>
            </a:prstGeom>
            <a:solidFill>
              <a:srgbClr val="D507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grpSp>
          <p:nvGrpSpPr>
            <p:cNvPr id="504" name="Group 199">
              <a:extLst>
                <a:ext uri="{FF2B5EF4-FFF2-40B4-BE49-F238E27FC236}">
                  <a16:creationId xmlns:a16="http://schemas.microsoft.com/office/drawing/2014/main" id="{4E063590-FA37-85E0-DD85-70EE5114586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-1502145" y="3343710"/>
              <a:ext cx="253243" cy="231897"/>
              <a:chOff x="3435" y="3010"/>
              <a:chExt cx="427" cy="391"/>
            </a:xfrm>
            <a:solidFill>
              <a:schemeClr val="bg1"/>
            </a:solidFill>
          </p:grpSpPr>
          <p:sp>
            <p:nvSpPr>
              <p:cNvPr id="505" name="Freeform 200">
                <a:extLst>
                  <a:ext uri="{FF2B5EF4-FFF2-40B4-BE49-F238E27FC236}">
                    <a16:creationId xmlns:a16="http://schemas.microsoft.com/office/drawing/2014/main" id="{6D02EE64-6D2E-D41E-C747-027405747AF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35" y="3010"/>
                <a:ext cx="427" cy="391"/>
              </a:xfrm>
              <a:custGeom>
                <a:avLst/>
                <a:gdLst>
                  <a:gd name="T0" fmla="*/ 258 w 288"/>
                  <a:gd name="T1" fmla="*/ 264 h 264"/>
                  <a:gd name="T2" fmla="*/ 30 w 288"/>
                  <a:gd name="T3" fmla="*/ 264 h 264"/>
                  <a:gd name="T4" fmla="*/ 0 w 288"/>
                  <a:gd name="T5" fmla="*/ 234 h 264"/>
                  <a:gd name="T6" fmla="*/ 0 w 288"/>
                  <a:gd name="T7" fmla="*/ 30 h 264"/>
                  <a:gd name="T8" fmla="*/ 30 w 288"/>
                  <a:gd name="T9" fmla="*/ 0 h 264"/>
                  <a:gd name="T10" fmla="*/ 258 w 288"/>
                  <a:gd name="T11" fmla="*/ 0 h 264"/>
                  <a:gd name="T12" fmla="*/ 288 w 288"/>
                  <a:gd name="T13" fmla="*/ 30 h 264"/>
                  <a:gd name="T14" fmla="*/ 288 w 288"/>
                  <a:gd name="T15" fmla="*/ 234 h 264"/>
                  <a:gd name="T16" fmla="*/ 258 w 288"/>
                  <a:gd name="T17" fmla="*/ 264 h 264"/>
                  <a:gd name="T18" fmla="*/ 30 w 288"/>
                  <a:gd name="T19" fmla="*/ 12 h 264"/>
                  <a:gd name="T20" fmla="*/ 12 w 288"/>
                  <a:gd name="T21" fmla="*/ 30 h 264"/>
                  <a:gd name="T22" fmla="*/ 12 w 288"/>
                  <a:gd name="T23" fmla="*/ 234 h 264"/>
                  <a:gd name="T24" fmla="*/ 30 w 288"/>
                  <a:gd name="T25" fmla="*/ 252 h 264"/>
                  <a:gd name="T26" fmla="*/ 258 w 288"/>
                  <a:gd name="T27" fmla="*/ 252 h 264"/>
                  <a:gd name="T28" fmla="*/ 276 w 288"/>
                  <a:gd name="T29" fmla="*/ 234 h 264"/>
                  <a:gd name="T30" fmla="*/ 276 w 288"/>
                  <a:gd name="T31" fmla="*/ 30 h 264"/>
                  <a:gd name="T32" fmla="*/ 258 w 288"/>
                  <a:gd name="T33" fmla="*/ 12 h 264"/>
                  <a:gd name="T34" fmla="*/ 30 w 288"/>
                  <a:gd name="T35" fmla="*/ 12 h 2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88" h="264">
                    <a:moveTo>
                      <a:pt x="258" y="264"/>
                    </a:moveTo>
                    <a:cubicBezTo>
                      <a:pt x="30" y="264"/>
                      <a:pt x="30" y="264"/>
                      <a:pt x="30" y="264"/>
                    </a:cubicBezTo>
                    <a:cubicBezTo>
                      <a:pt x="14" y="264"/>
                      <a:pt x="0" y="251"/>
                      <a:pt x="0" y="234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13"/>
                      <a:pt x="14" y="0"/>
                      <a:pt x="30" y="0"/>
                    </a:cubicBezTo>
                    <a:cubicBezTo>
                      <a:pt x="258" y="0"/>
                      <a:pt x="258" y="0"/>
                      <a:pt x="258" y="0"/>
                    </a:cubicBezTo>
                    <a:cubicBezTo>
                      <a:pt x="275" y="0"/>
                      <a:pt x="288" y="13"/>
                      <a:pt x="288" y="30"/>
                    </a:cubicBezTo>
                    <a:cubicBezTo>
                      <a:pt x="288" y="234"/>
                      <a:pt x="288" y="234"/>
                      <a:pt x="288" y="234"/>
                    </a:cubicBezTo>
                    <a:cubicBezTo>
                      <a:pt x="288" y="251"/>
                      <a:pt x="275" y="264"/>
                      <a:pt x="258" y="264"/>
                    </a:cubicBezTo>
                    <a:close/>
                    <a:moveTo>
                      <a:pt x="30" y="12"/>
                    </a:moveTo>
                    <a:cubicBezTo>
                      <a:pt x="21" y="12"/>
                      <a:pt x="12" y="20"/>
                      <a:pt x="12" y="30"/>
                    </a:cubicBezTo>
                    <a:cubicBezTo>
                      <a:pt x="12" y="234"/>
                      <a:pt x="12" y="234"/>
                      <a:pt x="12" y="234"/>
                    </a:cubicBezTo>
                    <a:cubicBezTo>
                      <a:pt x="12" y="244"/>
                      <a:pt x="21" y="252"/>
                      <a:pt x="30" y="252"/>
                    </a:cubicBezTo>
                    <a:cubicBezTo>
                      <a:pt x="258" y="252"/>
                      <a:pt x="258" y="252"/>
                      <a:pt x="258" y="252"/>
                    </a:cubicBezTo>
                    <a:cubicBezTo>
                      <a:pt x="268" y="252"/>
                      <a:pt x="276" y="244"/>
                      <a:pt x="276" y="234"/>
                    </a:cubicBezTo>
                    <a:cubicBezTo>
                      <a:pt x="276" y="30"/>
                      <a:pt x="276" y="30"/>
                      <a:pt x="276" y="30"/>
                    </a:cubicBezTo>
                    <a:cubicBezTo>
                      <a:pt x="276" y="20"/>
                      <a:pt x="268" y="12"/>
                      <a:pt x="258" y="12"/>
                    </a:cubicBezTo>
                    <a:lnTo>
                      <a:pt x="30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06" name="Freeform 201">
                <a:extLst>
                  <a:ext uri="{FF2B5EF4-FFF2-40B4-BE49-F238E27FC236}">
                    <a16:creationId xmlns:a16="http://schemas.microsoft.com/office/drawing/2014/main" id="{2DD2C02C-9580-409A-1D8C-E6491B51EE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5" y="3099"/>
                <a:ext cx="427" cy="18"/>
              </a:xfrm>
              <a:custGeom>
                <a:avLst/>
                <a:gdLst>
                  <a:gd name="T0" fmla="*/ 282 w 288"/>
                  <a:gd name="T1" fmla="*/ 12 h 12"/>
                  <a:gd name="T2" fmla="*/ 6 w 288"/>
                  <a:gd name="T3" fmla="*/ 12 h 12"/>
                  <a:gd name="T4" fmla="*/ 0 w 288"/>
                  <a:gd name="T5" fmla="*/ 6 h 12"/>
                  <a:gd name="T6" fmla="*/ 6 w 288"/>
                  <a:gd name="T7" fmla="*/ 0 h 12"/>
                  <a:gd name="T8" fmla="*/ 282 w 288"/>
                  <a:gd name="T9" fmla="*/ 0 h 12"/>
                  <a:gd name="T10" fmla="*/ 288 w 288"/>
                  <a:gd name="T11" fmla="*/ 6 h 12"/>
                  <a:gd name="T12" fmla="*/ 282 w 288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8" h="12">
                    <a:moveTo>
                      <a:pt x="28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282" y="0"/>
                      <a:pt x="282" y="0"/>
                      <a:pt x="282" y="0"/>
                    </a:cubicBezTo>
                    <a:cubicBezTo>
                      <a:pt x="286" y="0"/>
                      <a:pt x="288" y="3"/>
                      <a:pt x="288" y="6"/>
                    </a:cubicBezTo>
                    <a:cubicBezTo>
                      <a:pt x="288" y="9"/>
                      <a:pt x="286" y="12"/>
                      <a:pt x="28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07" name="Oval 202">
                <a:extLst>
                  <a:ext uri="{FF2B5EF4-FFF2-40B4-BE49-F238E27FC236}">
                    <a16:creationId xmlns:a16="http://schemas.microsoft.com/office/drawing/2014/main" id="{F227F0D6-A526-4150-83AE-80BB90C320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89" y="3046"/>
                <a:ext cx="35" cy="3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08" name="Oval 203">
                <a:extLst>
                  <a:ext uri="{FF2B5EF4-FFF2-40B4-BE49-F238E27FC236}">
                    <a16:creationId xmlns:a16="http://schemas.microsoft.com/office/drawing/2014/main" id="{80CB3C27-30C2-399E-DCF6-03B6518EE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2" y="3046"/>
                <a:ext cx="36" cy="3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09" name="Oval 204">
                <a:extLst>
                  <a:ext uri="{FF2B5EF4-FFF2-40B4-BE49-F238E27FC236}">
                    <a16:creationId xmlns:a16="http://schemas.microsoft.com/office/drawing/2014/main" id="{B1AC2DE0-E2B3-E5EA-695F-96C6D3B2E8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95" y="3046"/>
                <a:ext cx="36" cy="3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10" name="Freeform 205">
                <a:extLst>
                  <a:ext uri="{FF2B5EF4-FFF2-40B4-BE49-F238E27FC236}">
                    <a16:creationId xmlns:a16="http://schemas.microsoft.com/office/drawing/2014/main" id="{DA124C8D-A355-0EE3-BEC4-0BC2C348C9B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80" y="3152"/>
                <a:ext cx="195" cy="196"/>
              </a:xfrm>
              <a:custGeom>
                <a:avLst/>
                <a:gdLst>
                  <a:gd name="T0" fmla="*/ 66 w 132"/>
                  <a:gd name="T1" fmla="*/ 132 h 132"/>
                  <a:gd name="T2" fmla="*/ 0 w 132"/>
                  <a:gd name="T3" fmla="*/ 66 h 132"/>
                  <a:gd name="T4" fmla="*/ 66 w 132"/>
                  <a:gd name="T5" fmla="*/ 0 h 132"/>
                  <a:gd name="T6" fmla="*/ 132 w 132"/>
                  <a:gd name="T7" fmla="*/ 66 h 132"/>
                  <a:gd name="T8" fmla="*/ 66 w 132"/>
                  <a:gd name="T9" fmla="*/ 132 h 132"/>
                  <a:gd name="T10" fmla="*/ 66 w 132"/>
                  <a:gd name="T11" fmla="*/ 12 h 132"/>
                  <a:gd name="T12" fmla="*/ 12 w 132"/>
                  <a:gd name="T13" fmla="*/ 66 h 132"/>
                  <a:gd name="T14" fmla="*/ 66 w 132"/>
                  <a:gd name="T15" fmla="*/ 120 h 132"/>
                  <a:gd name="T16" fmla="*/ 120 w 132"/>
                  <a:gd name="T17" fmla="*/ 66 h 132"/>
                  <a:gd name="T18" fmla="*/ 66 w 132"/>
                  <a:gd name="T19" fmla="*/ 12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2" h="132">
                    <a:moveTo>
                      <a:pt x="66" y="132"/>
                    </a:moveTo>
                    <a:cubicBezTo>
                      <a:pt x="30" y="132"/>
                      <a:pt x="0" y="102"/>
                      <a:pt x="0" y="66"/>
                    </a:cubicBezTo>
                    <a:cubicBezTo>
                      <a:pt x="0" y="30"/>
                      <a:pt x="30" y="0"/>
                      <a:pt x="66" y="0"/>
                    </a:cubicBezTo>
                    <a:cubicBezTo>
                      <a:pt x="103" y="0"/>
                      <a:pt x="132" y="30"/>
                      <a:pt x="132" y="66"/>
                    </a:cubicBezTo>
                    <a:cubicBezTo>
                      <a:pt x="132" y="102"/>
                      <a:pt x="103" y="132"/>
                      <a:pt x="66" y="132"/>
                    </a:cubicBezTo>
                    <a:close/>
                    <a:moveTo>
                      <a:pt x="66" y="12"/>
                    </a:moveTo>
                    <a:cubicBezTo>
                      <a:pt x="37" y="12"/>
                      <a:pt x="12" y="36"/>
                      <a:pt x="12" y="66"/>
                    </a:cubicBezTo>
                    <a:cubicBezTo>
                      <a:pt x="12" y="96"/>
                      <a:pt x="37" y="120"/>
                      <a:pt x="66" y="120"/>
                    </a:cubicBezTo>
                    <a:cubicBezTo>
                      <a:pt x="96" y="120"/>
                      <a:pt x="120" y="96"/>
                      <a:pt x="120" y="66"/>
                    </a:cubicBezTo>
                    <a:cubicBezTo>
                      <a:pt x="120" y="36"/>
                      <a:pt x="96" y="12"/>
                      <a:pt x="6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11" name="Freeform 206">
                <a:extLst>
                  <a:ext uri="{FF2B5EF4-FFF2-40B4-BE49-F238E27FC236}">
                    <a16:creationId xmlns:a16="http://schemas.microsoft.com/office/drawing/2014/main" id="{CA7E45D8-A722-F437-D3EC-48DA2E2806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9" y="3167"/>
                <a:ext cx="77" cy="160"/>
              </a:xfrm>
              <a:custGeom>
                <a:avLst/>
                <a:gdLst>
                  <a:gd name="T0" fmla="*/ 45 w 52"/>
                  <a:gd name="T1" fmla="*/ 108 h 108"/>
                  <a:gd name="T2" fmla="*/ 40 w 52"/>
                  <a:gd name="T3" fmla="*/ 106 h 108"/>
                  <a:gd name="T4" fmla="*/ 2 w 52"/>
                  <a:gd name="T5" fmla="*/ 60 h 108"/>
                  <a:gd name="T6" fmla="*/ 1 w 52"/>
                  <a:gd name="T7" fmla="*/ 53 h 108"/>
                  <a:gd name="T8" fmla="*/ 35 w 52"/>
                  <a:gd name="T9" fmla="*/ 3 h 108"/>
                  <a:gd name="T10" fmla="*/ 44 w 52"/>
                  <a:gd name="T11" fmla="*/ 2 h 108"/>
                  <a:gd name="T12" fmla="*/ 45 w 52"/>
                  <a:gd name="T13" fmla="*/ 10 h 108"/>
                  <a:gd name="T14" fmla="*/ 14 w 52"/>
                  <a:gd name="T15" fmla="*/ 56 h 108"/>
                  <a:gd name="T16" fmla="*/ 50 w 52"/>
                  <a:gd name="T17" fmla="*/ 98 h 108"/>
                  <a:gd name="T18" fmla="*/ 49 w 52"/>
                  <a:gd name="T19" fmla="*/ 107 h 108"/>
                  <a:gd name="T20" fmla="*/ 45 w 52"/>
                  <a:gd name="T21" fmla="*/ 108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2" h="108">
                    <a:moveTo>
                      <a:pt x="45" y="108"/>
                    </a:moveTo>
                    <a:cubicBezTo>
                      <a:pt x="43" y="108"/>
                      <a:pt x="41" y="107"/>
                      <a:pt x="40" y="106"/>
                    </a:cubicBezTo>
                    <a:cubicBezTo>
                      <a:pt x="2" y="60"/>
                      <a:pt x="2" y="60"/>
                      <a:pt x="2" y="60"/>
                    </a:cubicBezTo>
                    <a:cubicBezTo>
                      <a:pt x="0" y="58"/>
                      <a:pt x="0" y="55"/>
                      <a:pt x="1" y="5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7" y="0"/>
                      <a:pt x="41" y="0"/>
                      <a:pt x="44" y="2"/>
                    </a:cubicBezTo>
                    <a:cubicBezTo>
                      <a:pt x="46" y="3"/>
                      <a:pt x="47" y="7"/>
                      <a:pt x="45" y="10"/>
                    </a:cubicBezTo>
                    <a:cubicBezTo>
                      <a:pt x="14" y="56"/>
                      <a:pt x="14" y="56"/>
                      <a:pt x="14" y="56"/>
                    </a:cubicBezTo>
                    <a:cubicBezTo>
                      <a:pt x="50" y="98"/>
                      <a:pt x="50" y="98"/>
                      <a:pt x="50" y="98"/>
                    </a:cubicBezTo>
                    <a:cubicBezTo>
                      <a:pt x="52" y="101"/>
                      <a:pt x="51" y="105"/>
                      <a:pt x="49" y="107"/>
                    </a:cubicBezTo>
                    <a:cubicBezTo>
                      <a:pt x="48" y="108"/>
                      <a:pt x="46" y="108"/>
                      <a:pt x="45" y="1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12" name="Freeform 207">
                <a:extLst>
                  <a:ext uri="{FF2B5EF4-FFF2-40B4-BE49-F238E27FC236}">
                    <a16:creationId xmlns:a16="http://schemas.microsoft.com/office/drawing/2014/main" id="{38DB2776-FA01-23F4-0507-C7A43AF10E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0" y="3241"/>
                <a:ext cx="106" cy="18"/>
              </a:xfrm>
              <a:custGeom>
                <a:avLst/>
                <a:gdLst>
                  <a:gd name="T0" fmla="*/ 66 w 72"/>
                  <a:gd name="T1" fmla="*/ 12 h 12"/>
                  <a:gd name="T2" fmla="*/ 6 w 72"/>
                  <a:gd name="T3" fmla="*/ 12 h 12"/>
                  <a:gd name="T4" fmla="*/ 0 w 72"/>
                  <a:gd name="T5" fmla="*/ 6 h 12"/>
                  <a:gd name="T6" fmla="*/ 6 w 72"/>
                  <a:gd name="T7" fmla="*/ 0 h 12"/>
                  <a:gd name="T8" fmla="*/ 66 w 72"/>
                  <a:gd name="T9" fmla="*/ 0 h 12"/>
                  <a:gd name="T10" fmla="*/ 72 w 72"/>
                  <a:gd name="T11" fmla="*/ 6 h 12"/>
                  <a:gd name="T12" fmla="*/ 66 w 72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12">
                    <a:moveTo>
                      <a:pt x="6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66" y="0"/>
                      <a:pt x="66" y="0"/>
                      <a:pt x="66" y="0"/>
                    </a:cubicBezTo>
                    <a:cubicBezTo>
                      <a:pt x="70" y="0"/>
                      <a:pt x="72" y="3"/>
                      <a:pt x="72" y="6"/>
                    </a:cubicBezTo>
                    <a:cubicBezTo>
                      <a:pt x="72" y="9"/>
                      <a:pt x="70" y="12"/>
                      <a:pt x="6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13" name="Rectangle 208">
                <a:extLst>
                  <a:ext uri="{FF2B5EF4-FFF2-40B4-BE49-F238E27FC236}">
                    <a16:creationId xmlns:a16="http://schemas.microsoft.com/office/drawing/2014/main" id="{C48F6875-1933-BE96-C396-46BE195D74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2" y="3170"/>
                <a:ext cx="107" cy="1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14" name="Rectangle 209">
                <a:extLst>
                  <a:ext uri="{FF2B5EF4-FFF2-40B4-BE49-F238E27FC236}">
                    <a16:creationId xmlns:a16="http://schemas.microsoft.com/office/drawing/2014/main" id="{A65D3228-6B85-7AC8-24D3-7BC1E1D90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2" y="3223"/>
                <a:ext cx="107" cy="1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15" name="Rectangle 210">
                <a:extLst>
                  <a:ext uri="{FF2B5EF4-FFF2-40B4-BE49-F238E27FC236}">
                    <a16:creationId xmlns:a16="http://schemas.microsoft.com/office/drawing/2014/main" id="{5E5AFA44-010D-E79B-3CEC-DD01AB5920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2" y="3276"/>
                <a:ext cx="107" cy="1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</p:grpSp>
      </p:grpSp>
      <p:grpSp>
        <p:nvGrpSpPr>
          <p:cNvPr id="516" name="Group 515">
            <a:extLst>
              <a:ext uri="{FF2B5EF4-FFF2-40B4-BE49-F238E27FC236}">
                <a16:creationId xmlns:a16="http://schemas.microsoft.com/office/drawing/2014/main" id="{F31E4733-1D42-7EE6-CFBA-49A72209CFB4}"/>
              </a:ext>
            </a:extLst>
          </p:cNvPr>
          <p:cNvGrpSpPr/>
          <p:nvPr/>
        </p:nvGrpSpPr>
        <p:grpSpPr>
          <a:xfrm>
            <a:off x="6665190" y="3345371"/>
            <a:ext cx="365760" cy="365760"/>
            <a:chOff x="-1057941" y="906608"/>
            <a:chExt cx="365760" cy="365760"/>
          </a:xfrm>
        </p:grpSpPr>
        <p:sp>
          <p:nvSpPr>
            <p:cNvPr id="517" name="Oval 516">
              <a:extLst>
                <a:ext uri="{FF2B5EF4-FFF2-40B4-BE49-F238E27FC236}">
                  <a16:creationId xmlns:a16="http://schemas.microsoft.com/office/drawing/2014/main" id="{B5A89427-01E6-D2B3-A636-9493C70688DD}"/>
                </a:ext>
              </a:extLst>
            </p:cNvPr>
            <p:cNvSpPr/>
            <p:nvPr/>
          </p:nvSpPr>
          <p:spPr>
            <a:xfrm>
              <a:off x="-1057941" y="906608"/>
              <a:ext cx="365760" cy="365760"/>
            </a:xfrm>
            <a:prstGeom prst="ellipse">
              <a:avLst/>
            </a:prstGeom>
            <a:solidFill>
              <a:srgbClr val="00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grpSp>
          <p:nvGrpSpPr>
            <p:cNvPr id="518" name="Group 72">
              <a:extLst>
                <a:ext uri="{FF2B5EF4-FFF2-40B4-BE49-F238E27FC236}">
                  <a16:creationId xmlns:a16="http://schemas.microsoft.com/office/drawing/2014/main" id="{729AD00C-EF97-E5AF-65BF-8FAD35350AF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-970697" y="961473"/>
              <a:ext cx="191272" cy="256031"/>
              <a:chOff x="3489" y="1716"/>
              <a:chExt cx="319" cy="427"/>
            </a:xfrm>
            <a:solidFill>
              <a:schemeClr val="bg1"/>
            </a:solidFill>
          </p:grpSpPr>
          <p:sp>
            <p:nvSpPr>
              <p:cNvPr id="519" name="Freeform 73">
                <a:extLst>
                  <a:ext uri="{FF2B5EF4-FFF2-40B4-BE49-F238E27FC236}">
                    <a16:creationId xmlns:a16="http://schemas.microsoft.com/office/drawing/2014/main" id="{39329BD1-3312-0D16-1B2C-F44E9299CF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89" y="1716"/>
                <a:ext cx="319" cy="196"/>
              </a:xfrm>
              <a:custGeom>
                <a:avLst/>
                <a:gdLst>
                  <a:gd name="T0" fmla="*/ 41 w 216"/>
                  <a:gd name="T1" fmla="*/ 132 h 132"/>
                  <a:gd name="T2" fmla="*/ 10 w 216"/>
                  <a:gd name="T3" fmla="*/ 120 h 132"/>
                  <a:gd name="T4" fmla="*/ 0 w 216"/>
                  <a:gd name="T5" fmla="*/ 94 h 132"/>
                  <a:gd name="T6" fmla="*/ 14 w 216"/>
                  <a:gd name="T7" fmla="*/ 65 h 132"/>
                  <a:gd name="T8" fmla="*/ 41 w 216"/>
                  <a:gd name="T9" fmla="*/ 56 h 132"/>
                  <a:gd name="T10" fmla="*/ 108 w 216"/>
                  <a:gd name="T11" fmla="*/ 0 h 132"/>
                  <a:gd name="T12" fmla="*/ 168 w 216"/>
                  <a:gd name="T13" fmla="*/ 34 h 132"/>
                  <a:gd name="T14" fmla="*/ 201 w 216"/>
                  <a:gd name="T15" fmla="*/ 49 h 132"/>
                  <a:gd name="T16" fmla="*/ 216 w 216"/>
                  <a:gd name="T17" fmla="*/ 83 h 132"/>
                  <a:gd name="T18" fmla="*/ 171 w 216"/>
                  <a:gd name="T19" fmla="*/ 132 h 132"/>
                  <a:gd name="T20" fmla="*/ 170 w 216"/>
                  <a:gd name="T21" fmla="*/ 132 h 132"/>
                  <a:gd name="T22" fmla="*/ 41 w 216"/>
                  <a:gd name="T23" fmla="*/ 132 h 132"/>
                  <a:gd name="T24" fmla="*/ 41 w 216"/>
                  <a:gd name="T25" fmla="*/ 132 h 132"/>
                  <a:gd name="T26" fmla="*/ 39 w 216"/>
                  <a:gd name="T27" fmla="*/ 68 h 132"/>
                  <a:gd name="T28" fmla="*/ 21 w 216"/>
                  <a:gd name="T29" fmla="*/ 74 h 132"/>
                  <a:gd name="T30" fmla="*/ 12 w 216"/>
                  <a:gd name="T31" fmla="*/ 94 h 132"/>
                  <a:gd name="T32" fmla="*/ 18 w 216"/>
                  <a:gd name="T33" fmla="*/ 112 h 132"/>
                  <a:gd name="T34" fmla="*/ 41 w 216"/>
                  <a:gd name="T35" fmla="*/ 120 h 132"/>
                  <a:gd name="T36" fmla="*/ 170 w 216"/>
                  <a:gd name="T37" fmla="*/ 120 h 132"/>
                  <a:gd name="T38" fmla="*/ 204 w 216"/>
                  <a:gd name="T39" fmla="*/ 83 h 132"/>
                  <a:gd name="T40" fmla="*/ 193 w 216"/>
                  <a:gd name="T41" fmla="*/ 57 h 132"/>
                  <a:gd name="T42" fmla="*/ 164 w 216"/>
                  <a:gd name="T43" fmla="*/ 46 h 132"/>
                  <a:gd name="T44" fmla="*/ 159 w 216"/>
                  <a:gd name="T45" fmla="*/ 43 h 132"/>
                  <a:gd name="T46" fmla="*/ 108 w 216"/>
                  <a:gd name="T47" fmla="*/ 12 h 132"/>
                  <a:gd name="T48" fmla="*/ 52 w 216"/>
                  <a:gd name="T49" fmla="*/ 63 h 132"/>
                  <a:gd name="T50" fmla="*/ 50 w 216"/>
                  <a:gd name="T51" fmla="*/ 67 h 132"/>
                  <a:gd name="T52" fmla="*/ 45 w 216"/>
                  <a:gd name="T53" fmla="*/ 68 h 132"/>
                  <a:gd name="T54" fmla="*/ 39 w 216"/>
                  <a:gd name="T55" fmla="*/ 68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216" h="132">
                    <a:moveTo>
                      <a:pt x="41" y="132"/>
                    </a:moveTo>
                    <a:cubicBezTo>
                      <a:pt x="39" y="132"/>
                      <a:pt x="22" y="132"/>
                      <a:pt x="10" y="120"/>
                    </a:cubicBezTo>
                    <a:cubicBezTo>
                      <a:pt x="3" y="114"/>
                      <a:pt x="0" y="105"/>
                      <a:pt x="0" y="94"/>
                    </a:cubicBezTo>
                    <a:cubicBezTo>
                      <a:pt x="0" y="83"/>
                      <a:pt x="5" y="72"/>
                      <a:pt x="14" y="65"/>
                    </a:cubicBezTo>
                    <a:cubicBezTo>
                      <a:pt x="21" y="59"/>
                      <a:pt x="31" y="55"/>
                      <a:pt x="41" y="56"/>
                    </a:cubicBezTo>
                    <a:cubicBezTo>
                      <a:pt x="46" y="24"/>
                      <a:pt x="74" y="0"/>
                      <a:pt x="108" y="0"/>
                    </a:cubicBezTo>
                    <a:cubicBezTo>
                      <a:pt x="133" y="0"/>
                      <a:pt x="156" y="13"/>
                      <a:pt x="168" y="34"/>
                    </a:cubicBezTo>
                    <a:cubicBezTo>
                      <a:pt x="180" y="35"/>
                      <a:pt x="192" y="40"/>
                      <a:pt x="201" y="49"/>
                    </a:cubicBezTo>
                    <a:cubicBezTo>
                      <a:pt x="211" y="58"/>
                      <a:pt x="216" y="70"/>
                      <a:pt x="216" y="83"/>
                    </a:cubicBezTo>
                    <a:cubicBezTo>
                      <a:pt x="216" y="117"/>
                      <a:pt x="186" y="130"/>
                      <a:pt x="171" y="132"/>
                    </a:cubicBezTo>
                    <a:cubicBezTo>
                      <a:pt x="170" y="132"/>
                      <a:pt x="170" y="132"/>
                      <a:pt x="170" y="132"/>
                    </a:cubicBezTo>
                    <a:cubicBezTo>
                      <a:pt x="41" y="132"/>
                      <a:pt x="41" y="132"/>
                      <a:pt x="41" y="132"/>
                    </a:cubicBezTo>
                    <a:cubicBezTo>
                      <a:pt x="41" y="132"/>
                      <a:pt x="41" y="132"/>
                      <a:pt x="41" y="132"/>
                    </a:cubicBezTo>
                    <a:close/>
                    <a:moveTo>
                      <a:pt x="39" y="68"/>
                    </a:moveTo>
                    <a:cubicBezTo>
                      <a:pt x="33" y="68"/>
                      <a:pt x="26" y="70"/>
                      <a:pt x="21" y="74"/>
                    </a:cubicBezTo>
                    <a:cubicBezTo>
                      <a:pt x="15" y="79"/>
                      <a:pt x="12" y="86"/>
                      <a:pt x="12" y="94"/>
                    </a:cubicBezTo>
                    <a:cubicBezTo>
                      <a:pt x="12" y="101"/>
                      <a:pt x="14" y="107"/>
                      <a:pt x="18" y="112"/>
                    </a:cubicBezTo>
                    <a:cubicBezTo>
                      <a:pt x="27" y="120"/>
                      <a:pt x="41" y="120"/>
                      <a:pt x="41" y="120"/>
                    </a:cubicBezTo>
                    <a:cubicBezTo>
                      <a:pt x="170" y="120"/>
                      <a:pt x="170" y="120"/>
                      <a:pt x="170" y="120"/>
                    </a:cubicBezTo>
                    <a:cubicBezTo>
                      <a:pt x="173" y="119"/>
                      <a:pt x="204" y="114"/>
                      <a:pt x="204" y="83"/>
                    </a:cubicBezTo>
                    <a:cubicBezTo>
                      <a:pt x="204" y="73"/>
                      <a:pt x="200" y="64"/>
                      <a:pt x="193" y="57"/>
                    </a:cubicBezTo>
                    <a:cubicBezTo>
                      <a:pt x="185" y="50"/>
                      <a:pt x="175" y="46"/>
                      <a:pt x="164" y="46"/>
                    </a:cubicBezTo>
                    <a:cubicBezTo>
                      <a:pt x="162" y="46"/>
                      <a:pt x="160" y="45"/>
                      <a:pt x="159" y="43"/>
                    </a:cubicBezTo>
                    <a:cubicBezTo>
                      <a:pt x="149" y="24"/>
                      <a:pt x="129" y="12"/>
                      <a:pt x="108" y="12"/>
                    </a:cubicBezTo>
                    <a:cubicBezTo>
                      <a:pt x="78" y="12"/>
                      <a:pt x="54" y="34"/>
                      <a:pt x="52" y="63"/>
                    </a:cubicBezTo>
                    <a:cubicBezTo>
                      <a:pt x="52" y="65"/>
                      <a:pt x="51" y="66"/>
                      <a:pt x="50" y="67"/>
                    </a:cubicBezTo>
                    <a:cubicBezTo>
                      <a:pt x="48" y="68"/>
                      <a:pt x="46" y="69"/>
                      <a:pt x="45" y="68"/>
                    </a:cubicBezTo>
                    <a:cubicBezTo>
                      <a:pt x="43" y="68"/>
                      <a:pt x="41" y="68"/>
                      <a:pt x="39" y="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20" name="Freeform 74">
                <a:extLst>
                  <a:ext uri="{FF2B5EF4-FFF2-40B4-BE49-F238E27FC236}">
                    <a16:creationId xmlns:a16="http://schemas.microsoft.com/office/drawing/2014/main" id="{ABCB3139-6E5A-773C-4F4A-88E8CF30561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89" y="1947"/>
                <a:ext cx="319" cy="107"/>
              </a:xfrm>
              <a:custGeom>
                <a:avLst/>
                <a:gdLst>
                  <a:gd name="T0" fmla="*/ 210 w 216"/>
                  <a:gd name="T1" fmla="*/ 72 h 72"/>
                  <a:gd name="T2" fmla="*/ 6 w 216"/>
                  <a:gd name="T3" fmla="*/ 72 h 72"/>
                  <a:gd name="T4" fmla="*/ 0 w 216"/>
                  <a:gd name="T5" fmla="*/ 66 h 72"/>
                  <a:gd name="T6" fmla="*/ 0 w 216"/>
                  <a:gd name="T7" fmla="*/ 6 h 72"/>
                  <a:gd name="T8" fmla="*/ 6 w 216"/>
                  <a:gd name="T9" fmla="*/ 0 h 72"/>
                  <a:gd name="T10" fmla="*/ 210 w 216"/>
                  <a:gd name="T11" fmla="*/ 0 h 72"/>
                  <a:gd name="T12" fmla="*/ 216 w 216"/>
                  <a:gd name="T13" fmla="*/ 6 h 72"/>
                  <a:gd name="T14" fmla="*/ 216 w 216"/>
                  <a:gd name="T15" fmla="*/ 66 h 72"/>
                  <a:gd name="T16" fmla="*/ 210 w 216"/>
                  <a:gd name="T17" fmla="*/ 72 h 72"/>
                  <a:gd name="T18" fmla="*/ 12 w 216"/>
                  <a:gd name="T19" fmla="*/ 60 h 72"/>
                  <a:gd name="T20" fmla="*/ 204 w 216"/>
                  <a:gd name="T21" fmla="*/ 60 h 72"/>
                  <a:gd name="T22" fmla="*/ 204 w 216"/>
                  <a:gd name="T23" fmla="*/ 12 h 72"/>
                  <a:gd name="T24" fmla="*/ 12 w 216"/>
                  <a:gd name="T25" fmla="*/ 12 h 72"/>
                  <a:gd name="T26" fmla="*/ 12 w 216"/>
                  <a:gd name="T27" fmla="*/ 6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6" h="72">
                    <a:moveTo>
                      <a:pt x="210" y="72"/>
                    </a:moveTo>
                    <a:cubicBezTo>
                      <a:pt x="6" y="72"/>
                      <a:pt x="6" y="72"/>
                      <a:pt x="6" y="72"/>
                    </a:cubicBezTo>
                    <a:cubicBezTo>
                      <a:pt x="3" y="72"/>
                      <a:pt x="0" y="69"/>
                      <a:pt x="0" y="6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210" y="0"/>
                      <a:pt x="210" y="0"/>
                      <a:pt x="210" y="0"/>
                    </a:cubicBezTo>
                    <a:cubicBezTo>
                      <a:pt x="213" y="0"/>
                      <a:pt x="216" y="3"/>
                      <a:pt x="216" y="6"/>
                    </a:cubicBezTo>
                    <a:cubicBezTo>
                      <a:pt x="216" y="66"/>
                      <a:pt x="216" y="66"/>
                      <a:pt x="216" y="66"/>
                    </a:cubicBezTo>
                    <a:cubicBezTo>
                      <a:pt x="216" y="69"/>
                      <a:pt x="213" y="72"/>
                      <a:pt x="210" y="72"/>
                    </a:cubicBezTo>
                    <a:close/>
                    <a:moveTo>
                      <a:pt x="12" y="60"/>
                    </a:moveTo>
                    <a:cubicBezTo>
                      <a:pt x="204" y="60"/>
                      <a:pt x="204" y="60"/>
                      <a:pt x="204" y="60"/>
                    </a:cubicBezTo>
                    <a:cubicBezTo>
                      <a:pt x="204" y="12"/>
                      <a:pt x="204" y="12"/>
                      <a:pt x="20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21" name="Freeform 75">
                <a:extLst>
                  <a:ext uri="{FF2B5EF4-FFF2-40B4-BE49-F238E27FC236}">
                    <a16:creationId xmlns:a16="http://schemas.microsoft.com/office/drawing/2014/main" id="{5DDCC39B-2621-EE50-ED1F-BDE537E3E6F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89" y="2036"/>
                <a:ext cx="319" cy="107"/>
              </a:xfrm>
              <a:custGeom>
                <a:avLst/>
                <a:gdLst>
                  <a:gd name="T0" fmla="*/ 210 w 216"/>
                  <a:gd name="T1" fmla="*/ 72 h 72"/>
                  <a:gd name="T2" fmla="*/ 6 w 216"/>
                  <a:gd name="T3" fmla="*/ 72 h 72"/>
                  <a:gd name="T4" fmla="*/ 0 w 216"/>
                  <a:gd name="T5" fmla="*/ 66 h 72"/>
                  <a:gd name="T6" fmla="*/ 0 w 216"/>
                  <a:gd name="T7" fmla="*/ 6 h 72"/>
                  <a:gd name="T8" fmla="*/ 6 w 216"/>
                  <a:gd name="T9" fmla="*/ 0 h 72"/>
                  <a:gd name="T10" fmla="*/ 210 w 216"/>
                  <a:gd name="T11" fmla="*/ 0 h 72"/>
                  <a:gd name="T12" fmla="*/ 216 w 216"/>
                  <a:gd name="T13" fmla="*/ 6 h 72"/>
                  <a:gd name="T14" fmla="*/ 216 w 216"/>
                  <a:gd name="T15" fmla="*/ 66 h 72"/>
                  <a:gd name="T16" fmla="*/ 210 w 216"/>
                  <a:gd name="T17" fmla="*/ 72 h 72"/>
                  <a:gd name="T18" fmla="*/ 12 w 216"/>
                  <a:gd name="T19" fmla="*/ 60 h 72"/>
                  <a:gd name="T20" fmla="*/ 204 w 216"/>
                  <a:gd name="T21" fmla="*/ 60 h 72"/>
                  <a:gd name="T22" fmla="*/ 204 w 216"/>
                  <a:gd name="T23" fmla="*/ 12 h 72"/>
                  <a:gd name="T24" fmla="*/ 12 w 216"/>
                  <a:gd name="T25" fmla="*/ 12 h 72"/>
                  <a:gd name="T26" fmla="*/ 12 w 216"/>
                  <a:gd name="T27" fmla="*/ 6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6" h="72">
                    <a:moveTo>
                      <a:pt x="210" y="72"/>
                    </a:moveTo>
                    <a:cubicBezTo>
                      <a:pt x="6" y="72"/>
                      <a:pt x="6" y="72"/>
                      <a:pt x="6" y="72"/>
                    </a:cubicBezTo>
                    <a:cubicBezTo>
                      <a:pt x="3" y="72"/>
                      <a:pt x="0" y="69"/>
                      <a:pt x="0" y="6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210" y="0"/>
                      <a:pt x="210" y="0"/>
                      <a:pt x="210" y="0"/>
                    </a:cubicBezTo>
                    <a:cubicBezTo>
                      <a:pt x="213" y="0"/>
                      <a:pt x="216" y="3"/>
                      <a:pt x="216" y="6"/>
                    </a:cubicBezTo>
                    <a:cubicBezTo>
                      <a:pt x="216" y="66"/>
                      <a:pt x="216" y="66"/>
                      <a:pt x="216" y="66"/>
                    </a:cubicBezTo>
                    <a:cubicBezTo>
                      <a:pt x="216" y="69"/>
                      <a:pt x="213" y="72"/>
                      <a:pt x="210" y="72"/>
                    </a:cubicBezTo>
                    <a:close/>
                    <a:moveTo>
                      <a:pt x="12" y="60"/>
                    </a:moveTo>
                    <a:cubicBezTo>
                      <a:pt x="204" y="60"/>
                      <a:pt x="204" y="60"/>
                      <a:pt x="204" y="60"/>
                    </a:cubicBezTo>
                    <a:cubicBezTo>
                      <a:pt x="204" y="12"/>
                      <a:pt x="204" y="12"/>
                      <a:pt x="20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22" name="Freeform 76">
                <a:extLst>
                  <a:ext uri="{FF2B5EF4-FFF2-40B4-BE49-F238E27FC236}">
                    <a16:creationId xmlns:a16="http://schemas.microsoft.com/office/drawing/2014/main" id="{EB29A7C4-392D-E1DC-8882-B49F18FB875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533" y="1974"/>
                <a:ext cx="53" cy="53"/>
              </a:xfrm>
              <a:custGeom>
                <a:avLst/>
                <a:gdLst>
                  <a:gd name="T0" fmla="*/ 18 w 36"/>
                  <a:gd name="T1" fmla="*/ 36 h 36"/>
                  <a:gd name="T2" fmla="*/ 0 w 36"/>
                  <a:gd name="T3" fmla="*/ 18 h 36"/>
                  <a:gd name="T4" fmla="*/ 18 w 36"/>
                  <a:gd name="T5" fmla="*/ 0 h 36"/>
                  <a:gd name="T6" fmla="*/ 36 w 36"/>
                  <a:gd name="T7" fmla="*/ 18 h 36"/>
                  <a:gd name="T8" fmla="*/ 18 w 36"/>
                  <a:gd name="T9" fmla="*/ 36 h 36"/>
                  <a:gd name="T10" fmla="*/ 18 w 36"/>
                  <a:gd name="T11" fmla="*/ 12 h 36"/>
                  <a:gd name="T12" fmla="*/ 12 w 36"/>
                  <a:gd name="T13" fmla="*/ 18 h 36"/>
                  <a:gd name="T14" fmla="*/ 18 w 36"/>
                  <a:gd name="T15" fmla="*/ 24 h 36"/>
                  <a:gd name="T16" fmla="*/ 24 w 36"/>
                  <a:gd name="T17" fmla="*/ 18 h 36"/>
                  <a:gd name="T18" fmla="*/ 18 w 36"/>
                  <a:gd name="T19" fmla="*/ 1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36">
                    <a:moveTo>
                      <a:pt x="18" y="36"/>
                    </a:moveTo>
                    <a:cubicBezTo>
                      <a:pt x="8" y="36"/>
                      <a:pt x="0" y="28"/>
                      <a:pt x="0" y="18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28" y="0"/>
                      <a:pt x="36" y="8"/>
                      <a:pt x="36" y="18"/>
                    </a:cubicBezTo>
                    <a:cubicBezTo>
                      <a:pt x="36" y="28"/>
                      <a:pt x="28" y="36"/>
                      <a:pt x="18" y="36"/>
                    </a:cubicBezTo>
                    <a:close/>
                    <a:moveTo>
                      <a:pt x="18" y="12"/>
                    </a:moveTo>
                    <a:cubicBezTo>
                      <a:pt x="15" y="12"/>
                      <a:pt x="12" y="15"/>
                      <a:pt x="12" y="18"/>
                    </a:cubicBezTo>
                    <a:cubicBezTo>
                      <a:pt x="12" y="21"/>
                      <a:pt x="15" y="24"/>
                      <a:pt x="18" y="24"/>
                    </a:cubicBezTo>
                    <a:cubicBezTo>
                      <a:pt x="21" y="24"/>
                      <a:pt x="24" y="21"/>
                      <a:pt x="24" y="18"/>
                    </a:cubicBezTo>
                    <a:cubicBezTo>
                      <a:pt x="24" y="15"/>
                      <a:pt x="21" y="12"/>
                      <a:pt x="1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23" name="Oval 77">
                <a:extLst>
                  <a:ext uri="{FF2B5EF4-FFF2-40B4-BE49-F238E27FC236}">
                    <a16:creationId xmlns:a16="http://schemas.microsoft.com/office/drawing/2014/main" id="{5D6FFBAA-BDDD-4309-E4BC-C250F5C549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20" y="1983"/>
                <a:ext cx="35" cy="3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24" name="Oval 78">
                <a:extLst>
                  <a:ext uri="{FF2B5EF4-FFF2-40B4-BE49-F238E27FC236}">
                    <a16:creationId xmlns:a16="http://schemas.microsoft.com/office/drawing/2014/main" id="{06C5D25B-09E4-3298-A89D-5F50269D6E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6" y="1983"/>
                <a:ext cx="36" cy="3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25" name="Freeform 79">
                <a:extLst>
                  <a:ext uri="{FF2B5EF4-FFF2-40B4-BE49-F238E27FC236}">
                    <a16:creationId xmlns:a16="http://schemas.microsoft.com/office/drawing/2014/main" id="{05D7379D-EAB3-37ED-95D0-29FD1C193A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533" y="2063"/>
                <a:ext cx="53" cy="53"/>
              </a:xfrm>
              <a:custGeom>
                <a:avLst/>
                <a:gdLst>
                  <a:gd name="T0" fmla="*/ 18 w 36"/>
                  <a:gd name="T1" fmla="*/ 36 h 36"/>
                  <a:gd name="T2" fmla="*/ 0 w 36"/>
                  <a:gd name="T3" fmla="*/ 18 h 36"/>
                  <a:gd name="T4" fmla="*/ 18 w 36"/>
                  <a:gd name="T5" fmla="*/ 0 h 36"/>
                  <a:gd name="T6" fmla="*/ 36 w 36"/>
                  <a:gd name="T7" fmla="*/ 18 h 36"/>
                  <a:gd name="T8" fmla="*/ 18 w 36"/>
                  <a:gd name="T9" fmla="*/ 36 h 36"/>
                  <a:gd name="T10" fmla="*/ 18 w 36"/>
                  <a:gd name="T11" fmla="*/ 12 h 36"/>
                  <a:gd name="T12" fmla="*/ 12 w 36"/>
                  <a:gd name="T13" fmla="*/ 18 h 36"/>
                  <a:gd name="T14" fmla="*/ 18 w 36"/>
                  <a:gd name="T15" fmla="*/ 24 h 36"/>
                  <a:gd name="T16" fmla="*/ 24 w 36"/>
                  <a:gd name="T17" fmla="*/ 18 h 36"/>
                  <a:gd name="T18" fmla="*/ 18 w 36"/>
                  <a:gd name="T19" fmla="*/ 1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36">
                    <a:moveTo>
                      <a:pt x="18" y="36"/>
                    </a:moveTo>
                    <a:cubicBezTo>
                      <a:pt x="8" y="36"/>
                      <a:pt x="0" y="28"/>
                      <a:pt x="0" y="18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28" y="0"/>
                      <a:pt x="36" y="8"/>
                      <a:pt x="36" y="18"/>
                    </a:cubicBezTo>
                    <a:cubicBezTo>
                      <a:pt x="36" y="28"/>
                      <a:pt x="28" y="36"/>
                      <a:pt x="18" y="36"/>
                    </a:cubicBezTo>
                    <a:close/>
                    <a:moveTo>
                      <a:pt x="18" y="12"/>
                    </a:moveTo>
                    <a:cubicBezTo>
                      <a:pt x="15" y="12"/>
                      <a:pt x="12" y="15"/>
                      <a:pt x="12" y="18"/>
                    </a:cubicBezTo>
                    <a:cubicBezTo>
                      <a:pt x="12" y="21"/>
                      <a:pt x="15" y="24"/>
                      <a:pt x="18" y="24"/>
                    </a:cubicBezTo>
                    <a:cubicBezTo>
                      <a:pt x="21" y="24"/>
                      <a:pt x="24" y="21"/>
                      <a:pt x="24" y="18"/>
                    </a:cubicBezTo>
                    <a:cubicBezTo>
                      <a:pt x="24" y="15"/>
                      <a:pt x="21" y="12"/>
                      <a:pt x="1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26" name="Oval 80">
                <a:extLst>
                  <a:ext uri="{FF2B5EF4-FFF2-40B4-BE49-F238E27FC236}">
                    <a16:creationId xmlns:a16="http://schemas.microsoft.com/office/drawing/2014/main" id="{BBF56EC8-51A7-C15F-E09A-3CC4486EC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20" y="2072"/>
                <a:ext cx="35" cy="3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27" name="Oval 81">
                <a:extLst>
                  <a:ext uri="{FF2B5EF4-FFF2-40B4-BE49-F238E27FC236}">
                    <a16:creationId xmlns:a16="http://schemas.microsoft.com/office/drawing/2014/main" id="{75760B01-04C1-5BB3-0131-89943853D4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6" y="2072"/>
                <a:ext cx="36" cy="3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</p:grpSp>
      </p:grpSp>
      <p:grpSp>
        <p:nvGrpSpPr>
          <p:cNvPr id="528" name="Group 527">
            <a:extLst>
              <a:ext uri="{FF2B5EF4-FFF2-40B4-BE49-F238E27FC236}">
                <a16:creationId xmlns:a16="http://schemas.microsoft.com/office/drawing/2014/main" id="{A15F0B7D-665E-8779-B01C-E14D67ACE7F4}"/>
              </a:ext>
            </a:extLst>
          </p:cNvPr>
          <p:cNvGrpSpPr/>
          <p:nvPr/>
        </p:nvGrpSpPr>
        <p:grpSpPr>
          <a:xfrm>
            <a:off x="6665190" y="4666279"/>
            <a:ext cx="365760" cy="365760"/>
            <a:chOff x="-1057941" y="116551"/>
            <a:chExt cx="365760" cy="365760"/>
          </a:xfrm>
        </p:grpSpPr>
        <p:sp>
          <p:nvSpPr>
            <p:cNvPr id="529" name="Oval 528">
              <a:extLst>
                <a:ext uri="{FF2B5EF4-FFF2-40B4-BE49-F238E27FC236}">
                  <a16:creationId xmlns:a16="http://schemas.microsoft.com/office/drawing/2014/main" id="{5354C06A-E54A-6820-DB74-993BDA04B1EA}"/>
                </a:ext>
              </a:extLst>
            </p:cNvPr>
            <p:cNvSpPr/>
            <p:nvPr/>
          </p:nvSpPr>
          <p:spPr>
            <a:xfrm>
              <a:off x="-1057941" y="116551"/>
              <a:ext cx="365760" cy="365760"/>
            </a:xfrm>
            <a:prstGeom prst="ellipse">
              <a:avLst/>
            </a:prstGeom>
            <a:solidFill>
              <a:srgbClr val="00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grpSp>
          <p:nvGrpSpPr>
            <p:cNvPr id="530" name="Group 143">
              <a:extLst>
                <a:ext uri="{FF2B5EF4-FFF2-40B4-BE49-F238E27FC236}">
                  <a16:creationId xmlns:a16="http://schemas.microsoft.com/office/drawing/2014/main" id="{92310649-F158-3D0B-74FD-6C0B5AC72CD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-986106" y="185394"/>
              <a:ext cx="222090" cy="228075"/>
              <a:chOff x="6565" y="1732"/>
              <a:chExt cx="371" cy="381"/>
            </a:xfrm>
            <a:solidFill>
              <a:schemeClr val="bg1"/>
            </a:solidFill>
          </p:grpSpPr>
          <p:sp>
            <p:nvSpPr>
              <p:cNvPr id="531" name="Freeform 144">
                <a:extLst>
                  <a:ext uri="{FF2B5EF4-FFF2-40B4-BE49-F238E27FC236}">
                    <a16:creationId xmlns:a16="http://schemas.microsoft.com/office/drawing/2014/main" id="{CC45F831-F358-F75F-E6F0-B934FB2621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15" y="1846"/>
                <a:ext cx="271" cy="71"/>
              </a:xfrm>
              <a:custGeom>
                <a:avLst/>
                <a:gdLst>
                  <a:gd name="T0" fmla="*/ 177 w 183"/>
                  <a:gd name="T1" fmla="*/ 47 h 48"/>
                  <a:gd name="T2" fmla="*/ 172 w 183"/>
                  <a:gd name="T3" fmla="*/ 46 h 48"/>
                  <a:gd name="T4" fmla="*/ 92 w 183"/>
                  <a:gd name="T5" fmla="*/ 12 h 48"/>
                  <a:gd name="T6" fmla="*/ 92 w 183"/>
                  <a:gd name="T7" fmla="*/ 12 h 48"/>
                  <a:gd name="T8" fmla="*/ 11 w 183"/>
                  <a:gd name="T9" fmla="*/ 46 h 48"/>
                  <a:gd name="T10" fmla="*/ 3 w 183"/>
                  <a:gd name="T11" fmla="*/ 46 h 48"/>
                  <a:gd name="T12" fmla="*/ 3 w 183"/>
                  <a:gd name="T13" fmla="*/ 37 h 48"/>
                  <a:gd name="T14" fmla="*/ 92 w 183"/>
                  <a:gd name="T15" fmla="*/ 0 h 48"/>
                  <a:gd name="T16" fmla="*/ 92 w 183"/>
                  <a:gd name="T17" fmla="*/ 0 h 48"/>
                  <a:gd name="T18" fmla="*/ 181 w 183"/>
                  <a:gd name="T19" fmla="*/ 37 h 48"/>
                  <a:gd name="T20" fmla="*/ 181 w 183"/>
                  <a:gd name="T21" fmla="*/ 46 h 48"/>
                  <a:gd name="T22" fmla="*/ 177 w 183"/>
                  <a:gd name="T23" fmla="*/ 47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83" h="48">
                    <a:moveTo>
                      <a:pt x="177" y="47"/>
                    </a:moveTo>
                    <a:cubicBezTo>
                      <a:pt x="175" y="47"/>
                      <a:pt x="174" y="47"/>
                      <a:pt x="172" y="46"/>
                    </a:cubicBezTo>
                    <a:cubicBezTo>
                      <a:pt x="151" y="24"/>
                      <a:pt x="122" y="12"/>
                      <a:pt x="92" y="12"/>
                    </a:cubicBezTo>
                    <a:cubicBezTo>
                      <a:pt x="92" y="12"/>
                      <a:pt x="92" y="12"/>
                      <a:pt x="92" y="12"/>
                    </a:cubicBezTo>
                    <a:cubicBezTo>
                      <a:pt x="61" y="12"/>
                      <a:pt x="33" y="24"/>
                      <a:pt x="11" y="46"/>
                    </a:cubicBezTo>
                    <a:cubicBezTo>
                      <a:pt x="9" y="48"/>
                      <a:pt x="5" y="48"/>
                      <a:pt x="3" y="46"/>
                    </a:cubicBezTo>
                    <a:cubicBezTo>
                      <a:pt x="0" y="43"/>
                      <a:pt x="0" y="39"/>
                      <a:pt x="3" y="37"/>
                    </a:cubicBezTo>
                    <a:cubicBezTo>
                      <a:pt x="27" y="13"/>
                      <a:pt x="58" y="0"/>
                      <a:pt x="92" y="0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126" y="0"/>
                      <a:pt x="157" y="13"/>
                      <a:pt x="181" y="37"/>
                    </a:cubicBezTo>
                    <a:cubicBezTo>
                      <a:pt x="183" y="39"/>
                      <a:pt x="183" y="43"/>
                      <a:pt x="181" y="46"/>
                    </a:cubicBezTo>
                    <a:cubicBezTo>
                      <a:pt x="180" y="47"/>
                      <a:pt x="178" y="47"/>
                      <a:pt x="177" y="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32" name="Freeform 145">
                <a:extLst>
                  <a:ext uri="{FF2B5EF4-FFF2-40B4-BE49-F238E27FC236}">
                    <a16:creationId xmlns:a16="http://schemas.microsoft.com/office/drawing/2014/main" id="{AB85D63F-6D6A-A059-65ED-40D009547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65" y="1732"/>
                <a:ext cx="371" cy="117"/>
              </a:xfrm>
              <a:custGeom>
                <a:avLst/>
                <a:gdLst>
                  <a:gd name="T0" fmla="*/ 245 w 251"/>
                  <a:gd name="T1" fmla="*/ 78 h 79"/>
                  <a:gd name="T2" fmla="*/ 240 w 251"/>
                  <a:gd name="T3" fmla="*/ 77 h 79"/>
                  <a:gd name="T4" fmla="*/ 11 w 251"/>
                  <a:gd name="T5" fmla="*/ 77 h 79"/>
                  <a:gd name="T6" fmla="*/ 3 w 251"/>
                  <a:gd name="T7" fmla="*/ 77 h 79"/>
                  <a:gd name="T8" fmla="*/ 3 w 251"/>
                  <a:gd name="T9" fmla="*/ 68 h 79"/>
                  <a:gd name="T10" fmla="*/ 249 w 251"/>
                  <a:gd name="T11" fmla="*/ 68 h 79"/>
                  <a:gd name="T12" fmla="*/ 249 w 251"/>
                  <a:gd name="T13" fmla="*/ 77 h 79"/>
                  <a:gd name="T14" fmla="*/ 245 w 251"/>
                  <a:gd name="T15" fmla="*/ 78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1" h="79">
                    <a:moveTo>
                      <a:pt x="245" y="78"/>
                    </a:moveTo>
                    <a:cubicBezTo>
                      <a:pt x="243" y="78"/>
                      <a:pt x="242" y="78"/>
                      <a:pt x="240" y="77"/>
                    </a:cubicBezTo>
                    <a:cubicBezTo>
                      <a:pt x="177" y="13"/>
                      <a:pt x="74" y="13"/>
                      <a:pt x="11" y="77"/>
                    </a:cubicBezTo>
                    <a:cubicBezTo>
                      <a:pt x="9" y="79"/>
                      <a:pt x="5" y="79"/>
                      <a:pt x="3" y="77"/>
                    </a:cubicBezTo>
                    <a:cubicBezTo>
                      <a:pt x="0" y="74"/>
                      <a:pt x="0" y="71"/>
                      <a:pt x="3" y="68"/>
                    </a:cubicBezTo>
                    <a:cubicBezTo>
                      <a:pt x="71" y="0"/>
                      <a:pt x="181" y="0"/>
                      <a:pt x="249" y="68"/>
                    </a:cubicBezTo>
                    <a:cubicBezTo>
                      <a:pt x="251" y="71"/>
                      <a:pt x="251" y="74"/>
                      <a:pt x="249" y="77"/>
                    </a:cubicBezTo>
                    <a:cubicBezTo>
                      <a:pt x="248" y="78"/>
                      <a:pt x="246" y="78"/>
                      <a:pt x="245" y="7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33" name="Freeform 146">
                <a:extLst>
                  <a:ext uri="{FF2B5EF4-FFF2-40B4-BE49-F238E27FC236}">
                    <a16:creationId xmlns:a16="http://schemas.microsoft.com/office/drawing/2014/main" id="{7BB4523E-D73F-FB67-9D3B-5040FF5C26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6" y="1925"/>
                <a:ext cx="170" cy="60"/>
              </a:xfrm>
              <a:custGeom>
                <a:avLst/>
                <a:gdLst>
                  <a:gd name="T0" fmla="*/ 109 w 115"/>
                  <a:gd name="T1" fmla="*/ 40 h 41"/>
                  <a:gd name="T2" fmla="*/ 105 w 115"/>
                  <a:gd name="T3" fmla="*/ 39 h 41"/>
                  <a:gd name="T4" fmla="*/ 11 w 115"/>
                  <a:gd name="T5" fmla="*/ 39 h 41"/>
                  <a:gd name="T6" fmla="*/ 3 w 115"/>
                  <a:gd name="T7" fmla="*/ 39 h 41"/>
                  <a:gd name="T8" fmla="*/ 3 w 115"/>
                  <a:gd name="T9" fmla="*/ 30 h 41"/>
                  <a:gd name="T10" fmla="*/ 113 w 115"/>
                  <a:gd name="T11" fmla="*/ 30 h 41"/>
                  <a:gd name="T12" fmla="*/ 113 w 115"/>
                  <a:gd name="T13" fmla="*/ 39 h 41"/>
                  <a:gd name="T14" fmla="*/ 109 w 115"/>
                  <a:gd name="T15" fmla="*/ 4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5" h="41">
                    <a:moveTo>
                      <a:pt x="109" y="40"/>
                    </a:moveTo>
                    <a:cubicBezTo>
                      <a:pt x="107" y="40"/>
                      <a:pt x="106" y="40"/>
                      <a:pt x="105" y="39"/>
                    </a:cubicBezTo>
                    <a:cubicBezTo>
                      <a:pt x="79" y="13"/>
                      <a:pt x="37" y="13"/>
                      <a:pt x="11" y="39"/>
                    </a:cubicBezTo>
                    <a:cubicBezTo>
                      <a:pt x="9" y="41"/>
                      <a:pt x="5" y="41"/>
                      <a:pt x="3" y="39"/>
                    </a:cubicBezTo>
                    <a:cubicBezTo>
                      <a:pt x="0" y="36"/>
                      <a:pt x="0" y="32"/>
                      <a:pt x="3" y="30"/>
                    </a:cubicBezTo>
                    <a:cubicBezTo>
                      <a:pt x="33" y="0"/>
                      <a:pt x="83" y="0"/>
                      <a:pt x="113" y="30"/>
                    </a:cubicBezTo>
                    <a:cubicBezTo>
                      <a:pt x="115" y="32"/>
                      <a:pt x="115" y="36"/>
                      <a:pt x="113" y="39"/>
                    </a:cubicBezTo>
                    <a:cubicBezTo>
                      <a:pt x="112" y="40"/>
                      <a:pt x="110" y="40"/>
                      <a:pt x="109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34" name="Freeform 147">
                <a:extLst>
                  <a:ext uri="{FF2B5EF4-FFF2-40B4-BE49-F238E27FC236}">
                    <a16:creationId xmlns:a16="http://schemas.microsoft.com/office/drawing/2014/main" id="{C5C53773-EAFD-1BFD-3EBF-E227F98C02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15" y="1846"/>
                <a:ext cx="271" cy="71"/>
              </a:xfrm>
              <a:custGeom>
                <a:avLst/>
                <a:gdLst>
                  <a:gd name="T0" fmla="*/ 177 w 183"/>
                  <a:gd name="T1" fmla="*/ 47 h 48"/>
                  <a:gd name="T2" fmla="*/ 172 w 183"/>
                  <a:gd name="T3" fmla="*/ 46 h 48"/>
                  <a:gd name="T4" fmla="*/ 92 w 183"/>
                  <a:gd name="T5" fmla="*/ 12 h 48"/>
                  <a:gd name="T6" fmla="*/ 92 w 183"/>
                  <a:gd name="T7" fmla="*/ 12 h 48"/>
                  <a:gd name="T8" fmla="*/ 11 w 183"/>
                  <a:gd name="T9" fmla="*/ 46 h 48"/>
                  <a:gd name="T10" fmla="*/ 3 w 183"/>
                  <a:gd name="T11" fmla="*/ 46 h 48"/>
                  <a:gd name="T12" fmla="*/ 3 w 183"/>
                  <a:gd name="T13" fmla="*/ 37 h 48"/>
                  <a:gd name="T14" fmla="*/ 92 w 183"/>
                  <a:gd name="T15" fmla="*/ 0 h 48"/>
                  <a:gd name="T16" fmla="*/ 92 w 183"/>
                  <a:gd name="T17" fmla="*/ 0 h 48"/>
                  <a:gd name="T18" fmla="*/ 181 w 183"/>
                  <a:gd name="T19" fmla="*/ 37 h 48"/>
                  <a:gd name="T20" fmla="*/ 181 w 183"/>
                  <a:gd name="T21" fmla="*/ 46 h 48"/>
                  <a:gd name="T22" fmla="*/ 177 w 183"/>
                  <a:gd name="T23" fmla="*/ 47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83" h="48">
                    <a:moveTo>
                      <a:pt x="177" y="47"/>
                    </a:moveTo>
                    <a:cubicBezTo>
                      <a:pt x="175" y="47"/>
                      <a:pt x="174" y="47"/>
                      <a:pt x="172" y="46"/>
                    </a:cubicBezTo>
                    <a:cubicBezTo>
                      <a:pt x="151" y="24"/>
                      <a:pt x="122" y="12"/>
                      <a:pt x="92" y="12"/>
                    </a:cubicBezTo>
                    <a:cubicBezTo>
                      <a:pt x="92" y="12"/>
                      <a:pt x="92" y="12"/>
                      <a:pt x="92" y="12"/>
                    </a:cubicBezTo>
                    <a:cubicBezTo>
                      <a:pt x="61" y="12"/>
                      <a:pt x="33" y="24"/>
                      <a:pt x="11" y="46"/>
                    </a:cubicBezTo>
                    <a:cubicBezTo>
                      <a:pt x="9" y="48"/>
                      <a:pt x="5" y="48"/>
                      <a:pt x="3" y="46"/>
                    </a:cubicBezTo>
                    <a:cubicBezTo>
                      <a:pt x="0" y="43"/>
                      <a:pt x="0" y="39"/>
                      <a:pt x="3" y="37"/>
                    </a:cubicBezTo>
                    <a:cubicBezTo>
                      <a:pt x="27" y="13"/>
                      <a:pt x="58" y="0"/>
                      <a:pt x="92" y="0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126" y="0"/>
                      <a:pt x="157" y="13"/>
                      <a:pt x="181" y="37"/>
                    </a:cubicBezTo>
                    <a:cubicBezTo>
                      <a:pt x="183" y="39"/>
                      <a:pt x="183" y="43"/>
                      <a:pt x="181" y="46"/>
                    </a:cubicBezTo>
                    <a:cubicBezTo>
                      <a:pt x="180" y="47"/>
                      <a:pt x="178" y="47"/>
                      <a:pt x="177" y="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35" name="Freeform 148">
                <a:extLst>
                  <a:ext uri="{FF2B5EF4-FFF2-40B4-BE49-F238E27FC236}">
                    <a16:creationId xmlns:a16="http://schemas.microsoft.com/office/drawing/2014/main" id="{4E5AC6AC-F824-741D-F6CF-E401DA2D02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6" y="1925"/>
                <a:ext cx="170" cy="60"/>
              </a:xfrm>
              <a:custGeom>
                <a:avLst/>
                <a:gdLst>
                  <a:gd name="T0" fmla="*/ 7 w 115"/>
                  <a:gd name="T1" fmla="*/ 40 h 41"/>
                  <a:gd name="T2" fmla="*/ 3 w 115"/>
                  <a:gd name="T3" fmla="*/ 39 h 41"/>
                  <a:gd name="T4" fmla="*/ 3 w 115"/>
                  <a:gd name="T5" fmla="*/ 30 h 41"/>
                  <a:gd name="T6" fmla="*/ 113 w 115"/>
                  <a:gd name="T7" fmla="*/ 30 h 41"/>
                  <a:gd name="T8" fmla="*/ 113 w 115"/>
                  <a:gd name="T9" fmla="*/ 39 h 41"/>
                  <a:gd name="T10" fmla="*/ 105 w 115"/>
                  <a:gd name="T11" fmla="*/ 39 h 41"/>
                  <a:gd name="T12" fmla="*/ 11 w 115"/>
                  <a:gd name="T13" fmla="*/ 39 h 41"/>
                  <a:gd name="T14" fmla="*/ 7 w 115"/>
                  <a:gd name="T15" fmla="*/ 4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5" h="41">
                    <a:moveTo>
                      <a:pt x="7" y="40"/>
                    </a:moveTo>
                    <a:cubicBezTo>
                      <a:pt x="5" y="40"/>
                      <a:pt x="4" y="40"/>
                      <a:pt x="3" y="39"/>
                    </a:cubicBezTo>
                    <a:cubicBezTo>
                      <a:pt x="0" y="36"/>
                      <a:pt x="0" y="32"/>
                      <a:pt x="3" y="30"/>
                    </a:cubicBezTo>
                    <a:cubicBezTo>
                      <a:pt x="33" y="0"/>
                      <a:pt x="83" y="0"/>
                      <a:pt x="113" y="30"/>
                    </a:cubicBezTo>
                    <a:cubicBezTo>
                      <a:pt x="115" y="32"/>
                      <a:pt x="115" y="36"/>
                      <a:pt x="113" y="39"/>
                    </a:cubicBezTo>
                    <a:cubicBezTo>
                      <a:pt x="111" y="41"/>
                      <a:pt x="107" y="41"/>
                      <a:pt x="105" y="39"/>
                    </a:cubicBezTo>
                    <a:cubicBezTo>
                      <a:pt x="79" y="13"/>
                      <a:pt x="37" y="13"/>
                      <a:pt x="11" y="39"/>
                    </a:cubicBezTo>
                    <a:cubicBezTo>
                      <a:pt x="10" y="40"/>
                      <a:pt x="8" y="40"/>
                      <a:pt x="7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36" name="Freeform 149">
                <a:extLst>
                  <a:ext uri="{FF2B5EF4-FFF2-40B4-BE49-F238E27FC236}">
                    <a16:creationId xmlns:a16="http://schemas.microsoft.com/office/drawing/2014/main" id="{1A8D82CB-F31E-22B5-AACD-76BF95B6E6D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707" y="2024"/>
                <a:ext cx="89" cy="89"/>
              </a:xfrm>
              <a:custGeom>
                <a:avLst/>
                <a:gdLst>
                  <a:gd name="T0" fmla="*/ 30 w 60"/>
                  <a:gd name="T1" fmla="*/ 60 h 60"/>
                  <a:gd name="T2" fmla="*/ 0 w 60"/>
                  <a:gd name="T3" fmla="*/ 30 h 60"/>
                  <a:gd name="T4" fmla="*/ 30 w 60"/>
                  <a:gd name="T5" fmla="*/ 0 h 60"/>
                  <a:gd name="T6" fmla="*/ 60 w 60"/>
                  <a:gd name="T7" fmla="*/ 30 h 60"/>
                  <a:gd name="T8" fmla="*/ 30 w 60"/>
                  <a:gd name="T9" fmla="*/ 60 h 60"/>
                  <a:gd name="T10" fmla="*/ 30 w 60"/>
                  <a:gd name="T11" fmla="*/ 12 h 60"/>
                  <a:gd name="T12" fmla="*/ 12 w 60"/>
                  <a:gd name="T13" fmla="*/ 30 h 60"/>
                  <a:gd name="T14" fmla="*/ 30 w 60"/>
                  <a:gd name="T15" fmla="*/ 48 h 60"/>
                  <a:gd name="T16" fmla="*/ 48 w 60"/>
                  <a:gd name="T17" fmla="*/ 30 h 60"/>
                  <a:gd name="T18" fmla="*/ 30 w 60"/>
                  <a:gd name="T19" fmla="*/ 1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0" h="60">
                    <a:moveTo>
                      <a:pt x="30" y="60"/>
                    </a:moveTo>
                    <a:cubicBezTo>
                      <a:pt x="13" y="60"/>
                      <a:pt x="0" y="47"/>
                      <a:pt x="0" y="30"/>
                    </a:cubicBezTo>
                    <a:cubicBezTo>
                      <a:pt x="0" y="14"/>
                      <a:pt x="13" y="0"/>
                      <a:pt x="30" y="0"/>
                    </a:cubicBezTo>
                    <a:cubicBezTo>
                      <a:pt x="46" y="0"/>
                      <a:pt x="60" y="14"/>
                      <a:pt x="60" y="30"/>
                    </a:cubicBezTo>
                    <a:cubicBezTo>
                      <a:pt x="60" y="47"/>
                      <a:pt x="46" y="60"/>
                      <a:pt x="30" y="60"/>
                    </a:cubicBezTo>
                    <a:close/>
                    <a:moveTo>
                      <a:pt x="30" y="12"/>
                    </a:moveTo>
                    <a:cubicBezTo>
                      <a:pt x="20" y="12"/>
                      <a:pt x="12" y="20"/>
                      <a:pt x="12" y="30"/>
                    </a:cubicBezTo>
                    <a:cubicBezTo>
                      <a:pt x="12" y="40"/>
                      <a:pt x="20" y="48"/>
                      <a:pt x="30" y="48"/>
                    </a:cubicBezTo>
                    <a:cubicBezTo>
                      <a:pt x="40" y="48"/>
                      <a:pt x="48" y="40"/>
                      <a:pt x="48" y="30"/>
                    </a:cubicBezTo>
                    <a:cubicBezTo>
                      <a:pt x="48" y="20"/>
                      <a:pt x="40" y="12"/>
                      <a:pt x="3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</p:grpSp>
      </p:grpSp>
      <p:grpSp>
        <p:nvGrpSpPr>
          <p:cNvPr id="537" name="Group 536">
            <a:extLst>
              <a:ext uri="{FF2B5EF4-FFF2-40B4-BE49-F238E27FC236}">
                <a16:creationId xmlns:a16="http://schemas.microsoft.com/office/drawing/2014/main" id="{B822BF50-C347-C952-DB8B-7C6A828086A2}"/>
              </a:ext>
            </a:extLst>
          </p:cNvPr>
          <p:cNvGrpSpPr/>
          <p:nvPr/>
        </p:nvGrpSpPr>
        <p:grpSpPr>
          <a:xfrm>
            <a:off x="8118471" y="3645453"/>
            <a:ext cx="365760" cy="365760"/>
            <a:chOff x="-1623572" y="1696665"/>
            <a:chExt cx="365760" cy="365760"/>
          </a:xfrm>
        </p:grpSpPr>
        <p:sp>
          <p:nvSpPr>
            <p:cNvPr id="538" name="Oval 537">
              <a:extLst>
                <a:ext uri="{FF2B5EF4-FFF2-40B4-BE49-F238E27FC236}">
                  <a16:creationId xmlns:a16="http://schemas.microsoft.com/office/drawing/2014/main" id="{49EA2D00-2775-4C3D-F7B0-9C6A14F3E7A2}"/>
                </a:ext>
              </a:extLst>
            </p:cNvPr>
            <p:cNvSpPr/>
            <p:nvPr/>
          </p:nvSpPr>
          <p:spPr>
            <a:xfrm>
              <a:off x="-1623572" y="1696665"/>
              <a:ext cx="365760" cy="365760"/>
            </a:xfrm>
            <a:prstGeom prst="ellipse">
              <a:avLst/>
            </a:prstGeom>
            <a:solidFill>
              <a:srgbClr val="D507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grpSp>
          <p:nvGrpSpPr>
            <p:cNvPr id="539" name="Group 73">
              <a:extLst>
                <a:ext uri="{FF2B5EF4-FFF2-40B4-BE49-F238E27FC236}">
                  <a16:creationId xmlns:a16="http://schemas.microsoft.com/office/drawing/2014/main" id="{81EA1813-5C81-2C12-6AC2-6803F8479D6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-1564567" y="1756250"/>
              <a:ext cx="247751" cy="246591"/>
              <a:chOff x="2400" y="1721"/>
              <a:chExt cx="427" cy="425"/>
            </a:xfrm>
            <a:solidFill>
              <a:schemeClr val="bg1"/>
            </a:solidFill>
          </p:grpSpPr>
          <p:sp>
            <p:nvSpPr>
              <p:cNvPr id="540" name="Freeform 74">
                <a:extLst>
                  <a:ext uri="{FF2B5EF4-FFF2-40B4-BE49-F238E27FC236}">
                    <a16:creationId xmlns:a16="http://schemas.microsoft.com/office/drawing/2014/main" id="{DC5B9757-C31C-53C9-7790-7386CDEE114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00" y="1721"/>
                <a:ext cx="427" cy="425"/>
              </a:xfrm>
              <a:custGeom>
                <a:avLst/>
                <a:gdLst>
                  <a:gd name="T0" fmla="*/ 234 w 288"/>
                  <a:gd name="T1" fmla="*/ 288 h 288"/>
                  <a:gd name="T2" fmla="*/ 54 w 288"/>
                  <a:gd name="T3" fmla="*/ 288 h 288"/>
                  <a:gd name="T4" fmla="*/ 0 w 288"/>
                  <a:gd name="T5" fmla="*/ 234 h 288"/>
                  <a:gd name="T6" fmla="*/ 0 w 288"/>
                  <a:gd name="T7" fmla="*/ 54 h 288"/>
                  <a:gd name="T8" fmla="*/ 54 w 288"/>
                  <a:gd name="T9" fmla="*/ 0 h 288"/>
                  <a:gd name="T10" fmla="*/ 234 w 288"/>
                  <a:gd name="T11" fmla="*/ 0 h 288"/>
                  <a:gd name="T12" fmla="*/ 288 w 288"/>
                  <a:gd name="T13" fmla="*/ 54 h 288"/>
                  <a:gd name="T14" fmla="*/ 288 w 288"/>
                  <a:gd name="T15" fmla="*/ 234 h 288"/>
                  <a:gd name="T16" fmla="*/ 234 w 288"/>
                  <a:gd name="T17" fmla="*/ 288 h 288"/>
                  <a:gd name="T18" fmla="*/ 54 w 288"/>
                  <a:gd name="T19" fmla="*/ 12 h 288"/>
                  <a:gd name="T20" fmla="*/ 12 w 288"/>
                  <a:gd name="T21" fmla="*/ 54 h 288"/>
                  <a:gd name="T22" fmla="*/ 12 w 288"/>
                  <a:gd name="T23" fmla="*/ 234 h 288"/>
                  <a:gd name="T24" fmla="*/ 54 w 288"/>
                  <a:gd name="T25" fmla="*/ 276 h 288"/>
                  <a:gd name="T26" fmla="*/ 234 w 288"/>
                  <a:gd name="T27" fmla="*/ 276 h 288"/>
                  <a:gd name="T28" fmla="*/ 276 w 288"/>
                  <a:gd name="T29" fmla="*/ 234 h 288"/>
                  <a:gd name="T30" fmla="*/ 276 w 288"/>
                  <a:gd name="T31" fmla="*/ 54 h 288"/>
                  <a:gd name="T32" fmla="*/ 234 w 288"/>
                  <a:gd name="T33" fmla="*/ 12 h 288"/>
                  <a:gd name="T34" fmla="*/ 54 w 288"/>
                  <a:gd name="T35" fmla="*/ 12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88" h="288">
                    <a:moveTo>
                      <a:pt x="234" y="288"/>
                    </a:moveTo>
                    <a:cubicBezTo>
                      <a:pt x="54" y="288"/>
                      <a:pt x="54" y="288"/>
                      <a:pt x="54" y="288"/>
                    </a:cubicBezTo>
                    <a:cubicBezTo>
                      <a:pt x="24" y="288"/>
                      <a:pt x="0" y="263"/>
                      <a:pt x="0" y="234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0" y="24"/>
                      <a:pt x="24" y="0"/>
                      <a:pt x="54" y="0"/>
                    </a:cubicBezTo>
                    <a:cubicBezTo>
                      <a:pt x="234" y="0"/>
                      <a:pt x="234" y="0"/>
                      <a:pt x="234" y="0"/>
                    </a:cubicBezTo>
                    <a:cubicBezTo>
                      <a:pt x="264" y="0"/>
                      <a:pt x="288" y="24"/>
                      <a:pt x="288" y="54"/>
                    </a:cubicBezTo>
                    <a:cubicBezTo>
                      <a:pt x="288" y="234"/>
                      <a:pt x="288" y="234"/>
                      <a:pt x="288" y="234"/>
                    </a:cubicBezTo>
                    <a:cubicBezTo>
                      <a:pt x="288" y="263"/>
                      <a:pt x="264" y="288"/>
                      <a:pt x="234" y="288"/>
                    </a:cubicBezTo>
                    <a:close/>
                    <a:moveTo>
                      <a:pt x="54" y="12"/>
                    </a:moveTo>
                    <a:cubicBezTo>
                      <a:pt x="31" y="12"/>
                      <a:pt x="12" y="30"/>
                      <a:pt x="12" y="54"/>
                    </a:cubicBezTo>
                    <a:cubicBezTo>
                      <a:pt x="12" y="234"/>
                      <a:pt x="12" y="234"/>
                      <a:pt x="12" y="234"/>
                    </a:cubicBezTo>
                    <a:cubicBezTo>
                      <a:pt x="12" y="257"/>
                      <a:pt x="31" y="276"/>
                      <a:pt x="54" y="276"/>
                    </a:cubicBezTo>
                    <a:cubicBezTo>
                      <a:pt x="234" y="276"/>
                      <a:pt x="234" y="276"/>
                      <a:pt x="234" y="276"/>
                    </a:cubicBezTo>
                    <a:cubicBezTo>
                      <a:pt x="257" y="276"/>
                      <a:pt x="276" y="257"/>
                      <a:pt x="276" y="234"/>
                    </a:cubicBezTo>
                    <a:cubicBezTo>
                      <a:pt x="276" y="54"/>
                      <a:pt x="276" y="54"/>
                      <a:pt x="276" y="54"/>
                    </a:cubicBezTo>
                    <a:cubicBezTo>
                      <a:pt x="276" y="30"/>
                      <a:pt x="257" y="12"/>
                      <a:pt x="234" y="12"/>
                    </a:cubicBezTo>
                    <a:lnTo>
                      <a:pt x="54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41" name="Freeform 75">
                <a:extLst>
                  <a:ext uri="{FF2B5EF4-FFF2-40B4-BE49-F238E27FC236}">
                    <a16:creationId xmlns:a16="http://schemas.microsoft.com/office/drawing/2014/main" id="{2DE09490-692B-9AD9-C618-E24236EBC84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57" y="1886"/>
                <a:ext cx="111" cy="111"/>
              </a:xfrm>
              <a:custGeom>
                <a:avLst/>
                <a:gdLst>
                  <a:gd name="T0" fmla="*/ 38 w 75"/>
                  <a:gd name="T1" fmla="*/ 75 h 75"/>
                  <a:gd name="T2" fmla="*/ 0 w 75"/>
                  <a:gd name="T3" fmla="*/ 38 h 75"/>
                  <a:gd name="T4" fmla="*/ 38 w 75"/>
                  <a:gd name="T5" fmla="*/ 0 h 75"/>
                  <a:gd name="T6" fmla="*/ 75 w 75"/>
                  <a:gd name="T7" fmla="*/ 38 h 75"/>
                  <a:gd name="T8" fmla="*/ 38 w 75"/>
                  <a:gd name="T9" fmla="*/ 75 h 75"/>
                  <a:gd name="T10" fmla="*/ 38 w 75"/>
                  <a:gd name="T11" fmla="*/ 12 h 75"/>
                  <a:gd name="T12" fmla="*/ 12 w 75"/>
                  <a:gd name="T13" fmla="*/ 38 h 75"/>
                  <a:gd name="T14" fmla="*/ 38 w 75"/>
                  <a:gd name="T15" fmla="*/ 63 h 75"/>
                  <a:gd name="T16" fmla="*/ 63 w 75"/>
                  <a:gd name="T17" fmla="*/ 38 h 75"/>
                  <a:gd name="T18" fmla="*/ 38 w 75"/>
                  <a:gd name="T19" fmla="*/ 12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5" h="75">
                    <a:moveTo>
                      <a:pt x="38" y="75"/>
                    </a:moveTo>
                    <a:cubicBezTo>
                      <a:pt x="17" y="75"/>
                      <a:pt x="0" y="58"/>
                      <a:pt x="0" y="38"/>
                    </a:cubicBezTo>
                    <a:cubicBezTo>
                      <a:pt x="0" y="17"/>
                      <a:pt x="17" y="0"/>
                      <a:pt x="38" y="0"/>
                    </a:cubicBezTo>
                    <a:cubicBezTo>
                      <a:pt x="59" y="0"/>
                      <a:pt x="75" y="17"/>
                      <a:pt x="75" y="38"/>
                    </a:cubicBezTo>
                    <a:cubicBezTo>
                      <a:pt x="75" y="58"/>
                      <a:pt x="59" y="75"/>
                      <a:pt x="38" y="75"/>
                    </a:cubicBezTo>
                    <a:close/>
                    <a:moveTo>
                      <a:pt x="38" y="12"/>
                    </a:moveTo>
                    <a:cubicBezTo>
                      <a:pt x="24" y="12"/>
                      <a:pt x="12" y="24"/>
                      <a:pt x="12" y="38"/>
                    </a:cubicBezTo>
                    <a:cubicBezTo>
                      <a:pt x="12" y="52"/>
                      <a:pt x="24" y="63"/>
                      <a:pt x="38" y="63"/>
                    </a:cubicBezTo>
                    <a:cubicBezTo>
                      <a:pt x="52" y="63"/>
                      <a:pt x="63" y="52"/>
                      <a:pt x="63" y="38"/>
                    </a:cubicBezTo>
                    <a:cubicBezTo>
                      <a:pt x="63" y="24"/>
                      <a:pt x="52" y="12"/>
                      <a:pt x="3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42" name="Freeform 76">
                <a:extLst>
                  <a:ext uri="{FF2B5EF4-FFF2-40B4-BE49-F238E27FC236}">
                    <a16:creationId xmlns:a16="http://schemas.microsoft.com/office/drawing/2014/main" id="{521A69F3-DF30-4828-12E3-CFC49CAE8F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82" y="1809"/>
                <a:ext cx="265" cy="266"/>
              </a:xfrm>
              <a:custGeom>
                <a:avLst/>
                <a:gdLst>
                  <a:gd name="T0" fmla="*/ 69 w 179"/>
                  <a:gd name="T1" fmla="*/ 180 h 180"/>
                  <a:gd name="T2" fmla="*/ 63 w 179"/>
                  <a:gd name="T3" fmla="*/ 159 h 180"/>
                  <a:gd name="T4" fmla="*/ 30 w 179"/>
                  <a:gd name="T5" fmla="*/ 155 h 180"/>
                  <a:gd name="T6" fmla="*/ 1 w 179"/>
                  <a:gd name="T7" fmla="*/ 116 h 180"/>
                  <a:gd name="T8" fmla="*/ 3 w 179"/>
                  <a:gd name="T9" fmla="*/ 108 h 180"/>
                  <a:gd name="T10" fmla="*/ 15 w 179"/>
                  <a:gd name="T11" fmla="*/ 90 h 180"/>
                  <a:gd name="T12" fmla="*/ 3 w 179"/>
                  <a:gd name="T13" fmla="*/ 71 h 180"/>
                  <a:gd name="T14" fmla="*/ 1 w 179"/>
                  <a:gd name="T15" fmla="*/ 63 h 180"/>
                  <a:gd name="T16" fmla="*/ 30 w 179"/>
                  <a:gd name="T17" fmla="*/ 24 h 180"/>
                  <a:gd name="T18" fmla="*/ 63 w 179"/>
                  <a:gd name="T19" fmla="*/ 20 h 180"/>
                  <a:gd name="T20" fmla="*/ 69 w 179"/>
                  <a:gd name="T21" fmla="*/ 0 h 180"/>
                  <a:gd name="T22" fmla="*/ 117 w 179"/>
                  <a:gd name="T23" fmla="*/ 6 h 180"/>
                  <a:gd name="T24" fmla="*/ 136 w 179"/>
                  <a:gd name="T25" fmla="*/ 32 h 180"/>
                  <a:gd name="T26" fmla="*/ 153 w 179"/>
                  <a:gd name="T27" fmla="*/ 24 h 180"/>
                  <a:gd name="T28" fmla="*/ 177 w 179"/>
                  <a:gd name="T29" fmla="*/ 63 h 180"/>
                  <a:gd name="T30" fmla="*/ 175 w 179"/>
                  <a:gd name="T31" fmla="*/ 71 h 180"/>
                  <a:gd name="T32" fmla="*/ 163 w 179"/>
                  <a:gd name="T33" fmla="*/ 90 h 180"/>
                  <a:gd name="T34" fmla="*/ 175 w 179"/>
                  <a:gd name="T35" fmla="*/ 108 h 180"/>
                  <a:gd name="T36" fmla="*/ 157 w 179"/>
                  <a:gd name="T37" fmla="*/ 153 h 180"/>
                  <a:gd name="T38" fmla="*/ 148 w 179"/>
                  <a:gd name="T39" fmla="*/ 155 h 180"/>
                  <a:gd name="T40" fmla="*/ 117 w 179"/>
                  <a:gd name="T41" fmla="*/ 159 h 180"/>
                  <a:gd name="T42" fmla="*/ 111 w 179"/>
                  <a:gd name="T43" fmla="*/ 180 h 180"/>
                  <a:gd name="T44" fmla="*/ 105 w 179"/>
                  <a:gd name="T45" fmla="*/ 168 h 180"/>
                  <a:gd name="T46" fmla="*/ 109 w 179"/>
                  <a:gd name="T47" fmla="*/ 149 h 180"/>
                  <a:gd name="T48" fmla="*/ 138 w 179"/>
                  <a:gd name="T49" fmla="*/ 135 h 180"/>
                  <a:gd name="T50" fmla="*/ 164 w 179"/>
                  <a:gd name="T51" fmla="*/ 116 h 180"/>
                  <a:gd name="T52" fmla="*/ 150 w 179"/>
                  <a:gd name="T53" fmla="*/ 103 h 180"/>
                  <a:gd name="T54" fmla="*/ 150 w 179"/>
                  <a:gd name="T55" fmla="*/ 77 h 180"/>
                  <a:gd name="T56" fmla="*/ 164 w 179"/>
                  <a:gd name="T57" fmla="*/ 64 h 180"/>
                  <a:gd name="T58" fmla="*/ 138 w 179"/>
                  <a:gd name="T59" fmla="*/ 44 h 180"/>
                  <a:gd name="T60" fmla="*/ 109 w 179"/>
                  <a:gd name="T61" fmla="*/ 30 h 180"/>
                  <a:gd name="T62" fmla="*/ 105 w 179"/>
                  <a:gd name="T63" fmla="*/ 12 h 180"/>
                  <a:gd name="T64" fmla="*/ 75 w 179"/>
                  <a:gd name="T65" fmla="*/ 25 h 180"/>
                  <a:gd name="T66" fmla="*/ 48 w 179"/>
                  <a:gd name="T67" fmla="*/ 43 h 180"/>
                  <a:gd name="T68" fmla="*/ 29 w 179"/>
                  <a:gd name="T69" fmla="*/ 38 h 180"/>
                  <a:gd name="T70" fmla="*/ 25 w 179"/>
                  <a:gd name="T71" fmla="*/ 70 h 180"/>
                  <a:gd name="T72" fmla="*/ 27 w 179"/>
                  <a:gd name="T73" fmla="*/ 90 h 180"/>
                  <a:gd name="T74" fmla="*/ 25 w 179"/>
                  <a:gd name="T75" fmla="*/ 109 h 180"/>
                  <a:gd name="T76" fmla="*/ 29 w 179"/>
                  <a:gd name="T77" fmla="*/ 142 h 180"/>
                  <a:gd name="T78" fmla="*/ 48 w 179"/>
                  <a:gd name="T79" fmla="*/ 136 h 180"/>
                  <a:gd name="T80" fmla="*/ 75 w 179"/>
                  <a:gd name="T81" fmla="*/ 155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79" h="180">
                    <a:moveTo>
                      <a:pt x="111" y="180"/>
                    </a:moveTo>
                    <a:cubicBezTo>
                      <a:pt x="69" y="180"/>
                      <a:pt x="69" y="180"/>
                      <a:pt x="69" y="180"/>
                    </a:cubicBezTo>
                    <a:cubicBezTo>
                      <a:pt x="65" y="180"/>
                      <a:pt x="63" y="177"/>
                      <a:pt x="63" y="174"/>
                    </a:cubicBezTo>
                    <a:cubicBezTo>
                      <a:pt x="63" y="159"/>
                      <a:pt x="63" y="159"/>
                      <a:pt x="63" y="159"/>
                    </a:cubicBezTo>
                    <a:cubicBezTo>
                      <a:pt x="56" y="156"/>
                      <a:pt x="49" y="153"/>
                      <a:pt x="43" y="148"/>
                    </a:cubicBezTo>
                    <a:cubicBezTo>
                      <a:pt x="30" y="155"/>
                      <a:pt x="30" y="155"/>
                      <a:pt x="30" y="155"/>
                    </a:cubicBezTo>
                    <a:cubicBezTo>
                      <a:pt x="27" y="157"/>
                      <a:pt x="23" y="156"/>
                      <a:pt x="22" y="153"/>
                    </a:cubicBezTo>
                    <a:cubicBezTo>
                      <a:pt x="1" y="116"/>
                      <a:pt x="1" y="116"/>
                      <a:pt x="1" y="116"/>
                    </a:cubicBezTo>
                    <a:cubicBezTo>
                      <a:pt x="0" y="115"/>
                      <a:pt x="0" y="113"/>
                      <a:pt x="0" y="112"/>
                    </a:cubicBezTo>
                    <a:cubicBezTo>
                      <a:pt x="0" y="110"/>
                      <a:pt x="1" y="109"/>
                      <a:pt x="3" y="108"/>
                    </a:cubicBezTo>
                    <a:cubicBezTo>
                      <a:pt x="16" y="101"/>
                      <a:pt x="16" y="101"/>
                      <a:pt x="16" y="101"/>
                    </a:cubicBezTo>
                    <a:cubicBezTo>
                      <a:pt x="15" y="97"/>
                      <a:pt x="15" y="93"/>
                      <a:pt x="15" y="90"/>
                    </a:cubicBezTo>
                    <a:cubicBezTo>
                      <a:pt x="15" y="86"/>
                      <a:pt x="15" y="82"/>
                      <a:pt x="16" y="78"/>
                    </a:cubicBezTo>
                    <a:cubicBezTo>
                      <a:pt x="3" y="71"/>
                      <a:pt x="3" y="71"/>
                      <a:pt x="3" y="71"/>
                    </a:cubicBezTo>
                    <a:cubicBezTo>
                      <a:pt x="1" y="70"/>
                      <a:pt x="0" y="69"/>
                      <a:pt x="0" y="67"/>
                    </a:cubicBezTo>
                    <a:cubicBezTo>
                      <a:pt x="0" y="66"/>
                      <a:pt x="0" y="64"/>
                      <a:pt x="1" y="63"/>
                    </a:cubicBezTo>
                    <a:cubicBezTo>
                      <a:pt x="22" y="26"/>
                      <a:pt x="22" y="26"/>
                      <a:pt x="22" y="26"/>
                    </a:cubicBezTo>
                    <a:cubicBezTo>
                      <a:pt x="23" y="24"/>
                      <a:pt x="27" y="23"/>
                      <a:pt x="30" y="24"/>
                    </a:cubicBezTo>
                    <a:cubicBezTo>
                      <a:pt x="43" y="32"/>
                      <a:pt x="43" y="32"/>
                      <a:pt x="43" y="32"/>
                    </a:cubicBezTo>
                    <a:cubicBezTo>
                      <a:pt x="49" y="27"/>
                      <a:pt x="56" y="23"/>
                      <a:pt x="63" y="20"/>
                    </a:cubicBezTo>
                    <a:cubicBezTo>
                      <a:pt x="63" y="6"/>
                      <a:pt x="63" y="6"/>
                      <a:pt x="63" y="6"/>
                    </a:cubicBezTo>
                    <a:cubicBezTo>
                      <a:pt x="63" y="2"/>
                      <a:pt x="65" y="0"/>
                      <a:pt x="69" y="0"/>
                    </a:cubicBezTo>
                    <a:cubicBezTo>
                      <a:pt x="111" y="0"/>
                      <a:pt x="111" y="0"/>
                      <a:pt x="111" y="0"/>
                    </a:cubicBezTo>
                    <a:cubicBezTo>
                      <a:pt x="114" y="0"/>
                      <a:pt x="117" y="2"/>
                      <a:pt x="117" y="6"/>
                    </a:cubicBezTo>
                    <a:cubicBezTo>
                      <a:pt x="117" y="20"/>
                      <a:pt x="117" y="20"/>
                      <a:pt x="117" y="20"/>
                    </a:cubicBezTo>
                    <a:cubicBezTo>
                      <a:pt x="124" y="23"/>
                      <a:pt x="130" y="27"/>
                      <a:pt x="136" y="32"/>
                    </a:cubicBezTo>
                    <a:cubicBezTo>
                      <a:pt x="148" y="24"/>
                      <a:pt x="148" y="24"/>
                      <a:pt x="148" y="24"/>
                    </a:cubicBezTo>
                    <a:cubicBezTo>
                      <a:pt x="150" y="23"/>
                      <a:pt x="151" y="23"/>
                      <a:pt x="153" y="24"/>
                    </a:cubicBezTo>
                    <a:cubicBezTo>
                      <a:pt x="154" y="24"/>
                      <a:pt x="156" y="25"/>
                      <a:pt x="156" y="26"/>
                    </a:cubicBezTo>
                    <a:cubicBezTo>
                      <a:pt x="177" y="63"/>
                      <a:pt x="177" y="63"/>
                      <a:pt x="177" y="63"/>
                    </a:cubicBezTo>
                    <a:cubicBezTo>
                      <a:pt x="178" y="64"/>
                      <a:pt x="178" y="66"/>
                      <a:pt x="178" y="67"/>
                    </a:cubicBezTo>
                    <a:cubicBezTo>
                      <a:pt x="178" y="69"/>
                      <a:pt x="177" y="70"/>
                      <a:pt x="175" y="71"/>
                    </a:cubicBezTo>
                    <a:cubicBezTo>
                      <a:pt x="162" y="78"/>
                      <a:pt x="162" y="78"/>
                      <a:pt x="162" y="78"/>
                    </a:cubicBezTo>
                    <a:cubicBezTo>
                      <a:pt x="163" y="82"/>
                      <a:pt x="163" y="86"/>
                      <a:pt x="163" y="90"/>
                    </a:cubicBezTo>
                    <a:cubicBezTo>
                      <a:pt x="163" y="93"/>
                      <a:pt x="163" y="97"/>
                      <a:pt x="162" y="101"/>
                    </a:cubicBezTo>
                    <a:cubicBezTo>
                      <a:pt x="175" y="108"/>
                      <a:pt x="175" y="108"/>
                      <a:pt x="175" y="108"/>
                    </a:cubicBezTo>
                    <a:cubicBezTo>
                      <a:pt x="178" y="110"/>
                      <a:pt x="179" y="114"/>
                      <a:pt x="178" y="116"/>
                    </a:cubicBezTo>
                    <a:cubicBezTo>
                      <a:pt x="157" y="153"/>
                      <a:pt x="157" y="153"/>
                      <a:pt x="157" y="153"/>
                    </a:cubicBezTo>
                    <a:cubicBezTo>
                      <a:pt x="156" y="154"/>
                      <a:pt x="154" y="155"/>
                      <a:pt x="153" y="156"/>
                    </a:cubicBezTo>
                    <a:cubicBezTo>
                      <a:pt x="151" y="156"/>
                      <a:pt x="150" y="156"/>
                      <a:pt x="148" y="155"/>
                    </a:cubicBezTo>
                    <a:cubicBezTo>
                      <a:pt x="136" y="148"/>
                      <a:pt x="136" y="148"/>
                      <a:pt x="136" y="148"/>
                    </a:cubicBezTo>
                    <a:cubicBezTo>
                      <a:pt x="130" y="152"/>
                      <a:pt x="124" y="156"/>
                      <a:pt x="117" y="159"/>
                    </a:cubicBezTo>
                    <a:cubicBezTo>
                      <a:pt x="117" y="174"/>
                      <a:pt x="117" y="174"/>
                      <a:pt x="117" y="174"/>
                    </a:cubicBezTo>
                    <a:cubicBezTo>
                      <a:pt x="117" y="177"/>
                      <a:pt x="114" y="180"/>
                      <a:pt x="111" y="180"/>
                    </a:cubicBezTo>
                    <a:close/>
                    <a:moveTo>
                      <a:pt x="75" y="168"/>
                    </a:moveTo>
                    <a:cubicBezTo>
                      <a:pt x="105" y="168"/>
                      <a:pt x="105" y="168"/>
                      <a:pt x="105" y="168"/>
                    </a:cubicBezTo>
                    <a:cubicBezTo>
                      <a:pt x="105" y="155"/>
                      <a:pt x="105" y="155"/>
                      <a:pt x="105" y="155"/>
                    </a:cubicBezTo>
                    <a:cubicBezTo>
                      <a:pt x="105" y="152"/>
                      <a:pt x="107" y="150"/>
                      <a:pt x="109" y="149"/>
                    </a:cubicBezTo>
                    <a:cubicBezTo>
                      <a:pt x="118" y="146"/>
                      <a:pt x="124" y="142"/>
                      <a:pt x="131" y="136"/>
                    </a:cubicBezTo>
                    <a:cubicBezTo>
                      <a:pt x="133" y="134"/>
                      <a:pt x="136" y="134"/>
                      <a:pt x="138" y="135"/>
                    </a:cubicBezTo>
                    <a:cubicBezTo>
                      <a:pt x="149" y="142"/>
                      <a:pt x="149" y="142"/>
                      <a:pt x="149" y="142"/>
                    </a:cubicBezTo>
                    <a:cubicBezTo>
                      <a:pt x="164" y="116"/>
                      <a:pt x="164" y="116"/>
                      <a:pt x="164" y="116"/>
                    </a:cubicBezTo>
                    <a:cubicBezTo>
                      <a:pt x="153" y="109"/>
                      <a:pt x="153" y="109"/>
                      <a:pt x="153" y="109"/>
                    </a:cubicBezTo>
                    <a:cubicBezTo>
                      <a:pt x="151" y="108"/>
                      <a:pt x="149" y="105"/>
                      <a:pt x="150" y="103"/>
                    </a:cubicBezTo>
                    <a:cubicBezTo>
                      <a:pt x="151" y="99"/>
                      <a:pt x="151" y="94"/>
                      <a:pt x="151" y="90"/>
                    </a:cubicBezTo>
                    <a:cubicBezTo>
                      <a:pt x="151" y="85"/>
                      <a:pt x="151" y="81"/>
                      <a:pt x="150" y="77"/>
                    </a:cubicBezTo>
                    <a:cubicBezTo>
                      <a:pt x="149" y="74"/>
                      <a:pt x="150" y="71"/>
                      <a:pt x="153" y="70"/>
                    </a:cubicBezTo>
                    <a:cubicBezTo>
                      <a:pt x="164" y="64"/>
                      <a:pt x="164" y="64"/>
                      <a:pt x="164" y="64"/>
                    </a:cubicBezTo>
                    <a:cubicBezTo>
                      <a:pt x="149" y="38"/>
                      <a:pt x="149" y="38"/>
                      <a:pt x="149" y="38"/>
                    </a:cubicBezTo>
                    <a:cubicBezTo>
                      <a:pt x="138" y="44"/>
                      <a:pt x="138" y="44"/>
                      <a:pt x="138" y="44"/>
                    </a:cubicBezTo>
                    <a:cubicBezTo>
                      <a:pt x="136" y="46"/>
                      <a:pt x="133" y="45"/>
                      <a:pt x="131" y="43"/>
                    </a:cubicBezTo>
                    <a:cubicBezTo>
                      <a:pt x="124" y="37"/>
                      <a:pt x="118" y="33"/>
                      <a:pt x="109" y="30"/>
                    </a:cubicBezTo>
                    <a:cubicBezTo>
                      <a:pt x="107" y="30"/>
                      <a:pt x="105" y="27"/>
                      <a:pt x="105" y="25"/>
                    </a:cubicBezTo>
                    <a:cubicBezTo>
                      <a:pt x="105" y="12"/>
                      <a:pt x="105" y="12"/>
                      <a:pt x="105" y="12"/>
                    </a:cubicBezTo>
                    <a:cubicBezTo>
                      <a:pt x="75" y="12"/>
                      <a:pt x="75" y="12"/>
                      <a:pt x="75" y="12"/>
                    </a:cubicBezTo>
                    <a:cubicBezTo>
                      <a:pt x="75" y="25"/>
                      <a:pt x="75" y="25"/>
                      <a:pt x="75" y="25"/>
                    </a:cubicBezTo>
                    <a:cubicBezTo>
                      <a:pt x="75" y="27"/>
                      <a:pt x="73" y="30"/>
                      <a:pt x="70" y="30"/>
                    </a:cubicBezTo>
                    <a:cubicBezTo>
                      <a:pt x="62" y="33"/>
                      <a:pt x="55" y="37"/>
                      <a:pt x="48" y="43"/>
                    </a:cubicBezTo>
                    <a:cubicBezTo>
                      <a:pt x="46" y="45"/>
                      <a:pt x="43" y="46"/>
                      <a:pt x="41" y="44"/>
                    </a:cubicBezTo>
                    <a:cubicBezTo>
                      <a:pt x="29" y="38"/>
                      <a:pt x="29" y="38"/>
                      <a:pt x="29" y="38"/>
                    </a:cubicBezTo>
                    <a:cubicBezTo>
                      <a:pt x="14" y="64"/>
                      <a:pt x="14" y="64"/>
                      <a:pt x="14" y="64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8" y="71"/>
                      <a:pt x="29" y="74"/>
                      <a:pt x="28" y="77"/>
                    </a:cubicBezTo>
                    <a:cubicBezTo>
                      <a:pt x="27" y="81"/>
                      <a:pt x="27" y="85"/>
                      <a:pt x="27" y="90"/>
                    </a:cubicBezTo>
                    <a:cubicBezTo>
                      <a:pt x="27" y="94"/>
                      <a:pt x="27" y="98"/>
                      <a:pt x="28" y="103"/>
                    </a:cubicBezTo>
                    <a:cubicBezTo>
                      <a:pt x="29" y="105"/>
                      <a:pt x="28" y="108"/>
                      <a:pt x="25" y="109"/>
                    </a:cubicBezTo>
                    <a:cubicBezTo>
                      <a:pt x="14" y="116"/>
                      <a:pt x="14" y="116"/>
                      <a:pt x="14" y="116"/>
                    </a:cubicBezTo>
                    <a:cubicBezTo>
                      <a:pt x="29" y="142"/>
                      <a:pt x="29" y="142"/>
                      <a:pt x="29" y="142"/>
                    </a:cubicBezTo>
                    <a:cubicBezTo>
                      <a:pt x="41" y="135"/>
                      <a:pt x="41" y="135"/>
                      <a:pt x="41" y="135"/>
                    </a:cubicBezTo>
                    <a:cubicBezTo>
                      <a:pt x="43" y="134"/>
                      <a:pt x="46" y="134"/>
                      <a:pt x="48" y="136"/>
                    </a:cubicBezTo>
                    <a:cubicBezTo>
                      <a:pt x="55" y="142"/>
                      <a:pt x="62" y="146"/>
                      <a:pt x="70" y="149"/>
                    </a:cubicBezTo>
                    <a:cubicBezTo>
                      <a:pt x="73" y="150"/>
                      <a:pt x="75" y="152"/>
                      <a:pt x="75" y="155"/>
                    </a:cubicBezTo>
                    <a:lnTo>
                      <a:pt x="75" y="1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</p:grpSp>
      </p:grpSp>
      <p:grpSp>
        <p:nvGrpSpPr>
          <p:cNvPr id="543" name="Group 542">
            <a:extLst>
              <a:ext uri="{FF2B5EF4-FFF2-40B4-BE49-F238E27FC236}">
                <a16:creationId xmlns:a16="http://schemas.microsoft.com/office/drawing/2014/main" id="{54723AAE-09A5-A58B-229B-278B3AB4E9D8}"/>
              </a:ext>
            </a:extLst>
          </p:cNvPr>
          <p:cNvGrpSpPr/>
          <p:nvPr/>
        </p:nvGrpSpPr>
        <p:grpSpPr>
          <a:xfrm>
            <a:off x="8140283" y="4938542"/>
            <a:ext cx="365760" cy="365760"/>
            <a:chOff x="-1580494" y="2486722"/>
            <a:chExt cx="365760" cy="365760"/>
          </a:xfrm>
        </p:grpSpPr>
        <p:sp>
          <p:nvSpPr>
            <p:cNvPr id="544" name="Oval 543">
              <a:extLst>
                <a:ext uri="{FF2B5EF4-FFF2-40B4-BE49-F238E27FC236}">
                  <a16:creationId xmlns:a16="http://schemas.microsoft.com/office/drawing/2014/main" id="{BB7602FF-3917-549F-0396-7168AF154B8D}"/>
                </a:ext>
              </a:extLst>
            </p:cNvPr>
            <p:cNvSpPr/>
            <p:nvPr/>
          </p:nvSpPr>
          <p:spPr>
            <a:xfrm>
              <a:off x="-1580494" y="2486722"/>
              <a:ext cx="365760" cy="365760"/>
            </a:xfrm>
            <a:prstGeom prst="ellipse">
              <a:avLst/>
            </a:prstGeom>
            <a:solidFill>
              <a:srgbClr val="D507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grpSp>
          <p:nvGrpSpPr>
            <p:cNvPr id="545" name="Group 544">
              <a:extLst>
                <a:ext uri="{FF2B5EF4-FFF2-40B4-BE49-F238E27FC236}">
                  <a16:creationId xmlns:a16="http://schemas.microsoft.com/office/drawing/2014/main" id="{60F5E4E5-C8DF-A15A-B803-339F4092473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-1480055" y="2531495"/>
              <a:ext cx="164883" cy="276214"/>
              <a:chOff x="579438" y="3989388"/>
              <a:chExt cx="371475" cy="622300"/>
            </a:xfrm>
            <a:solidFill>
              <a:schemeClr val="bg1"/>
            </a:solidFill>
          </p:grpSpPr>
          <p:sp>
            <p:nvSpPr>
              <p:cNvPr id="546" name="Freeform 9">
                <a:extLst>
                  <a:ext uri="{FF2B5EF4-FFF2-40B4-BE49-F238E27FC236}">
                    <a16:creationId xmlns:a16="http://schemas.microsoft.com/office/drawing/2014/main" id="{B90E4D83-F803-C218-A477-3D08855B96D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9438" y="3989388"/>
                <a:ext cx="371475" cy="622300"/>
              </a:xfrm>
              <a:custGeom>
                <a:avLst/>
                <a:gdLst>
                  <a:gd name="T0" fmla="*/ 46 w 56"/>
                  <a:gd name="T1" fmla="*/ 0 h 96"/>
                  <a:gd name="T2" fmla="*/ 10 w 56"/>
                  <a:gd name="T3" fmla="*/ 0 h 96"/>
                  <a:gd name="T4" fmla="*/ 0 w 56"/>
                  <a:gd name="T5" fmla="*/ 10 h 96"/>
                  <a:gd name="T6" fmla="*/ 0 w 56"/>
                  <a:gd name="T7" fmla="*/ 86 h 96"/>
                  <a:gd name="T8" fmla="*/ 10 w 56"/>
                  <a:gd name="T9" fmla="*/ 96 h 96"/>
                  <a:gd name="T10" fmla="*/ 46 w 56"/>
                  <a:gd name="T11" fmla="*/ 96 h 96"/>
                  <a:gd name="T12" fmla="*/ 56 w 56"/>
                  <a:gd name="T13" fmla="*/ 86 h 96"/>
                  <a:gd name="T14" fmla="*/ 56 w 56"/>
                  <a:gd name="T15" fmla="*/ 10 h 96"/>
                  <a:gd name="T16" fmla="*/ 46 w 56"/>
                  <a:gd name="T17" fmla="*/ 0 h 96"/>
                  <a:gd name="T18" fmla="*/ 4 w 56"/>
                  <a:gd name="T19" fmla="*/ 20 h 96"/>
                  <a:gd name="T20" fmla="*/ 52 w 56"/>
                  <a:gd name="T21" fmla="*/ 20 h 96"/>
                  <a:gd name="T22" fmla="*/ 52 w 56"/>
                  <a:gd name="T23" fmla="*/ 76 h 96"/>
                  <a:gd name="T24" fmla="*/ 4 w 56"/>
                  <a:gd name="T25" fmla="*/ 76 h 96"/>
                  <a:gd name="T26" fmla="*/ 4 w 56"/>
                  <a:gd name="T27" fmla="*/ 20 h 96"/>
                  <a:gd name="T28" fmla="*/ 10 w 56"/>
                  <a:gd name="T29" fmla="*/ 4 h 96"/>
                  <a:gd name="T30" fmla="*/ 46 w 56"/>
                  <a:gd name="T31" fmla="*/ 4 h 96"/>
                  <a:gd name="T32" fmla="*/ 52 w 56"/>
                  <a:gd name="T33" fmla="*/ 10 h 96"/>
                  <a:gd name="T34" fmla="*/ 52 w 56"/>
                  <a:gd name="T35" fmla="*/ 16 h 96"/>
                  <a:gd name="T36" fmla="*/ 4 w 56"/>
                  <a:gd name="T37" fmla="*/ 16 h 96"/>
                  <a:gd name="T38" fmla="*/ 4 w 56"/>
                  <a:gd name="T39" fmla="*/ 10 h 96"/>
                  <a:gd name="T40" fmla="*/ 10 w 56"/>
                  <a:gd name="T41" fmla="*/ 4 h 96"/>
                  <a:gd name="T42" fmla="*/ 46 w 56"/>
                  <a:gd name="T43" fmla="*/ 92 h 96"/>
                  <a:gd name="T44" fmla="*/ 10 w 56"/>
                  <a:gd name="T45" fmla="*/ 92 h 96"/>
                  <a:gd name="T46" fmla="*/ 4 w 56"/>
                  <a:gd name="T47" fmla="*/ 86 h 96"/>
                  <a:gd name="T48" fmla="*/ 4 w 56"/>
                  <a:gd name="T49" fmla="*/ 80 h 96"/>
                  <a:gd name="T50" fmla="*/ 52 w 56"/>
                  <a:gd name="T51" fmla="*/ 80 h 96"/>
                  <a:gd name="T52" fmla="*/ 52 w 56"/>
                  <a:gd name="T53" fmla="*/ 86 h 96"/>
                  <a:gd name="T54" fmla="*/ 46 w 56"/>
                  <a:gd name="T55" fmla="*/ 9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56" h="96">
                    <a:moveTo>
                      <a:pt x="46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0" y="92"/>
                      <a:pt x="4" y="96"/>
                      <a:pt x="10" y="96"/>
                    </a:cubicBezTo>
                    <a:cubicBezTo>
                      <a:pt x="46" y="96"/>
                      <a:pt x="46" y="96"/>
                      <a:pt x="46" y="96"/>
                    </a:cubicBezTo>
                    <a:cubicBezTo>
                      <a:pt x="52" y="96"/>
                      <a:pt x="56" y="92"/>
                      <a:pt x="56" y="86"/>
                    </a:cubicBezTo>
                    <a:cubicBezTo>
                      <a:pt x="56" y="10"/>
                      <a:pt x="56" y="10"/>
                      <a:pt x="56" y="10"/>
                    </a:cubicBezTo>
                    <a:cubicBezTo>
                      <a:pt x="56" y="4"/>
                      <a:pt x="52" y="0"/>
                      <a:pt x="46" y="0"/>
                    </a:cubicBezTo>
                    <a:close/>
                    <a:moveTo>
                      <a:pt x="4" y="20"/>
                    </a:moveTo>
                    <a:cubicBezTo>
                      <a:pt x="52" y="20"/>
                      <a:pt x="52" y="20"/>
                      <a:pt x="52" y="20"/>
                    </a:cubicBezTo>
                    <a:cubicBezTo>
                      <a:pt x="52" y="76"/>
                      <a:pt x="52" y="76"/>
                      <a:pt x="52" y="76"/>
                    </a:cubicBezTo>
                    <a:cubicBezTo>
                      <a:pt x="4" y="76"/>
                      <a:pt x="4" y="76"/>
                      <a:pt x="4" y="76"/>
                    </a:cubicBezTo>
                    <a:lnTo>
                      <a:pt x="4" y="20"/>
                    </a:lnTo>
                    <a:close/>
                    <a:moveTo>
                      <a:pt x="10" y="4"/>
                    </a:moveTo>
                    <a:cubicBezTo>
                      <a:pt x="46" y="4"/>
                      <a:pt x="46" y="4"/>
                      <a:pt x="46" y="4"/>
                    </a:cubicBezTo>
                    <a:cubicBezTo>
                      <a:pt x="49" y="4"/>
                      <a:pt x="52" y="7"/>
                      <a:pt x="52" y="10"/>
                    </a:cubicBezTo>
                    <a:cubicBezTo>
                      <a:pt x="52" y="16"/>
                      <a:pt x="52" y="16"/>
                      <a:pt x="52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lose/>
                    <a:moveTo>
                      <a:pt x="46" y="92"/>
                    </a:moveTo>
                    <a:cubicBezTo>
                      <a:pt x="10" y="92"/>
                      <a:pt x="10" y="92"/>
                      <a:pt x="10" y="92"/>
                    </a:cubicBezTo>
                    <a:cubicBezTo>
                      <a:pt x="7" y="92"/>
                      <a:pt x="4" y="89"/>
                      <a:pt x="4" y="86"/>
                    </a:cubicBezTo>
                    <a:cubicBezTo>
                      <a:pt x="4" y="80"/>
                      <a:pt x="4" y="80"/>
                      <a:pt x="4" y="80"/>
                    </a:cubicBezTo>
                    <a:cubicBezTo>
                      <a:pt x="52" y="80"/>
                      <a:pt x="52" y="80"/>
                      <a:pt x="52" y="80"/>
                    </a:cubicBezTo>
                    <a:cubicBezTo>
                      <a:pt x="52" y="86"/>
                      <a:pt x="52" y="86"/>
                      <a:pt x="52" y="86"/>
                    </a:cubicBezTo>
                    <a:cubicBezTo>
                      <a:pt x="52" y="89"/>
                      <a:pt x="49" y="92"/>
                      <a:pt x="46" y="9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47" name="Freeform 10">
                <a:extLst>
                  <a:ext uri="{FF2B5EF4-FFF2-40B4-BE49-F238E27FC236}">
                    <a16:creationId xmlns:a16="http://schemas.microsoft.com/office/drawing/2014/main" id="{3C06AA2A-32B0-244D-785C-FC560A254A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5800" y="4041775"/>
                <a:ext cx="158750" cy="25400"/>
              </a:xfrm>
              <a:custGeom>
                <a:avLst/>
                <a:gdLst>
                  <a:gd name="T0" fmla="*/ 2 w 24"/>
                  <a:gd name="T1" fmla="*/ 4 h 4"/>
                  <a:gd name="T2" fmla="*/ 22 w 24"/>
                  <a:gd name="T3" fmla="*/ 4 h 4"/>
                  <a:gd name="T4" fmla="*/ 24 w 24"/>
                  <a:gd name="T5" fmla="*/ 2 h 4"/>
                  <a:gd name="T6" fmla="*/ 22 w 24"/>
                  <a:gd name="T7" fmla="*/ 0 h 4"/>
                  <a:gd name="T8" fmla="*/ 2 w 24"/>
                  <a:gd name="T9" fmla="*/ 0 h 4"/>
                  <a:gd name="T10" fmla="*/ 0 w 24"/>
                  <a:gd name="T11" fmla="*/ 2 h 4"/>
                  <a:gd name="T12" fmla="*/ 2 w 24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4">
                    <a:moveTo>
                      <a:pt x="2" y="4"/>
                    </a:moveTo>
                    <a:cubicBezTo>
                      <a:pt x="22" y="4"/>
                      <a:pt x="22" y="4"/>
                      <a:pt x="22" y="4"/>
                    </a:cubicBezTo>
                    <a:cubicBezTo>
                      <a:pt x="23" y="4"/>
                      <a:pt x="24" y="3"/>
                      <a:pt x="24" y="2"/>
                    </a:cubicBezTo>
                    <a:cubicBezTo>
                      <a:pt x="24" y="1"/>
                      <a:pt x="23" y="0"/>
                      <a:pt x="2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48" name="Freeform 11">
                <a:extLst>
                  <a:ext uri="{FF2B5EF4-FFF2-40B4-BE49-F238E27FC236}">
                    <a16:creationId xmlns:a16="http://schemas.microsoft.com/office/drawing/2014/main" id="{09077884-B249-0A6B-7981-77709C8FA7D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8188" y="4521200"/>
                <a:ext cx="53975" cy="52388"/>
              </a:xfrm>
              <a:custGeom>
                <a:avLst/>
                <a:gdLst>
                  <a:gd name="T0" fmla="*/ 4 w 8"/>
                  <a:gd name="T1" fmla="*/ 0 h 8"/>
                  <a:gd name="T2" fmla="*/ 0 w 8"/>
                  <a:gd name="T3" fmla="*/ 4 h 8"/>
                  <a:gd name="T4" fmla="*/ 4 w 8"/>
                  <a:gd name="T5" fmla="*/ 8 h 8"/>
                  <a:gd name="T6" fmla="*/ 8 w 8"/>
                  <a:gd name="T7" fmla="*/ 4 h 8"/>
                  <a:gd name="T8" fmla="*/ 4 w 8"/>
                  <a:gd name="T9" fmla="*/ 0 h 8"/>
                  <a:gd name="T10" fmla="*/ 4 w 8"/>
                  <a:gd name="T11" fmla="*/ 6 h 8"/>
                  <a:gd name="T12" fmla="*/ 4 w 8"/>
                  <a:gd name="T13" fmla="*/ 4 h 8"/>
                  <a:gd name="T14" fmla="*/ 4 w 8"/>
                  <a:gd name="T15" fmla="*/ 4 h 8"/>
                  <a:gd name="T16" fmla="*/ 4 w 8"/>
                  <a:gd name="T17" fmla="*/ 6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" h="8">
                    <a:moveTo>
                      <a:pt x="4" y="0"/>
                    </a:move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2" y="8"/>
                      <a:pt x="4" y="8"/>
                    </a:cubicBezTo>
                    <a:cubicBezTo>
                      <a:pt x="6" y="8"/>
                      <a:pt x="8" y="6"/>
                      <a:pt x="8" y="4"/>
                    </a:cubicBezTo>
                    <a:cubicBezTo>
                      <a:pt x="8" y="2"/>
                      <a:pt x="6" y="0"/>
                      <a:pt x="4" y="0"/>
                    </a:cubicBezTo>
                    <a:close/>
                    <a:moveTo>
                      <a:pt x="4" y="6"/>
                    </a:move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lnTo>
                      <a:pt x="4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49" name="Freeform 12">
                <a:extLst>
                  <a:ext uri="{FF2B5EF4-FFF2-40B4-BE49-F238E27FC236}">
                    <a16:creationId xmlns:a16="http://schemas.microsoft.com/office/drawing/2014/main" id="{D33A3C38-B87E-8311-C94B-B4F6E4DFC1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813" y="4171950"/>
                <a:ext cx="212725" cy="25400"/>
              </a:xfrm>
              <a:custGeom>
                <a:avLst/>
                <a:gdLst>
                  <a:gd name="T0" fmla="*/ 2 w 32"/>
                  <a:gd name="T1" fmla="*/ 4 h 4"/>
                  <a:gd name="T2" fmla="*/ 30 w 32"/>
                  <a:gd name="T3" fmla="*/ 4 h 4"/>
                  <a:gd name="T4" fmla="*/ 32 w 32"/>
                  <a:gd name="T5" fmla="*/ 2 h 4"/>
                  <a:gd name="T6" fmla="*/ 30 w 32"/>
                  <a:gd name="T7" fmla="*/ 0 h 4"/>
                  <a:gd name="T8" fmla="*/ 2 w 32"/>
                  <a:gd name="T9" fmla="*/ 0 h 4"/>
                  <a:gd name="T10" fmla="*/ 0 w 32"/>
                  <a:gd name="T11" fmla="*/ 2 h 4"/>
                  <a:gd name="T12" fmla="*/ 2 w 3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4">
                    <a:moveTo>
                      <a:pt x="2" y="4"/>
                    </a:moveTo>
                    <a:cubicBezTo>
                      <a:pt x="30" y="4"/>
                      <a:pt x="30" y="4"/>
                      <a:pt x="30" y="4"/>
                    </a:cubicBezTo>
                    <a:cubicBezTo>
                      <a:pt x="31" y="4"/>
                      <a:pt x="32" y="3"/>
                      <a:pt x="32" y="2"/>
                    </a:cubicBezTo>
                    <a:cubicBezTo>
                      <a:pt x="32" y="1"/>
                      <a:pt x="31" y="0"/>
                      <a:pt x="30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50" name="Freeform 13">
                <a:extLst>
                  <a:ext uri="{FF2B5EF4-FFF2-40B4-BE49-F238E27FC236}">
                    <a16:creationId xmlns:a16="http://schemas.microsoft.com/office/drawing/2014/main" id="{0817862F-3749-1EA4-6888-248CAC97C6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813" y="4222750"/>
                <a:ext cx="212725" cy="26988"/>
              </a:xfrm>
              <a:custGeom>
                <a:avLst/>
                <a:gdLst>
                  <a:gd name="T0" fmla="*/ 30 w 32"/>
                  <a:gd name="T1" fmla="*/ 0 h 4"/>
                  <a:gd name="T2" fmla="*/ 2 w 32"/>
                  <a:gd name="T3" fmla="*/ 0 h 4"/>
                  <a:gd name="T4" fmla="*/ 0 w 32"/>
                  <a:gd name="T5" fmla="*/ 2 h 4"/>
                  <a:gd name="T6" fmla="*/ 2 w 32"/>
                  <a:gd name="T7" fmla="*/ 4 h 4"/>
                  <a:gd name="T8" fmla="*/ 30 w 32"/>
                  <a:gd name="T9" fmla="*/ 4 h 4"/>
                  <a:gd name="T10" fmla="*/ 32 w 32"/>
                  <a:gd name="T11" fmla="*/ 2 h 4"/>
                  <a:gd name="T12" fmla="*/ 30 w 32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4">
                    <a:moveTo>
                      <a:pt x="30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1" y="4"/>
                      <a:pt x="32" y="3"/>
                      <a:pt x="32" y="2"/>
                    </a:cubicBezTo>
                    <a:cubicBezTo>
                      <a:pt x="32" y="1"/>
                      <a:pt x="31" y="0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51" name="Freeform 14">
                <a:extLst>
                  <a:ext uri="{FF2B5EF4-FFF2-40B4-BE49-F238E27FC236}">
                    <a16:creationId xmlns:a16="http://schemas.microsoft.com/office/drawing/2014/main" id="{9B0E570E-2D8B-21F6-D478-87CCFCB0F5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813" y="4275138"/>
                <a:ext cx="212725" cy="25400"/>
              </a:xfrm>
              <a:custGeom>
                <a:avLst/>
                <a:gdLst>
                  <a:gd name="T0" fmla="*/ 30 w 32"/>
                  <a:gd name="T1" fmla="*/ 0 h 4"/>
                  <a:gd name="T2" fmla="*/ 2 w 32"/>
                  <a:gd name="T3" fmla="*/ 0 h 4"/>
                  <a:gd name="T4" fmla="*/ 0 w 32"/>
                  <a:gd name="T5" fmla="*/ 2 h 4"/>
                  <a:gd name="T6" fmla="*/ 2 w 32"/>
                  <a:gd name="T7" fmla="*/ 4 h 4"/>
                  <a:gd name="T8" fmla="*/ 30 w 32"/>
                  <a:gd name="T9" fmla="*/ 4 h 4"/>
                  <a:gd name="T10" fmla="*/ 32 w 32"/>
                  <a:gd name="T11" fmla="*/ 2 h 4"/>
                  <a:gd name="T12" fmla="*/ 30 w 32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4">
                    <a:moveTo>
                      <a:pt x="30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1" y="4"/>
                      <a:pt x="32" y="3"/>
                      <a:pt x="32" y="2"/>
                    </a:cubicBezTo>
                    <a:cubicBezTo>
                      <a:pt x="32" y="1"/>
                      <a:pt x="31" y="0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52" name="Freeform 15">
                <a:extLst>
                  <a:ext uri="{FF2B5EF4-FFF2-40B4-BE49-F238E27FC236}">
                    <a16:creationId xmlns:a16="http://schemas.microsoft.com/office/drawing/2014/main" id="{E04CF45E-2585-EB03-9B07-0156C69279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813" y="4325938"/>
                <a:ext cx="212725" cy="26988"/>
              </a:xfrm>
              <a:custGeom>
                <a:avLst/>
                <a:gdLst>
                  <a:gd name="T0" fmla="*/ 30 w 32"/>
                  <a:gd name="T1" fmla="*/ 0 h 4"/>
                  <a:gd name="T2" fmla="*/ 2 w 32"/>
                  <a:gd name="T3" fmla="*/ 0 h 4"/>
                  <a:gd name="T4" fmla="*/ 0 w 32"/>
                  <a:gd name="T5" fmla="*/ 2 h 4"/>
                  <a:gd name="T6" fmla="*/ 2 w 32"/>
                  <a:gd name="T7" fmla="*/ 4 h 4"/>
                  <a:gd name="T8" fmla="*/ 30 w 32"/>
                  <a:gd name="T9" fmla="*/ 4 h 4"/>
                  <a:gd name="T10" fmla="*/ 32 w 32"/>
                  <a:gd name="T11" fmla="*/ 2 h 4"/>
                  <a:gd name="T12" fmla="*/ 30 w 32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4">
                    <a:moveTo>
                      <a:pt x="30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1" y="4"/>
                      <a:pt x="32" y="3"/>
                      <a:pt x="32" y="2"/>
                    </a:cubicBezTo>
                    <a:cubicBezTo>
                      <a:pt x="32" y="1"/>
                      <a:pt x="31" y="0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53" name="Freeform 16">
                <a:extLst>
                  <a:ext uri="{FF2B5EF4-FFF2-40B4-BE49-F238E27FC236}">
                    <a16:creationId xmlns:a16="http://schemas.microsoft.com/office/drawing/2014/main" id="{19B949B2-7E87-5220-F48C-CA3392416A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813" y="4378325"/>
                <a:ext cx="133350" cy="25400"/>
              </a:xfrm>
              <a:custGeom>
                <a:avLst/>
                <a:gdLst>
                  <a:gd name="T0" fmla="*/ 18 w 20"/>
                  <a:gd name="T1" fmla="*/ 0 h 4"/>
                  <a:gd name="T2" fmla="*/ 2 w 20"/>
                  <a:gd name="T3" fmla="*/ 0 h 4"/>
                  <a:gd name="T4" fmla="*/ 0 w 20"/>
                  <a:gd name="T5" fmla="*/ 2 h 4"/>
                  <a:gd name="T6" fmla="*/ 2 w 20"/>
                  <a:gd name="T7" fmla="*/ 4 h 4"/>
                  <a:gd name="T8" fmla="*/ 18 w 20"/>
                  <a:gd name="T9" fmla="*/ 4 h 4"/>
                  <a:gd name="T10" fmla="*/ 20 w 20"/>
                  <a:gd name="T11" fmla="*/ 2 h 4"/>
                  <a:gd name="T12" fmla="*/ 18 w 20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4">
                    <a:moveTo>
                      <a:pt x="18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9" y="4"/>
                      <a:pt x="20" y="3"/>
                      <a:pt x="20" y="2"/>
                    </a:cubicBezTo>
                    <a:cubicBezTo>
                      <a:pt x="20" y="1"/>
                      <a:pt x="19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</p:grpSp>
      </p:grpSp>
      <p:grpSp>
        <p:nvGrpSpPr>
          <p:cNvPr id="554" name="Group 553">
            <a:extLst>
              <a:ext uri="{FF2B5EF4-FFF2-40B4-BE49-F238E27FC236}">
                <a16:creationId xmlns:a16="http://schemas.microsoft.com/office/drawing/2014/main" id="{A9C8E342-6841-5817-B696-2BAFE8EF9610}"/>
              </a:ext>
            </a:extLst>
          </p:cNvPr>
          <p:cNvGrpSpPr/>
          <p:nvPr/>
        </p:nvGrpSpPr>
        <p:grpSpPr>
          <a:xfrm>
            <a:off x="9575438" y="4666279"/>
            <a:ext cx="365760" cy="365760"/>
            <a:chOff x="-1363891" y="1696665"/>
            <a:chExt cx="365760" cy="365760"/>
          </a:xfrm>
        </p:grpSpPr>
        <p:sp>
          <p:nvSpPr>
            <p:cNvPr id="555" name="Oval 554">
              <a:extLst>
                <a:ext uri="{FF2B5EF4-FFF2-40B4-BE49-F238E27FC236}">
                  <a16:creationId xmlns:a16="http://schemas.microsoft.com/office/drawing/2014/main" id="{345CFD73-F90D-3CDA-747B-75E4310EEBE6}"/>
                </a:ext>
              </a:extLst>
            </p:cNvPr>
            <p:cNvSpPr/>
            <p:nvPr/>
          </p:nvSpPr>
          <p:spPr>
            <a:xfrm>
              <a:off x="-1363891" y="1696665"/>
              <a:ext cx="365760" cy="365760"/>
            </a:xfrm>
            <a:prstGeom prst="ellipse">
              <a:avLst/>
            </a:prstGeom>
            <a:solidFill>
              <a:srgbClr val="00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grpSp>
          <p:nvGrpSpPr>
            <p:cNvPr id="556" name="Group 73">
              <a:extLst>
                <a:ext uri="{FF2B5EF4-FFF2-40B4-BE49-F238E27FC236}">
                  <a16:creationId xmlns:a16="http://schemas.microsoft.com/office/drawing/2014/main" id="{997D0C33-787F-364F-4C3E-62D99F2991B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-1304886" y="1756250"/>
              <a:ext cx="247751" cy="246591"/>
              <a:chOff x="2400" y="1721"/>
              <a:chExt cx="427" cy="425"/>
            </a:xfrm>
            <a:solidFill>
              <a:schemeClr val="bg1"/>
            </a:solidFill>
          </p:grpSpPr>
          <p:sp>
            <p:nvSpPr>
              <p:cNvPr id="557" name="Freeform 74">
                <a:extLst>
                  <a:ext uri="{FF2B5EF4-FFF2-40B4-BE49-F238E27FC236}">
                    <a16:creationId xmlns:a16="http://schemas.microsoft.com/office/drawing/2014/main" id="{ABD6AE0D-23B1-DC42-F2E1-7C32BFA8E5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00" y="1721"/>
                <a:ext cx="427" cy="425"/>
              </a:xfrm>
              <a:custGeom>
                <a:avLst/>
                <a:gdLst>
                  <a:gd name="T0" fmla="*/ 234 w 288"/>
                  <a:gd name="T1" fmla="*/ 288 h 288"/>
                  <a:gd name="T2" fmla="*/ 54 w 288"/>
                  <a:gd name="T3" fmla="*/ 288 h 288"/>
                  <a:gd name="T4" fmla="*/ 0 w 288"/>
                  <a:gd name="T5" fmla="*/ 234 h 288"/>
                  <a:gd name="T6" fmla="*/ 0 w 288"/>
                  <a:gd name="T7" fmla="*/ 54 h 288"/>
                  <a:gd name="T8" fmla="*/ 54 w 288"/>
                  <a:gd name="T9" fmla="*/ 0 h 288"/>
                  <a:gd name="T10" fmla="*/ 234 w 288"/>
                  <a:gd name="T11" fmla="*/ 0 h 288"/>
                  <a:gd name="T12" fmla="*/ 288 w 288"/>
                  <a:gd name="T13" fmla="*/ 54 h 288"/>
                  <a:gd name="T14" fmla="*/ 288 w 288"/>
                  <a:gd name="T15" fmla="*/ 234 h 288"/>
                  <a:gd name="T16" fmla="*/ 234 w 288"/>
                  <a:gd name="T17" fmla="*/ 288 h 288"/>
                  <a:gd name="T18" fmla="*/ 54 w 288"/>
                  <a:gd name="T19" fmla="*/ 12 h 288"/>
                  <a:gd name="T20" fmla="*/ 12 w 288"/>
                  <a:gd name="T21" fmla="*/ 54 h 288"/>
                  <a:gd name="T22" fmla="*/ 12 w 288"/>
                  <a:gd name="T23" fmla="*/ 234 h 288"/>
                  <a:gd name="T24" fmla="*/ 54 w 288"/>
                  <a:gd name="T25" fmla="*/ 276 h 288"/>
                  <a:gd name="T26" fmla="*/ 234 w 288"/>
                  <a:gd name="T27" fmla="*/ 276 h 288"/>
                  <a:gd name="T28" fmla="*/ 276 w 288"/>
                  <a:gd name="T29" fmla="*/ 234 h 288"/>
                  <a:gd name="T30" fmla="*/ 276 w 288"/>
                  <a:gd name="T31" fmla="*/ 54 h 288"/>
                  <a:gd name="T32" fmla="*/ 234 w 288"/>
                  <a:gd name="T33" fmla="*/ 12 h 288"/>
                  <a:gd name="T34" fmla="*/ 54 w 288"/>
                  <a:gd name="T35" fmla="*/ 12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88" h="288">
                    <a:moveTo>
                      <a:pt x="234" y="288"/>
                    </a:moveTo>
                    <a:cubicBezTo>
                      <a:pt x="54" y="288"/>
                      <a:pt x="54" y="288"/>
                      <a:pt x="54" y="288"/>
                    </a:cubicBezTo>
                    <a:cubicBezTo>
                      <a:pt x="24" y="288"/>
                      <a:pt x="0" y="263"/>
                      <a:pt x="0" y="234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0" y="24"/>
                      <a:pt x="24" y="0"/>
                      <a:pt x="54" y="0"/>
                    </a:cubicBezTo>
                    <a:cubicBezTo>
                      <a:pt x="234" y="0"/>
                      <a:pt x="234" y="0"/>
                      <a:pt x="234" y="0"/>
                    </a:cubicBezTo>
                    <a:cubicBezTo>
                      <a:pt x="264" y="0"/>
                      <a:pt x="288" y="24"/>
                      <a:pt x="288" y="54"/>
                    </a:cubicBezTo>
                    <a:cubicBezTo>
                      <a:pt x="288" y="234"/>
                      <a:pt x="288" y="234"/>
                      <a:pt x="288" y="234"/>
                    </a:cubicBezTo>
                    <a:cubicBezTo>
                      <a:pt x="288" y="263"/>
                      <a:pt x="264" y="288"/>
                      <a:pt x="234" y="288"/>
                    </a:cubicBezTo>
                    <a:close/>
                    <a:moveTo>
                      <a:pt x="54" y="12"/>
                    </a:moveTo>
                    <a:cubicBezTo>
                      <a:pt x="31" y="12"/>
                      <a:pt x="12" y="30"/>
                      <a:pt x="12" y="54"/>
                    </a:cubicBezTo>
                    <a:cubicBezTo>
                      <a:pt x="12" y="234"/>
                      <a:pt x="12" y="234"/>
                      <a:pt x="12" y="234"/>
                    </a:cubicBezTo>
                    <a:cubicBezTo>
                      <a:pt x="12" y="257"/>
                      <a:pt x="31" y="276"/>
                      <a:pt x="54" y="276"/>
                    </a:cubicBezTo>
                    <a:cubicBezTo>
                      <a:pt x="234" y="276"/>
                      <a:pt x="234" y="276"/>
                      <a:pt x="234" y="276"/>
                    </a:cubicBezTo>
                    <a:cubicBezTo>
                      <a:pt x="257" y="276"/>
                      <a:pt x="276" y="257"/>
                      <a:pt x="276" y="234"/>
                    </a:cubicBezTo>
                    <a:cubicBezTo>
                      <a:pt x="276" y="54"/>
                      <a:pt x="276" y="54"/>
                      <a:pt x="276" y="54"/>
                    </a:cubicBezTo>
                    <a:cubicBezTo>
                      <a:pt x="276" y="30"/>
                      <a:pt x="257" y="12"/>
                      <a:pt x="234" y="12"/>
                    </a:cubicBezTo>
                    <a:lnTo>
                      <a:pt x="54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58" name="Freeform 75">
                <a:extLst>
                  <a:ext uri="{FF2B5EF4-FFF2-40B4-BE49-F238E27FC236}">
                    <a16:creationId xmlns:a16="http://schemas.microsoft.com/office/drawing/2014/main" id="{9D6512B0-22B5-E39E-7E87-E0BCA086D0B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57" y="1886"/>
                <a:ext cx="111" cy="111"/>
              </a:xfrm>
              <a:custGeom>
                <a:avLst/>
                <a:gdLst>
                  <a:gd name="T0" fmla="*/ 38 w 75"/>
                  <a:gd name="T1" fmla="*/ 75 h 75"/>
                  <a:gd name="T2" fmla="*/ 0 w 75"/>
                  <a:gd name="T3" fmla="*/ 38 h 75"/>
                  <a:gd name="T4" fmla="*/ 38 w 75"/>
                  <a:gd name="T5" fmla="*/ 0 h 75"/>
                  <a:gd name="T6" fmla="*/ 75 w 75"/>
                  <a:gd name="T7" fmla="*/ 38 h 75"/>
                  <a:gd name="T8" fmla="*/ 38 w 75"/>
                  <a:gd name="T9" fmla="*/ 75 h 75"/>
                  <a:gd name="T10" fmla="*/ 38 w 75"/>
                  <a:gd name="T11" fmla="*/ 12 h 75"/>
                  <a:gd name="T12" fmla="*/ 12 w 75"/>
                  <a:gd name="T13" fmla="*/ 38 h 75"/>
                  <a:gd name="T14" fmla="*/ 38 w 75"/>
                  <a:gd name="T15" fmla="*/ 63 h 75"/>
                  <a:gd name="T16" fmla="*/ 63 w 75"/>
                  <a:gd name="T17" fmla="*/ 38 h 75"/>
                  <a:gd name="T18" fmla="*/ 38 w 75"/>
                  <a:gd name="T19" fmla="*/ 12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5" h="75">
                    <a:moveTo>
                      <a:pt x="38" y="75"/>
                    </a:moveTo>
                    <a:cubicBezTo>
                      <a:pt x="17" y="75"/>
                      <a:pt x="0" y="58"/>
                      <a:pt x="0" y="38"/>
                    </a:cubicBezTo>
                    <a:cubicBezTo>
                      <a:pt x="0" y="17"/>
                      <a:pt x="17" y="0"/>
                      <a:pt x="38" y="0"/>
                    </a:cubicBezTo>
                    <a:cubicBezTo>
                      <a:pt x="59" y="0"/>
                      <a:pt x="75" y="17"/>
                      <a:pt x="75" y="38"/>
                    </a:cubicBezTo>
                    <a:cubicBezTo>
                      <a:pt x="75" y="58"/>
                      <a:pt x="59" y="75"/>
                      <a:pt x="38" y="75"/>
                    </a:cubicBezTo>
                    <a:close/>
                    <a:moveTo>
                      <a:pt x="38" y="12"/>
                    </a:moveTo>
                    <a:cubicBezTo>
                      <a:pt x="24" y="12"/>
                      <a:pt x="12" y="24"/>
                      <a:pt x="12" y="38"/>
                    </a:cubicBezTo>
                    <a:cubicBezTo>
                      <a:pt x="12" y="52"/>
                      <a:pt x="24" y="63"/>
                      <a:pt x="38" y="63"/>
                    </a:cubicBezTo>
                    <a:cubicBezTo>
                      <a:pt x="52" y="63"/>
                      <a:pt x="63" y="52"/>
                      <a:pt x="63" y="38"/>
                    </a:cubicBezTo>
                    <a:cubicBezTo>
                      <a:pt x="63" y="24"/>
                      <a:pt x="52" y="12"/>
                      <a:pt x="3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59" name="Freeform 76">
                <a:extLst>
                  <a:ext uri="{FF2B5EF4-FFF2-40B4-BE49-F238E27FC236}">
                    <a16:creationId xmlns:a16="http://schemas.microsoft.com/office/drawing/2014/main" id="{D0BAA600-3A5E-93A3-6F7E-C941958F29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82" y="1809"/>
                <a:ext cx="265" cy="266"/>
              </a:xfrm>
              <a:custGeom>
                <a:avLst/>
                <a:gdLst>
                  <a:gd name="T0" fmla="*/ 69 w 179"/>
                  <a:gd name="T1" fmla="*/ 180 h 180"/>
                  <a:gd name="T2" fmla="*/ 63 w 179"/>
                  <a:gd name="T3" fmla="*/ 159 h 180"/>
                  <a:gd name="T4" fmla="*/ 30 w 179"/>
                  <a:gd name="T5" fmla="*/ 155 h 180"/>
                  <a:gd name="T6" fmla="*/ 1 w 179"/>
                  <a:gd name="T7" fmla="*/ 116 h 180"/>
                  <a:gd name="T8" fmla="*/ 3 w 179"/>
                  <a:gd name="T9" fmla="*/ 108 h 180"/>
                  <a:gd name="T10" fmla="*/ 15 w 179"/>
                  <a:gd name="T11" fmla="*/ 90 h 180"/>
                  <a:gd name="T12" fmla="*/ 3 w 179"/>
                  <a:gd name="T13" fmla="*/ 71 h 180"/>
                  <a:gd name="T14" fmla="*/ 1 w 179"/>
                  <a:gd name="T15" fmla="*/ 63 h 180"/>
                  <a:gd name="T16" fmla="*/ 30 w 179"/>
                  <a:gd name="T17" fmla="*/ 24 h 180"/>
                  <a:gd name="T18" fmla="*/ 63 w 179"/>
                  <a:gd name="T19" fmla="*/ 20 h 180"/>
                  <a:gd name="T20" fmla="*/ 69 w 179"/>
                  <a:gd name="T21" fmla="*/ 0 h 180"/>
                  <a:gd name="T22" fmla="*/ 117 w 179"/>
                  <a:gd name="T23" fmla="*/ 6 h 180"/>
                  <a:gd name="T24" fmla="*/ 136 w 179"/>
                  <a:gd name="T25" fmla="*/ 32 h 180"/>
                  <a:gd name="T26" fmla="*/ 153 w 179"/>
                  <a:gd name="T27" fmla="*/ 24 h 180"/>
                  <a:gd name="T28" fmla="*/ 177 w 179"/>
                  <a:gd name="T29" fmla="*/ 63 h 180"/>
                  <a:gd name="T30" fmla="*/ 175 w 179"/>
                  <a:gd name="T31" fmla="*/ 71 h 180"/>
                  <a:gd name="T32" fmla="*/ 163 w 179"/>
                  <a:gd name="T33" fmla="*/ 90 h 180"/>
                  <a:gd name="T34" fmla="*/ 175 w 179"/>
                  <a:gd name="T35" fmla="*/ 108 h 180"/>
                  <a:gd name="T36" fmla="*/ 157 w 179"/>
                  <a:gd name="T37" fmla="*/ 153 h 180"/>
                  <a:gd name="T38" fmla="*/ 148 w 179"/>
                  <a:gd name="T39" fmla="*/ 155 h 180"/>
                  <a:gd name="T40" fmla="*/ 117 w 179"/>
                  <a:gd name="T41" fmla="*/ 159 h 180"/>
                  <a:gd name="T42" fmla="*/ 111 w 179"/>
                  <a:gd name="T43" fmla="*/ 180 h 180"/>
                  <a:gd name="T44" fmla="*/ 105 w 179"/>
                  <a:gd name="T45" fmla="*/ 168 h 180"/>
                  <a:gd name="T46" fmla="*/ 109 w 179"/>
                  <a:gd name="T47" fmla="*/ 149 h 180"/>
                  <a:gd name="T48" fmla="*/ 138 w 179"/>
                  <a:gd name="T49" fmla="*/ 135 h 180"/>
                  <a:gd name="T50" fmla="*/ 164 w 179"/>
                  <a:gd name="T51" fmla="*/ 116 h 180"/>
                  <a:gd name="T52" fmla="*/ 150 w 179"/>
                  <a:gd name="T53" fmla="*/ 103 h 180"/>
                  <a:gd name="T54" fmla="*/ 150 w 179"/>
                  <a:gd name="T55" fmla="*/ 77 h 180"/>
                  <a:gd name="T56" fmla="*/ 164 w 179"/>
                  <a:gd name="T57" fmla="*/ 64 h 180"/>
                  <a:gd name="T58" fmla="*/ 138 w 179"/>
                  <a:gd name="T59" fmla="*/ 44 h 180"/>
                  <a:gd name="T60" fmla="*/ 109 w 179"/>
                  <a:gd name="T61" fmla="*/ 30 h 180"/>
                  <a:gd name="T62" fmla="*/ 105 w 179"/>
                  <a:gd name="T63" fmla="*/ 12 h 180"/>
                  <a:gd name="T64" fmla="*/ 75 w 179"/>
                  <a:gd name="T65" fmla="*/ 25 h 180"/>
                  <a:gd name="T66" fmla="*/ 48 w 179"/>
                  <a:gd name="T67" fmla="*/ 43 h 180"/>
                  <a:gd name="T68" fmla="*/ 29 w 179"/>
                  <a:gd name="T69" fmla="*/ 38 h 180"/>
                  <a:gd name="T70" fmla="*/ 25 w 179"/>
                  <a:gd name="T71" fmla="*/ 70 h 180"/>
                  <a:gd name="T72" fmla="*/ 27 w 179"/>
                  <a:gd name="T73" fmla="*/ 90 h 180"/>
                  <a:gd name="T74" fmla="*/ 25 w 179"/>
                  <a:gd name="T75" fmla="*/ 109 h 180"/>
                  <a:gd name="T76" fmla="*/ 29 w 179"/>
                  <a:gd name="T77" fmla="*/ 142 h 180"/>
                  <a:gd name="T78" fmla="*/ 48 w 179"/>
                  <a:gd name="T79" fmla="*/ 136 h 180"/>
                  <a:gd name="T80" fmla="*/ 75 w 179"/>
                  <a:gd name="T81" fmla="*/ 155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79" h="180">
                    <a:moveTo>
                      <a:pt x="111" y="180"/>
                    </a:moveTo>
                    <a:cubicBezTo>
                      <a:pt x="69" y="180"/>
                      <a:pt x="69" y="180"/>
                      <a:pt x="69" y="180"/>
                    </a:cubicBezTo>
                    <a:cubicBezTo>
                      <a:pt x="65" y="180"/>
                      <a:pt x="63" y="177"/>
                      <a:pt x="63" y="174"/>
                    </a:cubicBezTo>
                    <a:cubicBezTo>
                      <a:pt x="63" y="159"/>
                      <a:pt x="63" y="159"/>
                      <a:pt x="63" y="159"/>
                    </a:cubicBezTo>
                    <a:cubicBezTo>
                      <a:pt x="56" y="156"/>
                      <a:pt x="49" y="153"/>
                      <a:pt x="43" y="148"/>
                    </a:cubicBezTo>
                    <a:cubicBezTo>
                      <a:pt x="30" y="155"/>
                      <a:pt x="30" y="155"/>
                      <a:pt x="30" y="155"/>
                    </a:cubicBezTo>
                    <a:cubicBezTo>
                      <a:pt x="27" y="157"/>
                      <a:pt x="23" y="156"/>
                      <a:pt x="22" y="153"/>
                    </a:cubicBezTo>
                    <a:cubicBezTo>
                      <a:pt x="1" y="116"/>
                      <a:pt x="1" y="116"/>
                      <a:pt x="1" y="116"/>
                    </a:cubicBezTo>
                    <a:cubicBezTo>
                      <a:pt x="0" y="115"/>
                      <a:pt x="0" y="113"/>
                      <a:pt x="0" y="112"/>
                    </a:cubicBezTo>
                    <a:cubicBezTo>
                      <a:pt x="0" y="110"/>
                      <a:pt x="1" y="109"/>
                      <a:pt x="3" y="108"/>
                    </a:cubicBezTo>
                    <a:cubicBezTo>
                      <a:pt x="16" y="101"/>
                      <a:pt x="16" y="101"/>
                      <a:pt x="16" y="101"/>
                    </a:cubicBezTo>
                    <a:cubicBezTo>
                      <a:pt x="15" y="97"/>
                      <a:pt x="15" y="93"/>
                      <a:pt x="15" y="90"/>
                    </a:cubicBezTo>
                    <a:cubicBezTo>
                      <a:pt x="15" y="86"/>
                      <a:pt x="15" y="82"/>
                      <a:pt x="16" y="78"/>
                    </a:cubicBezTo>
                    <a:cubicBezTo>
                      <a:pt x="3" y="71"/>
                      <a:pt x="3" y="71"/>
                      <a:pt x="3" y="71"/>
                    </a:cubicBezTo>
                    <a:cubicBezTo>
                      <a:pt x="1" y="70"/>
                      <a:pt x="0" y="69"/>
                      <a:pt x="0" y="67"/>
                    </a:cubicBezTo>
                    <a:cubicBezTo>
                      <a:pt x="0" y="66"/>
                      <a:pt x="0" y="64"/>
                      <a:pt x="1" y="63"/>
                    </a:cubicBezTo>
                    <a:cubicBezTo>
                      <a:pt x="22" y="26"/>
                      <a:pt x="22" y="26"/>
                      <a:pt x="22" y="26"/>
                    </a:cubicBezTo>
                    <a:cubicBezTo>
                      <a:pt x="23" y="24"/>
                      <a:pt x="27" y="23"/>
                      <a:pt x="30" y="24"/>
                    </a:cubicBezTo>
                    <a:cubicBezTo>
                      <a:pt x="43" y="32"/>
                      <a:pt x="43" y="32"/>
                      <a:pt x="43" y="32"/>
                    </a:cubicBezTo>
                    <a:cubicBezTo>
                      <a:pt x="49" y="27"/>
                      <a:pt x="56" y="23"/>
                      <a:pt x="63" y="20"/>
                    </a:cubicBezTo>
                    <a:cubicBezTo>
                      <a:pt x="63" y="6"/>
                      <a:pt x="63" y="6"/>
                      <a:pt x="63" y="6"/>
                    </a:cubicBezTo>
                    <a:cubicBezTo>
                      <a:pt x="63" y="2"/>
                      <a:pt x="65" y="0"/>
                      <a:pt x="69" y="0"/>
                    </a:cubicBezTo>
                    <a:cubicBezTo>
                      <a:pt x="111" y="0"/>
                      <a:pt x="111" y="0"/>
                      <a:pt x="111" y="0"/>
                    </a:cubicBezTo>
                    <a:cubicBezTo>
                      <a:pt x="114" y="0"/>
                      <a:pt x="117" y="2"/>
                      <a:pt x="117" y="6"/>
                    </a:cubicBezTo>
                    <a:cubicBezTo>
                      <a:pt x="117" y="20"/>
                      <a:pt x="117" y="20"/>
                      <a:pt x="117" y="20"/>
                    </a:cubicBezTo>
                    <a:cubicBezTo>
                      <a:pt x="124" y="23"/>
                      <a:pt x="130" y="27"/>
                      <a:pt x="136" y="32"/>
                    </a:cubicBezTo>
                    <a:cubicBezTo>
                      <a:pt x="148" y="24"/>
                      <a:pt x="148" y="24"/>
                      <a:pt x="148" y="24"/>
                    </a:cubicBezTo>
                    <a:cubicBezTo>
                      <a:pt x="150" y="23"/>
                      <a:pt x="151" y="23"/>
                      <a:pt x="153" y="24"/>
                    </a:cubicBezTo>
                    <a:cubicBezTo>
                      <a:pt x="154" y="24"/>
                      <a:pt x="156" y="25"/>
                      <a:pt x="156" y="26"/>
                    </a:cubicBezTo>
                    <a:cubicBezTo>
                      <a:pt x="177" y="63"/>
                      <a:pt x="177" y="63"/>
                      <a:pt x="177" y="63"/>
                    </a:cubicBezTo>
                    <a:cubicBezTo>
                      <a:pt x="178" y="64"/>
                      <a:pt x="178" y="66"/>
                      <a:pt x="178" y="67"/>
                    </a:cubicBezTo>
                    <a:cubicBezTo>
                      <a:pt x="178" y="69"/>
                      <a:pt x="177" y="70"/>
                      <a:pt x="175" y="71"/>
                    </a:cubicBezTo>
                    <a:cubicBezTo>
                      <a:pt x="162" y="78"/>
                      <a:pt x="162" y="78"/>
                      <a:pt x="162" y="78"/>
                    </a:cubicBezTo>
                    <a:cubicBezTo>
                      <a:pt x="163" y="82"/>
                      <a:pt x="163" y="86"/>
                      <a:pt x="163" y="90"/>
                    </a:cubicBezTo>
                    <a:cubicBezTo>
                      <a:pt x="163" y="93"/>
                      <a:pt x="163" y="97"/>
                      <a:pt x="162" y="101"/>
                    </a:cubicBezTo>
                    <a:cubicBezTo>
                      <a:pt x="175" y="108"/>
                      <a:pt x="175" y="108"/>
                      <a:pt x="175" y="108"/>
                    </a:cubicBezTo>
                    <a:cubicBezTo>
                      <a:pt x="178" y="110"/>
                      <a:pt x="179" y="114"/>
                      <a:pt x="178" y="116"/>
                    </a:cubicBezTo>
                    <a:cubicBezTo>
                      <a:pt x="157" y="153"/>
                      <a:pt x="157" y="153"/>
                      <a:pt x="157" y="153"/>
                    </a:cubicBezTo>
                    <a:cubicBezTo>
                      <a:pt x="156" y="154"/>
                      <a:pt x="154" y="155"/>
                      <a:pt x="153" y="156"/>
                    </a:cubicBezTo>
                    <a:cubicBezTo>
                      <a:pt x="151" y="156"/>
                      <a:pt x="150" y="156"/>
                      <a:pt x="148" y="155"/>
                    </a:cubicBezTo>
                    <a:cubicBezTo>
                      <a:pt x="136" y="148"/>
                      <a:pt x="136" y="148"/>
                      <a:pt x="136" y="148"/>
                    </a:cubicBezTo>
                    <a:cubicBezTo>
                      <a:pt x="130" y="152"/>
                      <a:pt x="124" y="156"/>
                      <a:pt x="117" y="159"/>
                    </a:cubicBezTo>
                    <a:cubicBezTo>
                      <a:pt x="117" y="174"/>
                      <a:pt x="117" y="174"/>
                      <a:pt x="117" y="174"/>
                    </a:cubicBezTo>
                    <a:cubicBezTo>
                      <a:pt x="117" y="177"/>
                      <a:pt x="114" y="180"/>
                      <a:pt x="111" y="180"/>
                    </a:cubicBezTo>
                    <a:close/>
                    <a:moveTo>
                      <a:pt x="75" y="168"/>
                    </a:moveTo>
                    <a:cubicBezTo>
                      <a:pt x="105" y="168"/>
                      <a:pt x="105" y="168"/>
                      <a:pt x="105" y="168"/>
                    </a:cubicBezTo>
                    <a:cubicBezTo>
                      <a:pt x="105" y="155"/>
                      <a:pt x="105" y="155"/>
                      <a:pt x="105" y="155"/>
                    </a:cubicBezTo>
                    <a:cubicBezTo>
                      <a:pt x="105" y="152"/>
                      <a:pt x="107" y="150"/>
                      <a:pt x="109" y="149"/>
                    </a:cubicBezTo>
                    <a:cubicBezTo>
                      <a:pt x="118" y="146"/>
                      <a:pt x="124" y="142"/>
                      <a:pt x="131" y="136"/>
                    </a:cubicBezTo>
                    <a:cubicBezTo>
                      <a:pt x="133" y="134"/>
                      <a:pt x="136" y="134"/>
                      <a:pt x="138" y="135"/>
                    </a:cubicBezTo>
                    <a:cubicBezTo>
                      <a:pt x="149" y="142"/>
                      <a:pt x="149" y="142"/>
                      <a:pt x="149" y="142"/>
                    </a:cubicBezTo>
                    <a:cubicBezTo>
                      <a:pt x="164" y="116"/>
                      <a:pt x="164" y="116"/>
                      <a:pt x="164" y="116"/>
                    </a:cubicBezTo>
                    <a:cubicBezTo>
                      <a:pt x="153" y="109"/>
                      <a:pt x="153" y="109"/>
                      <a:pt x="153" y="109"/>
                    </a:cubicBezTo>
                    <a:cubicBezTo>
                      <a:pt x="151" y="108"/>
                      <a:pt x="149" y="105"/>
                      <a:pt x="150" y="103"/>
                    </a:cubicBezTo>
                    <a:cubicBezTo>
                      <a:pt x="151" y="99"/>
                      <a:pt x="151" y="94"/>
                      <a:pt x="151" y="90"/>
                    </a:cubicBezTo>
                    <a:cubicBezTo>
                      <a:pt x="151" y="85"/>
                      <a:pt x="151" y="81"/>
                      <a:pt x="150" y="77"/>
                    </a:cubicBezTo>
                    <a:cubicBezTo>
                      <a:pt x="149" y="74"/>
                      <a:pt x="150" y="71"/>
                      <a:pt x="153" y="70"/>
                    </a:cubicBezTo>
                    <a:cubicBezTo>
                      <a:pt x="164" y="64"/>
                      <a:pt x="164" y="64"/>
                      <a:pt x="164" y="64"/>
                    </a:cubicBezTo>
                    <a:cubicBezTo>
                      <a:pt x="149" y="38"/>
                      <a:pt x="149" y="38"/>
                      <a:pt x="149" y="38"/>
                    </a:cubicBezTo>
                    <a:cubicBezTo>
                      <a:pt x="138" y="44"/>
                      <a:pt x="138" y="44"/>
                      <a:pt x="138" y="44"/>
                    </a:cubicBezTo>
                    <a:cubicBezTo>
                      <a:pt x="136" y="46"/>
                      <a:pt x="133" y="45"/>
                      <a:pt x="131" y="43"/>
                    </a:cubicBezTo>
                    <a:cubicBezTo>
                      <a:pt x="124" y="37"/>
                      <a:pt x="118" y="33"/>
                      <a:pt x="109" y="30"/>
                    </a:cubicBezTo>
                    <a:cubicBezTo>
                      <a:pt x="107" y="30"/>
                      <a:pt x="105" y="27"/>
                      <a:pt x="105" y="25"/>
                    </a:cubicBezTo>
                    <a:cubicBezTo>
                      <a:pt x="105" y="12"/>
                      <a:pt x="105" y="12"/>
                      <a:pt x="105" y="12"/>
                    </a:cubicBezTo>
                    <a:cubicBezTo>
                      <a:pt x="75" y="12"/>
                      <a:pt x="75" y="12"/>
                      <a:pt x="75" y="12"/>
                    </a:cubicBezTo>
                    <a:cubicBezTo>
                      <a:pt x="75" y="25"/>
                      <a:pt x="75" y="25"/>
                      <a:pt x="75" y="25"/>
                    </a:cubicBezTo>
                    <a:cubicBezTo>
                      <a:pt x="75" y="27"/>
                      <a:pt x="73" y="30"/>
                      <a:pt x="70" y="30"/>
                    </a:cubicBezTo>
                    <a:cubicBezTo>
                      <a:pt x="62" y="33"/>
                      <a:pt x="55" y="37"/>
                      <a:pt x="48" y="43"/>
                    </a:cubicBezTo>
                    <a:cubicBezTo>
                      <a:pt x="46" y="45"/>
                      <a:pt x="43" y="46"/>
                      <a:pt x="41" y="44"/>
                    </a:cubicBezTo>
                    <a:cubicBezTo>
                      <a:pt x="29" y="38"/>
                      <a:pt x="29" y="38"/>
                      <a:pt x="29" y="38"/>
                    </a:cubicBezTo>
                    <a:cubicBezTo>
                      <a:pt x="14" y="64"/>
                      <a:pt x="14" y="64"/>
                      <a:pt x="14" y="64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8" y="71"/>
                      <a:pt x="29" y="74"/>
                      <a:pt x="28" y="77"/>
                    </a:cubicBezTo>
                    <a:cubicBezTo>
                      <a:pt x="27" y="81"/>
                      <a:pt x="27" y="85"/>
                      <a:pt x="27" y="90"/>
                    </a:cubicBezTo>
                    <a:cubicBezTo>
                      <a:pt x="27" y="94"/>
                      <a:pt x="27" y="98"/>
                      <a:pt x="28" y="103"/>
                    </a:cubicBezTo>
                    <a:cubicBezTo>
                      <a:pt x="29" y="105"/>
                      <a:pt x="28" y="108"/>
                      <a:pt x="25" y="109"/>
                    </a:cubicBezTo>
                    <a:cubicBezTo>
                      <a:pt x="14" y="116"/>
                      <a:pt x="14" y="116"/>
                      <a:pt x="14" y="116"/>
                    </a:cubicBezTo>
                    <a:cubicBezTo>
                      <a:pt x="29" y="142"/>
                      <a:pt x="29" y="142"/>
                      <a:pt x="29" y="142"/>
                    </a:cubicBezTo>
                    <a:cubicBezTo>
                      <a:pt x="41" y="135"/>
                      <a:pt x="41" y="135"/>
                      <a:pt x="41" y="135"/>
                    </a:cubicBezTo>
                    <a:cubicBezTo>
                      <a:pt x="43" y="134"/>
                      <a:pt x="46" y="134"/>
                      <a:pt x="48" y="136"/>
                    </a:cubicBezTo>
                    <a:cubicBezTo>
                      <a:pt x="55" y="142"/>
                      <a:pt x="62" y="146"/>
                      <a:pt x="70" y="149"/>
                    </a:cubicBezTo>
                    <a:cubicBezTo>
                      <a:pt x="73" y="150"/>
                      <a:pt x="75" y="152"/>
                      <a:pt x="75" y="155"/>
                    </a:cubicBezTo>
                    <a:lnTo>
                      <a:pt x="75" y="1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</p:grpSp>
      </p:grpSp>
      <p:grpSp>
        <p:nvGrpSpPr>
          <p:cNvPr id="560" name="Group 559">
            <a:extLst>
              <a:ext uri="{FF2B5EF4-FFF2-40B4-BE49-F238E27FC236}">
                <a16:creationId xmlns:a16="http://schemas.microsoft.com/office/drawing/2014/main" id="{2431D6F9-AE84-69BF-6351-02FE23570171}"/>
              </a:ext>
            </a:extLst>
          </p:cNvPr>
          <p:cNvGrpSpPr/>
          <p:nvPr/>
        </p:nvGrpSpPr>
        <p:grpSpPr>
          <a:xfrm>
            <a:off x="9575438" y="3345371"/>
            <a:ext cx="365760" cy="365760"/>
            <a:chOff x="-1057941" y="2486722"/>
            <a:chExt cx="365760" cy="365760"/>
          </a:xfrm>
        </p:grpSpPr>
        <p:sp>
          <p:nvSpPr>
            <p:cNvPr id="561" name="Oval 560">
              <a:extLst>
                <a:ext uri="{FF2B5EF4-FFF2-40B4-BE49-F238E27FC236}">
                  <a16:creationId xmlns:a16="http://schemas.microsoft.com/office/drawing/2014/main" id="{C5C14C5D-0B23-6A4B-B790-D1C7DF6EF811}"/>
                </a:ext>
              </a:extLst>
            </p:cNvPr>
            <p:cNvSpPr/>
            <p:nvPr/>
          </p:nvSpPr>
          <p:spPr>
            <a:xfrm>
              <a:off x="-1057941" y="2486722"/>
              <a:ext cx="365760" cy="365760"/>
            </a:xfrm>
            <a:prstGeom prst="ellipse">
              <a:avLst/>
            </a:prstGeom>
            <a:solidFill>
              <a:srgbClr val="00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grpSp>
          <p:nvGrpSpPr>
            <p:cNvPr id="562" name="Group 561">
              <a:extLst>
                <a:ext uri="{FF2B5EF4-FFF2-40B4-BE49-F238E27FC236}">
                  <a16:creationId xmlns:a16="http://schemas.microsoft.com/office/drawing/2014/main" id="{14813762-AF21-369B-B222-EBD1EEC3A11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-957502" y="2531495"/>
              <a:ext cx="164883" cy="276214"/>
              <a:chOff x="579438" y="3989388"/>
              <a:chExt cx="371475" cy="622300"/>
            </a:xfrm>
            <a:solidFill>
              <a:schemeClr val="bg1"/>
            </a:solidFill>
          </p:grpSpPr>
          <p:sp>
            <p:nvSpPr>
              <p:cNvPr id="563" name="Freeform 9">
                <a:extLst>
                  <a:ext uri="{FF2B5EF4-FFF2-40B4-BE49-F238E27FC236}">
                    <a16:creationId xmlns:a16="http://schemas.microsoft.com/office/drawing/2014/main" id="{0B166630-520D-8A21-5337-6BD695F5EE3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9438" y="3989388"/>
                <a:ext cx="371475" cy="622300"/>
              </a:xfrm>
              <a:custGeom>
                <a:avLst/>
                <a:gdLst>
                  <a:gd name="T0" fmla="*/ 46 w 56"/>
                  <a:gd name="T1" fmla="*/ 0 h 96"/>
                  <a:gd name="T2" fmla="*/ 10 w 56"/>
                  <a:gd name="T3" fmla="*/ 0 h 96"/>
                  <a:gd name="T4" fmla="*/ 0 w 56"/>
                  <a:gd name="T5" fmla="*/ 10 h 96"/>
                  <a:gd name="T6" fmla="*/ 0 w 56"/>
                  <a:gd name="T7" fmla="*/ 86 h 96"/>
                  <a:gd name="T8" fmla="*/ 10 w 56"/>
                  <a:gd name="T9" fmla="*/ 96 h 96"/>
                  <a:gd name="T10" fmla="*/ 46 w 56"/>
                  <a:gd name="T11" fmla="*/ 96 h 96"/>
                  <a:gd name="T12" fmla="*/ 56 w 56"/>
                  <a:gd name="T13" fmla="*/ 86 h 96"/>
                  <a:gd name="T14" fmla="*/ 56 w 56"/>
                  <a:gd name="T15" fmla="*/ 10 h 96"/>
                  <a:gd name="T16" fmla="*/ 46 w 56"/>
                  <a:gd name="T17" fmla="*/ 0 h 96"/>
                  <a:gd name="T18" fmla="*/ 4 w 56"/>
                  <a:gd name="T19" fmla="*/ 20 h 96"/>
                  <a:gd name="T20" fmla="*/ 52 w 56"/>
                  <a:gd name="T21" fmla="*/ 20 h 96"/>
                  <a:gd name="T22" fmla="*/ 52 w 56"/>
                  <a:gd name="T23" fmla="*/ 76 h 96"/>
                  <a:gd name="T24" fmla="*/ 4 w 56"/>
                  <a:gd name="T25" fmla="*/ 76 h 96"/>
                  <a:gd name="T26" fmla="*/ 4 w 56"/>
                  <a:gd name="T27" fmla="*/ 20 h 96"/>
                  <a:gd name="T28" fmla="*/ 10 w 56"/>
                  <a:gd name="T29" fmla="*/ 4 h 96"/>
                  <a:gd name="T30" fmla="*/ 46 w 56"/>
                  <a:gd name="T31" fmla="*/ 4 h 96"/>
                  <a:gd name="T32" fmla="*/ 52 w 56"/>
                  <a:gd name="T33" fmla="*/ 10 h 96"/>
                  <a:gd name="T34" fmla="*/ 52 w 56"/>
                  <a:gd name="T35" fmla="*/ 16 h 96"/>
                  <a:gd name="T36" fmla="*/ 4 w 56"/>
                  <a:gd name="T37" fmla="*/ 16 h 96"/>
                  <a:gd name="T38" fmla="*/ 4 w 56"/>
                  <a:gd name="T39" fmla="*/ 10 h 96"/>
                  <a:gd name="T40" fmla="*/ 10 w 56"/>
                  <a:gd name="T41" fmla="*/ 4 h 96"/>
                  <a:gd name="T42" fmla="*/ 46 w 56"/>
                  <a:gd name="T43" fmla="*/ 92 h 96"/>
                  <a:gd name="T44" fmla="*/ 10 w 56"/>
                  <a:gd name="T45" fmla="*/ 92 h 96"/>
                  <a:gd name="T46" fmla="*/ 4 w 56"/>
                  <a:gd name="T47" fmla="*/ 86 h 96"/>
                  <a:gd name="T48" fmla="*/ 4 w 56"/>
                  <a:gd name="T49" fmla="*/ 80 h 96"/>
                  <a:gd name="T50" fmla="*/ 52 w 56"/>
                  <a:gd name="T51" fmla="*/ 80 h 96"/>
                  <a:gd name="T52" fmla="*/ 52 w 56"/>
                  <a:gd name="T53" fmla="*/ 86 h 96"/>
                  <a:gd name="T54" fmla="*/ 46 w 56"/>
                  <a:gd name="T55" fmla="*/ 9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56" h="96">
                    <a:moveTo>
                      <a:pt x="46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0" y="92"/>
                      <a:pt x="4" y="96"/>
                      <a:pt x="10" y="96"/>
                    </a:cubicBezTo>
                    <a:cubicBezTo>
                      <a:pt x="46" y="96"/>
                      <a:pt x="46" y="96"/>
                      <a:pt x="46" y="96"/>
                    </a:cubicBezTo>
                    <a:cubicBezTo>
                      <a:pt x="52" y="96"/>
                      <a:pt x="56" y="92"/>
                      <a:pt x="56" y="86"/>
                    </a:cubicBezTo>
                    <a:cubicBezTo>
                      <a:pt x="56" y="10"/>
                      <a:pt x="56" y="10"/>
                      <a:pt x="56" y="10"/>
                    </a:cubicBezTo>
                    <a:cubicBezTo>
                      <a:pt x="56" y="4"/>
                      <a:pt x="52" y="0"/>
                      <a:pt x="46" y="0"/>
                    </a:cubicBezTo>
                    <a:close/>
                    <a:moveTo>
                      <a:pt x="4" y="20"/>
                    </a:moveTo>
                    <a:cubicBezTo>
                      <a:pt x="52" y="20"/>
                      <a:pt x="52" y="20"/>
                      <a:pt x="52" y="20"/>
                    </a:cubicBezTo>
                    <a:cubicBezTo>
                      <a:pt x="52" y="76"/>
                      <a:pt x="52" y="76"/>
                      <a:pt x="52" y="76"/>
                    </a:cubicBezTo>
                    <a:cubicBezTo>
                      <a:pt x="4" y="76"/>
                      <a:pt x="4" y="76"/>
                      <a:pt x="4" y="76"/>
                    </a:cubicBezTo>
                    <a:lnTo>
                      <a:pt x="4" y="20"/>
                    </a:lnTo>
                    <a:close/>
                    <a:moveTo>
                      <a:pt x="10" y="4"/>
                    </a:moveTo>
                    <a:cubicBezTo>
                      <a:pt x="46" y="4"/>
                      <a:pt x="46" y="4"/>
                      <a:pt x="46" y="4"/>
                    </a:cubicBezTo>
                    <a:cubicBezTo>
                      <a:pt x="49" y="4"/>
                      <a:pt x="52" y="7"/>
                      <a:pt x="52" y="10"/>
                    </a:cubicBezTo>
                    <a:cubicBezTo>
                      <a:pt x="52" y="16"/>
                      <a:pt x="52" y="16"/>
                      <a:pt x="52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7"/>
                      <a:pt x="7" y="4"/>
                      <a:pt x="10" y="4"/>
                    </a:cubicBezTo>
                    <a:close/>
                    <a:moveTo>
                      <a:pt x="46" y="92"/>
                    </a:moveTo>
                    <a:cubicBezTo>
                      <a:pt x="10" y="92"/>
                      <a:pt x="10" y="92"/>
                      <a:pt x="10" y="92"/>
                    </a:cubicBezTo>
                    <a:cubicBezTo>
                      <a:pt x="7" y="92"/>
                      <a:pt x="4" y="89"/>
                      <a:pt x="4" y="86"/>
                    </a:cubicBezTo>
                    <a:cubicBezTo>
                      <a:pt x="4" y="80"/>
                      <a:pt x="4" y="80"/>
                      <a:pt x="4" y="80"/>
                    </a:cubicBezTo>
                    <a:cubicBezTo>
                      <a:pt x="52" y="80"/>
                      <a:pt x="52" y="80"/>
                      <a:pt x="52" y="80"/>
                    </a:cubicBezTo>
                    <a:cubicBezTo>
                      <a:pt x="52" y="86"/>
                      <a:pt x="52" y="86"/>
                      <a:pt x="52" y="86"/>
                    </a:cubicBezTo>
                    <a:cubicBezTo>
                      <a:pt x="52" y="89"/>
                      <a:pt x="49" y="92"/>
                      <a:pt x="46" y="9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64" name="Freeform 10">
                <a:extLst>
                  <a:ext uri="{FF2B5EF4-FFF2-40B4-BE49-F238E27FC236}">
                    <a16:creationId xmlns:a16="http://schemas.microsoft.com/office/drawing/2014/main" id="{8A65046F-E6B7-AB1C-69E4-C30AFBD1E0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5800" y="4041775"/>
                <a:ext cx="158750" cy="25400"/>
              </a:xfrm>
              <a:custGeom>
                <a:avLst/>
                <a:gdLst>
                  <a:gd name="T0" fmla="*/ 2 w 24"/>
                  <a:gd name="T1" fmla="*/ 4 h 4"/>
                  <a:gd name="T2" fmla="*/ 22 w 24"/>
                  <a:gd name="T3" fmla="*/ 4 h 4"/>
                  <a:gd name="T4" fmla="*/ 24 w 24"/>
                  <a:gd name="T5" fmla="*/ 2 h 4"/>
                  <a:gd name="T6" fmla="*/ 22 w 24"/>
                  <a:gd name="T7" fmla="*/ 0 h 4"/>
                  <a:gd name="T8" fmla="*/ 2 w 24"/>
                  <a:gd name="T9" fmla="*/ 0 h 4"/>
                  <a:gd name="T10" fmla="*/ 0 w 24"/>
                  <a:gd name="T11" fmla="*/ 2 h 4"/>
                  <a:gd name="T12" fmla="*/ 2 w 24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4">
                    <a:moveTo>
                      <a:pt x="2" y="4"/>
                    </a:moveTo>
                    <a:cubicBezTo>
                      <a:pt x="22" y="4"/>
                      <a:pt x="22" y="4"/>
                      <a:pt x="22" y="4"/>
                    </a:cubicBezTo>
                    <a:cubicBezTo>
                      <a:pt x="23" y="4"/>
                      <a:pt x="24" y="3"/>
                      <a:pt x="24" y="2"/>
                    </a:cubicBezTo>
                    <a:cubicBezTo>
                      <a:pt x="24" y="1"/>
                      <a:pt x="23" y="0"/>
                      <a:pt x="2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65" name="Freeform 11">
                <a:extLst>
                  <a:ext uri="{FF2B5EF4-FFF2-40B4-BE49-F238E27FC236}">
                    <a16:creationId xmlns:a16="http://schemas.microsoft.com/office/drawing/2014/main" id="{0B5EF180-B448-1059-777B-285457C9452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8188" y="4521200"/>
                <a:ext cx="53975" cy="52388"/>
              </a:xfrm>
              <a:custGeom>
                <a:avLst/>
                <a:gdLst>
                  <a:gd name="T0" fmla="*/ 4 w 8"/>
                  <a:gd name="T1" fmla="*/ 0 h 8"/>
                  <a:gd name="T2" fmla="*/ 0 w 8"/>
                  <a:gd name="T3" fmla="*/ 4 h 8"/>
                  <a:gd name="T4" fmla="*/ 4 w 8"/>
                  <a:gd name="T5" fmla="*/ 8 h 8"/>
                  <a:gd name="T6" fmla="*/ 8 w 8"/>
                  <a:gd name="T7" fmla="*/ 4 h 8"/>
                  <a:gd name="T8" fmla="*/ 4 w 8"/>
                  <a:gd name="T9" fmla="*/ 0 h 8"/>
                  <a:gd name="T10" fmla="*/ 4 w 8"/>
                  <a:gd name="T11" fmla="*/ 6 h 8"/>
                  <a:gd name="T12" fmla="*/ 4 w 8"/>
                  <a:gd name="T13" fmla="*/ 4 h 8"/>
                  <a:gd name="T14" fmla="*/ 4 w 8"/>
                  <a:gd name="T15" fmla="*/ 4 h 8"/>
                  <a:gd name="T16" fmla="*/ 4 w 8"/>
                  <a:gd name="T17" fmla="*/ 6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" h="8">
                    <a:moveTo>
                      <a:pt x="4" y="0"/>
                    </a:move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2" y="8"/>
                      <a:pt x="4" y="8"/>
                    </a:cubicBezTo>
                    <a:cubicBezTo>
                      <a:pt x="6" y="8"/>
                      <a:pt x="8" y="6"/>
                      <a:pt x="8" y="4"/>
                    </a:cubicBezTo>
                    <a:cubicBezTo>
                      <a:pt x="8" y="2"/>
                      <a:pt x="6" y="0"/>
                      <a:pt x="4" y="0"/>
                    </a:cubicBezTo>
                    <a:close/>
                    <a:moveTo>
                      <a:pt x="4" y="6"/>
                    </a:moveTo>
                    <a:cubicBezTo>
                      <a:pt x="4" y="4"/>
                      <a:pt x="4" y="4"/>
                      <a:pt x="4" y="4"/>
                    </a:cubicBezTo>
                    <a:cubicBezTo>
                      <a:pt x="4" y="4"/>
                      <a:pt x="4" y="4"/>
                      <a:pt x="4" y="4"/>
                    </a:cubicBezTo>
                    <a:lnTo>
                      <a:pt x="4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66" name="Freeform 12">
                <a:extLst>
                  <a:ext uri="{FF2B5EF4-FFF2-40B4-BE49-F238E27FC236}">
                    <a16:creationId xmlns:a16="http://schemas.microsoft.com/office/drawing/2014/main" id="{7A51D466-F801-91F9-3F5E-413E6635BD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813" y="4171950"/>
                <a:ext cx="212725" cy="25400"/>
              </a:xfrm>
              <a:custGeom>
                <a:avLst/>
                <a:gdLst>
                  <a:gd name="T0" fmla="*/ 2 w 32"/>
                  <a:gd name="T1" fmla="*/ 4 h 4"/>
                  <a:gd name="T2" fmla="*/ 30 w 32"/>
                  <a:gd name="T3" fmla="*/ 4 h 4"/>
                  <a:gd name="T4" fmla="*/ 32 w 32"/>
                  <a:gd name="T5" fmla="*/ 2 h 4"/>
                  <a:gd name="T6" fmla="*/ 30 w 32"/>
                  <a:gd name="T7" fmla="*/ 0 h 4"/>
                  <a:gd name="T8" fmla="*/ 2 w 32"/>
                  <a:gd name="T9" fmla="*/ 0 h 4"/>
                  <a:gd name="T10" fmla="*/ 0 w 32"/>
                  <a:gd name="T11" fmla="*/ 2 h 4"/>
                  <a:gd name="T12" fmla="*/ 2 w 3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4">
                    <a:moveTo>
                      <a:pt x="2" y="4"/>
                    </a:moveTo>
                    <a:cubicBezTo>
                      <a:pt x="30" y="4"/>
                      <a:pt x="30" y="4"/>
                      <a:pt x="30" y="4"/>
                    </a:cubicBezTo>
                    <a:cubicBezTo>
                      <a:pt x="31" y="4"/>
                      <a:pt x="32" y="3"/>
                      <a:pt x="32" y="2"/>
                    </a:cubicBezTo>
                    <a:cubicBezTo>
                      <a:pt x="32" y="1"/>
                      <a:pt x="31" y="0"/>
                      <a:pt x="30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67" name="Freeform 13">
                <a:extLst>
                  <a:ext uri="{FF2B5EF4-FFF2-40B4-BE49-F238E27FC236}">
                    <a16:creationId xmlns:a16="http://schemas.microsoft.com/office/drawing/2014/main" id="{E922E9DB-C49C-F6F3-923E-23EC235D5C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813" y="4222750"/>
                <a:ext cx="212725" cy="26988"/>
              </a:xfrm>
              <a:custGeom>
                <a:avLst/>
                <a:gdLst>
                  <a:gd name="T0" fmla="*/ 30 w 32"/>
                  <a:gd name="T1" fmla="*/ 0 h 4"/>
                  <a:gd name="T2" fmla="*/ 2 w 32"/>
                  <a:gd name="T3" fmla="*/ 0 h 4"/>
                  <a:gd name="T4" fmla="*/ 0 w 32"/>
                  <a:gd name="T5" fmla="*/ 2 h 4"/>
                  <a:gd name="T6" fmla="*/ 2 w 32"/>
                  <a:gd name="T7" fmla="*/ 4 h 4"/>
                  <a:gd name="T8" fmla="*/ 30 w 32"/>
                  <a:gd name="T9" fmla="*/ 4 h 4"/>
                  <a:gd name="T10" fmla="*/ 32 w 32"/>
                  <a:gd name="T11" fmla="*/ 2 h 4"/>
                  <a:gd name="T12" fmla="*/ 30 w 32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4">
                    <a:moveTo>
                      <a:pt x="30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1" y="4"/>
                      <a:pt x="32" y="3"/>
                      <a:pt x="32" y="2"/>
                    </a:cubicBezTo>
                    <a:cubicBezTo>
                      <a:pt x="32" y="1"/>
                      <a:pt x="31" y="0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68" name="Freeform 14">
                <a:extLst>
                  <a:ext uri="{FF2B5EF4-FFF2-40B4-BE49-F238E27FC236}">
                    <a16:creationId xmlns:a16="http://schemas.microsoft.com/office/drawing/2014/main" id="{94EF7101-A4C7-8C68-9604-1EF44B2401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813" y="4275138"/>
                <a:ext cx="212725" cy="25400"/>
              </a:xfrm>
              <a:custGeom>
                <a:avLst/>
                <a:gdLst>
                  <a:gd name="T0" fmla="*/ 30 w 32"/>
                  <a:gd name="T1" fmla="*/ 0 h 4"/>
                  <a:gd name="T2" fmla="*/ 2 w 32"/>
                  <a:gd name="T3" fmla="*/ 0 h 4"/>
                  <a:gd name="T4" fmla="*/ 0 w 32"/>
                  <a:gd name="T5" fmla="*/ 2 h 4"/>
                  <a:gd name="T6" fmla="*/ 2 w 32"/>
                  <a:gd name="T7" fmla="*/ 4 h 4"/>
                  <a:gd name="T8" fmla="*/ 30 w 32"/>
                  <a:gd name="T9" fmla="*/ 4 h 4"/>
                  <a:gd name="T10" fmla="*/ 32 w 32"/>
                  <a:gd name="T11" fmla="*/ 2 h 4"/>
                  <a:gd name="T12" fmla="*/ 30 w 32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4">
                    <a:moveTo>
                      <a:pt x="30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1" y="4"/>
                      <a:pt x="32" y="3"/>
                      <a:pt x="32" y="2"/>
                    </a:cubicBezTo>
                    <a:cubicBezTo>
                      <a:pt x="32" y="1"/>
                      <a:pt x="31" y="0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69" name="Freeform 15">
                <a:extLst>
                  <a:ext uri="{FF2B5EF4-FFF2-40B4-BE49-F238E27FC236}">
                    <a16:creationId xmlns:a16="http://schemas.microsoft.com/office/drawing/2014/main" id="{97B8F57E-92BD-A591-C468-CF19ACA322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813" y="4325938"/>
                <a:ext cx="212725" cy="26988"/>
              </a:xfrm>
              <a:custGeom>
                <a:avLst/>
                <a:gdLst>
                  <a:gd name="T0" fmla="*/ 30 w 32"/>
                  <a:gd name="T1" fmla="*/ 0 h 4"/>
                  <a:gd name="T2" fmla="*/ 2 w 32"/>
                  <a:gd name="T3" fmla="*/ 0 h 4"/>
                  <a:gd name="T4" fmla="*/ 0 w 32"/>
                  <a:gd name="T5" fmla="*/ 2 h 4"/>
                  <a:gd name="T6" fmla="*/ 2 w 32"/>
                  <a:gd name="T7" fmla="*/ 4 h 4"/>
                  <a:gd name="T8" fmla="*/ 30 w 32"/>
                  <a:gd name="T9" fmla="*/ 4 h 4"/>
                  <a:gd name="T10" fmla="*/ 32 w 32"/>
                  <a:gd name="T11" fmla="*/ 2 h 4"/>
                  <a:gd name="T12" fmla="*/ 30 w 32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4">
                    <a:moveTo>
                      <a:pt x="30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1" y="4"/>
                      <a:pt x="32" y="3"/>
                      <a:pt x="32" y="2"/>
                    </a:cubicBezTo>
                    <a:cubicBezTo>
                      <a:pt x="32" y="1"/>
                      <a:pt x="31" y="0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70" name="Freeform 16">
                <a:extLst>
                  <a:ext uri="{FF2B5EF4-FFF2-40B4-BE49-F238E27FC236}">
                    <a16:creationId xmlns:a16="http://schemas.microsoft.com/office/drawing/2014/main" id="{8CB9E7E2-4F56-7C10-6C44-595B1DB2AE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813" y="4378325"/>
                <a:ext cx="133350" cy="25400"/>
              </a:xfrm>
              <a:custGeom>
                <a:avLst/>
                <a:gdLst>
                  <a:gd name="T0" fmla="*/ 18 w 20"/>
                  <a:gd name="T1" fmla="*/ 0 h 4"/>
                  <a:gd name="T2" fmla="*/ 2 w 20"/>
                  <a:gd name="T3" fmla="*/ 0 h 4"/>
                  <a:gd name="T4" fmla="*/ 0 w 20"/>
                  <a:gd name="T5" fmla="*/ 2 h 4"/>
                  <a:gd name="T6" fmla="*/ 2 w 20"/>
                  <a:gd name="T7" fmla="*/ 4 h 4"/>
                  <a:gd name="T8" fmla="*/ 18 w 20"/>
                  <a:gd name="T9" fmla="*/ 4 h 4"/>
                  <a:gd name="T10" fmla="*/ 20 w 20"/>
                  <a:gd name="T11" fmla="*/ 2 h 4"/>
                  <a:gd name="T12" fmla="*/ 18 w 20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4">
                    <a:moveTo>
                      <a:pt x="18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9" y="4"/>
                      <a:pt x="20" y="3"/>
                      <a:pt x="20" y="2"/>
                    </a:cubicBezTo>
                    <a:cubicBezTo>
                      <a:pt x="20" y="1"/>
                      <a:pt x="19" y="0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</p:grpSp>
      </p:grpSp>
      <p:grpSp>
        <p:nvGrpSpPr>
          <p:cNvPr id="571" name="Group 570">
            <a:extLst>
              <a:ext uri="{FF2B5EF4-FFF2-40B4-BE49-F238E27FC236}">
                <a16:creationId xmlns:a16="http://schemas.microsoft.com/office/drawing/2014/main" id="{1B1AB31D-46FE-0F78-5630-0289D4B77D52}"/>
              </a:ext>
            </a:extLst>
          </p:cNvPr>
          <p:cNvGrpSpPr/>
          <p:nvPr/>
        </p:nvGrpSpPr>
        <p:grpSpPr>
          <a:xfrm>
            <a:off x="11042487" y="4938542"/>
            <a:ext cx="365760" cy="365760"/>
            <a:chOff x="-1573897" y="906608"/>
            <a:chExt cx="365760" cy="365760"/>
          </a:xfrm>
        </p:grpSpPr>
        <p:sp>
          <p:nvSpPr>
            <p:cNvPr id="572" name="Oval 571">
              <a:extLst>
                <a:ext uri="{FF2B5EF4-FFF2-40B4-BE49-F238E27FC236}">
                  <a16:creationId xmlns:a16="http://schemas.microsoft.com/office/drawing/2014/main" id="{F6ACE152-CF35-BBB5-F7D1-9DBB19CCE481}"/>
                </a:ext>
              </a:extLst>
            </p:cNvPr>
            <p:cNvSpPr/>
            <p:nvPr/>
          </p:nvSpPr>
          <p:spPr>
            <a:xfrm>
              <a:off x="-1573897" y="906608"/>
              <a:ext cx="365760" cy="365760"/>
            </a:xfrm>
            <a:prstGeom prst="ellipse">
              <a:avLst/>
            </a:prstGeom>
            <a:solidFill>
              <a:srgbClr val="D507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grpSp>
          <p:nvGrpSpPr>
            <p:cNvPr id="573" name="Group 72">
              <a:extLst>
                <a:ext uri="{FF2B5EF4-FFF2-40B4-BE49-F238E27FC236}">
                  <a16:creationId xmlns:a16="http://schemas.microsoft.com/office/drawing/2014/main" id="{E0863025-25B4-489F-489D-F43B40E0A45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-1486653" y="961473"/>
              <a:ext cx="191272" cy="256031"/>
              <a:chOff x="3489" y="1716"/>
              <a:chExt cx="319" cy="427"/>
            </a:xfrm>
            <a:solidFill>
              <a:schemeClr val="bg1"/>
            </a:solidFill>
          </p:grpSpPr>
          <p:sp>
            <p:nvSpPr>
              <p:cNvPr id="574" name="Freeform 73">
                <a:extLst>
                  <a:ext uri="{FF2B5EF4-FFF2-40B4-BE49-F238E27FC236}">
                    <a16:creationId xmlns:a16="http://schemas.microsoft.com/office/drawing/2014/main" id="{A32776B7-1B44-5EA9-18ED-02366B6EB3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89" y="1716"/>
                <a:ext cx="319" cy="196"/>
              </a:xfrm>
              <a:custGeom>
                <a:avLst/>
                <a:gdLst>
                  <a:gd name="T0" fmla="*/ 41 w 216"/>
                  <a:gd name="T1" fmla="*/ 132 h 132"/>
                  <a:gd name="T2" fmla="*/ 10 w 216"/>
                  <a:gd name="T3" fmla="*/ 120 h 132"/>
                  <a:gd name="T4" fmla="*/ 0 w 216"/>
                  <a:gd name="T5" fmla="*/ 94 h 132"/>
                  <a:gd name="T6" fmla="*/ 14 w 216"/>
                  <a:gd name="T7" fmla="*/ 65 h 132"/>
                  <a:gd name="T8" fmla="*/ 41 w 216"/>
                  <a:gd name="T9" fmla="*/ 56 h 132"/>
                  <a:gd name="T10" fmla="*/ 108 w 216"/>
                  <a:gd name="T11" fmla="*/ 0 h 132"/>
                  <a:gd name="T12" fmla="*/ 168 w 216"/>
                  <a:gd name="T13" fmla="*/ 34 h 132"/>
                  <a:gd name="T14" fmla="*/ 201 w 216"/>
                  <a:gd name="T15" fmla="*/ 49 h 132"/>
                  <a:gd name="T16" fmla="*/ 216 w 216"/>
                  <a:gd name="T17" fmla="*/ 83 h 132"/>
                  <a:gd name="T18" fmla="*/ 171 w 216"/>
                  <a:gd name="T19" fmla="*/ 132 h 132"/>
                  <a:gd name="T20" fmla="*/ 170 w 216"/>
                  <a:gd name="T21" fmla="*/ 132 h 132"/>
                  <a:gd name="T22" fmla="*/ 41 w 216"/>
                  <a:gd name="T23" fmla="*/ 132 h 132"/>
                  <a:gd name="T24" fmla="*/ 41 w 216"/>
                  <a:gd name="T25" fmla="*/ 132 h 132"/>
                  <a:gd name="T26" fmla="*/ 39 w 216"/>
                  <a:gd name="T27" fmla="*/ 68 h 132"/>
                  <a:gd name="T28" fmla="*/ 21 w 216"/>
                  <a:gd name="T29" fmla="*/ 74 h 132"/>
                  <a:gd name="T30" fmla="*/ 12 w 216"/>
                  <a:gd name="T31" fmla="*/ 94 h 132"/>
                  <a:gd name="T32" fmla="*/ 18 w 216"/>
                  <a:gd name="T33" fmla="*/ 112 h 132"/>
                  <a:gd name="T34" fmla="*/ 41 w 216"/>
                  <a:gd name="T35" fmla="*/ 120 h 132"/>
                  <a:gd name="T36" fmla="*/ 170 w 216"/>
                  <a:gd name="T37" fmla="*/ 120 h 132"/>
                  <a:gd name="T38" fmla="*/ 204 w 216"/>
                  <a:gd name="T39" fmla="*/ 83 h 132"/>
                  <a:gd name="T40" fmla="*/ 193 w 216"/>
                  <a:gd name="T41" fmla="*/ 57 h 132"/>
                  <a:gd name="T42" fmla="*/ 164 w 216"/>
                  <a:gd name="T43" fmla="*/ 46 h 132"/>
                  <a:gd name="T44" fmla="*/ 159 w 216"/>
                  <a:gd name="T45" fmla="*/ 43 h 132"/>
                  <a:gd name="T46" fmla="*/ 108 w 216"/>
                  <a:gd name="T47" fmla="*/ 12 h 132"/>
                  <a:gd name="T48" fmla="*/ 52 w 216"/>
                  <a:gd name="T49" fmla="*/ 63 h 132"/>
                  <a:gd name="T50" fmla="*/ 50 w 216"/>
                  <a:gd name="T51" fmla="*/ 67 h 132"/>
                  <a:gd name="T52" fmla="*/ 45 w 216"/>
                  <a:gd name="T53" fmla="*/ 68 h 132"/>
                  <a:gd name="T54" fmla="*/ 39 w 216"/>
                  <a:gd name="T55" fmla="*/ 68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216" h="132">
                    <a:moveTo>
                      <a:pt x="41" y="132"/>
                    </a:moveTo>
                    <a:cubicBezTo>
                      <a:pt x="39" y="132"/>
                      <a:pt x="22" y="132"/>
                      <a:pt x="10" y="120"/>
                    </a:cubicBezTo>
                    <a:cubicBezTo>
                      <a:pt x="3" y="114"/>
                      <a:pt x="0" y="105"/>
                      <a:pt x="0" y="94"/>
                    </a:cubicBezTo>
                    <a:cubicBezTo>
                      <a:pt x="0" y="83"/>
                      <a:pt x="5" y="72"/>
                      <a:pt x="14" y="65"/>
                    </a:cubicBezTo>
                    <a:cubicBezTo>
                      <a:pt x="21" y="59"/>
                      <a:pt x="31" y="55"/>
                      <a:pt x="41" y="56"/>
                    </a:cubicBezTo>
                    <a:cubicBezTo>
                      <a:pt x="46" y="24"/>
                      <a:pt x="74" y="0"/>
                      <a:pt x="108" y="0"/>
                    </a:cubicBezTo>
                    <a:cubicBezTo>
                      <a:pt x="133" y="0"/>
                      <a:pt x="156" y="13"/>
                      <a:pt x="168" y="34"/>
                    </a:cubicBezTo>
                    <a:cubicBezTo>
                      <a:pt x="180" y="35"/>
                      <a:pt x="192" y="40"/>
                      <a:pt x="201" y="49"/>
                    </a:cubicBezTo>
                    <a:cubicBezTo>
                      <a:pt x="211" y="58"/>
                      <a:pt x="216" y="70"/>
                      <a:pt x="216" y="83"/>
                    </a:cubicBezTo>
                    <a:cubicBezTo>
                      <a:pt x="216" y="117"/>
                      <a:pt x="186" y="130"/>
                      <a:pt x="171" y="132"/>
                    </a:cubicBezTo>
                    <a:cubicBezTo>
                      <a:pt x="170" y="132"/>
                      <a:pt x="170" y="132"/>
                      <a:pt x="170" y="132"/>
                    </a:cubicBezTo>
                    <a:cubicBezTo>
                      <a:pt x="41" y="132"/>
                      <a:pt x="41" y="132"/>
                      <a:pt x="41" y="132"/>
                    </a:cubicBezTo>
                    <a:cubicBezTo>
                      <a:pt x="41" y="132"/>
                      <a:pt x="41" y="132"/>
                      <a:pt x="41" y="132"/>
                    </a:cubicBezTo>
                    <a:close/>
                    <a:moveTo>
                      <a:pt x="39" y="68"/>
                    </a:moveTo>
                    <a:cubicBezTo>
                      <a:pt x="33" y="68"/>
                      <a:pt x="26" y="70"/>
                      <a:pt x="21" y="74"/>
                    </a:cubicBezTo>
                    <a:cubicBezTo>
                      <a:pt x="15" y="79"/>
                      <a:pt x="12" y="86"/>
                      <a:pt x="12" y="94"/>
                    </a:cubicBezTo>
                    <a:cubicBezTo>
                      <a:pt x="12" y="101"/>
                      <a:pt x="14" y="107"/>
                      <a:pt x="18" y="112"/>
                    </a:cubicBezTo>
                    <a:cubicBezTo>
                      <a:pt x="27" y="120"/>
                      <a:pt x="41" y="120"/>
                      <a:pt x="41" y="120"/>
                    </a:cubicBezTo>
                    <a:cubicBezTo>
                      <a:pt x="170" y="120"/>
                      <a:pt x="170" y="120"/>
                      <a:pt x="170" y="120"/>
                    </a:cubicBezTo>
                    <a:cubicBezTo>
                      <a:pt x="173" y="119"/>
                      <a:pt x="204" y="114"/>
                      <a:pt x="204" y="83"/>
                    </a:cubicBezTo>
                    <a:cubicBezTo>
                      <a:pt x="204" y="73"/>
                      <a:pt x="200" y="64"/>
                      <a:pt x="193" y="57"/>
                    </a:cubicBezTo>
                    <a:cubicBezTo>
                      <a:pt x="185" y="50"/>
                      <a:pt x="175" y="46"/>
                      <a:pt x="164" y="46"/>
                    </a:cubicBezTo>
                    <a:cubicBezTo>
                      <a:pt x="162" y="46"/>
                      <a:pt x="160" y="45"/>
                      <a:pt x="159" y="43"/>
                    </a:cubicBezTo>
                    <a:cubicBezTo>
                      <a:pt x="149" y="24"/>
                      <a:pt x="129" y="12"/>
                      <a:pt x="108" y="12"/>
                    </a:cubicBezTo>
                    <a:cubicBezTo>
                      <a:pt x="78" y="12"/>
                      <a:pt x="54" y="34"/>
                      <a:pt x="52" y="63"/>
                    </a:cubicBezTo>
                    <a:cubicBezTo>
                      <a:pt x="52" y="65"/>
                      <a:pt x="51" y="66"/>
                      <a:pt x="50" y="67"/>
                    </a:cubicBezTo>
                    <a:cubicBezTo>
                      <a:pt x="48" y="68"/>
                      <a:pt x="46" y="69"/>
                      <a:pt x="45" y="68"/>
                    </a:cubicBezTo>
                    <a:cubicBezTo>
                      <a:pt x="43" y="68"/>
                      <a:pt x="41" y="68"/>
                      <a:pt x="39" y="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75" name="Freeform 74">
                <a:extLst>
                  <a:ext uri="{FF2B5EF4-FFF2-40B4-BE49-F238E27FC236}">
                    <a16:creationId xmlns:a16="http://schemas.microsoft.com/office/drawing/2014/main" id="{2D413671-5E22-6726-84F9-A1A5D3C350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89" y="1947"/>
                <a:ext cx="319" cy="107"/>
              </a:xfrm>
              <a:custGeom>
                <a:avLst/>
                <a:gdLst>
                  <a:gd name="T0" fmla="*/ 210 w 216"/>
                  <a:gd name="T1" fmla="*/ 72 h 72"/>
                  <a:gd name="T2" fmla="*/ 6 w 216"/>
                  <a:gd name="T3" fmla="*/ 72 h 72"/>
                  <a:gd name="T4" fmla="*/ 0 w 216"/>
                  <a:gd name="T5" fmla="*/ 66 h 72"/>
                  <a:gd name="T6" fmla="*/ 0 w 216"/>
                  <a:gd name="T7" fmla="*/ 6 h 72"/>
                  <a:gd name="T8" fmla="*/ 6 w 216"/>
                  <a:gd name="T9" fmla="*/ 0 h 72"/>
                  <a:gd name="T10" fmla="*/ 210 w 216"/>
                  <a:gd name="T11" fmla="*/ 0 h 72"/>
                  <a:gd name="T12" fmla="*/ 216 w 216"/>
                  <a:gd name="T13" fmla="*/ 6 h 72"/>
                  <a:gd name="T14" fmla="*/ 216 w 216"/>
                  <a:gd name="T15" fmla="*/ 66 h 72"/>
                  <a:gd name="T16" fmla="*/ 210 w 216"/>
                  <a:gd name="T17" fmla="*/ 72 h 72"/>
                  <a:gd name="T18" fmla="*/ 12 w 216"/>
                  <a:gd name="T19" fmla="*/ 60 h 72"/>
                  <a:gd name="T20" fmla="*/ 204 w 216"/>
                  <a:gd name="T21" fmla="*/ 60 h 72"/>
                  <a:gd name="T22" fmla="*/ 204 w 216"/>
                  <a:gd name="T23" fmla="*/ 12 h 72"/>
                  <a:gd name="T24" fmla="*/ 12 w 216"/>
                  <a:gd name="T25" fmla="*/ 12 h 72"/>
                  <a:gd name="T26" fmla="*/ 12 w 216"/>
                  <a:gd name="T27" fmla="*/ 6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6" h="72">
                    <a:moveTo>
                      <a:pt x="210" y="72"/>
                    </a:moveTo>
                    <a:cubicBezTo>
                      <a:pt x="6" y="72"/>
                      <a:pt x="6" y="72"/>
                      <a:pt x="6" y="72"/>
                    </a:cubicBezTo>
                    <a:cubicBezTo>
                      <a:pt x="3" y="72"/>
                      <a:pt x="0" y="69"/>
                      <a:pt x="0" y="6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210" y="0"/>
                      <a:pt x="210" y="0"/>
                      <a:pt x="210" y="0"/>
                    </a:cubicBezTo>
                    <a:cubicBezTo>
                      <a:pt x="213" y="0"/>
                      <a:pt x="216" y="3"/>
                      <a:pt x="216" y="6"/>
                    </a:cubicBezTo>
                    <a:cubicBezTo>
                      <a:pt x="216" y="66"/>
                      <a:pt x="216" y="66"/>
                      <a:pt x="216" y="66"/>
                    </a:cubicBezTo>
                    <a:cubicBezTo>
                      <a:pt x="216" y="69"/>
                      <a:pt x="213" y="72"/>
                      <a:pt x="210" y="72"/>
                    </a:cubicBezTo>
                    <a:close/>
                    <a:moveTo>
                      <a:pt x="12" y="60"/>
                    </a:moveTo>
                    <a:cubicBezTo>
                      <a:pt x="204" y="60"/>
                      <a:pt x="204" y="60"/>
                      <a:pt x="204" y="60"/>
                    </a:cubicBezTo>
                    <a:cubicBezTo>
                      <a:pt x="204" y="12"/>
                      <a:pt x="204" y="12"/>
                      <a:pt x="20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76" name="Freeform 75">
                <a:extLst>
                  <a:ext uri="{FF2B5EF4-FFF2-40B4-BE49-F238E27FC236}">
                    <a16:creationId xmlns:a16="http://schemas.microsoft.com/office/drawing/2014/main" id="{BDE0D0D3-AA49-0927-D47C-2D1DED9F54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89" y="2036"/>
                <a:ext cx="319" cy="107"/>
              </a:xfrm>
              <a:custGeom>
                <a:avLst/>
                <a:gdLst>
                  <a:gd name="T0" fmla="*/ 210 w 216"/>
                  <a:gd name="T1" fmla="*/ 72 h 72"/>
                  <a:gd name="T2" fmla="*/ 6 w 216"/>
                  <a:gd name="T3" fmla="*/ 72 h 72"/>
                  <a:gd name="T4" fmla="*/ 0 w 216"/>
                  <a:gd name="T5" fmla="*/ 66 h 72"/>
                  <a:gd name="T6" fmla="*/ 0 w 216"/>
                  <a:gd name="T7" fmla="*/ 6 h 72"/>
                  <a:gd name="T8" fmla="*/ 6 w 216"/>
                  <a:gd name="T9" fmla="*/ 0 h 72"/>
                  <a:gd name="T10" fmla="*/ 210 w 216"/>
                  <a:gd name="T11" fmla="*/ 0 h 72"/>
                  <a:gd name="T12" fmla="*/ 216 w 216"/>
                  <a:gd name="T13" fmla="*/ 6 h 72"/>
                  <a:gd name="T14" fmla="*/ 216 w 216"/>
                  <a:gd name="T15" fmla="*/ 66 h 72"/>
                  <a:gd name="T16" fmla="*/ 210 w 216"/>
                  <a:gd name="T17" fmla="*/ 72 h 72"/>
                  <a:gd name="T18" fmla="*/ 12 w 216"/>
                  <a:gd name="T19" fmla="*/ 60 h 72"/>
                  <a:gd name="T20" fmla="*/ 204 w 216"/>
                  <a:gd name="T21" fmla="*/ 60 h 72"/>
                  <a:gd name="T22" fmla="*/ 204 w 216"/>
                  <a:gd name="T23" fmla="*/ 12 h 72"/>
                  <a:gd name="T24" fmla="*/ 12 w 216"/>
                  <a:gd name="T25" fmla="*/ 12 h 72"/>
                  <a:gd name="T26" fmla="*/ 12 w 216"/>
                  <a:gd name="T27" fmla="*/ 6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6" h="72">
                    <a:moveTo>
                      <a:pt x="210" y="72"/>
                    </a:moveTo>
                    <a:cubicBezTo>
                      <a:pt x="6" y="72"/>
                      <a:pt x="6" y="72"/>
                      <a:pt x="6" y="72"/>
                    </a:cubicBezTo>
                    <a:cubicBezTo>
                      <a:pt x="3" y="72"/>
                      <a:pt x="0" y="69"/>
                      <a:pt x="0" y="6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210" y="0"/>
                      <a:pt x="210" y="0"/>
                      <a:pt x="210" y="0"/>
                    </a:cubicBezTo>
                    <a:cubicBezTo>
                      <a:pt x="213" y="0"/>
                      <a:pt x="216" y="3"/>
                      <a:pt x="216" y="6"/>
                    </a:cubicBezTo>
                    <a:cubicBezTo>
                      <a:pt x="216" y="66"/>
                      <a:pt x="216" y="66"/>
                      <a:pt x="216" y="66"/>
                    </a:cubicBezTo>
                    <a:cubicBezTo>
                      <a:pt x="216" y="69"/>
                      <a:pt x="213" y="72"/>
                      <a:pt x="210" y="72"/>
                    </a:cubicBezTo>
                    <a:close/>
                    <a:moveTo>
                      <a:pt x="12" y="60"/>
                    </a:moveTo>
                    <a:cubicBezTo>
                      <a:pt x="204" y="60"/>
                      <a:pt x="204" y="60"/>
                      <a:pt x="204" y="60"/>
                    </a:cubicBezTo>
                    <a:cubicBezTo>
                      <a:pt x="204" y="12"/>
                      <a:pt x="204" y="12"/>
                      <a:pt x="204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77" name="Freeform 76">
                <a:extLst>
                  <a:ext uri="{FF2B5EF4-FFF2-40B4-BE49-F238E27FC236}">
                    <a16:creationId xmlns:a16="http://schemas.microsoft.com/office/drawing/2014/main" id="{A5CEADBD-5F58-5327-C5DB-DDCB5260D4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533" y="1974"/>
                <a:ext cx="53" cy="53"/>
              </a:xfrm>
              <a:custGeom>
                <a:avLst/>
                <a:gdLst>
                  <a:gd name="T0" fmla="*/ 18 w 36"/>
                  <a:gd name="T1" fmla="*/ 36 h 36"/>
                  <a:gd name="T2" fmla="*/ 0 w 36"/>
                  <a:gd name="T3" fmla="*/ 18 h 36"/>
                  <a:gd name="T4" fmla="*/ 18 w 36"/>
                  <a:gd name="T5" fmla="*/ 0 h 36"/>
                  <a:gd name="T6" fmla="*/ 36 w 36"/>
                  <a:gd name="T7" fmla="*/ 18 h 36"/>
                  <a:gd name="T8" fmla="*/ 18 w 36"/>
                  <a:gd name="T9" fmla="*/ 36 h 36"/>
                  <a:gd name="T10" fmla="*/ 18 w 36"/>
                  <a:gd name="T11" fmla="*/ 12 h 36"/>
                  <a:gd name="T12" fmla="*/ 12 w 36"/>
                  <a:gd name="T13" fmla="*/ 18 h 36"/>
                  <a:gd name="T14" fmla="*/ 18 w 36"/>
                  <a:gd name="T15" fmla="*/ 24 h 36"/>
                  <a:gd name="T16" fmla="*/ 24 w 36"/>
                  <a:gd name="T17" fmla="*/ 18 h 36"/>
                  <a:gd name="T18" fmla="*/ 18 w 36"/>
                  <a:gd name="T19" fmla="*/ 1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36">
                    <a:moveTo>
                      <a:pt x="18" y="36"/>
                    </a:moveTo>
                    <a:cubicBezTo>
                      <a:pt x="8" y="36"/>
                      <a:pt x="0" y="28"/>
                      <a:pt x="0" y="18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28" y="0"/>
                      <a:pt x="36" y="8"/>
                      <a:pt x="36" y="18"/>
                    </a:cubicBezTo>
                    <a:cubicBezTo>
                      <a:pt x="36" y="28"/>
                      <a:pt x="28" y="36"/>
                      <a:pt x="18" y="36"/>
                    </a:cubicBezTo>
                    <a:close/>
                    <a:moveTo>
                      <a:pt x="18" y="12"/>
                    </a:moveTo>
                    <a:cubicBezTo>
                      <a:pt x="15" y="12"/>
                      <a:pt x="12" y="15"/>
                      <a:pt x="12" y="18"/>
                    </a:cubicBezTo>
                    <a:cubicBezTo>
                      <a:pt x="12" y="21"/>
                      <a:pt x="15" y="24"/>
                      <a:pt x="18" y="24"/>
                    </a:cubicBezTo>
                    <a:cubicBezTo>
                      <a:pt x="21" y="24"/>
                      <a:pt x="24" y="21"/>
                      <a:pt x="24" y="18"/>
                    </a:cubicBezTo>
                    <a:cubicBezTo>
                      <a:pt x="24" y="15"/>
                      <a:pt x="21" y="12"/>
                      <a:pt x="1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78" name="Oval 77">
                <a:extLst>
                  <a:ext uri="{FF2B5EF4-FFF2-40B4-BE49-F238E27FC236}">
                    <a16:creationId xmlns:a16="http://schemas.microsoft.com/office/drawing/2014/main" id="{44996967-08C9-1328-274C-C3DEB06881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20" y="1983"/>
                <a:ext cx="35" cy="3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79" name="Oval 78">
                <a:extLst>
                  <a:ext uri="{FF2B5EF4-FFF2-40B4-BE49-F238E27FC236}">
                    <a16:creationId xmlns:a16="http://schemas.microsoft.com/office/drawing/2014/main" id="{210B61F1-B902-BEC4-5853-1F8D37E605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6" y="1983"/>
                <a:ext cx="36" cy="3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80" name="Freeform 79">
                <a:extLst>
                  <a:ext uri="{FF2B5EF4-FFF2-40B4-BE49-F238E27FC236}">
                    <a16:creationId xmlns:a16="http://schemas.microsoft.com/office/drawing/2014/main" id="{6C3B3272-3CED-7917-6C61-47BD415DDC3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533" y="2063"/>
                <a:ext cx="53" cy="53"/>
              </a:xfrm>
              <a:custGeom>
                <a:avLst/>
                <a:gdLst>
                  <a:gd name="T0" fmla="*/ 18 w 36"/>
                  <a:gd name="T1" fmla="*/ 36 h 36"/>
                  <a:gd name="T2" fmla="*/ 0 w 36"/>
                  <a:gd name="T3" fmla="*/ 18 h 36"/>
                  <a:gd name="T4" fmla="*/ 18 w 36"/>
                  <a:gd name="T5" fmla="*/ 0 h 36"/>
                  <a:gd name="T6" fmla="*/ 36 w 36"/>
                  <a:gd name="T7" fmla="*/ 18 h 36"/>
                  <a:gd name="T8" fmla="*/ 18 w 36"/>
                  <a:gd name="T9" fmla="*/ 36 h 36"/>
                  <a:gd name="T10" fmla="*/ 18 w 36"/>
                  <a:gd name="T11" fmla="*/ 12 h 36"/>
                  <a:gd name="T12" fmla="*/ 12 w 36"/>
                  <a:gd name="T13" fmla="*/ 18 h 36"/>
                  <a:gd name="T14" fmla="*/ 18 w 36"/>
                  <a:gd name="T15" fmla="*/ 24 h 36"/>
                  <a:gd name="T16" fmla="*/ 24 w 36"/>
                  <a:gd name="T17" fmla="*/ 18 h 36"/>
                  <a:gd name="T18" fmla="*/ 18 w 36"/>
                  <a:gd name="T19" fmla="*/ 1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36">
                    <a:moveTo>
                      <a:pt x="18" y="36"/>
                    </a:moveTo>
                    <a:cubicBezTo>
                      <a:pt x="8" y="36"/>
                      <a:pt x="0" y="28"/>
                      <a:pt x="0" y="18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28" y="0"/>
                      <a:pt x="36" y="8"/>
                      <a:pt x="36" y="18"/>
                    </a:cubicBezTo>
                    <a:cubicBezTo>
                      <a:pt x="36" y="28"/>
                      <a:pt x="28" y="36"/>
                      <a:pt x="18" y="36"/>
                    </a:cubicBezTo>
                    <a:close/>
                    <a:moveTo>
                      <a:pt x="18" y="12"/>
                    </a:moveTo>
                    <a:cubicBezTo>
                      <a:pt x="15" y="12"/>
                      <a:pt x="12" y="15"/>
                      <a:pt x="12" y="18"/>
                    </a:cubicBezTo>
                    <a:cubicBezTo>
                      <a:pt x="12" y="21"/>
                      <a:pt x="15" y="24"/>
                      <a:pt x="18" y="24"/>
                    </a:cubicBezTo>
                    <a:cubicBezTo>
                      <a:pt x="21" y="24"/>
                      <a:pt x="24" y="21"/>
                      <a:pt x="24" y="18"/>
                    </a:cubicBezTo>
                    <a:cubicBezTo>
                      <a:pt x="24" y="15"/>
                      <a:pt x="21" y="12"/>
                      <a:pt x="1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81" name="Oval 80">
                <a:extLst>
                  <a:ext uri="{FF2B5EF4-FFF2-40B4-BE49-F238E27FC236}">
                    <a16:creationId xmlns:a16="http://schemas.microsoft.com/office/drawing/2014/main" id="{98520238-2391-F1A5-2713-DE4847D4C7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20" y="2072"/>
                <a:ext cx="35" cy="3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82" name="Oval 81">
                <a:extLst>
                  <a:ext uri="{FF2B5EF4-FFF2-40B4-BE49-F238E27FC236}">
                    <a16:creationId xmlns:a16="http://schemas.microsoft.com/office/drawing/2014/main" id="{A0A02D9A-9FFD-62E2-BE22-4B2580BF4D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6" y="2072"/>
                <a:ext cx="36" cy="3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</p:grpSp>
      </p:grpSp>
      <p:grpSp>
        <p:nvGrpSpPr>
          <p:cNvPr id="583" name="Group 582">
            <a:extLst>
              <a:ext uri="{FF2B5EF4-FFF2-40B4-BE49-F238E27FC236}">
                <a16:creationId xmlns:a16="http://schemas.microsoft.com/office/drawing/2014/main" id="{2BA8E220-51E9-1EB7-BE76-7D55F5AD2A60}"/>
              </a:ext>
            </a:extLst>
          </p:cNvPr>
          <p:cNvGrpSpPr/>
          <p:nvPr/>
        </p:nvGrpSpPr>
        <p:grpSpPr>
          <a:xfrm>
            <a:off x="11039561" y="3645453"/>
            <a:ext cx="365760" cy="365760"/>
            <a:chOff x="-1629988" y="116551"/>
            <a:chExt cx="365760" cy="365760"/>
          </a:xfrm>
        </p:grpSpPr>
        <p:sp>
          <p:nvSpPr>
            <p:cNvPr id="584" name="Oval 583">
              <a:extLst>
                <a:ext uri="{FF2B5EF4-FFF2-40B4-BE49-F238E27FC236}">
                  <a16:creationId xmlns:a16="http://schemas.microsoft.com/office/drawing/2014/main" id="{F63FCB03-3A35-A371-A50A-E5A7B2B4F993}"/>
                </a:ext>
              </a:extLst>
            </p:cNvPr>
            <p:cNvSpPr/>
            <p:nvPr/>
          </p:nvSpPr>
          <p:spPr>
            <a:xfrm>
              <a:off x="-1629988" y="116551"/>
              <a:ext cx="365760" cy="365760"/>
            </a:xfrm>
            <a:prstGeom prst="ellipse">
              <a:avLst/>
            </a:prstGeom>
            <a:solidFill>
              <a:srgbClr val="D507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grpSp>
          <p:nvGrpSpPr>
            <p:cNvPr id="585" name="Group 143">
              <a:extLst>
                <a:ext uri="{FF2B5EF4-FFF2-40B4-BE49-F238E27FC236}">
                  <a16:creationId xmlns:a16="http://schemas.microsoft.com/office/drawing/2014/main" id="{F3AE0A97-9A76-033C-27F2-F6EF7FDCACE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-1558153" y="185394"/>
              <a:ext cx="222090" cy="228075"/>
              <a:chOff x="6565" y="1732"/>
              <a:chExt cx="371" cy="381"/>
            </a:xfrm>
            <a:solidFill>
              <a:schemeClr val="bg1"/>
            </a:solidFill>
          </p:grpSpPr>
          <p:sp>
            <p:nvSpPr>
              <p:cNvPr id="586" name="Freeform 144">
                <a:extLst>
                  <a:ext uri="{FF2B5EF4-FFF2-40B4-BE49-F238E27FC236}">
                    <a16:creationId xmlns:a16="http://schemas.microsoft.com/office/drawing/2014/main" id="{FFDEEBE9-27CB-3476-71D3-A38F17CC4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15" y="1846"/>
                <a:ext cx="271" cy="71"/>
              </a:xfrm>
              <a:custGeom>
                <a:avLst/>
                <a:gdLst>
                  <a:gd name="T0" fmla="*/ 177 w 183"/>
                  <a:gd name="T1" fmla="*/ 47 h 48"/>
                  <a:gd name="T2" fmla="*/ 172 w 183"/>
                  <a:gd name="T3" fmla="*/ 46 h 48"/>
                  <a:gd name="T4" fmla="*/ 92 w 183"/>
                  <a:gd name="T5" fmla="*/ 12 h 48"/>
                  <a:gd name="T6" fmla="*/ 92 w 183"/>
                  <a:gd name="T7" fmla="*/ 12 h 48"/>
                  <a:gd name="T8" fmla="*/ 11 w 183"/>
                  <a:gd name="T9" fmla="*/ 46 h 48"/>
                  <a:gd name="T10" fmla="*/ 3 w 183"/>
                  <a:gd name="T11" fmla="*/ 46 h 48"/>
                  <a:gd name="T12" fmla="*/ 3 w 183"/>
                  <a:gd name="T13" fmla="*/ 37 h 48"/>
                  <a:gd name="T14" fmla="*/ 92 w 183"/>
                  <a:gd name="T15" fmla="*/ 0 h 48"/>
                  <a:gd name="T16" fmla="*/ 92 w 183"/>
                  <a:gd name="T17" fmla="*/ 0 h 48"/>
                  <a:gd name="T18" fmla="*/ 181 w 183"/>
                  <a:gd name="T19" fmla="*/ 37 h 48"/>
                  <a:gd name="T20" fmla="*/ 181 w 183"/>
                  <a:gd name="T21" fmla="*/ 46 h 48"/>
                  <a:gd name="T22" fmla="*/ 177 w 183"/>
                  <a:gd name="T23" fmla="*/ 47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83" h="48">
                    <a:moveTo>
                      <a:pt x="177" y="47"/>
                    </a:moveTo>
                    <a:cubicBezTo>
                      <a:pt x="175" y="47"/>
                      <a:pt x="174" y="47"/>
                      <a:pt x="172" y="46"/>
                    </a:cubicBezTo>
                    <a:cubicBezTo>
                      <a:pt x="151" y="24"/>
                      <a:pt x="122" y="12"/>
                      <a:pt x="92" y="12"/>
                    </a:cubicBezTo>
                    <a:cubicBezTo>
                      <a:pt x="92" y="12"/>
                      <a:pt x="92" y="12"/>
                      <a:pt x="92" y="12"/>
                    </a:cubicBezTo>
                    <a:cubicBezTo>
                      <a:pt x="61" y="12"/>
                      <a:pt x="33" y="24"/>
                      <a:pt x="11" y="46"/>
                    </a:cubicBezTo>
                    <a:cubicBezTo>
                      <a:pt x="9" y="48"/>
                      <a:pt x="5" y="48"/>
                      <a:pt x="3" y="46"/>
                    </a:cubicBezTo>
                    <a:cubicBezTo>
                      <a:pt x="0" y="43"/>
                      <a:pt x="0" y="39"/>
                      <a:pt x="3" y="37"/>
                    </a:cubicBezTo>
                    <a:cubicBezTo>
                      <a:pt x="27" y="13"/>
                      <a:pt x="58" y="0"/>
                      <a:pt x="92" y="0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126" y="0"/>
                      <a:pt x="157" y="13"/>
                      <a:pt x="181" y="37"/>
                    </a:cubicBezTo>
                    <a:cubicBezTo>
                      <a:pt x="183" y="39"/>
                      <a:pt x="183" y="43"/>
                      <a:pt x="181" y="46"/>
                    </a:cubicBezTo>
                    <a:cubicBezTo>
                      <a:pt x="180" y="47"/>
                      <a:pt x="178" y="47"/>
                      <a:pt x="177" y="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87" name="Freeform 145">
                <a:extLst>
                  <a:ext uri="{FF2B5EF4-FFF2-40B4-BE49-F238E27FC236}">
                    <a16:creationId xmlns:a16="http://schemas.microsoft.com/office/drawing/2014/main" id="{40DF73A5-F91D-C0EE-780F-0BDCC50AD3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65" y="1732"/>
                <a:ext cx="371" cy="117"/>
              </a:xfrm>
              <a:custGeom>
                <a:avLst/>
                <a:gdLst>
                  <a:gd name="T0" fmla="*/ 245 w 251"/>
                  <a:gd name="T1" fmla="*/ 78 h 79"/>
                  <a:gd name="T2" fmla="*/ 240 w 251"/>
                  <a:gd name="T3" fmla="*/ 77 h 79"/>
                  <a:gd name="T4" fmla="*/ 11 w 251"/>
                  <a:gd name="T5" fmla="*/ 77 h 79"/>
                  <a:gd name="T6" fmla="*/ 3 w 251"/>
                  <a:gd name="T7" fmla="*/ 77 h 79"/>
                  <a:gd name="T8" fmla="*/ 3 w 251"/>
                  <a:gd name="T9" fmla="*/ 68 h 79"/>
                  <a:gd name="T10" fmla="*/ 249 w 251"/>
                  <a:gd name="T11" fmla="*/ 68 h 79"/>
                  <a:gd name="T12" fmla="*/ 249 w 251"/>
                  <a:gd name="T13" fmla="*/ 77 h 79"/>
                  <a:gd name="T14" fmla="*/ 245 w 251"/>
                  <a:gd name="T15" fmla="*/ 78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1" h="79">
                    <a:moveTo>
                      <a:pt x="245" y="78"/>
                    </a:moveTo>
                    <a:cubicBezTo>
                      <a:pt x="243" y="78"/>
                      <a:pt x="242" y="78"/>
                      <a:pt x="240" y="77"/>
                    </a:cubicBezTo>
                    <a:cubicBezTo>
                      <a:pt x="177" y="13"/>
                      <a:pt x="74" y="13"/>
                      <a:pt x="11" y="77"/>
                    </a:cubicBezTo>
                    <a:cubicBezTo>
                      <a:pt x="9" y="79"/>
                      <a:pt x="5" y="79"/>
                      <a:pt x="3" y="77"/>
                    </a:cubicBezTo>
                    <a:cubicBezTo>
                      <a:pt x="0" y="74"/>
                      <a:pt x="0" y="71"/>
                      <a:pt x="3" y="68"/>
                    </a:cubicBezTo>
                    <a:cubicBezTo>
                      <a:pt x="71" y="0"/>
                      <a:pt x="181" y="0"/>
                      <a:pt x="249" y="68"/>
                    </a:cubicBezTo>
                    <a:cubicBezTo>
                      <a:pt x="251" y="71"/>
                      <a:pt x="251" y="74"/>
                      <a:pt x="249" y="77"/>
                    </a:cubicBezTo>
                    <a:cubicBezTo>
                      <a:pt x="248" y="78"/>
                      <a:pt x="246" y="78"/>
                      <a:pt x="245" y="7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88" name="Freeform 146">
                <a:extLst>
                  <a:ext uri="{FF2B5EF4-FFF2-40B4-BE49-F238E27FC236}">
                    <a16:creationId xmlns:a16="http://schemas.microsoft.com/office/drawing/2014/main" id="{67EA9365-E90F-D7A8-88DF-E60A818AE7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6" y="1925"/>
                <a:ext cx="170" cy="60"/>
              </a:xfrm>
              <a:custGeom>
                <a:avLst/>
                <a:gdLst>
                  <a:gd name="T0" fmla="*/ 109 w 115"/>
                  <a:gd name="T1" fmla="*/ 40 h 41"/>
                  <a:gd name="T2" fmla="*/ 105 w 115"/>
                  <a:gd name="T3" fmla="*/ 39 h 41"/>
                  <a:gd name="T4" fmla="*/ 11 w 115"/>
                  <a:gd name="T5" fmla="*/ 39 h 41"/>
                  <a:gd name="T6" fmla="*/ 3 w 115"/>
                  <a:gd name="T7" fmla="*/ 39 h 41"/>
                  <a:gd name="T8" fmla="*/ 3 w 115"/>
                  <a:gd name="T9" fmla="*/ 30 h 41"/>
                  <a:gd name="T10" fmla="*/ 113 w 115"/>
                  <a:gd name="T11" fmla="*/ 30 h 41"/>
                  <a:gd name="T12" fmla="*/ 113 w 115"/>
                  <a:gd name="T13" fmla="*/ 39 h 41"/>
                  <a:gd name="T14" fmla="*/ 109 w 115"/>
                  <a:gd name="T15" fmla="*/ 4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5" h="41">
                    <a:moveTo>
                      <a:pt x="109" y="40"/>
                    </a:moveTo>
                    <a:cubicBezTo>
                      <a:pt x="107" y="40"/>
                      <a:pt x="106" y="40"/>
                      <a:pt x="105" y="39"/>
                    </a:cubicBezTo>
                    <a:cubicBezTo>
                      <a:pt x="79" y="13"/>
                      <a:pt x="37" y="13"/>
                      <a:pt x="11" y="39"/>
                    </a:cubicBezTo>
                    <a:cubicBezTo>
                      <a:pt x="9" y="41"/>
                      <a:pt x="5" y="41"/>
                      <a:pt x="3" y="39"/>
                    </a:cubicBezTo>
                    <a:cubicBezTo>
                      <a:pt x="0" y="36"/>
                      <a:pt x="0" y="32"/>
                      <a:pt x="3" y="30"/>
                    </a:cubicBezTo>
                    <a:cubicBezTo>
                      <a:pt x="33" y="0"/>
                      <a:pt x="83" y="0"/>
                      <a:pt x="113" y="30"/>
                    </a:cubicBezTo>
                    <a:cubicBezTo>
                      <a:pt x="115" y="32"/>
                      <a:pt x="115" y="36"/>
                      <a:pt x="113" y="39"/>
                    </a:cubicBezTo>
                    <a:cubicBezTo>
                      <a:pt x="112" y="40"/>
                      <a:pt x="110" y="40"/>
                      <a:pt x="109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89" name="Freeform 147">
                <a:extLst>
                  <a:ext uri="{FF2B5EF4-FFF2-40B4-BE49-F238E27FC236}">
                    <a16:creationId xmlns:a16="http://schemas.microsoft.com/office/drawing/2014/main" id="{DBCCF285-007D-1F14-37D1-5B79B019CA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15" y="1846"/>
                <a:ext cx="271" cy="71"/>
              </a:xfrm>
              <a:custGeom>
                <a:avLst/>
                <a:gdLst>
                  <a:gd name="T0" fmla="*/ 177 w 183"/>
                  <a:gd name="T1" fmla="*/ 47 h 48"/>
                  <a:gd name="T2" fmla="*/ 172 w 183"/>
                  <a:gd name="T3" fmla="*/ 46 h 48"/>
                  <a:gd name="T4" fmla="*/ 92 w 183"/>
                  <a:gd name="T5" fmla="*/ 12 h 48"/>
                  <a:gd name="T6" fmla="*/ 92 w 183"/>
                  <a:gd name="T7" fmla="*/ 12 h 48"/>
                  <a:gd name="T8" fmla="*/ 11 w 183"/>
                  <a:gd name="T9" fmla="*/ 46 h 48"/>
                  <a:gd name="T10" fmla="*/ 3 w 183"/>
                  <a:gd name="T11" fmla="*/ 46 h 48"/>
                  <a:gd name="T12" fmla="*/ 3 w 183"/>
                  <a:gd name="T13" fmla="*/ 37 h 48"/>
                  <a:gd name="T14" fmla="*/ 92 w 183"/>
                  <a:gd name="T15" fmla="*/ 0 h 48"/>
                  <a:gd name="T16" fmla="*/ 92 w 183"/>
                  <a:gd name="T17" fmla="*/ 0 h 48"/>
                  <a:gd name="T18" fmla="*/ 181 w 183"/>
                  <a:gd name="T19" fmla="*/ 37 h 48"/>
                  <a:gd name="T20" fmla="*/ 181 w 183"/>
                  <a:gd name="T21" fmla="*/ 46 h 48"/>
                  <a:gd name="T22" fmla="*/ 177 w 183"/>
                  <a:gd name="T23" fmla="*/ 47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83" h="48">
                    <a:moveTo>
                      <a:pt x="177" y="47"/>
                    </a:moveTo>
                    <a:cubicBezTo>
                      <a:pt x="175" y="47"/>
                      <a:pt x="174" y="47"/>
                      <a:pt x="172" y="46"/>
                    </a:cubicBezTo>
                    <a:cubicBezTo>
                      <a:pt x="151" y="24"/>
                      <a:pt x="122" y="12"/>
                      <a:pt x="92" y="12"/>
                    </a:cubicBezTo>
                    <a:cubicBezTo>
                      <a:pt x="92" y="12"/>
                      <a:pt x="92" y="12"/>
                      <a:pt x="92" y="12"/>
                    </a:cubicBezTo>
                    <a:cubicBezTo>
                      <a:pt x="61" y="12"/>
                      <a:pt x="33" y="24"/>
                      <a:pt x="11" y="46"/>
                    </a:cubicBezTo>
                    <a:cubicBezTo>
                      <a:pt x="9" y="48"/>
                      <a:pt x="5" y="48"/>
                      <a:pt x="3" y="46"/>
                    </a:cubicBezTo>
                    <a:cubicBezTo>
                      <a:pt x="0" y="43"/>
                      <a:pt x="0" y="39"/>
                      <a:pt x="3" y="37"/>
                    </a:cubicBezTo>
                    <a:cubicBezTo>
                      <a:pt x="27" y="13"/>
                      <a:pt x="58" y="0"/>
                      <a:pt x="92" y="0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126" y="0"/>
                      <a:pt x="157" y="13"/>
                      <a:pt x="181" y="37"/>
                    </a:cubicBezTo>
                    <a:cubicBezTo>
                      <a:pt x="183" y="39"/>
                      <a:pt x="183" y="43"/>
                      <a:pt x="181" y="46"/>
                    </a:cubicBezTo>
                    <a:cubicBezTo>
                      <a:pt x="180" y="47"/>
                      <a:pt x="178" y="47"/>
                      <a:pt x="177" y="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90" name="Freeform 148">
                <a:extLst>
                  <a:ext uri="{FF2B5EF4-FFF2-40B4-BE49-F238E27FC236}">
                    <a16:creationId xmlns:a16="http://schemas.microsoft.com/office/drawing/2014/main" id="{845DE105-3309-5F59-EC0B-4D98CCA296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6" y="1925"/>
                <a:ext cx="170" cy="60"/>
              </a:xfrm>
              <a:custGeom>
                <a:avLst/>
                <a:gdLst>
                  <a:gd name="T0" fmla="*/ 7 w 115"/>
                  <a:gd name="T1" fmla="*/ 40 h 41"/>
                  <a:gd name="T2" fmla="*/ 3 w 115"/>
                  <a:gd name="T3" fmla="*/ 39 h 41"/>
                  <a:gd name="T4" fmla="*/ 3 w 115"/>
                  <a:gd name="T5" fmla="*/ 30 h 41"/>
                  <a:gd name="T6" fmla="*/ 113 w 115"/>
                  <a:gd name="T7" fmla="*/ 30 h 41"/>
                  <a:gd name="T8" fmla="*/ 113 w 115"/>
                  <a:gd name="T9" fmla="*/ 39 h 41"/>
                  <a:gd name="T10" fmla="*/ 105 w 115"/>
                  <a:gd name="T11" fmla="*/ 39 h 41"/>
                  <a:gd name="T12" fmla="*/ 11 w 115"/>
                  <a:gd name="T13" fmla="*/ 39 h 41"/>
                  <a:gd name="T14" fmla="*/ 7 w 115"/>
                  <a:gd name="T15" fmla="*/ 4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5" h="41">
                    <a:moveTo>
                      <a:pt x="7" y="40"/>
                    </a:moveTo>
                    <a:cubicBezTo>
                      <a:pt x="5" y="40"/>
                      <a:pt x="4" y="40"/>
                      <a:pt x="3" y="39"/>
                    </a:cubicBezTo>
                    <a:cubicBezTo>
                      <a:pt x="0" y="36"/>
                      <a:pt x="0" y="32"/>
                      <a:pt x="3" y="30"/>
                    </a:cubicBezTo>
                    <a:cubicBezTo>
                      <a:pt x="33" y="0"/>
                      <a:pt x="83" y="0"/>
                      <a:pt x="113" y="30"/>
                    </a:cubicBezTo>
                    <a:cubicBezTo>
                      <a:pt x="115" y="32"/>
                      <a:pt x="115" y="36"/>
                      <a:pt x="113" y="39"/>
                    </a:cubicBezTo>
                    <a:cubicBezTo>
                      <a:pt x="111" y="41"/>
                      <a:pt x="107" y="41"/>
                      <a:pt x="105" y="39"/>
                    </a:cubicBezTo>
                    <a:cubicBezTo>
                      <a:pt x="79" y="13"/>
                      <a:pt x="37" y="13"/>
                      <a:pt x="11" y="39"/>
                    </a:cubicBezTo>
                    <a:cubicBezTo>
                      <a:pt x="10" y="40"/>
                      <a:pt x="8" y="40"/>
                      <a:pt x="7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591" name="Freeform 149">
                <a:extLst>
                  <a:ext uri="{FF2B5EF4-FFF2-40B4-BE49-F238E27FC236}">
                    <a16:creationId xmlns:a16="http://schemas.microsoft.com/office/drawing/2014/main" id="{93BE3A7A-FD26-AB65-2493-A893CA083E1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707" y="2024"/>
                <a:ext cx="89" cy="89"/>
              </a:xfrm>
              <a:custGeom>
                <a:avLst/>
                <a:gdLst>
                  <a:gd name="T0" fmla="*/ 30 w 60"/>
                  <a:gd name="T1" fmla="*/ 60 h 60"/>
                  <a:gd name="T2" fmla="*/ 0 w 60"/>
                  <a:gd name="T3" fmla="*/ 30 h 60"/>
                  <a:gd name="T4" fmla="*/ 30 w 60"/>
                  <a:gd name="T5" fmla="*/ 0 h 60"/>
                  <a:gd name="T6" fmla="*/ 60 w 60"/>
                  <a:gd name="T7" fmla="*/ 30 h 60"/>
                  <a:gd name="T8" fmla="*/ 30 w 60"/>
                  <a:gd name="T9" fmla="*/ 60 h 60"/>
                  <a:gd name="T10" fmla="*/ 30 w 60"/>
                  <a:gd name="T11" fmla="*/ 12 h 60"/>
                  <a:gd name="T12" fmla="*/ 12 w 60"/>
                  <a:gd name="T13" fmla="*/ 30 h 60"/>
                  <a:gd name="T14" fmla="*/ 30 w 60"/>
                  <a:gd name="T15" fmla="*/ 48 h 60"/>
                  <a:gd name="T16" fmla="*/ 48 w 60"/>
                  <a:gd name="T17" fmla="*/ 30 h 60"/>
                  <a:gd name="T18" fmla="*/ 30 w 60"/>
                  <a:gd name="T19" fmla="*/ 1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0" h="60">
                    <a:moveTo>
                      <a:pt x="30" y="60"/>
                    </a:moveTo>
                    <a:cubicBezTo>
                      <a:pt x="13" y="60"/>
                      <a:pt x="0" y="47"/>
                      <a:pt x="0" y="30"/>
                    </a:cubicBezTo>
                    <a:cubicBezTo>
                      <a:pt x="0" y="14"/>
                      <a:pt x="13" y="0"/>
                      <a:pt x="30" y="0"/>
                    </a:cubicBezTo>
                    <a:cubicBezTo>
                      <a:pt x="46" y="0"/>
                      <a:pt x="60" y="14"/>
                      <a:pt x="60" y="30"/>
                    </a:cubicBezTo>
                    <a:cubicBezTo>
                      <a:pt x="60" y="47"/>
                      <a:pt x="46" y="60"/>
                      <a:pt x="30" y="60"/>
                    </a:cubicBezTo>
                    <a:close/>
                    <a:moveTo>
                      <a:pt x="30" y="12"/>
                    </a:moveTo>
                    <a:cubicBezTo>
                      <a:pt x="20" y="12"/>
                      <a:pt x="12" y="20"/>
                      <a:pt x="12" y="30"/>
                    </a:cubicBezTo>
                    <a:cubicBezTo>
                      <a:pt x="12" y="40"/>
                      <a:pt x="20" y="48"/>
                      <a:pt x="30" y="48"/>
                    </a:cubicBezTo>
                    <a:cubicBezTo>
                      <a:pt x="40" y="48"/>
                      <a:pt x="48" y="40"/>
                      <a:pt x="48" y="30"/>
                    </a:cubicBezTo>
                    <a:cubicBezTo>
                      <a:pt x="48" y="20"/>
                      <a:pt x="40" y="12"/>
                      <a:pt x="30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75092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E75A4-B483-83F9-0A7E-D3CA66D41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18">
            <a:extLst>
              <a:ext uri="{FF2B5EF4-FFF2-40B4-BE49-F238E27FC236}">
                <a16:creationId xmlns:a16="http://schemas.microsoft.com/office/drawing/2014/main" id="{7DF1C826-8D95-551F-BD3B-0830168A5556}"/>
              </a:ext>
            </a:extLst>
          </p:cNvPr>
          <p:cNvSpPr txBox="1">
            <a:spLocks/>
          </p:cNvSpPr>
          <p:nvPr/>
        </p:nvSpPr>
        <p:spPr>
          <a:xfrm>
            <a:off x="220579" y="161336"/>
            <a:ext cx="11430000" cy="990600"/>
          </a:xfrm>
          <a:prstGeom prst="rect">
            <a:avLst/>
          </a:prstGeom>
        </p:spPr>
        <p:txBody>
          <a:bodyPr/>
          <a:lstStyle>
            <a:lvl1pPr algn="l" defTabSz="914363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Phase 1 Methodology Overview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79E1BF1-91BD-5F09-9AC9-6E13F8D476F6}"/>
              </a:ext>
            </a:extLst>
          </p:cNvPr>
          <p:cNvSpPr txBox="1"/>
          <p:nvPr/>
        </p:nvSpPr>
        <p:spPr>
          <a:xfrm>
            <a:off x="360471" y="703861"/>
            <a:ext cx="80706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latin typeface="Graphik" panose="020B0503030202060203" pitchFamily="34" charset="0"/>
              </a:rPr>
              <a:t>From Input to Impact: Scoring Simplified</a:t>
            </a:r>
          </a:p>
        </p:txBody>
      </p:sp>
      <p:sp>
        <p:nvSpPr>
          <p:cNvPr id="3" name="Rounded Rectangle 39">
            <a:extLst>
              <a:ext uri="{FF2B5EF4-FFF2-40B4-BE49-F238E27FC236}">
                <a16:creationId xmlns:a16="http://schemas.microsoft.com/office/drawing/2014/main" id="{C3B22564-3B50-82BD-2603-E964358CAAAA}"/>
              </a:ext>
            </a:extLst>
          </p:cNvPr>
          <p:cNvSpPr/>
          <p:nvPr/>
        </p:nvSpPr>
        <p:spPr>
          <a:xfrm>
            <a:off x="7206712" y="633913"/>
            <a:ext cx="4406685" cy="922010"/>
          </a:xfrm>
          <a:prstGeom prst="roundRect">
            <a:avLst>
              <a:gd name="adj" fmla="val 558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/>
          <a:lstStyle/>
          <a:p>
            <a:pPr algn="ctr" fontAlgn="ctr">
              <a:spcAft>
                <a:spcPts val="600"/>
              </a:spcAft>
            </a:pPr>
            <a:r>
              <a:rPr lang="en-US" sz="1400" b="1">
                <a:solidFill>
                  <a:schemeClr val="tx1"/>
                </a:solidFill>
              </a:rPr>
              <a:t>Rationalized Data:</a:t>
            </a:r>
          </a:p>
          <a:p>
            <a:pPr fontAlgn="ctr">
              <a:spcAft>
                <a:spcPts val="1200"/>
              </a:spcAft>
            </a:pPr>
            <a:r>
              <a:rPr lang="en-US" sz="1100">
                <a:solidFill>
                  <a:schemeClr val="tx1"/>
                </a:solidFill>
                <a:latin typeface="Graphik" panose="020B0503030202060203" pitchFamily="34" charset="77"/>
              </a:rPr>
              <a:t>Responses were rationalized to data points where necessary (e.g. total bandwidth across all circuits, AP per user against stadium capacity) using industry knowledge + best practices</a:t>
            </a:r>
          </a:p>
        </p:txBody>
      </p:sp>
      <p:sp>
        <p:nvSpPr>
          <p:cNvPr id="4" name="Triangle 64">
            <a:extLst>
              <a:ext uri="{FF2B5EF4-FFF2-40B4-BE49-F238E27FC236}">
                <a16:creationId xmlns:a16="http://schemas.microsoft.com/office/drawing/2014/main" id="{B9E5900C-E853-0EB0-0075-A191C62F0CCB}"/>
              </a:ext>
            </a:extLst>
          </p:cNvPr>
          <p:cNvSpPr/>
          <p:nvPr/>
        </p:nvSpPr>
        <p:spPr>
          <a:xfrm rot="5400000">
            <a:off x="1509886" y="3609113"/>
            <a:ext cx="3149533" cy="506125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8F1C4A-47F0-1637-465F-0D535D9047E1}"/>
              </a:ext>
            </a:extLst>
          </p:cNvPr>
          <p:cNvSpPr txBox="1"/>
          <p:nvPr/>
        </p:nvSpPr>
        <p:spPr>
          <a:xfrm>
            <a:off x="7168010" y="5636118"/>
            <a:ext cx="44825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i="1" u="none" strike="noStrike" dirty="0">
                <a:solidFill>
                  <a:srgbClr val="000000"/>
                </a:solidFill>
                <a:effectLst/>
                <a:latin typeface="+mj-lt"/>
              </a:rPr>
              <a:t>For each topic scoring methodology includes:</a:t>
            </a:r>
            <a:endParaRPr lang="en-US" sz="800" i="1" dirty="0">
              <a:solidFill>
                <a:srgbClr val="000000"/>
              </a:solidFill>
              <a:latin typeface="+mj-lt"/>
            </a:endParaRPr>
          </a:p>
          <a:p>
            <a:pPr marL="346075" lvl="1" indent="-173038">
              <a:buFont typeface="Arial" panose="020B0604020202020204" pitchFamily="34" charset="0"/>
              <a:buChar char="•"/>
            </a:pPr>
            <a:r>
              <a:rPr lang="en-US" sz="800" b="0" i="1" u="none" strike="noStrike" dirty="0">
                <a:solidFill>
                  <a:srgbClr val="000000"/>
                </a:solidFill>
                <a:effectLst/>
                <a:latin typeface="+mj-lt"/>
              </a:rPr>
              <a:t>If data can't be rationalized or is incomplete, then a score of 0 will be assigned</a:t>
            </a:r>
          </a:p>
          <a:p>
            <a:pPr marL="346075" lvl="1" indent="-173038">
              <a:buFont typeface="Arial" panose="020B0604020202020204" pitchFamily="34" charset="0"/>
              <a:buChar char="•"/>
            </a:pPr>
            <a:r>
              <a:rPr lang="en-US" sz="800" b="0" i="1" u="none" strike="noStrike" dirty="0">
                <a:solidFill>
                  <a:srgbClr val="000000"/>
                </a:solidFill>
                <a:effectLst/>
                <a:latin typeface="+mj-lt"/>
              </a:rPr>
              <a:t>With partial data a value of 5 can be assigned</a:t>
            </a:r>
          </a:p>
          <a:p>
            <a:pPr marL="346075" lvl="1" indent="-173038">
              <a:buFont typeface="Arial" panose="020B0604020202020204" pitchFamily="34" charset="0"/>
              <a:buChar char="•"/>
            </a:pPr>
            <a:r>
              <a:rPr lang="en-US" sz="800" b="0" i="1" u="none" strike="noStrike" dirty="0">
                <a:solidFill>
                  <a:srgbClr val="000000"/>
                </a:solidFill>
                <a:effectLst/>
                <a:latin typeface="+mj-lt"/>
              </a:rPr>
              <a:t>Score range is 1-10</a:t>
            </a:r>
            <a:br>
              <a:rPr lang="en-US" sz="800" b="0" i="1" u="none" strike="noStrike" dirty="0">
                <a:solidFill>
                  <a:srgbClr val="000000"/>
                </a:solidFill>
                <a:effectLst/>
                <a:latin typeface="+mj-lt"/>
              </a:rPr>
            </a:br>
            <a:endParaRPr lang="en-US" sz="800" i="1" dirty="0">
              <a:latin typeface="+mj-l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A242035-67AE-B008-A171-954809EFF1E4}"/>
              </a:ext>
            </a:extLst>
          </p:cNvPr>
          <p:cNvGrpSpPr/>
          <p:nvPr/>
        </p:nvGrpSpPr>
        <p:grpSpPr>
          <a:xfrm>
            <a:off x="202767" y="2090728"/>
            <a:ext cx="2584862" cy="3417726"/>
            <a:chOff x="785337" y="1519308"/>
            <a:chExt cx="3114675" cy="3417726"/>
          </a:xfrm>
        </p:grpSpPr>
        <p:sp>
          <p:nvSpPr>
            <p:cNvPr id="7" name="Rounded Rectangle 35">
              <a:extLst>
                <a:ext uri="{FF2B5EF4-FFF2-40B4-BE49-F238E27FC236}">
                  <a16:creationId xmlns:a16="http://schemas.microsoft.com/office/drawing/2014/main" id="{9F734804-3CDB-E83C-226C-F4BD635EF21C}"/>
                </a:ext>
              </a:extLst>
            </p:cNvPr>
            <p:cNvSpPr/>
            <p:nvPr/>
          </p:nvSpPr>
          <p:spPr>
            <a:xfrm>
              <a:off x="967783" y="1519308"/>
              <a:ext cx="2767244" cy="3417726"/>
            </a:xfrm>
            <a:prstGeom prst="roundRect">
              <a:avLst>
                <a:gd name="adj" fmla="val 5152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9" name="Rounded Rectangle 36">
              <a:extLst>
                <a:ext uri="{FF2B5EF4-FFF2-40B4-BE49-F238E27FC236}">
                  <a16:creationId xmlns:a16="http://schemas.microsoft.com/office/drawing/2014/main" id="{724CEA35-D07D-0DA0-FCBF-4D77740744AC}"/>
                </a:ext>
              </a:extLst>
            </p:cNvPr>
            <p:cNvSpPr/>
            <p:nvPr/>
          </p:nvSpPr>
          <p:spPr>
            <a:xfrm>
              <a:off x="1225329" y="2180778"/>
              <a:ext cx="2252153" cy="718844"/>
            </a:xfrm>
            <a:prstGeom prst="roundRect">
              <a:avLst>
                <a:gd name="adj" fmla="val 5583"/>
              </a:avLst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t"/>
            <a:lstStyle/>
            <a:p>
              <a:pPr algn="ctr" fontAlgn="ctr"/>
              <a:r>
                <a:rPr lang="en-US" sz="1600">
                  <a:solidFill>
                    <a:schemeClr val="bg1"/>
                  </a:solidFill>
                </a:rPr>
                <a:t>Survey question by the NFL</a:t>
              </a:r>
            </a:p>
          </p:txBody>
        </p:sp>
        <p:sp>
          <p:nvSpPr>
            <p:cNvPr id="11" name="Rounded Rectangle 37">
              <a:extLst>
                <a:ext uri="{FF2B5EF4-FFF2-40B4-BE49-F238E27FC236}">
                  <a16:creationId xmlns:a16="http://schemas.microsoft.com/office/drawing/2014/main" id="{6AA11DC2-2DED-023E-43CF-EC9F76C8697B}"/>
                </a:ext>
              </a:extLst>
            </p:cNvPr>
            <p:cNvSpPr/>
            <p:nvPr/>
          </p:nvSpPr>
          <p:spPr>
            <a:xfrm>
              <a:off x="1225329" y="3912001"/>
              <a:ext cx="2252153" cy="726255"/>
            </a:xfrm>
            <a:prstGeom prst="roundRect">
              <a:avLst>
                <a:gd name="adj" fmla="val 5583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t"/>
            <a:lstStyle/>
            <a:p>
              <a:pPr algn="ctr" fontAlgn="ctr"/>
              <a:r>
                <a:rPr lang="en-US" sz="1600">
                  <a:solidFill>
                    <a:schemeClr val="bg1"/>
                  </a:solidFill>
                </a:rPr>
                <a:t>Responses by NFL teams</a:t>
              </a:r>
            </a:p>
          </p:txBody>
        </p:sp>
        <p:sp>
          <p:nvSpPr>
            <p:cNvPr id="12" name="Plus 21">
              <a:extLst>
                <a:ext uri="{FF2B5EF4-FFF2-40B4-BE49-F238E27FC236}">
                  <a16:creationId xmlns:a16="http://schemas.microsoft.com/office/drawing/2014/main" id="{5B91067C-003A-6BAB-FACF-193B83F127D8}"/>
                </a:ext>
              </a:extLst>
            </p:cNvPr>
            <p:cNvSpPr/>
            <p:nvPr/>
          </p:nvSpPr>
          <p:spPr>
            <a:xfrm>
              <a:off x="2082716" y="3143306"/>
              <a:ext cx="511278" cy="462116"/>
            </a:xfrm>
            <a:prstGeom prst="mathPlus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63389DC-6434-4AC9-968F-DCA240C16F10}"/>
                </a:ext>
              </a:extLst>
            </p:cNvPr>
            <p:cNvSpPr txBox="1"/>
            <p:nvPr/>
          </p:nvSpPr>
          <p:spPr>
            <a:xfrm>
              <a:off x="785337" y="1610618"/>
              <a:ext cx="3114675" cy="50014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defTabSz="228600">
                <a:spcAft>
                  <a:spcPts val="1200"/>
                </a:spcAft>
              </a:pPr>
              <a:r>
                <a:rPr lang="en-US" b="1" noProof="0">
                  <a:solidFill>
                    <a:srgbClr val="193369"/>
                  </a:solidFill>
                </a:rPr>
                <a:t>Input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25ED035-EC26-7D5D-C300-3B1807AD7554}"/>
                </a:ext>
              </a:extLst>
            </p:cNvPr>
            <p:cNvGrpSpPr/>
            <p:nvPr/>
          </p:nvGrpSpPr>
          <p:grpSpPr>
            <a:xfrm>
              <a:off x="1086263" y="3708900"/>
              <a:ext cx="440729" cy="365760"/>
              <a:chOff x="1164901" y="3362064"/>
              <a:chExt cx="528249" cy="428405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2AC5323C-91FA-708D-E5A0-CB374393754B}"/>
                  </a:ext>
                </a:extLst>
              </p:cNvPr>
              <p:cNvSpPr/>
              <p:nvPr/>
            </p:nvSpPr>
            <p:spPr>
              <a:xfrm>
                <a:off x="1164901" y="3362064"/>
                <a:ext cx="528249" cy="428405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endParaRPr lang="en-US" err="1"/>
              </a:p>
            </p:txBody>
          </p:sp>
          <p:pic>
            <p:nvPicPr>
              <p:cNvPr id="19" name="Graphic 18" descr="Customer review outline">
                <a:extLst>
                  <a:ext uri="{FF2B5EF4-FFF2-40B4-BE49-F238E27FC236}">
                    <a16:creationId xmlns:a16="http://schemas.microsoft.com/office/drawing/2014/main" id="{1CE10317-AF3A-7AA6-B145-B0828EC81A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236461" y="3404410"/>
                <a:ext cx="363001" cy="363001"/>
              </a:xfrm>
              <a:prstGeom prst="rect">
                <a:avLst/>
              </a:prstGeom>
            </p:spPr>
          </p:pic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3952820-5F9D-C989-42BB-67421DE70247}"/>
                </a:ext>
              </a:extLst>
            </p:cNvPr>
            <p:cNvGrpSpPr/>
            <p:nvPr/>
          </p:nvGrpSpPr>
          <p:grpSpPr>
            <a:xfrm>
              <a:off x="1086263" y="1945390"/>
              <a:ext cx="440729" cy="365760"/>
              <a:chOff x="1164901" y="3362064"/>
              <a:chExt cx="528249" cy="428405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07061109-C081-64DC-09A9-05CBC8AA32C5}"/>
                  </a:ext>
                </a:extLst>
              </p:cNvPr>
              <p:cNvSpPr/>
              <p:nvPr/>
            </p:nvSpPr>
            <p:spPr>
              <a:xfrm>
                <a:off x="1164901" y="3362064"/>
                <a:ext cx="528249" cy="428405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endParaRPr lang="en-US" err="1"/>
              </a:p>
            </p:txBody>
          </p:sp>
          <p:pic>
            <p:nvPicPr>
              <p:cNvPr id="17" name="Graphic 16" descr="Question mark outline">
                <a:extLst>
                  <a:ext uri="{FF2B5EF4-FFF2-40B4-BE49-F238E27FC236}">
                    <a16:creationId xmlns:a16="http://schemas.microsoft.com/office/drawing/2014/main" id="{6FE8F186-DFF1-2604-F23F-D448CA52B0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>
              <a:xfrm>
                <a:off x="1251134" y="3390695"/>
                <a:ext cx="363001" cy="354731"/>
              </a:xfrm>
              <a:prstGeom prst="rect">
                <a:avLst/>
              </a:prstGeom>
            </p:spPr>
          </p:pic>
        </p:grpSp>
      </p:grpSp>
      <p:sp>
        <p:nvSpPr>
          <p:cNvPr id="21" name="Rounded Rectangle 62">
            <a:extLst>
              <a:ext uri="{FF2B5EF4-FFF2-40B4-BE49-F238E27FC236}">
                <a16:creationId xmlns:a16="http://schemas.microsoft.com/office/drawing/2014/main" id="{824860C0-8B9A-3446-8062-E40B7BE8D572}"/>
              </a:ext>
            </a:extLst>
          </p:cNvPr>
          <p:cNvSpPr/>
          <p:nvPr/>
        </p:nvSpPr>
        <p:spPr>
          <a:xfrm>
            <a:off x="3481443" y="1665742"/>
            <a:ext cx="2767244" cy="4154349"/>
          </a:xfrm>
          <a:prstGeom prst="roundRect">
            <a:avLst>
              <a:gd name="adj" fmla="val 5152"/>
            </a:avLst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EA69D3-0DB5-C85A-9F71-21B2C7259351}"/>
              </a:ext>
            </a:extLst>
          </p:cNvPr>
          <p:cNvSpPr txBox="1"/>
          <p:nvPr/>
        </p:nvSpPr>
        <p:spPr>
          <a:xfrm>
            <a:off x="3481442" y="1707357"/>
            <a:ext cx="2767245" cy="5001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b="1" noProof="0">
                <a:solidFill>
                  <a:srgbClr val="193369"/>
                </a:solidFill>
              </a:rPr>
              <a:t>Technology Areas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6246187-C46A-027F-D151-A195A986AFB3}"/>
              </a:ext>
            </a:extLst>
          </p:cNvPr>
          <p:cNvGrpSpPr/>
          <p:nvPr/>
        </p:nvGrpSpPr>
        <p:grpSpPr>
          <a:xfrm>
            <a:off x="3641356" y="2222732"/>
            <a:ext cx="2465331" cy="697977"/>
            <a:chOff x="917343" y="1874726"/>
            <a:chExt cx="2465331" cy="697977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7D32AC6-418B-F85E-198A-8421EA7EABC1}"/>
                </a:ext>
              </a:extLst>
            </p:cNvPr>
            <p:cNvSpPr txBox="1"/>
            <p:nvPr/>
          </p:nvSpPr>
          <p:spPr>
            <a:xfrm>
              <a:off x="1738860" y="1974164"/>
              <a:ext cx="1643814" cy="5985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>
                <a:spcAft>
                  <a:spcPts val="5400"/>
                </a:spcAft>
              </a:pPr>
              <a:r>
                <a:rPr lang="en-US" sz="1600">
                  <a:solidFill>
                    <a:schemeClr val="tx1"/>
                  </a:solidFill>
                </a:rPr>
                <a:t>Technology Infrastructure</a:t>
              </a:r>
            </a:p>
          </p:txBody>
        </p:sp>
        <p:pic>
          <p:nvPicPr>
            <p:cNvPr id="42" name="Graphic 41" descr="Server outline">
              <a:extLst>
                <a:ext uri="{FF2B5EF4-FFF2-40B4-BE49-F238E27FC236}">
                  <a16:creationId xmlns:a16="http://schemas.microsoft.com/office/drawing/2014/main" id="{F105D2AF-6E95-03B4-9F36-14857EA0F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17343" y="1874726"/>
              <a:ext cx="697977" cy="697977"/>
            </a:xfrm>
            <a:prstGeom prst="rect">
              <a:avLst/>
            </a:prstGeom>
          </p:spPr>
        </p:pic>
      </p:grpSp>
      <p:pic>
        <p:nvPicPr>
          <p:cNvPr id="39" name="Graphic 38" descr="Check In outline">
            <a:extLst>
              <a:ext uri="{FF2B5EF4-FFF2-40B4-BE49-F238E27FC236}">
                <a16:creationId xmlns:a16="http://schemas.microsoft.com/office/drawing/2014/main" id="{731E549A-0095-2CD0-7C96-332F9692893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74421" y="3635954"/>
            <a:ext cx="633201" cy="63320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9190F1E0-54D7-ADF1-7D1A-EB2C5A38224A}"/>
              </a:ext>
            </a:extLst>
          </p:cNvPr>
          <p:cNvSpPr txBox="1"/>
          <p:nvPr/>
        </p:nvSpPr>
        <p:spPr>
          <a:xfrm>
            <a:off x="4503226" y="3755131"/>
            <a:ext cx="1603460" cy="58615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5400"/>
              </a:spcAft>
            </a:pPr>
            <a:r>
              <a:rPr lang="en-US" sz="1600">
                <a:solidFill>
                  <a:schemeClr val="tx1"/>
                </a:solidFill>
              </a:rPr>
              <a:t>Digital Infrastructure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81F9578-C1A3-E40A-1A3C-81A462F40CFB}"/>
              </a:ext>
            </a:extLst>
          </p:cNvPr>
          <p:cNvGrpSpPr/>
          <p:nvPr/>
        </p:nvGrpSpPr>
        <p:grpSpPr>
          <a:xfrm>
            <a:off x="3693086" y="2920709"/>
            <a:ext cx="2385166" cy="732149"/>
            <a:chOff x="957153" y="2866668"/>
            <a:chExt cx="2385166" cy="732149"/>
          </a:xfrm>
        </p:grpSpPr>
        <p:pic>
          <p:nvPicPr>
            <p:cNvPr id="37" name="Graphic 36" descr="Blog outline">
              <a:extLst>
                <a:ext uri="{FF2B5EF4-FFF2-40B4-BE49-F238E27FC236}">
                  <a16:creationId xmlns:a16="http://schemas.microsoft.com/office/drawing/2014/main" id="{E126419E-8420-BC1E-A20A-C27D1E84D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57153" y="2866668"/>
              <a:ext cx="644024" cy="644024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DAC5204-88EB-6B0F-B0E2-6C83175B5416}"/>
                </a:ext>
              </a:extLst>
            </p:cNvPr>
            <p:cNvSpPr txBox="1"/>
            <p:nvPr/>
          </p:nvSpPr>
          <p:spPr>
            <a:xfrm>
              <a:off x="1738860" y="2954793"/>
              <a:ext cx="1603459" cy="64402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>
                <a:spcAft>
                  <a:spcPts val="5400"/>
                </a:spcAft>
              </a:pPr>
              <a:r>
                <a:rPr lang="en-US" sz="1600">
                  <a:solidFill>
                    <a:schemeClr val="tx1"/>
                  </a:solidFill>
                </a:rPr>
                <a:t>Technology Services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99F3B0C-442C-CECE-4BF2-743EE0BE9376}"/>
              </a:ext>
            </a:extLst>
          </p:cNvPr>
          <p:cNvGrpSpPr/>
          <p:nvPr/>
        </p:nvGrpSpPr>
        <p:grpSpPr>
          <a:xfrm>
            <a:off x="3670418" y="4286858"/>
            <a:ext cx="2404616" cy="730428"/>
            <a:chOff x="865178" y="4874908"/>
            <a:chExt cx="2404616" cy="730428"/>
          </a:xfrm>
        </p:grpSpPr>
        <p:pic>
          <p:nvPicPr>
            <p:cNvPr id="33" name="Graphic 32" descr="Programmer male outline">
              <a:extLst>
                <a:ext uri="{FF2B5EF4-FFF2-40B4-BE49-F238E27FC236}">
                  <a16:creationId xmlns:a16="http://schemas.microsoft.com/office/drawing/2014/main" id="{B6E15810-6BF5-4E95-BC11-99D1BD78C4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65178" y="4874908"/>
              <a:ext cx="646375" cy="646375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41537DF-03DC-A245-63B9-444EBB7C432E}"/>
                </a:ext>
              </a:extLst>
            </p:cNvPr>
            <p:cNvSpPr txBox="1"/>
            <p:nvPr/>
          </p:nvSpPr>
          <p:spPr>
            <a:xfrm>
              <a:off x="1666335" y="5122057"/>
              <a:ext cx="1603459" cy="483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>
                <a:spcAft>
                  <a:spcPts val="5400"/>
                </a:spcAft>
              </a:pPr>
              <a:r>
                <a:rPr lang="en-US" sz="1600">
                  <a:solidFill>
                    <a:schemeClr val="tx1"/>
                  </a:solidFill>
                </a:rPr>
                <a:t>Digital Services</a:t>
              </a:r>
            </a:p>
          </p:txBody>
        </p:sp>
      </p:grpSp>
      <p:sp>
        <p:nvSpPr>
          <p:cNvPr id="43" name="Triangle 89">
            <a:extLst>
              <a:ext uri="{FF2B5EF4-FFF2-40B4-BE49-F238E27FC236}">
                <a16:creationId xmlns:a16="http://schemas.microsoft.com/office/drawing/2014/main" id="{39882629-BC88-7448-FE5E-F6C2A47EF128}"/>
              </a:ext>
            </a:extLst>
          </p:cNvPr>
          <p:cNvSpPr/>
          <p:nvPr/>
        </p:nvSpPr>
        <p:spPr>
          <a:xfrm rot="5400000">
            <a:off x="5185399" y="3616543"/>
            <a:ext cx="3149533" cy="506125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44" name="Rounded Rectangle 90">
            <a:extLst>
              <a:ext uri="{FF2B5EF4-FFF2-40B4-BE49-F238E27FC236}">
                <a16:creationId xmlns:a16="http://schemas.microsoft.com/office/drawing/2014/main" id="{C28C0514-E804-09E0-75A1-6FA98ECA2862}"/>
              </a:ext>
            </a:extLst>
          </p:cNvPr>
          <p:cNvSpPr/>
          <p:nvPr/>
        </p:nvSpPr>
        <p:spPr>
          <a:xfrm>
            <a:off x="7168010" y="1727797"/>
            <a:ext cx="4482569" cy="3770428"/>
          </a:xfrm>
          <a:prstGeom prst="roundRect">
            <a:avLst>
              <a:gd name="adj" fmla="val 5152"/>
            </a:avLst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1CA2E0D-FC61-6E8D-5E3F-601658F42540}"/>
              </a:ext>
            </a:extLst>
          </p:cNvPr>
          <p:cNvSpPr txBox="1"/>
          <p:nvPr/>
        </p:nvSpPr>
        <p:spPr>
          <a:xfrm>
            <a:off x="7168010" y="1860881"/>
            <a:ext cx="4482568" cy="31380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b="1" noProof="0">
                <a:solidFill>
                  <a:srgbClr val="193369"/>
                </a:solidFill>
              </a:rPr>
              <a:t>Scoring Process</a:t>
            </a:r>
          </a:p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46" name="Rounded Rectangle 92">
            <a:extLst>
              <a:ext uri="{FF2B5EF4-FFF2-40B4-BE49-F238E27FC236}">
                <a16:creationId xmlns:a16="http://schemas.microsoft.com/office/drawing/2014/main" id="{59778DA2-0872-24CE-A4D1-34232EF6B88F}"/>
              </a:ext>
            </a:extLst>
          </p:cNvPr>
          <p:cNvSpPr/>
          <p:nvPr/>
        </p:nvSpPr>
        <p:spPr>
          <a:xfrm>
            <a:off x="7378546" y="2268626"/>
            <a:ext cx="1952363" cy="470778"/>
          </a:xfrm>
          <a:prstGeom prst="roundRect">
            <a:avLst>
              <a:gd name="adj" fmla="val 5583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>
            <a:noAutofit/>
          </a:bodyPr>
          <a:lstStyle/>
          <a:p>
            <a:pPr algn="ctr" fontAlgn="ctr"/>
            <a:r>
              <a:rPr lang="en-US" sz="1400">
                <a:solidFill>
                  <a:schemeClr val="bg1"/>
                </a:solidFill>
                <a:latin typeface="+mj-lt"/>
              </a:rPr>
              <a:t>Rationalized Data</a:t>
            </a:r>
          </a:p>
        </p:txBody>
      </p:sp>
      <p:sp>
        <p:nvSpPr>
          <p:cNvPr id="47" name="Rounded Rectangle 93">
            <a:extLst>
              <a:ext uri="{FF2B5EF4-FFF2-40B4-BE49-F238E27FC236}">
                <a16:creationId xmlns:a16="http://schemas.microsoft.com/office/drawing/2014/main" id="{8B070DF5-DF22-A737-957E-F252238F99E1}"/>
              </a:ext>
            </a:extLst>
          </p:cNvPr>
          <p:cNvSpPr/>
          <p:nvPr/>
        </p:nvSpPr>
        <p:spPr>
          <a:xfrm>
            <a:off x="7378546" y="2833341"/>
            <a:ext cx="1952363" cy="470778"/>
          </a:xfrm>
          <a:prstGeom prst="roundRect">
            <a:avLst>
              <a:gd name="adj" fmla="val 558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>
            <a:noAutofit/>
          </a:bodyPr>
          <a:lstStyle/>
          <a:p>
            <a:pPr algn="ctr" fontAlgn="ctr"/>
            <a:r>
              <a:rPr lang="en-US" sz="1400">
                <a:solidFill>
                  <a:schemeClr val="bg1"/>
                </a:solidFill>
                <a:latin typeface="+mj-lt"/>
              </a:rPr>
              <a:t>Weighting Factors</a:t>
            </a:r>
          </a:p>
        </p:txBody>
      </p:sp>
      <p:sp>
        <p:nvSpPr>
          <p:cNvPr id="48" name="Rounded Rectangle 94">
            <a:extLst>
              <a:ext uri="{FF2B5EF4-FFF2-40B4-BE49-F238E27FC236}">
                <a16:creationId xmlns:a16="http://schemas.microsoft.com/office/drawing/2014/main" id="{1E59DB0A-CFD9-ACF6-B984-C3ED4436ED84}"/>
              </a:ext>
            </a:extLst>
          </p:cNvPr>
          <p:cNvSpPr/>
          <p:nvPr/>
        </p:nvSpPr>
        <p:spPr>
          <a:xfrm>
            <a:off x="7378546" y="3398056"/>
            <a:ext cx="1952363" cy="470778"/>
          </a:xfrm>
          <a:prstGeom prst="roundRect">
            <a:avLst>
              <a:gd name="adj" fmla="val 5583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>
            <a:noAutofit/>
          </a:bodyPr>
          <a:lstStyle/>
          <a:p>
            <a:pPr algn="ctr" fontAlgn="ctr"/>
            <a:r>
              <a:rPr lang="en-US" sz="1400">
                <a:solidFill>
                  <a:schemeClr val="bg1"/>
                </a:solidFill>
                <a:latin typeface="+mj-lt"/>
              </a:rPr>
              <a:t>Scoring</a:t>
            </a:r>
            <a:br>
              <a:rPr lang="en-US" sz="1400">
                <a:solidFill>
                  <a:schemeClr val="bg1"/>
                </a:solidFill>
                <a:latin typeface="+mj-lt"/>
              </a:rPr>
            </a:br>
            <a:r>
              <a:rPr lang="en-US" sz="700" i="1">
                <a:solidFill>
                  <a:schemeClr val="bg1"/>
                </a:solidFill>
                <a:latin typeface="+mj-lt"/>
              </a:rPr>
              <a:t>(Scores From 0-10 Based On Methodology)</a:t>
            </a:r>
          </a:p>
        </p:txBody>
      </p:sp>
      <p:sp>
        <p:nvSpPr>
          <p:cNvPr id="49" name="Rounded Rectangle 94">
            <a:extLst>
              <a:ext uri="{FF2B5EF4-FFF2-40B4-BE49-F238E27FC236}">
                <a16:creationId xmlns:a16="http://schemas.microsoft.com/office/drawing/2014/main" id="{46116658-6505-5B5B-0D7E-95E3C289FE37}"/>
              </a:ext>
            </a:extLst>
          </p:cNvPr>
          <p:cNvSpPr/>
          <p:nvPr/>
        </p:nvSpPr>
        <p:spPr>
          <a:xfrm>
            <a:off x="7378546" y="4124136"/>
            <a:ext cx="1981864" cy="470778"/>
          </a:xfrm>
          <a:prstGeom prst="roundRect">
            <a:avLst>
              <a:gd name="adj" fmla="val 558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>
            <a:noAutofit/>
          </a:bodyPr>
          <a:lstStyle/>
          <a:p>
            <a:pPr algn="ctr" fontAlgn="ctr"/>
            <a:r>
              <a:rPr lang="en-US" sz="1400">
                <a:solidFill>
                  <a:schemeClr val="bg1"/>
                </a:solidFill>
                <a:latin typeface="+mj-lt"/>
              </a:rPr>
              <a:t>Data Visualization</a:t>
            </a:r>
            <a:endParaRPr lang="en-US" sz="700" i="1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F59BB6D3-8FD2-F9AC-03F8-035E8DC0EEF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19829" y="2255473"/>
            <a:ext cx="1164632" cy="79815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1" name="Picture 2">
            <a:extLst>
              <a:ext uri="{FF2B5EF4-FFF2-40B4-BE49-F238E27FC236}">
                <a16:creationId xmlns:a16="http://schemas.microsoft.com/office/drawing/2014/main" id="{28C14A54-DF7C-93FF-458F-0B5CA2AB8D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9829" y="3640231"/>
            <a:ext cx="1299201" cy="644018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Triangle 64">
            <a:extLst>
              <a:ext uri="{FF2B5EF4-FFF2-40B4-BE49-F238E27FC236}">
                <a16:creationId xmlns:a16="http://schemas.microsoft.com/office/drawing/2014/main" id="{8EA6EF9C-D1FA-C756-D126-E2B96EC7BF9F}"/>
              </a:ext>
            </a:extLst>
          </p:cNvPr>
          <p:cNvSpPr/>
          <p:nvPr/>
        </p:nvSpPr>
        <p:spPr>
          <a:xfrm rot="10800000">
            <a:off x="10044340" y="3213781"/>
            <a:ext cx="794555" cy="226472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53" name="Rounded Rectangle 94">
            <a:extLst>
              <a:ext uri="{FF2B5EF4-FFF2-40B4-BE49-F238E27FC236}">
                <a16:creationId xmlns:a16="http://schemas.microsoft.com/office/drawing/2014/main" id="{341583CD-796B-12FA-5A68-41449CD566D1}"/>
              </a:ext>
            </a:extLst>
          </p:cNvPr>
          <p:cNvSpPr/>
          <p:nvPr/>
        </p:nvSpPr>
        <p:spPr>
          <a:xfrm>
            <a:off x="7408047" y="4871842"/>
            <a:ext cx="1952363" cy="470778"/>
          </a:xfrm>
          <a:prstGeom prst="roundRect">
            <a:avLst>
              <a:gd name="adj" fmla="val 5583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>
            <a:noAutofit/>
          </a:bodyPr>
          <a:lstStyle/>
          <a:p>
            <a:pPr algn="ctr" fontAlgn="ctr"/>
            <a:r>
              <a:rPr lang="en-US" sz="1400">
                <a:solidFill>
                  <a:schemeClr val="bg1"/>
                </a:solidFill>
                <a:latin typeface="+mj-lt"/>
              </a:rPr>
              <a:t>Recommendations</a:t>
            </a:r>
            <a:endParaRPr lang="en-US" sz="700" i="1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700B18A1-3EF3-30D4-0FC8-13CBBB2C340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908947" y="4752002"/>
            <a:ext cx="1144922" cy="64401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A1C6CF4-A323-D049-BD91-EB54264229D2}"/>
              </a:ext>
            </a:extLst>
          </p:cNvPr>
          <p:cNvCxnSpPr>
            <a:cxnSpLocks/>
            <a:stCxn id="46" idx="3"/>
            <a:endCxn id="50" idx="1"/>
          </p:cNvCxnSpPr>
          <p:nvPr/>
        </p:nvCxnSpPr>
        <p:spPr>
          <a:xfrm>
            <a:off x="9330909" y="2504015"/>
            <a:ext cx="488920" cy="150536"/>
          </a:xfrm>
          <a:prstGeom prst="line">
            <a:avLst/>
          </a:prstGeom>
          <a:ln w="15875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6AD3BBB-7234-28F0-908A-8BC304506192}"/>
              </a:ext>
            </a:extLst>
          </p:cNvPr>
          <p:cNvCxnSpPr>
            <a:cxnSpLocks/>
            <a:stCxn id="47" idx="3"/>
            <a:endCxn id="50" idx="1"/>
          </p:cNvCxnSpPr>
          <p:nvPr/>
        </p:nvCxnSpPr>
        <p:spPr>
          <a:xfrm flipV="1">
            <a:off x="9330909" y="2654551"/>
            <a:ext cx="488920" cy="414179"/>
          </a:xfrm>
          <a:prstGeom prst="line">
            <a:avLst/>
          </a:prstGeom>
          <a:ln w="15875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CCC395E-2526-0B9C-8567-254160B50784}"/>
              </a:ext>
            </a:extLst>
          </p:cNvPr>
          <p:cNvCxnSpPr>
            <a:cxnSpLocks/>
            <a:stCxn id="48" idx="3"/>
            <a:endCxn id="50" idx="1"/>
          </p:cNvCxnSpPr>
          <p:nvPr/>
        </p:nvCxnSpPr>
        <p:spPr>
          <a:xfrm flipV="1">
            <a:off x="9330909" y="2654551"/>
            <a:ext cx="488920" cy="978894"/>
          </a:xfrm>
          <a:prstGeom prst="line">
            <a:avLst/>
          </a:prstGeom>
          <a:ln w="15875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968F0DF-82E6-2D6D-1035-EC9D8A56CAEB}"/>
              </a:ext>
            </a:extLst>
          </p:cNvPr>
          <p:cNvCxnSpPr>
            <a:cxnSpLocks/>
            <a:stCxn id="49" idx="3"/>
            <a:endCxn id="51" idx="1"/>
          </p:cNvCxnSpPr>
          <p:nvPr/>
        </p:nvCxnSpPr>
        <p:spPr>
          <a:xfrm flipV="1">
            <a:off x="9360410" y="3962240"/>
            <a:ext cx="459419" cy="397285"/>
          </a:xfrm>
          <a:prstGeom prst="line">
            <a:avLst/>
          </a:prstGeom>
          <a:ln w="15875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B4F71E2-E0BA-BFB7-1D7E-18A08F931CE3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 flipV="1">
            <a:off x="9360410" y="5074011"/>
            <a:ext cx="548537" cy="33220"/>
          </a:xfrm>
          <a:prstGeom prst="line">
            <a:avLst/>
          </a:prstGeom>
          <a:ln w="15875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riangle 64">
            <a:extLst>
              <a:ext uri="{FF2B5EF4-FFF2-40B4-BE49-F238E27FC236}">
                <a16:creationId xmlns:a16="http://schemas.microsoft.com/office/drawing/2014/main" id="{12D9D770-6C16-44C9-D631-6220E2A8EB07}"/>
              </a:ext>
            </a:extLst>
          </p:cNvPr>
          <p:cNvSpPr/>
          <p:nvPr/>
        </p:nvSpPr>
        <p:spPr>
          <a:xfrm rot="10800000">
            <a:off x="10084130" y="4420771"/>
            <a:ext cx="794555" cy="226472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63" name="Rounded Rectangle 39">
            <a:extLst>
              <a:ext uri="{FF2B5EF4-FFF2-40B4-BE49-F238E27FC236}">
                <a16:creationId xmlns:a16="http://schemas.microsoft.com/office/drawing/2014/main" id="{D6B368D7-36DC-3A4E-D491-1DBC75F06214}"/>
              </a:ext>
            </a:extLst>
          </p:cNvPr>
          <p:cNvSpPr/>
          <p:nvPr/>
        </p:nvSpPr>
        <p:spPr>
          <a:xfrm rot="5400000">
            <a:off x="10886525" y="2484770"/>
            <a:ext cx="748439" cy="394445"/>
          </a:xfrm>
          <a:prstGeom prst="roundRect">
            <a:avLst>
              <a:gd name="adj" fmla="val 5583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 fontAlgn="ctr">
              <a:spcAft>
                <a:spcPts val="1200"/>
              </a:spcAft>
            </a:pPr>
            <a:r>
              <a:rPr lang="en-US" sz="1100">
                <a:solidFill>
                  <a:schemeClr val="tx1"/>
                </a:solidFill>
                <a:latin typeface="+mj-lt"/>
              </a:rPr>
              <a:t>Scoring XLS</a:t>
            </a:r>
          </a:p>
        </p:txBody>
      </p:sp>
      <p:sp>
        <p:nvSpPr>
          <p:cNvPr id="7168" name="Rounded Rectangle 39">
            <a:extLst>
              <a:ext uri="{FF2B5EF4-FFF2-40B4-BE49-F238E27FC236}">
                <a16:creationId xmlns:a16="http://schemas.microsoft.com/office/drawing/2014/main" id="{6180B7BE-0CC4-2B1F-1E7A-D4BA5D8D2DE3}"/>
              </a:ext>
            </a:extLst>
          </p:cNvPr>
          <p:cNvSpPr/>
          <p:nvPr/>
        </p:nvSpPr>
        <p:spPr>
          <a:xfrm rot="5400000">
            <a:off x="10941646" y="3796194"/>
            <a:ext cx="845321" cy="394445"/>
          </a:xfrm>
          <a:prstGeom prst="roundRect">
            <a:avLst>
              <a:gd name="adj" fmla="val 5583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 fontAlgn="ctr">
              <a:spcAft>
                <a:spcPts val="1200"/>
              </a:spcAft>
            </a:pPr>
            <a:r>
              <a:rPr lang="en-US" sz="1100">
                <a:solidFill>
                  <a:schemeClr val="tx1"/>
                </a:solidFill>
                <a:latin typeface="+mj-lt"/>
              </a:rPr>
              <a:t>Tableau Dashboard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D3245C-BF5A-6DFE-DF33-1D41B11CE5EE}"/>
              </a:ext>
            </a:extLst>
          </p:cNvPr>
          <p:cNvSpPr txBox="1"/>
          <p:nvPr/>
        </p:nvSpPr>
        <p:spPr>
          <a:xfrm>
            <a:off x="4498507" y="5279330"/>
            <a:ext cx="1603459" cy="4832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5400"/>
              </a:spcAft>
            </a:pPr>
            <a:r>
              <a:rPr lang="en-US" sz="1600">
                <a:solidFill>
                  <a:schemeClr val="tx1"/>
                </a:solidFill>
              </a:rPr>
              <a:t>AI &amp; Innovation</a:t>
            </a:r>
          </a:p>
        </p:txBody>
      </p:sp>
      <p:pic>
        <p:nvPicPr>
          <p:cNvPr id="24" name="Graphic 23" descr="Artificial Intelligence outline">
            <a:extLst>
              <a:ext uri="{FF2B5EF4-FFF2-40B4-BE49-F238E27FC236}">
                <a16:creationId xmlns:a16="http://schemas.microsoft.com/office/drawing/2014/main" id="{B59790C9-1C7D-ED2C-A39A-27F03885A65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698497" y="5070030"/>
            <a:ext cx="633201" cy="63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749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E0EAB-4D90-FD97-9AAD-BC2F2B65D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4C19B76-DC39-455C-352C-8ADD7D6C2E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576198"/>
              </p:ext>
            </p:extLst>
          </p:nvPr>
        </p:nvGraphicFramePr>
        <p:xfrm>
          <a:off x="381000" y="2424970"/>
          <a:ext cx="11630026" cy="3200400"/>
        </p:xfrm>
        <a:graphic>
          <a:graphicData uri="http://schemas.openxmlformats.org/drawingml/2006/table">
            <a:tbl>
              <a:tblPr/>
              <a:tblGrid>
                <a:gridCol w="1406236">
                  <a:extLst>
                    <a:ext uri="{9D8B030D-6E8A-4147-A177-3AD203B41FA5}">
                      <a16:colId xmlns:a16="http://schemas.microsoft.com/office/drawing/2014/main" val="2788982316"/>
                    </a:ext>
                  </a:extLst>
                </a:gridCol>
                <a:gridCol w="3034146">
                  <a:extLst>
                    <a:ext uri="{9D8B030D-6E8A-4147-A177-3AD203B41FA5}">
                      <a16:colId xmlns:a16="http://schemas.microsoft.com/office/drawing/2014/main" val="932316482"/>
                    </a:ext>
                  </a:extLst>
                </a:gridCol>
                <a:gridCol w="2396548">
                  <a:extLst>
                    <a:ext uri="{9D8B030D-6E8A-4147-A177-3AD203B41FA5}">
                      <a16:colId xmlns:a16="http://schemas.microsoft.com/office/drawing/2014/main" val="1568455030"/>
                    </a:ext>
                  </a:extLst>
                </a:gridCol>
                <a:gridCol w="2396548">
                  <a:extLst>
                    <a:ext uri="{9D8B030D-6E8A-4147-A177-3AD203B41FA5}">
                      <a16:colId xmlns:a16="http://schemas.microsoft.com/office/drawing/2014/main" val="1732682949"/>
                    </a:ext>
                  </a:extLst>
                </a:gridCol>
                <a:gridCol w="2396548">
                  <a:extLst>
                    <a:ext uri="{9D8B030D-6E8A-4147-A177-3AD203B41FA5}">
                      <a16:colId xmlns:a16="http://schemas.microsoft.com/office/drawing/2014/main" val="1421195410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marR="0" lvl="0" indent="0" algn="ctr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Digital Infrastructure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Broadband networks, cloud hosting, </a:t>
                      </a:r>
                      <a:r>
                        <a:rPr lang="en-US" sz="900" b="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etc</a:t>
                      </a:r>
                      <a:endParaRPr lang="en-US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304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070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3484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ctr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Digital 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SaaS, mobile applications, </a:t>
                      </a:r>
                      <a:r>
                        <a:rPr lang="en-US" sz="900" b="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etc</a:t>
                      </a:r>
                      <a:endParaRPr lang="en-US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304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76089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ctr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Technology Infrastructure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Wi-Fi, DAS, Fiber, </a:t>
                      </a:r>
                      <a:r>
                        <a:rPr lang="en-US" sz="900" b="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etc</a:t>
                      </a:r>
                      <a:endParaRPr lang="en-US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304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88076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ctr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Technology 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Broadcast, 5G services, </a:t>
                      </a:r>
                      <a:r>
                        <a:rPr lang="en-US" sz="900" b="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etc</a:t>
                      </a:r>
                      <a:endParaRPr lang="en-US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304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070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32155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ctr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AI / Innovation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Graphik"/>
                          <a:ea typeface="+mn-ea"/>
                          <a:cs typeface="+mn-cs"/>
                        </a:rPr>
                        <a:t>New technology, POCs, </a:t>
                      </a:r>
                      <a:r>
                        <a:rPr lang="en-US" sz="900" b="0" kern="1200" err="1">
                          <a:solidFill>
                            <a:schemeClr val="tx1"/>
                          </a:solidFill>
                          <a:latin typeface="Graphik"/>
                          <a:ea typeface="+mn-ea"/>
                          <a:cs typeface="+mn-cs"/>
                        </a:rPr>
                        <a:t>etc</a:t>
                      </a:r>
                      <a:endParaRPr lang="en-US" sz="900" b="0" kern="1200">
                        <a:solidFill>
                          <a:schemeClr val="tx1"/>
                        </a:solidFill>
                        <a:latin typeface="Graphik"/>
                        <a:ea typeface="+mn-ea"/>
                        <a:cs typeface="+mn-cs"/>
                      </a:endParaRPr>
                    </a:p>
                  </a:txBody>
                  <a:tcPr marL="146304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kern="1200">
                        <a:solidFill>
                          <a:schemeClr val="tx1"/>
                        </a:solidFill>
                        <a:latin typeface="Graphik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kern="1200">
                        <a:solidFill>
                          <a:schemeClr val="tx1"/>
                        </a:solidFill>
                        <a:latin typeface="Graphik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kern="1200">
                        <a:solidFill>
                          <a:schemeClr val="tx1"/>
                        </a:solidFill>
                        <a:latin typeface="Graphik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70038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3174C60-20F8-BE39-249C-1AACB8C2A98E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049367614"/>
              </p:ext>
            </p:extLst>
          </p:nvPr>
        </p:nvGraphicFramePr>
        <p:xfrm>
          <a:off x="4819651" y="1320417"/>
          <a:ext cx="7191375" cy="1104553"/>
        </p:xfrm>
        <a:graphic>
          <a:graphicData uri="http://schemas.openxmlformats.org/drawingml/2006/table">
            <a:tbl>
              <a:tblPr/>
              <a:tblGrid>
                <a:gridCol w="2397125">
                  <a:extLst>
                    <a:ext uri="{9D8B030D-6E8A-4147-A177-3AD203B41FA5}">
                      <a16:colId xmlns:a16="http://schemas.microsoft.com/office/drawing/2014/main" val="2288890886"/>
                    </a:ext>
                  </a:extLst>
                </a:gridCol>
                <a:gridCol w="2397125">
                  <a:extLst>
                    <a:ext uri="{9D8B030D-6E8A-4147-A177-3AD203B41FA5}">
                      <a16:colId xmlns:a16="http://schemas.microsoft.com/office/drawing/2014/main" val="1321672478"/>
                    </a:ext>
                  </a:extLst>
                </a:gridCol>
                <a:gridCol w="2397125">
                  <a:extLst>
                    <a:ext uri="{9D8B030D-6E8A-4147-A177-3AD203B41FA5}">
                      <a16:colId xmlns:a16="http://schemas.microsoft.com/office/drawing/2014/main" val="1732866797"/>
                    </a:ext>
                  </a:extLst>
                </a:gridCol>
              </a:tblGrid>
              <a:tr h="347853">
                <a:tc>
                  <a:txBody>
                    <a:bodyPr/>
                    <a:lstStyle/>
                    <a:p>
                      <a:pPr marL="0" marR="0" lvl="0" indent="0" algn="ctr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Pre-Game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In-Game</a:t>
                      </a:r>
                      <a:endParaRPr lang="en-US" sz="12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Post-Game</a:t>
                      </a:r>
                      <a:endParaRPr lang="en-US" sz="12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420169"/>
                  </a:ext>
                </a:extLst>
              </a:tr>
              <a:tr h="75670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solidFill>
                            <a:schemeClr val="tx1"/>
                          </a:solidFill>
                          <a:latin typeface="+mj-lt"/>
                        </a:rPr>
                        <a:t>Stadium entry, parking, </a:t>
                      </a:r>
                      <a:r>
                        <a:rPr lang="en-US" sz="900" b="0" err="1">
                          <a:solidFill>
                            <a:schemeClr val="tx1"/>
                          </a:solidFill>
                          <a:latin typeface="+mj-lt"/>
                        </a:rPr>
                        <a:t>etc</a:t>
                      </a:r>
                      <a:endParaRPr lang="en-US" sz="9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solidFill>
                            <a:schemeClr val="tx1"/>
                          </a:solidFill>
                          <a:latin typeface="+mj-lt"/>
                        </a:rPr>
                        <a:t>Concessions, wayfinding, </a:t>
                      </a:r>
                      <a:r>
                        <a:rPr lang="en-US" sz="900" b="0" err="1">
                          <a:solidFill>
                            <a:schemeClr val="tx1"/>
                          </a:solidFill>
                          <a:latin typeface="+mj-lt"/>
                        </a:rPr>
                        <a:t>etc</a:t>
                      </a:r>
                      <a:endParaRPr lang="en-US" sz="9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Exit management, retail, </a:t>
                      </a:r>
                      <a:r>
                        <a:rPr lang="en-US" sz="900" b="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etc</a:t>
                      </a:r>
                      <a:endParaRPr lang="en-US" sz="9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34846"/>
                  </a:ext>
                </a:extLst>
              </a:tr>
            </a:tbl>
          </a:graphicData>
        </a:graphic>
      </p:graphicFrame>
      <p:sp>
        <p:nvSpPr>
          <p:cNvPr id="27" name="Rectangle 26">
            <a:extLst>
              <a:ext uri="{FF2B5EF4-FFF2-40B4-BE49-F238E27FC236}">
                <a16:creationId xmlns:a16="http://schemas.microsoft.com/office/drawing/2014/main" id="{9FFA1E68-47E8-9CDF-7A17-B56B848A38F0}"/>
              </a:ext>
            </a:extLst>
          </p:cNvPr>
          <p:cNvSpPr/>
          <p:nvPr/>
        </p:nvSpPr>
        <p:spPr>
          <a:xfrm>
            <a:off x="3739127" y="1283687"/>
            <a:ext cx="670096" cy="158926"/>
          </a:xfrm>
          <a:prstGeom prst="rect">
            <a:avLst/>
          </a:prstGeom>
          <a:solidFill>
            <a:srgbClr val="D50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900"/>
              <a:t>Low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A9FD1E3-3100-17E6-9290-D6289F01A6F8}"/>
              </a:ext>
            </a:extLst>
          </p:cNvPr>
          <p:cNvSpPr/>
          <p:nvPr/>
        </p:nvSpPr>
        <p:spPr>
          <a:xfrm>
            <a:off x="3739127" y="1500887"/>
            <a:ext cx="670096" cy="15892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900"/>
              <a:t>Medium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0327963-66CC-95BF-ADC5-3659C9B8B63F}"/>
              </a:ext>
            </a:extLst>
          </p:cNvPr>
          <p:cNvSpPr/>
          <p:nvPr/>
        </p:nvSpPr>
        <p:spPr>
          <a:xfrm>
            <a:off x="3739127" y="1718087"/>
            <a:ext cx="670096" cy="15892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900"/>
              <a:t>High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48EB8AA-7CAE-C04F-992E-D2023FA35C6A}"/>
              </a:ext>
            </a:extLst>
          </p:cNvPr>
          <p:cNvGrpSpPr>
            <a:grpSpLocks noChangeAspect="1"/>
          </p:cNvGrpSpPr>
          <p:nvPr/>
        </p:nvGrpSpPr>
        <p:grpSpPr>
          <a:xfrm>
            <a:off x="2494914" y="3817809"/>
            <a:ext cx="465819" cy="387232"/>
            <a:chOff x="9109075" y="7043738"/>
            <a:chExt cx="1298575" cy="1079500"/>
          </a:xfrm>
          <a:solidFill>
            <a:schemeClr val="accent1"/>
          </a:solidFill>
        </p:grpSpPr>
        <p:sp>
          <p:nvSpPr>
            <p:cNvPr id="20" name="Freeform 74">
              <a:extLst>
                <a:ext uri="{FF2B5EF4-FFF2-40B4-BE49-F238E27FC236}">
                  <a16:creationId xmlns:a16="http://schemas.microsoft.com/office/drawing/2014/main" id="{C67EF4B0-C15C-DCF5-2553-4E74317558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09075" y="7259638"/>
              <a:ext cx="1298575" cy="863600"/>
            </a:xfrm>
            <a:custGeom>
              <a:avLst/>
              <a:gdLst>
                <a:gd name="T0" fmla="*/ 307 w 343"/>
                <a:gd name="T1" fmla="*/ 114 h 228"/>
                <a:gd name="T2" fmla="*/ 172 w 343"/>
                <a:gd name="T3" fmla="*/ 114 h 228"/>
                <a:gd name="T4" fmla="*/ 172 w 343"/>
                <a:gd name="T5" fmla="*/ 7 h 228"/>
                <a:gd name="T6" fmla="*/ 165 w 343"/>
                <a:gd name="T7" fmla="*/ 0 h 228"/>
                <a:gd name="T8" fmla="*/ 158 w 343"/>
                <a:gd name="T9" fmla="*/ 7 h 228"/>
                <a:gd name="T10" fmla="*/ 158 w 343"/>
                <a:gd name="T11" fmla="*/ 114 h 228"/>
                <a:gd name="T12" fmla="*/ 36 w 343"/>
                <a:gd name="T13" fmla="*/ 114 h 228"/>
                <a:gd name="T14" fmla="*/ 0 w 343"/>
                <a:gd name="T15" fmla="*/ 150 h 228"/>
                <a:gd name="T16" fmla="*/ 0 w 343"/>
                <a:gd name="T17" fmla="*/ 178 h 228"/>
                <a:gd name="T18" fmla="*/ 29 w 343"/>
                <a:gd name="T19" fmla="*/ 213 h 228"/>
                <a:gd name="T20" fmla="*/ 29 w 343"/>
                <a:gd name="T21" fmla="*/ 221 h 228"/>
                <a:gd name="T22" fmla="*/ 36 w 343"/>
                <a:gd name="T23" fmla="*/ 228 h 228"/>
                <a:gd name="T24" fmla="*/ 43 w 343"/>
                <a:gd name="T25" fmla="*/ 221 h 228"/>
                <a:gd name="T26" fmla="*/ 43 w 343"/>
                <a:gd name="T27" fmla="*/ 214 h 228"/>
                <a:gd name="T28" fmla="*/ 300 w 343"/>
                <a:gd name="T29" fmla="*/ 214 h 228"/>
                <a:gd name="T30" fmla="*/ 300 w 343"/>
                <a:gd name="T31" fmla="*/ 221 h 228"/>
                <a:gd name="T32" fmla="*/ 307 w 343"/>
                <a:gd name="T33" fmla="*/ 228 h 228"/>
                <a:gd name="T34" fmla="*/ 315 w 343"/>
                <a:gd name="T35" fmla="*/ 221 h 228"/>
                <a:gd name="T36" fmla="*/ 315 w 343"/>
                <a:gd name="T37" fmla="*/ 213 h 228"/>
                <a:gd name="T38" fmla="*/ 343 w 343"/>
                <a:gd name="T39" fmla="*/ 178 h 228"/>
                <a:gd name="T40" fmla="*/ 343 w 343"/>
                <a:gd name="T41" fmla="*/ 150 h 228"/>
                <a:gd name="T42" fmla="*/ 307 w 343"/>
                <a:gd name="T43" fmla="*/ 114 h 228"/>
                <a:gd name="T44" fmla="*/ 329 w 343"/>
                <a:gd name="T45" fmla="*/ 178 h 228"/>
                <a:gd name="T46" fmla="*/ 307 w 343"/>
                <a:gd name="T47" fmla="*/ 200 h 228"/>
                <a:gd name="T48" fmla="*/ 36 w 343"/>
                <a:gd name="T49" fmla="*/ 200 h 228"/>
                <a:gd name="T50" fmla="*/ 15 w 343"/>
                <a:gd name="T51" fmla="*/ 178 h 228"/>
                <a:gd name="T52" fmla="*/ 15 w 343"/>
                <a:gd name="T53" fmla="*/ 150 h 228"/>
                <a:gd name="T54" fmla="*/ 36 w 343"/>
                <a:gd name="T55" fmla="*/ 128 h 228"/>
                <a:gd name="T56" fmla="*/ 307 w 343"/>
                <a:gd name="T57" fmla="*/ 128 h 228"/>
                <a:gd name="T58" fmla="*/ 329 w 343"/>
                <a:gd name="T59" fmla="*/ 150 h 228"/>
                <a:gd name="T60" fmla="*/ 329 w 343"/>
                <a:gd name="T61" fmla="*/ 17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43" h="228">
                  <a:moveTo>
                    <a:pt x="307" y="114"/>
                  </a:moveTo>
                  <a:cubicBezTo>
                    <a:pt x="172" y="114"/>
                    <a:pt x="172" y="114"/>
                    <a:pt x="172" y="114"/>
                  </a:cubicBezTo>
                  <a:cubicBezTo>
                    <a:pt x="172" y="7"/>
                    <a:pt x="172" y="7"/>
                    <a:pt x="172" y="7"/>
                  </a:cubicBezTo>
                  <a:cubicBezTo>
                    <a:pt x="172" y="3"/>
                    <a:pt x="169" y="0"/>
                    <a:pt x="165" y="0"/>
                  </a:cubicBezTo>
                  <a:cubicBezTo>
                    <a:pt x="161" y="0"/>
                    <a:pt x="158" y="3"/>
                    <a:pt x="158" y="7"/>
                  </a:cubicBezTo>
                  <a:cubicBezTo>
                    <a:pt x="158" y="114"/>
                    <a:pt x="158" y="114"/>
                    <a:pt x="158" y="114"/>
                  </a:cubicBezTo>
                  <a:cubicBezTo>
                    <a:pt x="36" y="114"/>
                    <a:pt x="36" y="114"/>
                    <a:pt x="36" y="114"/>
                  </a:cubicBezTo>
                  <a:cubicBezTo>
                    <a:pt x="16" y="114"/>
                    <a:pt x="0" y="130"/>
                    <a:pt x="0" y="150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0" y="196"/>
                    <a:pt x="13" y="210"/>
                    <a:pt x="29" y="213"/>
                  </a:cubicBezTo>
                  <a:cubicBezTo>
                    <a:pt x="29" y="221"/>
                    <a:pt x="29" y="221"/>
                    <a:pt x="29" y="221"/>
                  </a:cubicBezTo>
                  <a:cubicBezTo>
                    <a:pt x="29" y="225"/>
                    <a:pt x="32" y="228"/>
                    <a:pt x="36" y="228"/>
                  </a:cubicBezTo>
                  <a:cubicBezTo>
                    <a:pt x="40" y="228"/>
                    <a:pt x="43" y="225"/>
                    <a:pt x="43" y="221"/>
                  </a:cubicBezTo>
                  <a:cubicBezTo>
                    <a:pt x="43" y="214"/>
                    <a:pt x="43" y="214"/>
                    <a:pt x="43" y="214"/>
                  </a:cubicBezTo>
                  <a:cubicBezTo>
                    <a:pt x="300" y="214"/>
                    <a:pt x="300" y="214"/>
                    <a:pt x="300" y="214"/>
                  </a:cubicBezTo>
                  <a:cubicBezTo>
                    <a:pt x="300" y="221"/>
                    <a:pt x="300" y="221"/>
                    <a:pt x="300" y="221"/>
                  </a:cubicBezTo>
                  <a:cubicBezTo>
                    <a:pt x="300" y="225"/>
                    <a:pt x="303" y="228"/>
                    <a:pt x="307" y="228"/>
                  </a:cubicBezTo>
                  <a:cubicBezTo>
                    <a:pt x="311" y="228"/>
                    <a:pt x="315" y="225"/>
                    <a:pt x="315" y="221"/>
                  </a:cubicBezTo>
                  <a:cubicBezTo>
                    <a:pt x="315" y="213"/>
                    <a:pt x="315" y="213"/>
                    <a:pt x="315" y="213"/>
                  </a:cubicBezTo>
                  <a:cubicBezTo>
                    <a:pt x="331" y="210"/>
                    <a:pt x="343" y="196"/>
                    <a:pt x="343" y="178"/>
                  </a:cubicBezTo>
                  <a:cubicBezTo>
                    <a:pt x="343" y="150"/>
                    <a:pt x="343" y="150"/>
                    <a:pt x="343" y="150"/>
                  </a:cubicBezTo>
                  <a:cubicBezTo>
                    <a:pt x="343" y="130"/>
                    <a:pt x="327" y="114"/>
                    <a:pt x="307" y="114"/>
                  </a:cubicBezTo>
                  <a:close/>
                  <a:moveTo>
                    <a:pt x="329" y="178"/>
                  </a:moveTo>
                  <a:cubicBezTo>
                    <a:pt x="329" y="190"/>
                    <a:pt x="319" y="200"/>
                    <a:pt x="307" y="200"/>
                  </a:cubicBezTo>
                  <a:cubicBezTo>
                    <a:pt x="36" y="200"/>
                    <a:pt x="36" y="200"/>
                    <a:pt x="36" y="200"/>
                  </a:cubicBezTo>
                  <a:cubicBezTo>
                    <a:pt x="24" y="200"/>
                    <a:pt x="15" y="190"/>
                    <a:pt x="15" y="178"/>
                  </a:cubicBezTo>
                  <a:cubicBezTo>
                    <a:pt x="15" y="150"/>
                    <a:pt x="15" y="150"/>
                    <a:pt x="15" y="150"/>
                  </a:cubicBezTo>
                  <a:cubicBezTo>
                    <a:pt x="15" y="138"/>
                    <a:pt x="24" y="128"/>
                    <a:pt x="36" y="128"/>
                  </a:cubicBezTo>
                  <a:cubicBezTo>
                    <a:pt x="307" y="128"/>
                    <a:pt x="307" y="128"/>
                    <a:pt x="307" y="128"/>
                  </a:cubicBezTo>
                  <a:cubicBezTo>
                    <a:pt x="319" y="128"/>
                    <a:pt x="329" y="138"/>
                    <a:pt x="329" y="150"/>
                  </a:cubicBezTo>
                  <a:lnTo>
                    <a:pt x="329" y="17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21" name="Oval 75">
              <a:extLst>
                <a:ext uri="{FF2B5EF4-FFF2-40B4-BE49-F238E27FC236}">
                  <a16:creationId xmlns:a16="http://schemas.microsoft.com/office/drawing/2014/main" id="{FB558FCF-1305-52A8-19E6-FD35C48010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13925" y="7827963"/>
              <a:ext cx="109538" cy="1063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22" name="Oval 76">
              <a:extLst>
                <a:ext uri="{FF2B5EF4-FFF2-40B4-BE49-F238E27FC236}">
                  <a16:creationId xmlns:a16="http://schemas.microsoft.com/office/drawing/2014/main" id="{BE1192C6-4B71-D162-DDF9-CC7980362E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75850" y="7827963"/>
              <a:ext cx="106363" cy="1063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23" name="Oval 77">
              <a:extLst>
                <a:ext uri="{FF2B5EF4-FFF2-40B4-BE49-F238E27FC236}">
                  <a16:creationId xmlns:a16="http://schemas.microsoft.com/office/drawing/2014/main" id="{BA24136A-CC24-D50B-42A0-EED201771D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7775" y="7827963"/>
              <a:ext cx="106363" cy="1063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24" name="Freeform 78">
              <a:extLst>
                <a:ext uri="{FF2B5EF4-FFF2-40B4-BE49-F238E27FC236}">
                  <a16:creationId xmlns:a16="http://schemas.microsoft.com/office/drawing/2014/main" id="{89F5893D-B464-1CB5-CE64-81DB9E9236C3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8613" y="7854951"/>
              <a:ext cx="379413" cy="52388"/>
            </a:xfrm>
            <a:custGeom>
              <a:avLst/>
              <a:gdLst>
                <a:gd name="T0" fmla="*/ 93 w 100"/>
                <a:gd name="T1" fmla="*/ 0 h 14"/>
                <a:gd name="T2" fmla="*/ 7 w 100"/>
                <a:gd name="T3" fmla="*/ 0 h 14"/>
                <a:gd name="T4" fmla="*/ 0 w 100"/>
                <a:gd name="T5" fmla="*/ 7 h 14"/>
                <a:gd name="T6" fmla="*/ 7 w 100"/>
                <a:gd name="T7" fmla="*/ 14 h 14"/>
                <a:gd name="T8" fmla="*/ 93 w 100"/>
                <a:gd name="T9" fmla="*/ 14 h 14"/>
                <a:gd name="T10" fmla="*/ 100 w 100"/>
                <a:gd name="T11" fmla="*/ 7 h 14"/>
                <a:gd name="T12" fmla="*/ 93 w 100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14">
                  <a:moveTo>
                    <a:pt x="93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11"/>
                    <a:pt x="3" y="14"/>
                    <a:pt x="7" y="14"/>
                  </a:cubicBezTo>
                  <a:cubicBezTo>
                    <a:pt x="93" y="14"/>
                    <a:pt x="93" y="14"/>
                    <a:pt x="93" y="14"/>
                  </a:cubicBezTo>
                  <a:cubicBezTo>
                    <a:pt x="97" y="14"/>
                    <a:pt x="100" y="11"/>
                    <a:pt x="100" y="7"/>
                  </a:cubicBezTo>
                  <a:cubicBezTo>
                    <a:pt x="100" y="3"/>
                    <a:pt x="97" y="0"/>
                    <a:pt x="93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25" name="Freeform 79">
              <a:extLst>
                <a:ext uri="{FF2B5EF4-FFF2-40B4-BE49-F238E27FC236}">
                  <a16:creationId xmlns:a16="http://schemas.microsoft.com/office/drawing/2014/main" id="{028913B4-6F5F-017D-FD84-7A81F93F6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98025" y="7207251"/>
              <a:ext cx="52388" cy="161925"/>
            </a:xfrm>
            <a:custGeom>
              <a:avLst/>
              <a:gdLst>
                <a:gd name="T0" fmla="*/ 7 w 14"/>
                <a:gd name="T1" fmla="*/ 43 h 43"/>
                <a:gd name="T2" fmla="*/ 14 w 14"/>
                <a:gd name="T3" fmla="*/ 35 h 43"/>
                <a:gd name="T4" fmla="*/ 14 w 14"/>
                <a:gd name="T5" fmla="*/ 7 h 43"/>
                <a:gd name="T6" fmla="*/ 7 w 14"/>
                <a:gd name="T7" fmla="*/ 0 h 43"/>
                <a:gd name="T8" fmla="*/ 0 w 14"/>
                <a:gd name="T9" fmla="*/ 7 h 43"/>
                <a:gd name="T10" fmla="*/ 0 w 14"/>
                <a:gd name="T11" fmla="*/ 35 h 43"/>
                <a:gd name="T12" fmla="*/ 7 w 14"/>
                <a:gd name="T13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43">
                  <a:moveTo>
                    <a:pt x="7" y="43"/>
                  </a:moveTo>
                  <a:cubicBezTo>
                    <a:pt x="11" y="43"/>
                    <a:pt x="14" y="39"/>
                    <a:pt x="14" y="35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9"/>
                    <a:pt x="3" y="43"/>
                    <a:pt x="7" y="4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26" name="Freeform 80">
              <a:extLst>
                <a:ext uri="{FF2B5EF4-FFF2-40B4-BE49-F238E27FC236}">
                  <a16:creationId xmlns:a16="http://schemas.microsoft.com/office/drawing/2014/main" id="{FA6B6F23-714D-B4CA-4265-48C18375E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34513" y="7150101"/>
              <a:ext cx="53975" cy="273050"/>
            </a:xfrm>
            <a:custGeom>
              <a:avLst/>
              <a:gdLst>
                <a:gd name="T0" fmla="*/ 7 w 14"/>
                <a:gd name="T1" fmla="*/ 72 h 72"/>
                <a:gd name="T2" fmla="*/ 14 w 14"/>
                <a:gd name="T3" fmla="*/ 65 h 72"/>
                <a:gd name="T4" fmla="*/ 14 w 14"/>
                <a:gd name="T5" fmla="*/ 8 h 72"/>
                <a:gd name="T6" fmla="*/ 7 w 14"/>
                <a:gd name="T7" fmla="*/ 0 h 72"/>
                <a:gd name="T8" fmla="*/ 0 w 14"/>
                <a:gd name="T9" fmla="*/ 8 h 72"/>
                <a:gd name="T10" fmla="*/ 0 w 14"/>
                <a:gd name="T11" fmla="*/ 65 h 72"/>
                <a:gd name="T12" fmla="*/ 7 w 14"/>
                <a:gd name="T13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72">
                  <a:moveTo>
                    <a:pt x="7" y="72"/>
                  </a:moveTo>
                  <a:cubicBezTo>
                    <a:pt x="11" y="72"/>
                    <a:pt x="14" y="69"/>
                    <a:pt x="14" y="65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4"/>
                    <a:pt x="11" y="0"/>
                    <a:pt x="7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69"/>
                    <a:pt x="3" y="72"/>
                    <a:pt x="7" y="7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30" name="Freeform 81">
              <a:extLst>
                <a:ext uri="{FF2B5EF4-FFF2-40B4-BE49-F238E27FC236}">
                  <a16:creationId xmlns:a16="http://schemas.microsoft.com/office/drawing/2014/main" id="{F3810548-9FBF-0C1D-8146-E6AC5975F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9272588" y="7096126"/>
              <a:ext cx="55563" cy="379413"/>
            </a:xfrm>
            <a:custGeom>
              <a:avLst/>
              <a:gdLst>
                <a:gd name="T0" fmla="*/ 7 w 15"/>
                <a:gd name="T1" fmla="*/ 100 h 100"/>
                <a:gd name="T2" fmla="*/ 15 w 15"/>
                <a:gd name="T3" fmla="*/ 93 h 100"/>
                <a:gd name="T4" fmla="*/ 15 w 15"/>
                <a:gd name="T5" fmla="*/ 7 h 100"/>
                <a:gd name="T6" fmla="*/ 7 w 15"/>
                <a:gd name="T7" fmla="*/ 0 h 100"/>
                <a:gd name="T8" fmla="*/ 0 w 15"/>
                <a:gd name="T9" fmla="*/ 7 h 100"/>
                <a:gd name="T10" fmla="*/ 0 w 15"/>
                <a:gd name="T11" fmla="*/ 93 h 100"/>
                <a:gd name="T12" fmla="*/ 7 w 15"/>
                <a:gd name="T13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100">
                  <a:moveTo>
                    <a:pt x="7" y="100"/>
                  </a:moveTo>
                  <a:cubicBezTo>
                    <a:pt x="11" y="100"/>
                    <a:pt x="15" y="97"/>
                    <a:pt x="15" y="93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3"/>
                    <a:pt x="11" y="0"/>
                    <a:pt x="7" y="0"/>
                  </a:cubicBezTo>
                  <a:cubicBezTo>
                    <a:pt x="4" y="0"/>
                    <a:pt x="0" y="3"/>
                    <a:pt x="0" y="7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7"/>
                    <a:pt x="4" y="100"/>
                    <a:pt x="7" y="10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31" name="Freeform 82">
              <a:extLst>
                <a:ext uri="{FF2B5EF4-FFF2-40B4-BE49-F238E27FC236}">
                  <a16:creationId xmlns:a16="http://schemas.microsoft.com/office/drawing/2014/main" id="{9B939A06-8285-51D0-2326-4A3D22A61A6E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9075" y="7043738"/>
              <a:ext cx="57150" cy="484188"/>
            </a:xfrm>
            <a:custGeom>
              <a:avLst/>
              <a:gdLst>
                <a:gd name="T0" fmla="*/ 8 w 15"/>
                <a:gd name="T1" fmla="*/ 128 h 128"/>
                <a:gd name="T2" fmla="*/ 15 w 15"/>
                <a:gd name="T3" fmla="*/ 121 h 128"/>
                <a:gd name="T4" fmla="*/ 15 w 15"/>
                <a:gd name="T5" fmla="*/ 7 h 128"/>
                <a:gd name="T6" fmla="*/ 8 w 15"/>
                <a:gd name="T7" fmla="*/ 0 h 128"/>
                <a:gd name="T8" fmla="*/ 0 w 15"/>
                <a:gd name="T9" fmla="*/ 7 h 128"/>
                <a:gd name="T10" fmla="*/ 0 w 15"/>
                <a:gd name="T11" fmla="*/ 121 h 128"/>
                <a:gd name="T12" fmla="*/ 8 w 15"/>
                <a:gd name="T13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128">
                  <a:moveTo>
                    <a:pt x="8" y="128"/>
                  </a:moveTo>
                  <a:cubicBezTo>
                    <a:pt x="12" y="128"/>
                    <a:pt x="15" y="125"/>
                    <a:pt x="15" y="121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3"/>
                    <a:pt x="12" y="0"/>
                    <a:pt x="8" y="0"/>
                  </a:cubicBezTo>
                  <a:cubicBezTo>
                    <a:pt x="4" y="0"/>
                    <a:pt x="0" y="3"/>
                    <a:pt x="0" y="7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0" y="125"/>
                    <a:pt x="4" y="128"/>
                    <a:pt x="8" y="128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32" name="Freeform 83">
              <a:extLst>
                <a:ext uri="{FF2B5EF4-FFF2-40B4-BE49-F238E27FC236}">
                  <a16:creationId xmlns:a16="http://schemas.microsoft.com/office/drawing/2014/main" id="{13E7C888-6B1D-74C9-F330-44BD1DC7C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9813925" y="7207251"/>
              <a:ext cx="52388" cy="161925"/>
            </a:xfrm>
            <a:custGeom>
              <a:avLst/>
              <a:gdLst>
                <a:gd name="T0" fmla="*/ 7 w 14"/>
                <a:gd name="T1" fmla="*/ 43 h 43"/>
                <a:gd name="T2" fmla="*/ 14 w 14"/>
                <a:gd name="T3" fmla="*/ 35 h 43"/>
                <a:gd name="T4" fmla="*/ 14 w 14"/>
                <a:gd name="T5" fmla="*/ 7 h 43"/>
                <a:gd name="T6" fmla="*/ 7 w 14"/>
                <a:gd name="T7" fmla="*/ 0 h 43"/>
                <a:gd name="T8" fmla="*/ 0 w 14"/>
                <a:gd name="T9" fmla="*/ 7 h 43"/>
                <a:gd name="T10" fmla="*/ 0 w 14"/>
                <a:gd name="T11" fmla="*/ 35 h 43"/>
                <a:gd name="T12" fmla="*/ 7 w 14"/>
                <a:gd name="T13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43">
                  <a:moveTo>
                    <a:pt x="7" y="43"/>
                  </a:moveTo>
                  <a:cubicBezTo>
                    <a:pt x="11" y="43"/>
                    <a:pt x="14" y="39"/>
                    <a:pt x="14" y="35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9"/>
                    <a:pt x="3" y="43"/>
                    <a:pt x="7" y="4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33" name="Freeform 84">
              <a:extLst>
                <a:ext uri="{FF2B5EF4-FFF2-40B4-BE49-F238E27FC236}">
                  <a16:creationId xmlns:a16="http://schemas.microsoft.com/office/drawing/2014/main" id="{F7E0E05E-0BB0-C6F2-712B-63FA74D0CBC0}"/>
                </a:ext>
              </a:extLst>
            </p:cNvPr>
            <p:cNvSpPr>
              <a:spLocks/>
            </p:cNvSpPr>
            <p:nvPr/>
          </p:nvSpPr>
          <p:spPr bwMode="auto">
            <a:xfrm>
              <a:off x="9975850" y="7150101"/>
              <a:ext cx="52388" cy="273050"/>
            </a:xfrm>
            <a:custGeom>
              <a:avLst/>
              <a:gdLst>
                <a:gd name="T0" fmla="*/ 7 w 14"/>
                <a:gd name="T1" fmla="*/ 72 h 72"/>
                <a:gd name="T2" fmla="*/ 14 w 14"/>
                <a:gd name="T3" fmla="*/ 65 h 72"/>
                <a:gd name="T4" fmla="*/ 14 w 14"/>
                <a:gd name="T5" fmla="*/ 8 h 72"/>
                <a:gd name="T6" fmla="*/ 7 w 14"/>
                <a:gd name="T7" fmla="*/ 0 h 72"/>
                <a:gd name="T8" fmla="*/ 0 w 14"/>
                <a:gd name="T9" fmla="*/ 8 h 72"/>
                <a:gd name="T10" fmla="*/ 0 w 14"/>
                <a:gd name="T11" fmla="*/ 65 h 72"/>
                <a:gd name="T12" fmla="*/ 7 w 14"/>
                <a:gd name="T13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72">
                  <a:moveTo>
                    <a:pt x="7" y="72"/>
                  </a:moveTo>
                  <a:cubicBezTo>
                    <a:pt x="11" y="72"/>
                    <a:pt x="14" y="69"/>
                    <a:pt x="14" y="65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4"/>
                    <a:pt x="11" y="0"/>
                    <a:pt x="7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69"/>
                    <a:pt x="3" y="72"/>
                    <a:pt x="7" y="7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34" name="Freeform 85">
              <a:extLst>
                <a:ext uri="{FF2B5EF4-FFF2-40B4-BE49-F238E27FC236}">
                  <a16:creationId xmlns:a16="http://schemas.microsoft.com/office/drawing/2014/main" id="{88A7BC4F-F1F6-B0B3-C03E-BF4C383198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7775" y="7096126"/>
              <a:ext cx="53975" cy="379413"/>
            </a:xfrm>
            <a:custGeom>
              <a:avLst/>
              <a:gdLst>
                <a:gd name="T0" fmla="*/ 7 w 14"/>
                <a:gd name="T1" fmla="*/ 100 h 100"/>
                <a:gd name="T2" fmla="*/ 14 w 14"/>
                <a:gd name="T3" fmla="*/ 93 h 100"/>
                <a:gd name="T4" fmla="*/ 14 w 14"/>
                <a:gd name="T5" fmla="*/ 7 h 100"/>
                <a:gd name="T6" fmla="*/ 7 w 14"/>
                <a:gd name="T7" fmla="*/ 0 h 100"/>
                <a:gd name="T8" fmla="*/ 0 w 14"/>
                <a:gd name="T9" fmla="*/ 7 h 100"/>
                <a:gd name="T10" fmla="*/ 0 w 14"/>
                <a:gd name="T11" fmla="*/ 93 h 100"/>
                <a:gd name="T12" fmla="*/ 7 w 14"/>
                <a:gd name="T13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00">
                  <a:moveTo>
                    <a:pt x="7" y="100"/>
                  </a:moveTo>
                  <a:cubicBezTo>
                    <a:pt x="11" y="100"/>
                    <a:pt x="14" y="97"/>
                    <a:pt x="14" y="93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7"/>
                    <a:pt x="3" y="100"/>
                    <a:pt x="7" y="10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35" name="Freeform 86">
              <a:extLst>
                <a:ext uri="{FF2B5EF4-FFF2-40B4-BE49-F238E27FC236}">
                  <a16:creationId xmlns:a16="http://schemas.microsoft.com/office/drawing/2014/main" id="{F5EE8B0D-7758-4B76-8EFD-E751F320BC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01288" y="7043738"/>
              <a:ext cx="52388" cy="484188"/>
            </a:xfrm>
            <a:custGeom>
              <a:avLst/>
              <a:gdLst>
                <a:gd name="T0" fmla="*/ 7 w 14"/>
                <a:gd name="T1" fmla="*/ 128 h 128"/>
                <a:gd name="T2" fmla="*/ 14 w 14"/>
                <a:gd name="T3" fmla="*/ 121 h 128"/>
                <a:gd name="T4" fmla="*/ 14 w 14"/>
                <a:gd name="T5" fmla="*/ 7 h 128"/>
                <a:gd name="T6" fmla="*/ 7 w 14"/>
                <a:gd name="T7" fmla="*/ 0 h 128"/>
                <a:gd name="T8" fmla="*/ 0 w 14"/>
                <a:gd name="T9" fmla="*/ 7 h 128"/>
                <a:gd name="T10" fmla="*/ 0 w 14"/>
                <a:gd name="T11" fmla="*/ 121 h 128"/>
                <a:gd name="T12" fmla="*/ 7 w 14"/>
                <a:gd name="T13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28">
                  <a:moveTo>
                    <a:pt x="7" y="128"/>
                  </a:moveTo>
                  <a:cubicBezTo>
                    <a:pt x="11" y="128"/>
                    <a:pt x="14" y="125"/>
                    <a:pt x="14" y="121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0" y="125"/>
                    <a:pt x="3" y="128"/>
                    <a:pt x="7" y="128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</p:grpSp>
      <p:grpSp>
        <p:nvGrpSpPr>
          <p:cNvPr id="64" name="Group 4">
            <a:extLst>
              <a:ext uri="{FF2B5EF4-FFF2-40B4-BE49-F238E27FC236}">
                <a16:creationId xmlns:a16="http://schemas.microsoft.com/office/drawing/2014/main" id="{E55A8EA1-2D8F-59D5-93F0-C721243463F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030075" y="5089173"/>
            <a:ext cx="380133" cy="398289"/>
            <a:chOff x="448" y="1667"/>
            <a:chExt cx="335" cy="351"/>
          </a:xfrm>
          <a:solidFill>
            <a:schemeClr val="accent1"/>
          </a:solidFill>
        </p:grpSpPr>
        <p:sp>
          <p:nvSpPr>
            <p:cNvPr id="65" name="Freeform 5">
              <a:extLst>
                <a:ext uri="{FF2B5EF4-FFF2-40B4-BE49-F238E27FC236}">
                  <a16:creationId xmlns:a16="http://schemas.microsoft.com/office/drawing/2014/main" id="{54EE6867-8F03-7546-CCB8-A3A019187A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5" y="1707"/>
              <a:ext cx="45" cy="46"/>
            </a:xfrm>
            <a:custGeom>
              <a:avLst/>
              <a:gdLst>
                <a:gd name="T0" fmla="*/ 8 w 17"/>
                <a:gd name="T1" fmla="*/ 17 h 17"/>
                <a:gd name="T2" fmla="*/ 17 w 17"/>
                <a:gd name="T3" fmla="*/ 9 h 17"/>
                <a:gd name="T4" fmla="*/ 8 w 17"/>
                <a:gd name="T5" fmla="*/ 0 h 17"/>
                <a:gd name="T6" fmla="*/ 0 w 17"/>
                <a:gd name="T7" fmla="*/ 9 h 17"/>
                <a:gd name="T8" fmla="*/ 8 w 17"/>
                <a:gd name="T9" fmla="*/ 17 h 17"/>
                <a:gd name="T10" fmla="*/ 5 w 17"/>
                <a:gd name="T11" fmla="*/ 9 h 17"/>
                <a:gd name="T12" fmla="*/ 8 w 17"/>
                <a:gd name="T13" fmla="*/ 5 h 17"/>
                <a:gd name="T14" fmla="*/ 12 w 17"/>
                <a:gd name="T15" fmla="*/ 9 h 17"/>
                <a:gd name="T16" fmla="*/ 8 w 17"/>
                <a:gd name="T17" fmla="*/ 12 h 17"/>
                <a:gd name="T18" fmla="*/ 5 w 17"/>
                <a:gd name="T19" fmla="*/ 9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7">
                  <a:moveTo>
                    <a:pt x="8" y="17"/>
                  </a:move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4" y="17"/>
                    <a:pt x="8" y="17"/>
                  </a:cubicBezTo>
                  <a:close/>
                  <a:moveTo>
                    <a:pt x="5" y="9"/>
                  </a:moveTo>
                  <a:cubicBezTo>
                    <a:pt x="5" y="7"/>
                    <a:pt x="6" y="5"/>
                    <a:pt x="8" y="5"/>
                  </a:cubicBezTo>
                  <a:cubicBezTo>
                    <a:pt x="10" y="5"/>
                    <a:pt x="12" y="7"/>
                    <a:pt x="12" y="9"/>
                  </a:cubicBezTo>
                  <a:cubicBezTo>
                    <a:pt x="12" y="10"/>
                    <a:pt x="10" y="12"/>
                    <a:pt x="8" y="12"/>
                  </a:cubicBezTo>
                  <a:cubicBezTo>
                    <a:pt x="6" y="12"/>
                    <a:pt x="5" y="10"/>
                    <a:pt x="5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66" name="Freeform 6">
              <a:extLst>
                <a:ext uri="{FF2B5EF4-FFF2-40B4-BE49-F238E27FC236}">
                  <a16:creationId xmlns:a16="http://schemas.microsoft.com/office/drawing/2014/main" id="{3E71D189-67F1-8A96-D859-ED03598442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1" y="1707"/>
              <a:ext cx="45" cy="46"/>
            </a:xfrm>
            <a:custGeom>
              <a:avLst/>
              <a:gdLst>
                <a:gd name="T0" fmla="*/ 8 w 17"/>
                <a:gd name="T1" fmla="*/ 0 h 17"/>
                <a:gd name="T2" fmla="*/ 0 w 17"/>
                <a:gd name="T3" fmla="*/ 9 h 17"/>
                <a:gd name="T4" fmla="*/ 8 w 17"/>
                <a:gd name="T5" fmla="*/ 17 h 17"/>
                <a:gd name="T6" fmla="*/ 17 w 17"/>
                <a:gd name="T7" fmla="*/ 9 h 17"/>
                <a:gd name="T8" fmla="*/ 8 w 17"/>
                <a:gd name="T9" fmla="*/ 0 h 17"/>
                <a:gd name="T10" fmla="*/ 12 w 17"/>
                <a:gd name="T11" fmla="*/ 9 h 17"/>
                <a:gd name="T12" fmla="*/ 8 w 17"/>
                <a:gd name="T13" fmla="*/ 12 h 17"/>
                <a:gd name="T14" fmla="*/ 5 w 17"/>
                <a:gd name="T15" fmla="*/ 9 h 17"/>
                <a:gd name="T16" fmla="*/ 8 w 17"/>
                <a:gd name="T17" fmla="*/ 5 h 17"/>
                <a:gd name="T18" fmla="*/ 12 w 17"/>
                <a:gd name="T19" fmla="*/ 9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  <a:close/>
                  <a:moveTo>
                    <a:pt x="12" y="9"/>
                  </a:moveTo>
                  <a:cubicBezTo>
                    <a:pt x="12" y="10"/>
                    <a:pt x="10" y="12"/>
                    <a:pt x="8" y="12"/>
                  </a:cubicBezTo>
                  <a:cubicBezTo>
                    <a:pt x="6" y="12"/>
                    <a:pt x="5" y="10"/>
                    <a:pt x="5" y="9"/>
                  </a:cubicBezTo>
                  <a:cubicBezTo>
                    <a:pt x="5" y="7"/>
                    <a:pt x="6" y="5"/>
                    <a:pt x="8" y="5"/>
                  </a:cubicBezTo>
                  <a:cubicBezTo>
                    <a:pt x="10" y="5"/>
                    <a:pt x="12" y="7"/>
                    <a:pt x="12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67" name="Freeform 7">
              <a:extLst>
                <a:ext uri="{FF2B5EF4-FFF2-40B4-BE49-F238E27FC236}">
                  <a16:creationId xmlns:a16="http://schemas.microsoft.com/office/drawing/2014/main" id="{D0FACB73-BBFF-7774-5826-3C05C9EB7E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5" y="1932"/>
              <a:ext cx="45" cy="46"/>
            </a:xfrm>
            <a:custGeom>
              <a:avLst/>
              <a:gdLst>
                <a:gd name="T0" fmla="*/ 8 w 17"/>
                <a:gd name="T1" fmla="*/ 0 h 17"/>
                <a:gd name="T2" fmla="*/ 0 w 17"/>
                <a:gd name="T3" fmla="*/ 8 h 17"/>
                <a:gd name="T4" fmla="*/ 8 w 17"/>
                <a:gd name="T5" fmla="*/ 17 h 17"/>
                <a:gd name="T6" fmla="*/ 17 w 17"/>
                <a:gd name="T7" fmla="*/ 8 h 17"/>
                <a:gd name="T8" fmla="*/ 8 w 17"/>
                <a:gd name="T9" fmla="*/ 0 h 17"/>
                <a:gd name="T10" fmla="*/ 12 w 17"/>
                <a:gd name="T11" fmla="*/ 8 h 17"/>
                <a:gd name="T12" fmla="*/ 8 w 17"/>
                <a:gd name="T13" fmla="*/ 12 h 17"/>
                <a:gd name="T14" fmla="*/ 5 w 17"/>
                <a:gd name="T15" fmla="*/ 8 h 17"/>
                <a:gd name="T16" fmla="*/ 8 w 17"/>
                <a:gd name="T17" fmla="*/ 5 h 17"/>
                <a:gd name="T18" fmla="*/ 12 w 17"/>
                <a:gd name="T19" fmla="*/ 8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7">
                  <a:moveTo>
                    <a:pt x="8" y="0"/>
                  </a:moveTo>
                  <a:cubicBezTo>
                    <a:pt x="4" y="0"/>
                    <a:pt x="0" y="4"/>
                    <a:pt x="0" y="8"/>
                  </a:cubicBezTo>
                  <a:cubicBezTo>
                    <a:pt x="0" y="13"/>
                    <a:pt x="4" y="17"/>
                    <a:pt x="8" y="17"/>
                  </a:cubicBezTo>
                  <a:cubicBezTo>
                    <a:pt x="13" y="17"/>
                    <a:pt x="17" y="13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  <a:close/>
                  <a:moveTo>
                    <a:pt x="12" y="8"/>
                  </a:moveTo>
                  <a:cubicBezTo>
                    <a:pt x="12" y="10"/>
                    <a:pt x="10" y="12"/>
                    <a:pt x="8" y="12"/>
                  </a:cubicBezTo>
                  <a:cubicBezTo>
                    <a:pt x="6" y="12"/>
                    <a:pt x="5" y="10"/>
                    <a:pt x="5" y="8"/>
                  </a:cubicBezTo>
                  <a:cubicBezTo>
                    <a:pt x="5" y="7"/>
                    <a:pt x="6" y="5"/>
                    <a:pt x="8" y="5"/>
                  </a:cubicBezTo>
                  <a:cubicBezTo>
                    <a:pt x="10" y="5"/>
                    <a:pt x="12" y="7"/>
                    <a:pt x="12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68" name="Freeform 8">
              <a:extLst>
                <a:ext uri="{FF2B5EF4-FFF2-40B4-BE49-F238E27FC236}">
                  <a16:creationId xmlns:a16="http://schemas.microsoft.com/office/drawing/2014/main" id="{ABDD86C5-55C8-3DBF-9636-8F628FD8D9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8" y="1667"/>
              <a:ext cx="335" cy="351"/>
            </a:xfrm>
            <a:custGeom>
              <a:avLst/>
              <a:gdLst>
                <a:gd name="T0" fmla="*/ 124 w 125"/>
                <a:gd name="T1" fmla="*/ 84 h 131"/>
                <a:gd name="T2" fmla="*/ 120 w 125"/>
                <a:gd name="T3" fmla="*/ 84 h 131"/>
                <a:gd name="T4" fmla="*/ 100 w 125"/>
                <a:gd name="T5" fmla="*/ 84 h 131"/>
                <a:gd name="T6" fmla="*/ 80 w 125"/>
                <a:gd name="T7" fmla="*/ 66 h 131"/>
                <a:gd name="T8" fmla="*/ 99 w 125"/>
                <a:gd name="T9" fmla="*/ 48 h 131"/>
                <a:gd name="T10" fmla="*/ 100 w 125"/>
                <a:gd name="T11" fmla="*/ 48 h 131"/>
                <a:gd name="T12" fmla="*/ 120 w 125"/>
                <a:gd name="T13" fmla="*/ 47 h 131"/>
                <a:gd name="T14" fmla="*/ 125 w 125"/>
                <a:gd name="T15" fmla="*/ 45 h 131"/>
                <a:gd name="T16" fmla="*/ 119 w 125"/>
                <a:gd name="T17" fmla="*/ 38 h 131"/>
                <a:gd name="T18" fmla="*/ 100 w 125"/>
                <a:gd name="T19" fmla="*/ 0 h 131"/>
                <a:gd name="T20" fmla="*/ 81 w 125"/>
                <a:gd name="T21" fmla="*/ 1 h 131"/>
                <a:gd name="T22" fmla="*/ 77 w 125"/>
                <a:gd name="T23" fmla="*/ 2 h 131"/>
                <a:gd name="T24" fmla="*/ 82 w 125"/>
                <a:gd name="T25" fmla="*/ 8 h 131"/>
                <a:gd name="T26" fmla="*/ 80 w 125"/>
                <a:gd name="T27" fmla="*/ 36 h 131"/>
                <a:gd name="T28" fmla="*/ 44 w 125"/>
                <a:gd name="T29" fmla="*/ 36 h 131"/>
                <a:gd name="T30" fmla="*/ 43 w 125"/>
                <a:gd name="T31" fmla="*/ 8 h 131"/>
                <a:gd name="T32" fmla="*/ 48 w 125"/>
                <a:gd name="T33" fmla="*/ 2 h 131"/>
                <a:gd name="T34" fmla="*/ 43 w 125"/>
                <a:gd name="T35" fmla="*/ 1 h 131"/>
                <a:gd name="T36" fmla="*/ 24 w 125"/>
                <a:gd name="T37" fmla="*/ 0 h 131"/>
                <a:gd name="T38" fmla="*/ 5 w 125"/>
                <a:gd name="T39" fmla="*/ 38 h 131"/>
                <a:gd name="T40" fmla="*/ 0 w 125"/>
                <a:gd name="T41" fmla="*/ 45 h 131"/>
                <a:gd name="T42" fmla="*/ 4 w 125"/>
                <a:gd name="T43" fmla="*/ 47 h 131"/>
                <a:gd name="T44" fmla="*/ 24 w 125"/>
                <a:gd name="T45" fmla="*/ 48 h 131"/>
                <a:gd name="T46" fmla="*/ 25 w 125"/>
                <a:gd name="T47" fmla="*/ 48 h 131"/>
                <a:gd name="T48" fmla="*/ 44 w 125"/>
                <a:gd name="T49" fmla="*/ 66 h 131"/>
                <a:gd name="T50" fmla="*/ 24 w 125"/>
                <a:gd name="T51" fmla="*/ 84 h 131"/>
                <a:gd name="T52" fmla="*/ 4 w 125"/>
                <a:gd name="T53" fmla="*/ 84 h 131"/>
                <a:gd name="T54" fmla="*/ 0 w 125"/>
                <a:gd name="T55" fmla="*/ 86 h 131"/>
                <a:gd name="T56" fmla="*/ 5 w 125"/>
                <a:gd name="T57" fmla="*/ 93 h 131"/>
                <a:gd name="T58" fmla="*/ 24 w 125"/>
                <a:gd name="T59" fmla="*/ 131 h 131"/>
                <a:gd name="T60" fmla="*/ 43 w 125"/>
                <a:gd name="T61" fmla="*/ 130 h 131"/>
                <a:gd name="T62" fmla="*/ 48 w 125"/>
                <a:gd name="T63" fmla="*/ 129 h 131"/>
                <a:gd name="T64" fmla="*/ 43 w 125"/>
                <a:gd name="T65" fmla="*/ 123 h 131"/>
                <a:gd name="T66" fmla="*/ 44 w 125"/>
                <a:gd name="T67" fmla="*/ 95 h 131"/>
                <a:gd name="T68" fmla="*/ 80 w 125"/>
                <a:gd name="T69" fmla="*/ 95 h 131"/>
                <a:gd name="T70" fmla="*/ 82 w 125"/>
                <a:gd name="T71" fmla="*/ 123 h 131"/>
                <a:gd name="T72" fmla="*/ 77 w 125"/>
                <a:gd name="T73" fmla="*/ 129 h 131"/>
                <a:gd name="T74" fmla="*/ 81 w 125"/>
                <a:gd name="T75" fmla="*/ 130 h 131"/>
                <a:gd name="T76" fmla="*/ 100 w 125"/>
                <a:gd name="T77" fmla="*/ 131 h 131"/>
                <a:gd name="T78" fmla="*/ 119 w 125"/>
                <a:gd name="T79" fmla="*/ 93 h 131"/>
                <a:gd name="T80" fmla="*/ 125 w 125"/>
                <a:gd name="T81" fmla="*/ 86 h 131"/>
                <a:gd name="T82" fmla="*/ 24 w 125"/>
                <a:gd name="T83" fmla="*/ 126 h 131"/>
                <a:gd name="T84" fmla="*/ 24 w 125"/>
                <a:gd name="T85" fmla="*/ 89 h 131"/>
                <a:gd name="T86" fmla="*/ 43 w 125"/>
                <a:gd name="T87" fmla="*/ 24 h 131"/>
                <a:gd name="T88" fmla="*/ 5 w 125"/>
                <a:gd name="T89" fmla="*/ 24 h 131"/>
                <a:gd name="T90" fmla="*/ 43 w 125"/>
                <a:gd name="T91" fmla="*/ 24 h 131"/>
                <a:gd name="T92" fmla="*/ 100 w 125"/>
                <a:gd name="T93" fmla="*/ 5 h 131"/>
                <a:gd name="T94" fmla="*/ 100 w 125"/>
                <a:gd name="T95" fmla="*/ 43 h 131"/>
                <a:gd name="T96" fmla="*/ 41 w 125"/>
                <a:gd name="T97" fmla="*/ 91 h 131"/>
                <a:gd name="T98" fmla="*/ 49 w 125"/>
                <a:gd name="T99" fmla="*/ 66 h 131"/>
                <a:gd name="T100" fmla="*/ 41 w 125"/>
                <a:gd name="T101" fmla="*/ 41 h 131"/>
                <a:gd name="T102" fmla="*/ 83 w 125"/>
                <a:gd name="T103" fmla="*/ 41 h 131"/>
                <a:gd name="T104" fmla="*/ 75 w 125"/>
                <a:gd name="T105" fmla="*/ 66 h 131"/>
                <a:gd name="T106" fmla="*/ 83 w 125"/>
                <a:gd name="T107" fmla="*/ 91 h 131"/>
                <a:gd name="T108" fmla="*/ 41 w 125"/>
                <a:gd name="T109" fmla="*/ 91 h 131"/>
                <a:gd name="T110" fmla="*/ 100 w 125"/>
                <a:gd name="T111" fmla="*/ 126 h 131"/>
                <a:gd name="T112" fmla="*/ 100 w 125"/>
                <a:gd name="T113" fmla="*/ 89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5" h="131">
                  <a:moveTo>
                    <a:pt x="125" y="86"/>
                  </a:moveTo>
                  <a:cubicBezTo>
                    <a:pt x="125" y="86"/>
                    <a:pt x="124" y="85"/>
                    <a:pt x="124" y="84"/>
                  </a:cubicBezTo>
                  <a:cubicBezTo>
                    <a:pt x="124" y="84"/>
                    <a:pt x="124" y="84"/>
                    <a:pt x="124" y="84"/>
                  </a:cubicBezTo>
                  <a:cubicBezTo>
                    <a:pt x="123" y="83"/>
                    <a:pt x="121" y="83"/>
                    <a:pt x="120" y="84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1" y="85"/>
                    <a:pt x="106" y="84"/>
                    <a:pt x="100" y="84"/>
                  </a:cubicBezTo>
                  <a:cubicBezTo>
                    <a:pt x="98" y="84"/>
                    <a:pt x="97" y="84"/>
                    <a:pt x="95" y="84"/>
                  </a:cubicBezTo>
                  <a:cubicBezTo>
                    <a:pt x="86" y="82"/>
                    <a:pt x="80" y="75"/>
                    <a:pt x="80" y="66"/>
                  </a:cubicBezTo>
                  <a:cubicBezTo>
                    <a:pt x="80" y="56"/>
                    <a:pt x="89" y="48"/>
                    <a:pt x="99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6" y="48"/>
                    <a:pt x="111" y="46"/>
                    <a:pt x="116" y="42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8"/>
                    <a:pt x="123" y="48"/>
                    <a:pt x="124" y="47"/>
                  </a:cubicBezTo>
                  <a:cubicBezTo>
                    <a:pt x="124" y="46"/>
                    <a:pt x="125" y="45"/>
                    <a:pt x="125" y="45"/>
                  </a:cubicBezTo>
                  <a:cubicBezTo>
                    <a:pt x="125" y="44"/>
                    <a:pt x="124" y="44"/>
                    <a:pt x="124" y="43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2" y="34"/>
                    <a:pt x="124" y="29"/>
                    <a:pt x="124" y="24"/>
                  </a:cubicBezTo>
                  <a:cubicBezTo>
                    <a:pt x="124" y="10"/>
                    <a:pt x="114" y="0"/>
                    <a:pt x="100" y="0"/>
                  </a:cubicBezTo>
                  <a:cubicBezTo>
                    <a:pt x="95" y="0"/>
                    <a:pt x="90" y="1"/>
                    <a:pt x="85" y="5"/>
                  </a:cubicBezTo>
                  <a:cubicBezTo>
                    <a:pt x="81" y="1"/>
                    <a:pt x="81" y="1"/>
                    <a:pt x="81" y="1"/>
                  </a:cubicBezTo>
                  <a:cubicBezTo>
                    <a:pt x="80" y="0"/>
                    <a:pt x="79" y="0"/>
                    <a:pt x="78" y="1"/>
                  </a:cubicBezTo>
                  <a:cubicBezTo>
                    <a:pt x="77" y="1"/>
                    <a:pt x="77" y="2"/>
                    <a:pt x="77" y="2"/>
                  </a:cubicBezTo>
                  <a:cubicBezTo>
                    <a:pt x="77" y="3"/>
                    <a:pt x="77" y="4"/>
                    <a:pt x="78" y="4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78" y="13"/>
                    <a:pt x="76" y="18"/>
                    <a:pt x="76" y="24"/>
                  </a:cubicBezTo>
                  <a:cubicBezTo>
                    <a:pt x="76" y="28"/>
                    <a:pt x="78" y="32"/>
                    <a:pt x="80" y="36"/>
                  </a:cubicBezTo>
                  <a:cubicBezTo>
                    <a:pt x="77" y="44"/>
                    <a:pt x="70" y="49"/>
                    <a:pt x="62" y="49"/>
                  </a:cubicBezTo>
                  <a:cubicBezTo>
                    <a:pt x="54" y="49"/>
                    <a:pt x="47" y="44"/>
                    <a:pt x="44" y="36"/>
                  </a:cubicBezTo>
                  <a:cubicBezTo>
                    <a:pt x="47" y="32"/>
                    <a:pt x="48" y="28"/>
                    <a:pt x="48" y="24"/>
                  </a:cubicBezTo>
                  <a:cubicBezTo>
                    <a:pt x="48" y="18"/>
                    <a:pt x="46" y="13"/>
                    <a:pt x="43" y="8"/>
                  </a:cubicBezTo>
                  <a:cubicBezTo>
                    <a:pt x="47" y="4"/>
                    <a:pt x="47" y="4"/>
                    <a:pt x="47" y="4"/>
                  </a:cubicBezTo>
                  <a:cubicBezTo>
                    <a:pt x="47" y="4"/>
                    <a:pt x="47" y="3"/>
                    <a:pt x="48" y="2"/>
                  </a:cubicBezTo>
                  <a:cubicBezTo>
                    <a:pt x="48" y="2"/>
                    <a:pt x="47" y="1"/>
                    <a:pt x="47" y="1"/>
                  </a:cubicBezTo>
                  <a:cubicBezTo>
                    <a:pt x="46" y="0"/>
                    <a:pt x="44" y="0"/>
                    <a:pt x="43" y="1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35" y="1"/>
                    <a:pt x="29" y="0"/>
                    <a:pt x="24" y="0"/>
                  </a:cubicBezTo>
                  <a:cubicBezTo>
                    <a:pt x="11" y="0"/>
                    <a:pt x="0" y="10"/>
                    <a:pt x="0" y="24"/>
                  </a:cubicBezTo>
                  <a:cubicBezTo>
                    <a:pt x="0" y="29"/>
                    <a:pt x="2" y="34"/>
                    <a:pt x="5" y="38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0" y="44"/>
                    <a:pt x="0" y="44"/>
                    <a:pt x="0" y="45"/>
                  </a:cubicBezTo>
                  <a:cubicBezTo>
                    <a:pt x="0" y="45"/>
                    <a:pt x="0" y="46"/>
                    <a:pt x="1" y="47"/>
                  </a:cubicBezTo>
                  <a:cubicBezTo>
                    <a:pt x="2" y="48"/>
                    <a:pt x="3" y="48"/>
                    <a:pt x="4" y="47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6"/>
                    <a:pt x="19" y="48"/>
                    <a:pt x="24" y="48"/>
                  </a:cubicBezTo>
                  <a:cubicBezTo>
                    <a:pt x="24" y="48"/>
                    <a:pt x="24" y="48"/>
                    <a:pt x="24" y="48"/>
                  </a:cubicBezTo>
                  <a:cubicBezTo>
                    <a:pt x="25" y="48"/>
                    <a:pt x="25" y="48"/>
                    <a:pt x="25" y="48"/>
                  </a:cubicBezTo>
                  <a:cubicBezTo>
                    <a:pt x="25" y="48"/>
                    <a:pt x="25" y="48"/>
                    <a:pt x="25" y="48"/>
                  </a:cubicBezTo>
                  <a:cubicBezTo>
                    <a:pt x="35" y="48"/>
                    <a:pt x="44" y="56"/>
                    <a:pt x="44" y="66"/>
                  </a:cubicBezTo>
                  <a:cubicBezTo>
                    <a:pt x="44" y="75"/>
                    <a:pt x="38" y="82"/>
                    <a:pt x="29" y="84"/>
                  </a:cubicBezTo>
                  <a:cubicBezTo>
                    <a:pt x="28" y="84"/>
                    <a:pt x="26" y="84"/>
                    <a:pt x="24" y="84"/>
                  </a:cubicBezTo>
                  <a:cubicBezTo>
                    <a:pt x="19" y="84"/>
                    <a:pt x="13" y="85"/>
                    <a:pt x="9" y="89"/>
                  </a:cubicBezTo>
                  <a:cubicBezTo>
                    <a:pt x="4" y="84"/>
                    <a:pt x="4" y="84"/>
                    <a:pt x="4" y="84"/>
                  </a:cubicBezTo>
                  <a:cubicBezTo>
                    <a:pt x="3" y="83"/>
                    <a:pt x="2" y="83"/>
                    <a:pt x="1" y="84"/>
                  </a:cubicBezTo>
                  <a:cubicBezTo>
                    <a:pt x="0" y="85"/>
                    <a:pt x="0" y="86"/>
                    <a:pt x="0" y="86"/>
                  </a:cubicBezTo>
                  <a:cubicBezTo>
                    <a:pt x="0" y="87"/>
                    <a:pt x="0" y="88"/>
                    <a:pt x="1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2" y="97"/>
                    <a:pt x="0" y="102"/>
                    <a:pt x="0" y="107"/>
                  </a:cubicBezTo>
                  <a:cubicBezTo>
                    <a:pt x="0" y="121"/>
                    <a:pt x="11" y="131"/>
                    <a:pt x="24" y="131"/>
                  </a:cubicBezTo>
                  <a:cubicBezTo>
                    <a:pt x="29" y="131"/>
                    <a:pt x="35" y="130"/>
                    <a:pt x="39" y="126"/>
                  </a:cubicBezTo>
                  <a:cubicBezTo>
                    <a:pt x="43" y="130"/>
                    <a:pt x="43" y="130"/>
                    <a:pt x="43" y="130"/>
                  </a:cubicBezTo>
                  <a:cubicBezTo>
                    <a:pt x="44" y="131"/>
                    <a:pt x="46" y="131"/>
                    <a:pt x="47" y="130"/>
                  </a:cubicBezTo>
                  <a:cubicBezTo>
                    <a:pt x="47" y="130"/>
                    <a:pt x="48" y="129"/>
                    <a:pt x="48" y="129"/>
                  </a:cubicBezTo>
                  <a:cubicBezTo>
                    <a:pt x="47" y="128"/>
                    <a:pt x="47" y="127"/>
                    <a:pt x="47" y="127"/>
                  </a:cubicBezTo>
                  <a:cubicBezTo>
                    <a:pt x="43" y="123"/>
                    <a:pt x="43" y="123"/>
                    <a:pt x="43" y="123"/>
                  </a:cubicBezTo>
                  <a:cubicBezTo>
                    <a:pt x="46" y="118"/>
                    <a:pt x="48" y="113"/>
                    <a:pt x="48" y="107"/>
                  </a:cubicBezTo>
                  <a:cubicBezTo>
                    <a:pt x="48" y="103"/>
                    <a:pt x="47" y="99"/>
                    <a:pt x="44" y="95"/>
                  </a:cubicBezTo>
                  <a:cubicBezTo>
                    <a:pt x="47" y="87"/>
                    <a:pt x="54" y="83"/>
                    <a:pt x="62" y="83"/>
                  </a:cubicBezTo>
                  <a:cubicBezTo>
                    <a:pt x="70" y="83"/>
                    <a:pt x="77" y="87"/>
                    <a:pt x="80" y="95"/>
                  </a:cubicBezTo>
                  <a:cubicBezTo>
                    <a:pt x="78" y="99"/>
                    <a:pt x="76" y="103"/>
                    <a:pt x="76" y="107"/>
                  </a:cubicBezTo>
                  <a:cubicBezTo>
                    <a:pt x="76" y="113"/>
                    <a:pt x="78" y="118"/>
                    <a:pt x="82" y="123"/>
                  </a:cubicBezTo>
                  <a:cubicBezTo>
                    <a:pt x="78" y="127"/>
                    <a:pt x="78" y="127"/>
                    <a:pt x="78" y="127"/>
                  </a:cubicBezTo>
                  <a:cubicBezTo>
                    <a:pt x="77" y="127"/>
                    <a:pt x="77" y="128"/>
                    <a:pt x="77" y="129"/>
                  </a:cubicBezTo>
                  <a:cubicBezTo>
                    <a:pt x="77" y="129"/>
                    <a:pt x="77" y="130"/>
                    <a:pt x="78" y="130"/>
                  </a:cubicBezTo>
                  <a:cubicBezTo>
                    <a:pt x="79" y="131"/>
                    <a:pt x="80" y="131"/>
                    <a:pt x="81" y="130"/>
                  </a:cubicBezTo>
                  <a:cubicBezTo>
                    <a:pt x="85" y="126"/>
                    <a:pt x="85" y="126"/>
                    <a:pt x="85" y="126"/>
                  </a:cubicBezTo>
                  <a:cubicBezTo>
                    <a:pt x="90" y="130"/>
                    <a:pt x="95" y="131"/>
                    <a:pt x="100" y="131"/>
                  </a:cubicBezTo>
                  <a:cubicBezTo>
                    <a:pt x="114" y="131"/>
                    <a:pt x="124" y="121"/>
                    <a:pt x="124" y="107"/>
                  </a:cubicBezTo>
                  <a:cubicBezTo>
                    <a:pt x="124" y="102"/>
                    <a:pt x="122" y="97"/>
                    <a:pt x="119" y="93"/>
                  </a:cubicBezTo>
                  <a:cubicBezTo>
                    <a:pt x="124" y="88"/>
                    <a:pt x="124" y="88"/>
                    <a:pt x="124" y="88"/>
                  </a:cubicBezTo>
                  <a:cubicBezTo>
                    <a:pt x="124" y="88"/>
                    <a:pt x="125" y="87"/>
                    <a:pt x="125" y="86"/>
                  </a:cubicBezTo>
                  <a:close/>
                  <a:moveTo>
                    <a:pt x="43" y="107"/>
                  </a:moveTo>
                  <a:cubicBezTo>
                    <a:pt x="43" y="118"/>
                    <a:pt x="35" y="126"/>
                    <a:pt x="24" y="126"/>
                  </a:cubicBezTo>
                  <a:cubicBezTo>
                    <a:pt x="14" y="126"/>
                    <a:pt x="5" y="118"/>
                    <a:pt x="5" y="107"/>
                  </a:cubicBezTo>
                  <a:cubicBezTo>
                    <a:pt x="5" y="97"/>
                    <a:pt x="14" y="89"/>
                    <a:pt x="24" y="89"/>
                  </a:cubicBezTo>
                  <a:cubicBezTo>
                    <a:pt x="35" y="89"/>
                    <a:pt x="43" y="97"/>
                    <a:pt x="43" y="107"/>
                  </a:cubicBezTo>
                  <a:close/>
                  <a:moveTo>
                    <a:pt x="43" y="24"/>
                  </a:moveTo>
                  <a:cubicBezTo>
                    <a:pt x="43" y="34"/>
                    <a:pt x="35" y="43"/>
                    <a:pt x="24" y="43"/>
                  </a:cubicBezTo>
                  <a:cubicBezTo>
                    <a:pt x="14" y="43"/>
                    <a:pt x="5" y="34"/>
                    <a:pt x="5" y="24"/>
                  </a:cubicBezTo>
                  <a:cubicBezTo>
                    <a:pt x="5" y="13"/>
                    <a:pt x="14" y="5"/>
                    <a:pt x="24" y="5"/>
                  </a:cubicBezTo>
                  <a:cubicBezTo>
                    <a:pt x="35" y="5"/>
                    <a:pt x="43" y="13"/>
                    <a:pt x="43" y="24"/>
                  </a:cubicBezTo>
                  <a:close/>
                  <a:moveTo>
                    <a:pt x="81" y="24"/>
                  </a:moveTo>
                  <a:cubicBezTo>
                    <a:pt x="81" y="13"/>
                    <a:pt x="90" y="5"/>
                    <a:pt x="100" y="5"/>
                  </a:cubicBezTo>
                  <a:cubicBezTo>
                    <a:pt x="111" y="5"/>
                    <a:pt x="119" y="13"/>
                    <a:pt x="119" y="24"/>
                  </a:cubicBezTo>
                  <a:cubicBezTo>
                    <a:pt x="119" y="34"/>
                    <a:pt x="111" y="43"/>
                    <a:pt x="100" y="43"/>
                  </a:cubicBezTo>
                  <a:cubicBezTo>
                    <a:pt x="90" y="43"/>
                    <a:pt x="81" y="34"/>
                    <a:pt x="81" y="24"/>
                  </a:cubicBezTo>
                  <a:close/>
                  <a:moveTo>
                    <a:pt x="41" y="91"/>
                  </a:moveTo>
                  <a:cubicBezTo>
                    <a:pt x="40" y="89"/>
                    <a:pt x="38" y="88"/>
                    <a:pt x="36" y="87"/>
                  </a:cubicBezTo>
                  <a:cubicBezTo>
                    <a:pt x="44" y="83"/>
                    <a:pt x="49" y="75"/>
                    <a:pt x="49" y="66"/>
                  </a:cubicBezTo>
                  <a:cubicBezTo>
                    <a:pt x="49" y="57"/>
                    <a:pt x="43" y="49"/>
                    <a:pt x="35" y="45"/>
                  </a:cubicBezTo>
                  <a:cubicBezTo>
                    <a:pt x="37" y="44"/>
                    <a:pt x="39" y="42"/>
                    <a:pt x="41" y="41"/>
                  </a:cubicBezTo>
                  <a:cubicBezTo>
                    <a:pt x="45" y="49"/>
                    <a:pt x="53" y="54"/>
                    <a:pt x="62" y="54"/>
                  </a:cubicBezTo>
                  <a:cubicBezTo>
                    <a:pt x="71" y="54"/>
                    <a:pt x="79" y="49"/>
                    <a:pt x="83" y="41"/>
                  </a:cubicBezTo>
                  <a:cubicBezTo>
                    <a:pt x="85" y="42"/>
                    <a:pt x="87" y="44"/>
                    <a:pt x="89" y="45"/>
                  </a:cubicBezTo>
                  <a:cubicBezTo>
                    <a:pt x="81" y="49"/>
                    <a:pt x="75" y="57"/>
                    <a:pt x="75" y="66"/>
                  </a:cubicBezTo>
                  <a:cubicBezTo>
                    <a:pt x="75" y="75"/>
                    <a:pt x="80" y="83"/>
                    <a:pt x="88" y="87"/>
                  </a:cubicBezTo>
                  <a:cubicBezTo>
                    <a:pt x="86" y="88"/>
                    <a:pt x="85" y="89"/>
                    <a:pt x="83" y="91"/>
                  </a:cubicBezTo>
                  <a:cubicBezTo>
                    <a:pt x="79" y="82"/>
                    <a:pt x="71" y="78"/>
                    <a:pt x="62" y="78"/>
                  </a:cubicBezTo>
                  <a:cubicBezTo>
                    <a:pt x="53" y="78"/>
                    <a:pt x="45" y="82"/>
                    <a:pt x="41" y="91"/>
                  </a:cubicBezTo>
                  <a:close/>
                  <a:moveTo>
                    <a:pt x="119" y="107"/>
                  </a:moveTo>
                  <a:cubicBezTo>
                    <a:pt x="119" y="118"/>
                    <a:pt x="111" y="126"/>
                    <a:pt x="100" y="126"/>
                  </a:cubicBezTo>
                  <a:cubicBezTo>
                    <a:pt x="90" y="126"/>
                    <a:pt x="81" y="118"/>
                    <a:pt x="81" y="107"/>
                  </a:cubicBezTo>
                  <a:cubicBezTo>
                    <a:pt x="81" y="97"/>
                    <a:pt x="90" y="89"/>
                    <a:pt x="100" y="89"/>
                  </a:cubicBezTo>
                  <a:cubicBezTo>
                    <a:pt x="111" y="89"/>
                    <a:pt x="119" y="97"/>
                    <a:pt x="119" y="1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69" name="Freeform 9">
              <a:extLst>
                <a:ext uri="{FF2B5EF4-FFF2-40B4-BE49-F238E27FC236}">
                  <a16:creationId xmlns:a16="http://schemas.microsoft.com/office/drawing/2014/main" id="{D81CA2BA-CB9A-62F9-D973-E9DC67181D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1" y="1932"/>
              <a:ext cx="45" cy="46"/>
            </a:xfrm>
            <a:custGeom>
              <a:avLst/>
              <a:gdLst>
                <a:gd name="T0" fmla="*/ 8 w 17"/>
                <a:gd name="T1" fmla="*/ 0 h 17"/>
                <a:gd name="T2" fmla="*/ 0 w 17"/>
                <a:gd name="T3" fmla="*/ 8 h 17"/>
                <a:gd name="T4" fmla="*/ 8 w 17"/>
                <a:gd name="T5" fmla="*/ 17 h 17"/>
                <a:gd name="T6" fmla="*/ 17 w 17"/>
                <a:gd name="T7" fmla="*/ 8 h 17"/>
                <a:gd name="T8" fmla="*/ 8 w 17"/>
                <a:gd name="T9" fmla="*/ 0 h 17"/>
                <a:gd name="T10" fmla="*/ 12 w 17"/>
                <a:gd name="T11" fmla="*/ 8 h 17"/>
                <a:gd name="T12" fmla="*/ 8 w 17"/>
                <a:gd name="T13" fmla="*/ 12 h 17"/>
                <a:gd name="T14" fmla="*/ 5 w 17"/>
                <a:gd name="T15" fmla="*/ 8 h 17"/>
                <a:gd name="T16" fmla="*/ 8 w 17"/>
                <a:gd name="T17" fmla="*/ 5 h 17"/>
                <a:gd name="T18" fmla="*/ 12 w 17"/>
                <a:gd name="T19" fmla="*/ 8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7"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3" y="17"/>
                    <a:pt x="17" y="13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  <a:close/>
                  <a:moveTo>
                    <a:pt x="12" y="8"/>
                  </a:moveTo>
                  <a:cubicBezTo>
                    <a:pt x="12" y="10"/>
                    <a:pt x="10" y="12"/>
                    <a:pt x="8" y="12"/>
                  </a:cubicBezTo>
                  <a:cubicBezTo>
                    <a:pt x="6" y="12"/>
                    <a:pt x="5" y="10"/>
                    <a:pt x="5" y="8"/>
                  </a:cubicBezTo>
                  <a:cubicBezTo>
                    <a:pt x="5" y="7"/>
                    <a:pt x="6" y="5"/>
                    <a:pt x="8" y="5"/>
                  </a:cubicBezTo>
                  <a:cubicBezTo>
                    <a:pt x="10" y="5"/>
                    <a:pt x="12" y="7"/>
                    <a:pt x="12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70" name="Freeform 147">
            <a:extLst>
              <a:ext uri="{FF2B5EF4-FFF2-40B4-BE49-F238E27FC236}">
                <a16:creationId xmlns:a16="http://schemas.microsoft.com/office/drawing/2014/main" id="{145A41BE-74C2-68C3-434A-B623F599DCC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2499926" y="2522527"/>
            <a:ext cx="495658" cy="309787"/>
          </a:xfrm>
          <a:custGeom>
            <a:avLst/>
            <a:gdLst>
              <a:gd name="T0" fmla="*/ 54 w 288"/>
              <a:gd name="T1" fmla="*/ 180 h 180"/>
              <a:gd name="T2" fmla="*/ 14 w 288"/>
              <a:gd name="T3" fmla="*/ 164 h 180"/>
              <a:gd name="T4" fmla="*/ 0 w 288"/>
              <a:gd name="T5" fmla="*/ 129 h 180"/>
              <a:gd name="T6" fmla="*/ 19 w 288"/>
              <a:gd name="T7" fmla="*/ 89 h 180"/>
              <a:gd name="T8" fmla="*/ 55 w 288"/>
              <a:gd name="T9" fmla="*/ 78 h 180"/>
              <a:gd name="T10" fmla="*/ 144 w 288"/>
              <a:gd name="T11" fmla="*/ 0 h 180"/>
              <a:gd name="T12" fmla="*/ 224 w 288"/>
              <a:gd name="T13" fmla="*/ 48 h 180"/>
              <a:gd name="T14" fmla="*/ 268 w 288"/>
              <a:gd name="T15" fmla="*/ 66 h 180"/>
              <a:gd name="T16" fmla="*/ 288 w 288"/>
              <a:gd name="T17" fmla="*/ 114 h 180"/>
              <a:gd name="T18" fmla="*/ 229 w 288"/>
              <a:gd name="T19" fmla="*/ 180 h 180"/>
              <a:gd name="T20" fmla="*/ 228 w 288"/>
              <a:gd name="T21" fmla="*/ 180 h 180"/>
              <a:gd name="T22" fmla="*/ 54 w 288"/>
              <a:gd name="T23" fmla="*/ 180 h 180"/>
              <a:gd name="T24" fmla="*/ 54 w 288"/>
              <a:gd name="T25" fmla="*/ 180 h 180"/>
              <a:gd name="T26" fmla="*/ 51 w 288"/>
              <a:gd name="T27" fmla="*/ 90 h 180"/>
              <a:gd name="T28" fmla="*/ 27 w 288"/>
              <a:gd name="T29" fmla="*/ 99 h 180"/>
              <a:gd name="T30" fmla="*/ 12 w 288"/>
              <a:gd name="T31" fmla="*/ 129 h 180"/>
              <a:gd name="T32" fmla="*/ 22 w 288"/>
              <a:gd name="T33" fmla="*/ 156 h 180"/>
              <a:gd name="T34" fmla="*/ 54 w 288"/>
              <a:gd name="T35" fmla="*/ 168 h 180"/>
              <a:gd name="T36" fmla="*/ 54 w 288"/>
              <a:gd name="T37" fmla="*/ 168 h 180"/>
              <a:gd name="T38" fmla="*/ 228 w 288"/>
              <a:gd name="T39" fmla="*/ 168 h 180"/>
              <a:gd name="T40" fmla="*/ 276 w 288"/>
              <a:gd name="T41" fmla="*/ 114 h 180"/>
              <a:gd name="T42" fmla="*/ 260 w 288"/>
              <a:gd name="T43" fmla="*/ 75 h 180"/>
              <a:gd name="T44" fmla="*/ 220 w 288"/>
              <a:gd name="T45" fmla="*/ 60 h 180"/>
              <a:gd name="T46" fmla="*/ 215 w 288"/>
              <a:gd name="T47" fmla="*/ 57 h 180"/>
              <a:gd name="T48" fmla="*/ 144 w 288"/>
              <a:gd name="T49" fmla="*/ 12 h 180"/>
              <a:gd name="T50" fmla="*/ 66 w 288"/>
              <a:gd name="T51" fmla="*/ 85 h 180"/>
              <a:gd name="T52" fmla="*/ 64 w 288"/>
              <a:gd name="T53" fmla="*/ 90 h 180"/>
              <a:gd name="T54" fmla="*/ 59 w 288"/>
              <a:gd name="T55" fmla="*/ 91 h 180"/>
              <a:gd name="T56" fmla="*/ 51 w 288"/>
              <a:gd name="T57" fmla="*/ 90 h 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88" h="180">
                <a:moveTo>
                  <a:pt x="54" y="180"/>
                </a:moveTo>
                <a:cubicBezTo>
                  <a:pt x="51" y="180"/>
                  <a:pt x="29" y="179"/>
                  <a:pt x="14" y="164"/>
                </a:cubicBezTo>
                <a:cubicBezTo>
                  <a:pt x="5" y="156"/>
                  <a:pt x="0" y="144"/>
                  <a:pt x="0" y="129"/>
                </a:cubicBezTo>
                <a:cubicBezTo>
                  <a:pt x="0" y="113"/>
                  <a:pt x="7" y="99"/>
                  <a:pt x="19" y="89"/>
                </a:cubicBezTo>
                <a:cubicBezTo>
                  <a:pt x="29" y="81"/>
                  <a:pt x="42" y="77"/>
                  <a:pt x="55" y="78"/>
                </a:cubicBezTo>
                <a:cubicBezTo>
                  <a:pt x="61" y="34"/>
                  <a:pt x="99" y="0"/>
                  <a:pt x="144" y="0"/>
                </a:cubicBezTo>
                <a:cubicBezTo>
                  <a:pt x="177" y="0"/>
                  <a:pt x="208" y="19"/>
                  <a:pt x="224" y="48"/>
                </a:cubicBezTo>
                <a:cubicBezTo>
                  <a:pt x="240" y="48"/>
                  <a:pt x="256" y="55"/>
                  <a:pt x="268" y="66"/>
                </a:cubicBezTo>
                <a:cubicBezTo>
                  <a:pt x="281" y="79"/>
                  <a:pt x="288" y="96"/>
                  <a:pt x="288" y="114"/>
                </a:cubicBezTo>
                <a:cubicBezTo>
                  <a:pt x="288" y="171"/>
                  <a:pt x="230" y="180"/>
                  <a:pt x="229" y="180"/>
                </a:cubicBezTo>
                <a:cubicBezTo>
                  <a:pt x="229" y="180"/>
                  <a:pt x="228" y="180"/>
                  <a:pt x="228" y="180"/>
                </a:cubicBezTo>
                <a:cubicBezTo>
                  <a:pt x="54" y="180"/>
                  <a:pt x="54" y="180"/>
                  <a:pt x="54" y="180"/>
                </a:cubicBezTo>
                <a:cubicBezTo>
                  <a:pt x="54" y="180"/>
                  <a:pt x="54" y="180"/>
                  <a:pt x="54" y="180"/>
                </a:cubicBezTo>
                <a:close/>
                <a:moveTo>
                  <a:pt x="51" y="90"/>
                </a:moveTo>
                <a:cubicBezTo>
                  <a:pt x="42" y="90"/>
                  <a:pt x="34" y="93"/>
                  <a:pt x="27" y="99"/>
                </a:cubicBezTo>
                <a:cubicBezTo>
                  <a:pt x="17" y="106"/>
                  <a:pt x="12" y="117"/>
                  <a:pt x="12" y="129"/>
                </a:cubicBezTo>
                <a:cubicBezTo>
                  <a:pt x="12" y="140"/>
                  <a:pt x="16" y="149"/>
                  <a:pt x="22" y="156"/>
                </a:cubicBezTo>
                <a:cubicBezTo>
                  <a:pt x="34" y="168"/>
                  <a:pt x="53" y="168"/>
                  <a:pt x="54" y="168"/>
                </a:cubicBezTo>
                <a:cubicBezTo>
                  <a:pt x="54" y="168"/>
                  <a:pt x="54" y="168"/>
                  <a:pt x="54" y="168"/>
                </a:cubicBezTo>
                <a:cubicBezTo>
                  <a:pt x="228" y="168"/>
                  <a:pt x="228" y="168"/>
                  <a:pt x="228" y="168"/>
                </a:cubicBezTo>
                <a:cubicBezTo>
                  <a:pt x="233" y="167"/>
                  <a:pt x="276" y="159"/>
                  <a:pt x="276" y="114"/>
                </a:cubicBezTo>
                <a:cubicBezTo>
                  <a:pt x="276" y="99"/>
                  <a:pt x="270" y="85"/>
                  <a:pt x="260" y="75"/>
                </a:cubicBezTo>
                <a:cubicBezTo>
                  <a:pt x="249" y="65"/>
                  <a:pt x="235" y="59"/>
                  <a:pt x="220" y="60"/>
                </a:cubicBezTo>
                <a:cubicBezTo>
                  <a:pt x="218" y="60"/>
                  <a:pt x="216" y="59"/>
                  <a:pt x="215" y="57"/>
                </a:cubicBezTo>
                <a:cubicBezTo>
                  <a:pt x="202" y="29"/>
                  <a:pt x="174" y="12"/>
                  <a:pt x="144" y="12"/>
                </a:cubicBezTo>
                <a:cubicBezTo>
                  <a:pt x="103" y="12"/>
                  <a:pt x="69" y="44"/>
                  <a:pt x="66" y="85"/>
                </a:cubicBezTo>
                <a:cubicBezTo>
                  <a:pt x="66" y="87"/>
                  <a:pt x="66" y="88"/>
                  <a:pt x="64" y="90"/>
                </a:cubicBezTo>
                <a:cubicBezTo>
                  <a:pt x="63" y="91"/>
                  <a:pt x="61" y="91"/>
                  <a:pt x="59" y="91"/>
                </a:cubicBezTo>
                <a:cubicBezTo>
                  <a:pt x="57" y="90"/>
                  <a:pt x="54" y="90"/>
                  <a:pt x="51" y="9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grpSp>
        <p:nvGrpSpPr>
          <p:cNvPr id="71" name="Group 144">
            <a:extLst>
              <a:ext uri="{FF2B5EF4-FFF2-40B4-BE49-F238E27FC236}">
                <a16:creationId xmlns:a16="http://schemas.microsoft.com/office/drawing/2014/main" id="{B7EBBC6F-E517-D37F-89CF-D3FEB8E4F50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538858" y="4447032"/>
            <a:ext cx="455378" cy="398289"/>
            <a:chOff x="4508" y="2711"/>
            <a:chExt cx="343" cy="300"/>
          </a:xfrm>
          <a:solidFill>
            <a:schemeClr val="accent1"/>
          </a:solidFill>
        </p:grpSpPr>
        <p:sp>
          <p:nvSpPr>
            <p:cNvPr id="72" name="Freeform 145">
              <a:extLst>
                <a:ext uri="{FF2B5EF4-FFF2-40B4-BE49-F238E27FC236}">
                  <a16:creationId xmlns:a16="http://schemas.microsoft.com/office/drawing/2014/main" id="{C4BE4C75-A3DC-9504-D248-DBD913E7DA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8" y="2804"/>
              <a:ext cx="343" cy="114"/>
            </a:xfrm>
            <a:custGeom>
              <a:avLst/>
              <a:gdLst>
                <a:gd name="T0" fmla="*/ 282 w 288"/>
                <a:gd name="T1" fmla="*/ 96 h 96"/>
                <a:gd name="T2" fmla="*/ 6 w 288"/>
                <a:gd name="T3" fmla="*/ 96 h 96"/>
                <a:gd name="T4" fmla="*/ 0 w 288"/>
                <a:gd name="T5" fmla="*/ 90 h 96"/>
                <a:gd name="T6" fmla="*/ 0 w 288"/>
                <a:gd name="T7" fmla="*/ 6 h 96"/>
                <a:gd name="T8" fmla="*/ 6 w 288"/>
                <a:gd name="T9" fmla="*/ 0 h 96"/>
                <a:gd name="T10" fmla="*/ 282 w 288"/>
                <a:gd name="T11" fmla="*/ 0 h 96"/>
                <a:gd name="T12" fmla="*/ 288 w 288"/>
                <a:gd name="T13" fmla="*/ 6 h 96"/>
                <a:gd name="T14" fmla="*/ 288 w 288"/>
                <a:gd name="T15" fmla="*/ 90 h 96"/>
                <a:gd name="T16" fmla="*/ 282 w 288"/>
                <a:gd name="T17" fmla="*/ 96 h 96"/>
                <a:gd name="T18" fmla="*/ 12 w 288"/>
                <a:gd name="T19" fmla="*/ 84 h 96"/>
                <a:gd name="T20" fmla="*/ 276 w 288"/>
                <a:gd name="T21" fmla="*/ 84 h 96"/>
                <a:gd name="T22" fmla="*/ 276 w 288"/>
                <a:gd name="T23" fmla="*/ 12 h 96"/>
                <a:gd name="T24" fmla="*/ 12 w 288"/>
                <a:gd name="T25" fmla="*/ 12 h 96"/>
                <a:gd name="T26" fmla="*/ 12 w 288"/>
                <a:gd name="T27" fmla="*/ 8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8" h="96">
                  <a:moveTo>
                    <a:pt x="282" y="96"/>
                  </a:moveTo>
                  <a:cubicBezTo>
                    <a:pt x="6" y="96"/>
                    <a:pt x="6" y="96"/>
                    <a:pt x="6" y="96"/>
                  </a:cubicBezTo>
                  <a:cubicBezTo>
                    <a:pt x="3" y="96"/>
                    <a:pt x="0" y="94"/>
                    <a:pt x="0" y="9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6" y="0"/>
                    <a:pt x="288" y="3"/>
                    <a:pt x="288" y="6"/>
                  </a:cubicBezTo>
                  <a:cubicBezTo>
                    <a:pt x="288" y="90"/>
                    <a:pt x="288" y="90"/>
                    <a:pt x="288" y="90"/>
                  </a:cubicBezTo>
                  <a:cubicBezTo>
                    <a:pt x="288" y="94"/>
                    <a:pt x="286" y="96"/>
                    <a:pt x="282" y="96"/>
                  </a:cubicBezTo>
                  <a:close/>
                  <a:moveTo>
                    <a:pt x="12" y="84"/>
                  </a:moveTo>
                  <a:cubicBezTo>
                    <a:pt x="276" y="84"/>
                    <a:pt x="276" y="84"/>
                    <a:pt x="276" y="84"/>
                  </a:cubicBezTo>
                  <a:cubicBezTo>
                    <a:pt x="276" y="12"/>
                    <a:pt x="276" y="12"/>
                    <a:pt x="27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73" name="Freeform 146">
              <a:extLst>
                <a:ext uri="{FF2B5EF4-FFF2-40B4-BE49-F238E27FC236}">
                  <a16:creationId xmlns:a16="http://schemas.microsoft.com/office/drawing/2014/main" id="{2F9091FC-52DD-27DD-4BDB-96226EB161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8" y="2711"/>
              <a:ext cx="284" cy="102"/>
            </a:xfrm>
            <a:custGeom>
              <a:avLst/>
              <a:gdLst>
                <a:gd name="T0" fmla="*/ 226 w 238"/>
                <a:gd name="T1" fmla="*/ 86 h 86"/>
                <a:gd name="T2" fmla="*/ 119 w 238"/>
                <a:gd name="T3" fmla="*/ 12 h 86"/>
                <a:gd name="T4" fmla="*/ 115 w 238"/>
                <a:gd name="T5" fmla="*/ 12 h 86"/>
                <a:gd name="T6" fmla="*/ 12 w 238"/>
                <a:gd name="T7" fmla="*/ 86 h 86"/>
                <a:gd name="T8" fmla="*/ 0 w 238"/>
                <a:gd name="T9" fmla="*/ 82 h 86"/>
                <a:gd name="T10" fmla="*/ 114 w 238"/>
                <a:gd name="T11" fmla="*/ 0 h 86"/>
                <a:gd name="T12" fmla="*/ 119 w 238"/>
                <a:gd name="T13" fmla="*/ 0 h 86"/>
                <a:gd name="T14" fmla="*/ 238 w 238"/>
                <a:gd name="T15" fmla="*/ 82 h 86"/>
                <a:gd name="T16" fmla="*/ 226 w 238"/>
                <a:gd name="T17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8" h="86">
                  <a:moveTo>
                    <a:pt x="226" y="86"/>
                  </a:moveTo>
                  <a:cubicBezTo>
                    <a:pt x="210" y="42"/>
                    <a:pt x="167" y="12"/>
                    <a:pt x="119" y="12"/>
                  </a:cubicBezTo>
                  <a:cubicBezTo>
                    <a:pt x="118" y="12"/>
                    <a:pt x="116" y="12"/>
                    <a:pt x="115" y="12"/>
                  </a:cubicBezTo>
                  <a:cubicBezTo>
                    <a:pt x="67" y="14"/>
                    <a:pt x="27" y="43"/>
                    <a:pt x="12" y="86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17" y="35"/>
                    <a:pt x="62" y="2"/>
                    <a:pt x="114" y="0"/>
                  </a:cubicBezTo>
                  <a:cubicBezTo>
                    <a:pt x="116" y="0"/>
                    <a:pt x="118" y="0"/>
                    <a:pt x="119" y="0"/>
                  </a:cubicBezTo>
                  <a:cubicBezTo>
                    <a:pt x="172" y="0"/>
                    <a:pt x="220" y="33"/>
                    <a:pt x="238" y="82"/>
                  </a:cubicBezTo>
                  <a:lnTo>
                    <a:pt x="226" y="8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74" name="Freeform 147">
              <a:extLst>
                <a:ext uri="{FF2B5EF4-FFF2-40B4-BE49-F238E27FC236}">
                  <a16:creationId xmlns:a16="http://schemas.microsoft.com/office/drawing/2014/main" id="{8636619D-8D45-F663-27ED-34B092E36E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0" y="2909"/>
              <a:ext cx="280" cy="102"/>
            </a:xfrm>
            <a:custGeom>
              <a:avLst/>
              <a:gdLst>
                <a:gd name="T0" fmla="*/ 117 w 235"/>
                <a:gd name="T1" fmla="*/ 86 h 86"/>
                <a:gd name="T2" fmla="*/ 0 w 235"/>
                <a:gd name="T3" fmla="*/ 4 h 86"/>
                <a:gd name="T4" fmla="*/ 11 w 235"/>
                <a:gd name="T5" fmla="*/ 0 h 86"/>
                <a:gd name="T6" fmla="*/ 117 w 235"/>
                <a:gd name="T7" fmla="*/ 74 h 86"/>
                <a:gd name="T8" fmla="*/ 224 w 235"/>
                <a:gd name="T9" fmla="*/ 0 h 86"/>
                <a:gd name="T10" fmla="*/ 235 w 235"/>
                <a:gd name="T11" fmla="*/ 4 h 86"/>
                <a:gd name="T12" fmla="*/ 117 w 235"/>
                <a:gd name="T13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5" h="86">
                  <a:moveTo>
                    <a:pt x="117" y="86"/>
                  </a:moveTo>
                  <a:cubicBezTo>
                    <a:pt x="66" y="86"/>
                    <a:pt x="19" y="53"/>
                    <a:pt x="0" y="4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28" y="44"/>
                    <a:pt x="71" y="74"/>
                    <a:pt x="117" y="74"/>
                  </a:cubicBezTo>
                  <a:cubicBezTo>
                    <a:pt x="164" y="74"/>
                    <a:pt x="207" y="44"/>
                    <a:pt x="224" y="0"/>
                  </a:cubicBezTo>
                  <a:cubicBezTo>
                    <a:pt x="235" y="4"/>
                    <a:pt x="235" y="4"/>
                    <a:pt x="235" y="4"/>
                  </a:cubicBezTo>
                  <a:cubicBezTo>
                    <a:pt x="217" y="53"/>
                    <a:pt x="169" y="86"/>
                    <a:pt x="117" y="8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75" name="Freeform 148">
              <a:extLst>
                <a:ext uri="{FF2B5EF4-FFF2-40B4-BE49-F238E27FC236}">
                  <a16:creationId xmlns:a16="http://schemas.microsoft.com/office/drawing/2014/main" id="{07E29F44-1643-B1C6-9A44-ED07FB2E31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9" y="2910"/>
              <a:ext cx="61" cy="99"/>
            </a:xfrm>
            <a:custGeom>
              <a:avLst/>
              <a:gdLst>
                <a:gd name="T0" fmla="*/ 41 w 51"/>
                <a:gd name="T1" fmla="*/ 83 h 83"/>
                <a:gd name="T2" fmla="*/ 0 w 51"/>
                <a:gd name="T3" fmla="*/ 3 h 83"/>
                <a:gd name="T4" fmla="*/ 12 w 51"/>
                <a:gd name="T5" fmla="*/ 0 h 83"/>
                <a:gd name="T6" fmla="*/ 51 w 51"/>
                <a:gd name="T7" fmla="*/ 76 h 83"/>
                <a:gd name="T8" fmla="*/ 41 w 51"/>
                <a:gd name="T9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83">
                  <a:moveTo>
                    <a:pt x="41" y="83"/>
                  </a:moveTo>
                  <a:cubicBezTo>
                    <a:pt x="22" y="57"/>
                    <a:pt x="8" y="30"/>
                    <a:pt x="0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9" y="25"/>
                    <a:pt x="32" y="51"/>
                    <a:pt x="51" y="76"/>
                  </a:cubicBezTo>
                  <a:lnTo>
                    <a:pt x="41" y="8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76" name="Freeform 149">
              <a:extLst>
                <a:ext uri="{FF2B5EF4-FFF2-40B4-BE49-F238E27FC236}">
                  <a16:creationId xmlns:a16="http://schemas.microsoft.com/office/drawing/2014/main" id="{B3817B8C-726A-7AD7-6201-8A45159D4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7" y="2713"/>
              <a:ext cx="63" cy="100"/>
            </a:xfrm>
            <a:custGeom>
              <a:avLst/>
              <a:gdLst>
                <a:gd name="T0" fmla="*/ 11 w 53"/>
                <a:gd name="T1" fmla="*/ 84 h 84"/>
                <a:gd name="T2" fmla="*/ 0 w 53"/>
                <a:gd name="T3" fmla="*/ 81 h 84"/>
                <a:gd name="T4" fmla="*/ 44 w 53"/>
                <a:gd name="T5" fmla="*/ 0 h 84"/>
                <a:gd name="T6" fmla="*/ 53 w 53"/>
                <a:gd name="T7" fmla="*/ 8 h 84"/>
                <a:gd name="T8" fmla="*/ 11 w 53"/>
                <a:gd name="T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84">
                  <a:moveTo>
                    <a:pt x="11" y="84"/>
                  </a:moveTo>
                  <a:cubicBezTo>
                    <a:pt x="0" y="81"/>
                    <a:pt x="0" y="81"/>
                    <a:pt x="0" y="81"/>
                  </a:cubicBezTo>
                  <a:cubicBezTo>
                    <a:pt x="7" y="52"/>
                    <a:pt x="21" y="25"/>
                    <a:pt x="44" y="0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32" y="31"/>
                    <a:pt x="18" y="56"/>
                    <a:pt x="11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77" name="Freeform 150">
              <a:extLst>
                <a:ext uri="{FF2B5EF4-FFF2-40B4-BE49-F238E27FC236}">
                  <a16:creationId xmlns:a16="http://schemas.microsoft.com/office/drawing/2014/main" id="{4DDBFC61-2A72-CD10-7DBB-5F8FE11D5B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1" y="2910"/>
              <a:ext cx="61" cy="99"/>
            </a:xfrm>
            <a:custGeom>
              <a:avLst/>
              <a:gdLst>
                <a:gd name="T0" fmla="*/ 10 w 51"/>
                <a:gd name="T1" fmla="*/ 83 h 83"/>
                <a:gd name="T2" fmla="*/ 0 w 51"/>
                <a:gd name="T3" fmla="*/ 76 h 83"/>
                <a:gd name="T4" fmla="*/ 39 w 51"/>
                <a:gd name="T5" fmla="*/ 0 h 83"/>
                <a:gd name="T6" fmla="*/ 51 w 51"/>
                <a:gd name="T7" fmla="*/ 3 h 83"/>
                <a:gd name="T8" fmla="*/ 10 w 51"/>
                <a:gd name="T9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83">
                  <a:moveTo>
                    <a:pt x="10" y="83"/>
                  </a:moveTo>
                  <a:cubicBezTo>
                    <a:pt x="0" y="76"/>
                    <a:pt x="0" y="76"/>
                    <a:pt x="0" y="76"/>
                  </a:cubicBezTo>
                  <a:cubicBezTo>
                    <a:pt x="19" y="51"/>
                    <a:pt x="32" y="25"/>
                    <a:pt x="39" y="0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43" y="30"/>
                    <a:pt x="29" y="57"/>
                    <a:pt x="10" y="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78" name="Freeform 151">
              <a:extLst>
                <a:ext uri="{FF2B5EF4-FFF2-40B4-BE49-F238E27FC236}">
                  <a16:creationId xmlns:a16="http://schemas.microsoft.com/office/drawing/2014/main" id="{0A56E6D6-4719-3FD9-ED71-0F9210B84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1" y="2713"/>
              <a:ext cx="63" cy="100"/>
            </a:xfrm>
            <a:custGeom>
              <a:avLst/>
              <a:gdLst>
                <a:gd name="T0" fmla="*/ 42 w 53"/>
                <a:gd name="T1" fmla="*/ 84 h 84"/>
                <a:gd name="T2" fmla="*/ 0 w 53"/>
                <a:gd name="T3" fmla="*/ 8 h 84"/>
                <a:gd name="T4" fmla="*/ 9 w 53"/>
                <a:gd name="T5" fmla="*/ 0 h 84"/>
                <a:gd name="T6" fmla="*/ 53 w 53"/>
                <a:gd name="T7" fmla="*/ 81 h 84"/>
                <a:gd name="T8" fmla="*/ 42 w 53"/>
                <a:gd name="T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84">
                  <a:moveTo>
                    <a:pt x="42" y="84"/>
                  </a:moveTo>
                  <a:cubicBezTo>
                    <a:pt x="35" y="56"/>
                    <a:pt x="21" y="31"/>
                    <a:pt x="0" y="8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32" y="25"/>
                    <a:pt x="46" y="52"/>
                    <a:pt x="53" y="81"/>
                  </a:cubicBezTo>
                  <a:lnTo>
                    <a:pt x="42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79" name="Rectangle 152">
              <a:extLst>
                <a:ext uri="{FF2B5EF4-FFF2-40B4-BE49-F238E27FC236}">
                  <a16:creationId xmlns:a16="http://schemas.microsoft.com/office/drawing/2014/main" id="{8A8E31B2-1A55-7752-B9E8-844A4BC93C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2" y="2933"/>
              <a:ext cx="237" cy="1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80" name="Rectangle 153">
              <a:extLst>
                <a:ext uri="{FF2B5EF4-FFF2-40B4-BE49-F238E27FC236}">
                  <a16:creationId xmlns:a16="http://schemas.microsoft.com/office/drawing/2014/main" id="{5ECDE07C-C327-EAD7-E345-DB6B2B4C81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1" y="2775"/>
              <a:ext cx="237" cy="1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81" name="Freeform 154">
              <a:extLst>
                <a:ext uri="{FF2B5EF4-FFF2-40B4-BE49-F238E27FC236}">
                  <a16:creationId xmlns:a16="http://schemas.microsoft.com/office/drawing/2014/main" id="{AE723E2E-1105-FDFB-1223-2EC4FC473A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7" y="2832"/>
              <a:ext cx="33" cy="58"/>
            </a:xfrm>
            <a:custGeom>
              <a:avLst/>
              <a:gdLst>
                <a:gd name="T0" fmla="*/ 22 w 28"/>
                <a:gd name="T1" fmla="*/ 48 h 48"/>
                <a:gd name="T2" fmla="*/ 6 w 28"/>
                <a:gd name="T3" fmla="*/ 48 h 48"/>
                <a:gd name="T4" fmla="*/ 0 w 28"/>
                <a:gd name="T5" fmla="*/ 42 h 48"/>
                <a:gd name="T6" fmla="*/ 0 w 28"/>
                <a:gd name="T7" fmla="*/ 6 h 48"/>
                <a:gd name="T8" fmla="*/ 6 w 28"/>
                <a:gd name="T9" fmla="*/ 0 h 48"/>
                <a:gd name="T10" fmla="*/ 22 w 28"/>
                <a:gd name="T11" fmla="*/ 0 h 48"/>
                <a:gd name="T12" fmla="*/ 28 w 28"/>
                <a:gd name="T13" fmla="*/ 6 h 48"/>
                <a:gd name="T14" fmla="*/ 22 w 28"/>
                <a:gd name="T15" fmla="*/ 12 h 48"/>
                <a:gd name="T16" fmla="*/ 12 w 28"/>
                <a:gd name="T17" fmla="*/ 12 h 48"/>
                <a:gd name="T18" fmla="*/ 12 w 28"/>
                <a:gd name="T19" fmla="*/ 36 h 48"/>
                <a:gd name="T20" fmla="*/ 22 w 28"/>
                <a:gd name="T21" fmla="*/ 36 h 48"/>
                <a:gd name="T22" fmla="*/ 28 w 28"/>
                <a:gd name="T23" fmla="*/ 42 h 48"/>
                <a:gd name="T24" fmla="*/ 22 w 28"/>
                <a:gd name="T25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" h="48">
                  <a:moveTo>
                    <a:pt x="22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0" y="46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5" y="0"/>
                    <a:pt x="28" y="3"/>
                    <a:pt x="28" y="6"/>
                  </a:cubicBezTo>
                  <a:cubicBezTo>
                    <a:pt x="28" y="10"/>
                    <a:pt x="25" y="12"/>
                    <a:pt x="22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5" y="36"/>
                    <a:pt x="28" y="39"/>
                    <a:pt x="28" y="42"/>
                  </a:cubicBezTo>
                  <a:cubicBezTo>
                    <a:pt x="28" y="46"/>
                    <a:pt x="25" y="48"/>
                    <a:pt x="22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82" name="Freeform 155">
              <a:extLst>
                <a:ext uri="{FF2B5EF4-FFF2-40B4-BE49-F238E27FC236}">
                  <a16:creationId xmlns:a16="http://schemas.microsoft.com/office/drawing/2014/main" id="{D3228E61-F43B-C55B-01DB-53D273082E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7" y="2854"/>
              <a:ext cx="29" cy="14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1" y="0"/>
                    <a:pt x="24" y="3"/>
                    <a:pt x="24" y="6"/>
                  </a:cubicBezTo>
                  <a:cubicBezTo>
                    <a:pt x="24" y="10"/>
                    <a:pt x="21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83" name="Freeform 156">
              <a:extLst>
                <a:ext uri="{FF2B5EF4-FFF2-40B4-BE49-F238E27FC236}">
                  <a16:creationId xmlns:a16="http://schemas.microsoft.com/office/drawing/2014/main" id="{EDFC36BF-C0FD-B834-209D-F7977686CF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7" y="2832"/>
              <a:ext cx="14" cy="58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6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6"/>
                    <a:pt x="10" y="48"/>
                    <a:pt x="6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84" name="Freeform 157">
              <a:extLst>
                <a:ext uri="{FF2B5EF4-FFF2-40B4-BE49-F238E27FC236}">
                  <a16:creationId xmlns:a16="http://schemas.microsoft.com/office/drawing/2014/main" id="{8B190E6F-C68B-3A51-C2F2-782C7477AC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0" y="2832"/>
              <a:ext cx="36" cy="58"/>
            </a:xfrm>
            <a:custGeom>
              <a:avLst/>
              <a:gdLst>
                <a:gd name="T0" fmla="*/ 24 w 30"/>
                <a:gd name="T1" fmla="*/ 48 h 48"/>
                <a:gd name="T2" fmla="*/ 6 w 30"/>
                <a:gd name="T3" fmla="*/ 48 h 48"/>
                <a:gd name="T4" fmla="*/ 0 w 30"/>
                <a:gd name="T5" fmla="*/ 42 h 48"/>
                <a:gd name="T6" fmla="*/ 0 w 30"/>
                <a:gd name="T7" fmla="*/ 6 h 48"/>
                <a:gd name="T8" fmla="*/ 6 w 30"/>
                <a:gd name="T9" fmla="*/ 0 h 48"/>
                <a:gd name="T10" fmla="*/ 12 w 30"/>
                <a:gd name="T11" fmla="*/ 6 h 48"/>
                <a:gd name="T12" fmla="*/ 12 w 30"/>
                <a:gd name="T13" fmla="*/ 36 h 48"/>
                <a:gd name="T14" fmla="*/ 24 w 30"/>
                <a:gd name="T15" fmla="*/ 36 h 48"/>
                <a:gd name="T16" fmla="*/ 30 w 30"/>
                <a:gd name="T17" fmla="*/ 42 h 48"/>
                <a:gd name="T18" fmla="*/ 24 w 30"/>
                <a:gd name="T1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48">
                  <a:moveTo>
                    <a:pt x="24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0" y="46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7" y="36"/>
                    <a:pt x="30" y="39"/>
                    <a:pt x="30" y="42"/>
                  </a:cubicBezTo>
                  <a:cubicBezTo>
                    <a:pt x="30" y="46"/>
                    <a:pt x="27" y="48"/>
                    <a:pt x="24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85" name="Freeform 158">
              <a:extLst>
                <a:ext uri="{FF2B5EF4-FFF2-40B4-BE49-F238E27FC236}">
                  <a16:creationId xmlns:a16="http://schemas.microsoft.com/office/drawing/2014/main" id="{5766A9D2-6B3E-ADC7-F42C-E8BE64964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9" y="2832"/>
              <a:ext cx="40" cy="58"/>
            </a:xfrm>
            <a:custGeom>
              <a:avLst/>
              <a:gdLst>
                <a:gd name="T0" fmla="*/ 17 w 34"/>
                <a:gd name="T1" fmla="*/ 48 h 48"/>
                <a:gd name="T2" fmla="*/ 11 w 34"/>
                <a:gd name="T3" fmla="*/ 44 h 48"/>
                <a:gd name="T4" fmla="*/ 1 w 34"/>
                <a:gd name="T5" fmla="*/ 8 h 48"/>
                <a:gd name="T6" fmla="*/ 5 w 34"/>
                <a:gd name="T7" fmla="*/ 0 h 48"/>
                <a:gd name="T8" fmla="*/ 13 w 34"/>
                <a:gd name="T9" fmla="*/ 5 h 48"/>
                <a:gd name="T10" fmla="*/ 17 w 34"/>
                <a:gd name="T11" fmla="*/ 20 h 48"/>
                <a:gd name="T12" fmla="*/ 22 w 34"/>
                <a:gd name="T13" fmla="*/ 5 h 48"/>
                <a:gd name="T14" fmla="*/ 29 w 34"/>
                <a:gd name="T15" fmla="*/ 0 h 48"/>
                <a:gd name="T16" fmla="*/ 33 w 34"/>
                <a:gd name="T17" fmla="*/ 8 h 48"/>
                <a:gd name="T18" fmla="*/ 23 w 34"/>
                <a:gd name="T19" fmla="*/ 44 h 48"/>
                <a:gd name="T20" fmla="*/ 17 w 34"/>
                <a:gd name="T21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" h="48">
                  <a:moveTo>
                    <a:pt x="17" y="48"/>
                  </a:moveTo>
                  <a:cubicBezTo>
                    <a:pt x="14" y="48"/>
                    <a:pt x="12" y="46"/>
                    <a:pt x="11" y="44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0" y="5"/>
                    <a:pt x="2" y="1"/>
                    <a:pt x="5" y="0"/>
                  </a:cubicBezTo>
                  <a:cubicBezTo>
                    <a:pt x="9" y="0"/>
                    <a:pt x="12" y="1"/>
                    <a:pt x="13" y="5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"/>
                    <a:pt x="26" y="0"/>
                    <a:pt x="29" y="0"/>
                  </a:cubicBezTo>
                  <a:cubicBezTo>
                    <a:pt x="32" y="1"/>
                    <a:pt x="34" y="5"/>
                    <a:pt x="33" y="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2" y="46"/>
                    <a:pt x="20" y="48"/>
                    <a:pt x="17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86" name="Group 167">
            <a:extLst>
              <a:ext uri="{FF2B5EF4-FFF2-40B4-BE49-F238E27FC236}">
                <a16:creationId xmlns:a16="http://schemas.microsoft.com/office/drawing/2014/main" id="{4E92223F-D511-3D9E-0D24-70661B0F29B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566892" y="1762982"/>
            <a:ext cx="438257" cy="438257"/>
            <a:chOff x="2056" y="2689"/>
            <a:chExt cx="344" cy="344"/>
          </a:xfrm>
          <a:solidFill>
            <a:schemeClr val="accent1"/>
          </a:solidFill>
        </p:grpSpPr>
        <p:sp>
          <p:nvSpPr>
            <p:cNvPr id="87" name="Freeform 168">
              <a:extLst>
                <a:ext uri="{FF2B5EF4-FFF2-40B4-BE49-F238E27FC236}">
                  <a16:creationId xmlns:a16="http://schemas.microsoft.com/office/drawing/2014/main" id="{EA86DE7D-4C71-BCCC-C3B9-08ADDE6F8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0" y="2804"/>
              <a:ext cx="129" cy="14"/>
            </a:xfrm>
            <a:custGeom>
              <a:avLst/>
              <a:gdLst>
                <a:gd name="T0" fmla="*/ 102 w 108"/>
                <a:gd name="T1" fmla="*/ 12 h 12"/>
                <a:gd name="T2" fmla="*/ 6 w 108"/>
                <a:gd name="T3" fmla="*/ 12 h 12"/>
                <a:gd name="T4" fmla="*/ 0 w 108"/>
                <a:gd name="T5" fmla="*/ 6 h 12"/>
                <a:gd name="T6" fmla="*/ 6 w 108"/>
                <a:gd name="T7" fmla="*/ 0 h 12"/>
                <a:gd name="T8" fmla="*/ 102 w 108"/>
                <a:gd name="T9" fmla="*/ 0 h 12"/>
                <a:gd name="T10" fmla="*/ 108 w 108"/>
                <a:gd name="T11" fmla="*/ 6 h 12"/>
                <a:gd name="T12" fmla="*/ 102 w 10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8" h="12">
                  <a:moveTo>
                    <a:pt x="10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106" y="0"/>
                    <a:pt x="108" y="3"/>
                    <a:pt x="108" y="6"/>
                  </a:cubicBezTo>
                  <a:cubicBezTo>
                    <a:pt x="108" y="10"/>
                    <a:pt x="106" y="12"/>
                    <a:pt x="10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88" name="Freeform 169">
              <a:extLst>
                <a:ext uri="{FF2B5EF4-FFF2-40B4-BE49-F238E27FC236}">
                  <a16:creationId xmlns:a16="http://schemas.microsoft.com/office/drawing/2014/main" id="{87348992-67E2-1664-4543-4020EFD9CA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8" y="2904"/>
              <a:ext cx="129" cy="14"/>
            </a:xfrm>
            <a:custGeom>
              <a:avLst/>
              <a:gdLst>
                <a:gd name="T0" fmla="*/ 102 w 108"/>
                <a:gd name="T1" fmla="*/ 12 h 12"/>
                <a:gd name="T2" fmla="*/ 6 w 108"/>
                <a:gd name="T3" fmla="*/ 12 h 12"/>
                <a:gd name="T4" fmla="*/ 0 w 108"/>
                <a:gd name="T5" fmla="*/ 6 h 12"/>
                <a:gd name="T6" fmla="*/ 6 w 108"/>
                <a:gd name="T7" fmla="*/ 0 h 12"/>
                <a:gd name="T8" fmla="*/ 102 w 108"/>
                <a:gd name="T9" fmla="*/ 0 h 12"/>
                <a:gd name="T10" fmla="*/ 108 w 108"/>
                <a:gd name="T11" fmla="*/ 6 h 12"/>
                <a:gd name="T12" fmla="*/ 102 w 10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8" h="12">
                  <a:moveTo>
                    <a:pt x="10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106" y="0"/>
                    <a:pt x="108" y="3"/>
                    <a:pt x="108" y="6"/>
                  </a:cubicBezTo>
                  <a:cubicBezTo>
                    <a:pt x="108" y="10"/>
                    <a:pt x="106" y="12"/>
                    <a:pt x="10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89" name="Freeform 170">
              <a:extLst>
                <a:ext uri="{FF2B5EF4-FFF2-40B4-BE49-F238E27FC236}">
                  <a16:creationId xmlns:a16="http://schemas.microsoft.com/office/drawing/2014/main" id="{D9553D03-9E0F-D573-B336-EA270FB9F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1" y="2761"/>
              <a:ext cx="59" cy="100"/>
            </a:xfrm>
            <a:custGeom>
              <a:avLst/>
              <a:gdLst>
                <a:gd name="T0" fmla="*/ 6 w 49"/>
                <a:gd name="T1" fmla="*/ 84 h 84"/>
                <a:gd name="T2" fmla="*/ 2 w 49"/>
                <a:gd name="T3" fmla="*/ 82 h 84"/>
                <a:gd name="T4" fmla="*/ 2 w 49"/>
                <a:gd name="T5" fmla="*/ 74 h 84"/>
                <a:gd name="T6" fmla="*/ 34 w 49"/>
                <a:gd name="T7" fmla="*/ 42 h 84"/>
                <a:gd name="T8" fmla="*/ 2 w 49"/>
                <a:gd name="T9" fmla="*/ 10 h 84"/>
                <a:gd name="T10" fmla="*/ 2 w 49"/>
                <a:gd name="T11" fmla="*/ 2 h 84"/>
                <a:gd name="T12" fmla="*/ 11 w 49"/>
                <a:gd name="T13" fmla="*/ 2 h 84"/>
                <a:gd name="T14" fmla="*/ 47 w 49"/>
                <a:gd name="T15" fmla="*/ 38 h 84"/>
                <a:gd name="T16" fmla="*/ 47 w 49"/>
                <a:gd name="T17" fmla="*/ 46 h 84"/>
                <a:gd name="T18" fmla="*/ 11 w 49"/>
                <a:gd name="T19" fmla="*/ 82 h 84"/>
                <a:gd name="T20" fmla="*/ 6 w 49"/>
                <a:gd name="T21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" h="84">
                  <a:moveTo>
                    <a:pt x="6" y="84"/>
                  </a:moveTo>
                  <a:cubicBezTo>
                    <a:pt x="5" y="84"/>
                    <a:pt x="3" y="84"/>
                    <a:pt x="2" y="82"/>
                  </a:cubicBezTo>
                  <a:cubicBezTo>
                    <a:pt x="0" y="80"/>
                    <a:pt x="0" y="76"/>
                    <a:pt x="2" y="74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0" y="8"/>
                    <a:pt x="0" y="4"/>
                    <a:pt x="2" y="2"/>
                  </a:cubicBezTo>
                  <a:cubicBezTo>
                    <a:pt x="5" y="0"/>
                    <a:pt x="8" y="0"/>
                    <a:pt x="11" y="2"/>
                  </a:cubicBezTo>
                  <a:cubicBezTo>
                    <a:pt x="47" y="38"/>
                    <a:pt x="47" y="38"/>
                    <a:pt x="47" y="38"/>
                  </a:cubicBezTo>
                  <a:cubicBezTo>
                    <a:pt x="49" y="40"/>
                    <a:pt x="49" y="44"/>
                    <a:pt x="47" y="46"/>
                  </a:cubicBezTo>
                  <a:cubicBezTo>
                    <a:pt x="11" y="82"/>
                    <a:pt x="11" y="82"/>
                    <a:pt x="11" y="82"/>
                  </a:cubicBezTo>
                  <a:cubicBezTo>
                    <a:pt x="10" y="84"/>
                    <a:pt x="8" y="84"/>
                    <a:pt x="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90" name="Freeform 171">
              <a:extLst>
                <a:ext uri="{FF2B5EF4-FFF2-40B4-BE49-F238E27FC236}">
                  <a16:creationId xmlns:a16="http://schemas.microsoft.com/office/drawing/2014/main" id="{8A3C313F-4445-C36E-175C-EC7FCC6F8A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8" y="2861"/>
              <a:ext cx="59" cy="100"/>
            </a:xfrm>
            <a:custGeom>
              <a:avLst/>
              <a:gdLst>
                <a:gd name="T0" fmla="*/ 42 w 49"/>
                <a:gd name="T1" fmla="*/ 84 h 84"/>
                <a:gd name="T2" fmla="*/ 38 w 49"/>
                <a:gd name="T3" fmla="*/ 82 h 84"/>
                <a:gd name="T4" fmla="*/ 2 w 49"/>
                <a:gd name="T5" fmla="*/ 46 h 84"/>
                <a:gd name="T6" fmla="*/ 2 w 49"/>
                <a:gd name="T7" fmla="*/ 38 h 84"/>
                <a:gd name="T8" fmla="*/ 38 w 49"/>
                <a:gd name="T9" fmla="*/ 2 h 84"/>
                <a:gd name="T10" fmla="*/ 47 w 49"/>
                <a:gd name="T11" fmla="*/ 2 h 84"/>
                <a:gd name="T12" fmla="*/ 47 w 49"/>
                <a:gd name="T13" fmla="*/ 10 h 84"/>
                <a:gd name="T14" fmla="*/ 15 w 49"/>
                <a:gd name="T15" fmla="*/ 42 h 84"/>
                <a:gd name="T16" fmla="*/ 47 w 49"/>
                <a:gd name="T17" fmla="*/ 74 h 84"/>
                <a:gd name="T18" fmla="*/ 47 w 49"/>
                <a:gd name="T19" fmla="*/ 82 h 84"/>
                <a:gd name="T20" fmla="*/ 42 w 49"/>
                <a:gd name="T21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" h="84">
                  <a:moveTo>
                    <a:pt x="42" y="84"/>
                  </a:moveTo>
                  <a:cubicBezTo>
                    <a:pt x="41" y="84"/>
                    <a:pt x="39" y="84"/>
                    <a:pt x="38" y="82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0" y="44"/>
                    <a:pt x="0" y="40"/>
                    <a:pt x="2" y="38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41" y="0"/>
                    <a:pt x="44" y="0"/>
                    <a:pt x="47" y="2"/>
                  </a:cubicBezTo>
                  <a:cubicBezTo>
                    <a:pt x="49" y="4"/>
                    <a:pt x="49" y="8"/>
                    <a:pt x="47" y="10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47" y="74"/>
                    <a:pt x="47" y="74"/>
                    <a:pt x="47" y="74"/>
                  </a:cubicBezTo>
                  <a:cubicBezTo>
                    <a:pt x="49" y="76"/>
                    <a:pt x="49" y="80"/>
                    <a:pt x="47" y="82"/>
                  </a:cubicBezTo>
                  <a:cubicBezTo>
                    <a:pt x="46" y="84"/>
                    <a:pt x="44" y="84"/>
                    <a:pt x="4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91" name="Freeform 172">
              <a:extLst>
                <a:ext uri="{FF2B5EF4-FFF2-40B4-BE49-F238E27FC236}">
                  <a16:creationId xmlns:a16="http://schemas.microsoft.com/office/drawing/2014/main" id="{36D442AD-72DE-DA84-F106-4D74BE7413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56" y="2689"/>
              <a:ext cx="344" cy="344"/>
            </a:xfrm>
            <a:custGeom>
              <a:avLst/>
              <a:gdLst>
                <a:gd name="T0" fmla="*/ 144 w 288"/>
                <a:gd name="T1" fmla="*/ 288 h 288"/>
                <a:gd name="T2" fmla="*/ 0 w 288"/>
                <a:gd name="T3" fmla="*/ 144 h 288"/>
                <a:gd name="T4" fmla="*/ 144 w 288"/>
                <a:gd name="T5" fmla="*/ 0 h 288"/>
                <a:gd name="T6" fmla="*/ 288 w 288"/>
                <a:gd name="T7" fmla="*/ 144 h 288"/>
                <a:gd name="T8" fmla="*/ 144 w 288"/>
                <a:gd name="T9" fmla="*/ 288 h 288"/>
                <a:gd name="T10" fmla="*/ 144 w 288"/>
                <a:gd name="T11" fmla="*/ 12 h 288"/>
                <a:gd name="T12" fmla="*/ 12 w 288"/>
                <a:gd name="T13" fmla="*/ 144 h 288"/>
                <a:gd name="T14" fmla="*/ 144 w 288"/>
                <a:gd name="T15" fmla="*/ 276 h 288"/>
                <a:gd name="T16" fmla="*/ 276 w 288"/>
                <a:gd name="T17" fmla="*/ 144 h 288"/>
                <a:gd name="T18" fmla="*/ 144 w 288"/>
                <a:gd name="T19" fmla="*/ 12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8" h="288">
                  <a:moveTo>
                    <a:pt x="144" y="288"/>
                  </a:moveTo>
                  <a:cubicBezTo>
                    <a:pt x="65" y="288"/>
                    <a:pt x="0" y="224"/>
                    <a:pt x="0" y="144"/>
                  </a:cubicBezTo>
                  <a:cubicBezTo>
                    <a:pt x="0" y="65"/>
                    <a:pt x="65" y="0"/>
                    <a:pt x="144" y="0"/>
                  </a:cubicBezTo>
                  <a:cubicBezTo>
                    <a:pt x="224" y="0"/>
                    <a:pt x="288" y="65"/>
                    <a:pt x="288" y="144"/>
                  </a:cubicBezTo>
                  <a:cubicBezTo>
                    <a:pt x="288" y="224"/>
                    <a:pt x="224" y="288"/>
                    <a:pt x="144" y="288"/>
                  </a:cubicBezTo>
                  <a:close/>
                  <a:moveTo>
                    <a:pt x="144" y="12"/>
                  </a:moveTo>
                  <a:cubicBezTo>
                    <a:pt x="72" y="12"/>
                    <a:pt x="12" y="71"/>
                    <a:pt x="12" y="144"/>
                  </a:cubicBezTo>
                  <a:cubicBezTo>
                    <a:pt x="12" y="217"/>
                    <a:pt x="72" y="276"/>
                    <a:pt x="144" y="276"/>
                  </a:cubicBezTo>
                  <a:cubicBezTo>
                    <a:pt x="217" y="276"/>
                    <a:pt x="276" y="217"/>
                    <a:pt x="276" y="144"/>
                  </a:cubicBezTo>
                  <a:cubicBezTo>
                    <a:pt x="276" y="71"/>
                    <a:pt x="217" y="12"/>
                    <a:pt x="1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0A8E4B48-DB8B-682B-622B-80EE003FF5D1}"/>
              </a:ext>
            </a:extLst>
          </p:cNvPr>
          <p:cNvGrpSpPr>
            <a:grpSpLocks noChangeAspect="1"/>
          </p:cNvGrpSpPr>
          <p:nvPr/>
        </p:nvGrpSpPr>
        <p:grpSpPr>
          <a:xfrm>
            <a:off x="2609223" y="3112332"/>
            <a:ext cx="291229" cy="499685"/>
            <a:chOff x="-125413" y="1563688"/>
            <a:chExt cx="754063" cy="1293812"/>
          </a:xfrm>
          <a:solidFill>
            <a:schemeClr val="accent1"/>
          </a:solidFill>
        </p:grpSpPr>
        <p:sp>
          <p:nvSpPr>
            <p:cNvPr id="93" name="Freeform 37">
              <a:extLst>
                <a:ext uri="{FF2B5EF4-FFF2-40B4-BE49-F238E27FC236}">
                  <a16:creationId xmlns:a16="http://schemas.microsoft.com/office/drawing/2014/main" id="{89C95D43-6958-CE84-0429-637B95B9BB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25413" y="1563688"/>
              <a:ext cx="754063" cy="1293812"/>
            </a:xfrm>
            <a:custGeom>
              <a:avLst/>
              <a:gdLst>
                <a:gd name="T0" fmla="*/ 165 w 201"/>
                <a:gd name="T1" fmla="*/ 0 h 345"/>
                <a:gd name="T2" fmla="*/ 36 w 201"/>
                <a:gd name="T3" fmla="*/ 0 h 345"/>
                <a:gd name="T4" fmla="*/ 0 w 201"/>
                <a:gd name="T5" fmla="*/ 36 h 345"/>
                <a:gd name="T6" fmla="*/ 0 w 201"/>
                <a:gd name="T7" fmla="*/ 309 h 345"/>
                <a:gd name="T8" fmla="*/ 36 w 201"/>
                <a:gd name="T9" fmla="*/ 345 h 345"/>
                <a:gd name="T10" fmla="*/ 165 w 201"/>
                <a:gd name="T11" fmla="*/ 345 h 345"/>
                <a:gd name="T12" fmla="*/ 201 w 201"/>
                <a:gd name="T13" fmla="*/ 309 h 345"/>
                <a:gd name="T14" fmla="*/ 201 w 201"/>
                <a:gd name="T15" fmla="*/ 36 h 345"/>
                <a:gd name="T16" fmla="*/ 165 w 201"/>
                <a:gd name="T17" fmla="*/ 0 h 345"/>
                <a:gd name="T18" fmla="*/ 14 w 201"/>
                <a:gd name="T19" fmla="*/ 72 h 345"/>
                <a:gd name="T20" fmla="*/ 187 w 201"/>
                <a:gd name="T21" fmla="*/ 72 h 345"/>
                <a:gd name="T22" fmla="*/ 187 w 201"/>
                <a:gd name="T23" fmla="*/ 273 h 345"/>
                <a:gd name="T24" fmla="*/ 14 w 201"/>
                <a:gd name="T25" fmla="*/ 273 h 345"/>
                <a:gd name="T26" fmla="*/ 14 w 201"/>
                <a:gd name="T27" fmla="*/ 72 h 345"/>
                <a:gd name="T28" fmla="*/ 36 w 201"/>
                <a:gd name="T29" fmla="*/ 15 h 345"/>
                <a:gd name="T30" fmla="*/ 165 w 201"/>
                <a:gd name="T31" fmla="*/ 15 h 345"/>
                <a:gd name="T32" fmla="*/ 187 w 201"/>
                <a:gd name="T33" fmla="*/ 36 h 345"/>
                <a:gd name="T34" fmla="*/ 187 w 201"/>
                <a:gd name="T35" fmla="*/ 58 h 345"/>
                <a:gd name="T36" fmla="*/ 14 w 201"/>
                <a:gd name="T37" fmla="*/ 58 h 345"/>
                <a:gd name="T38" fmla="*/ 14 w 201"/>
                <a:gd name="T39" fmla="*/ 36 h 345"/>
                <a:gd name="T40" fmla="*/ 36 w 201"/>
                <a:gd name="T41" fmla="*/ 15 h 345"/>
                <a:gd name="T42" fmla="*/ 165 w 201"/>
                <a:gd name="T43" fmla="*/ 330 h 345"/>
                <a:gd name="T44" fmla="*/ 36 w 201"/>
                <a:gd name="T45" fmla="*/ 330 h 345"/>
                <a:gd name="T46" fmla="*/ 14 w 201"/>
                <a:gd name="T47" fmla="*/ 309 h 345"/>
                <a:gd name="T48" fmla="*/ 14 w 201"/>
                <a:gd name="T49" fmla="*/ 287 h 345"/>
                <a:gd name="T50" fmla="*/ 187 w 201"/>
                <a:gd name="T51" fmla="*/ 287 h 345"/>
                <a:gd name="T52" fmla="*/ 187 w 201"/>
                <a:gd name="T53" fmla="*/ 309 h 345"/>
                <a:gd name="T54" fmla="*/ 165 w 201"/>
                <a:gd name="T55" fmla="*/ 330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01" h="345">
                  <a:moveTo>
                    <a:pt x="165" y="0"/>
                  </a:moveTo>
                  <a:cubicBezTo>
                    <a:pt x="36" y="0"/>
                    <a:pt x="36" y="0"/>
                    <a:pt x="36" y="0"/>
                  </a:cubicBezTo>
                  <a:cubicBezTo>
                    <a:pt x="16" y="0"/>
                    <a:pt x="0" y="16"/>
                    <a:pt x="0" y="36"/>
                  </a:cubicBezTo>
                  <a:cubicBezTo>
                    <a:pt x="0" y="309"/>
                    <a:pt x="0" y="309"/>
                    <a:pt x="0" y="309"/>
                  </a:cubicBezTo>
                  <a:cubicBezTo>
                    <a:pt x="0" y="329"/>
                    <a:pt x="16" y="345"/>
                    <a:pt x="36" y="345"/>
                  </a:cubicBezTo>
                  <a:cubicBezTo>
                    <a:pt x="165" y="345"/>
                    <a:pt x="165" y="345"/>
                    <a:pt x="165" y="345"/>
                  </a:cubicBezTo>
                  <a:cubicBezTo>
                    <a:pt x="185" y="345"/>
                    <a:pt x="201" y="329"/>
                    <a:pt x="201" y="309"/>
                  </a:cubicBezTo>
                  <a:cubicBezTo>
                    <a:pt x="201" y="36"/>
                    <a:pt x="201" y="36"/>
                    <a:pt x="201" y="36"/>
                  </a:cubicBezTo>
                  <a:cubicBezTo>
                    <a:pt x="201" y="16"/>
                    <a:pt x="185" y="0"/>
                    <a:pt x="165" y="0"/>
                  </a:cubicBezTo>
                  <a:close/>
                  <a:moveTo>
                    <a:pt x="14" y="72"/>
                  </a:moveTo>
                  <a:cubicBezTo>
                    <a:pt x="187" y="72"/>
                    <a:pt x="187" y="72"/>
                    <a:pt x="187" y="72"/>
                  </a:cubicBezTo>
                  <a:cubicBezTo>
                    <a:pt x="187" y="273"/>
                    <a:pt x="187" y="273"/>
                    <a:pt x="187" y="273"/>
                  </a:cubicBezTo>
                  <a:cubicBezTo>
                    <a:pt x="14" y="273"/>
                    <a:pt x="14" y="273"/>
                    <a:pt x="14" y="273"/>
                  </a:cubicBezTo>
                  <a:lnTo>
                    <a:pt x="14" y="72"/>
                  </a:lnTo>
                  <a:close/>
                  <a:moveTo>
                    <a:pt x="36" y="15"/>
                  </a:moveTo>
                  <a:cubicBezTo>
                    <a:pt x="165" y="15"/>
                    <a:pt x="165" y="15"/>
                    <a:pt x="165" y="15"/>
                  </a:cubicBezTo>
                  <a:cubicBezTo>
                    <a:pt x="177" y="15"/>
                    <a:pt x="187" y="24"/>
                    <a:pt x="187" y="36"/>
                  </a:cubicBezTo>
                  <a:cubicBezTo>
                    <a:pt x="187" y="58"/>
                    <a:pt x="187" y="58"/>
                    <a:pt x="187" y="58"/>
                  </a:cubicBezTo>
                  <a:cubicBezTo>
                    <a:pt x="14" y="58"/>
                    <a:pt x="14" y="58"/>
                    <a:pt x="14" y="5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24"/>
                    <a:pt x="24" y="15"/>
                    <a:pt x="36" y="15"/>
                  </a:cubicBezTo>
                  <a:close/>
                  <a:moveTo>
                    <a:pt x="165" y="330"/>
                  </a:moveTo>
                  <a:cubicBezTo>
                    <a:pt x="36" y="330"/>
                    <a:pt x="36" y="330"/>
                    <a:pt x="36" y="330"/>
                  </a:cubicBezTo>
                  <a:cubicBezTo>
                    <a:pt x="24" y="330"/>
                    <a:pt x="14" y="321"/>
                    <a:pt x="14" y="309"/>
                  </a:cubicBezTo>
                  <a:cubicBezTo>
                    <a:pt x="14" y="287"/>
                    <a:pt x="14" y="287"/>
                    <a:pt x="14" y="287"/>
                  </a:cubicBezTo>
                  <a:cubicBezTo>
                    <a:pt x="187" y="287"/>
                    <a:pt x="187" y="287"/>
                    <a:pt x="187" y="287"/>
                  </a:cubicBezTo>
                  <a:cubicBezTo>
                    <a:pt x="187" y="309"/>
                    <a:pt x="187" y="309"/>
                    <a:pt x="187" y="309"/>
                  </a:cubicBezTo>
                  <a:cubicBezTo>
                    <a:pt x="187" y="321"/>
                    <a:pt x="177" y="330"/>
                    <a:pt x="165" y="3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38">
              <a:extLst>
                <a:ext uri="{FF2B5EF4-FFF2-40B4-BE49-F238E27FC236}">
                  <a16:creationId xmlns:a16="http://schemas.microsoft.com/office/drawing/2014/main" id="{95FCEFB4-6E6A-B61D-785D-CFD6FBC1B168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00" y="1671638"/>
              <a:ext cx="322263" cy="52387"/>
            </a:xfrm>
            <a:custGeom>
              <a:avLst/>
              <a:gdLst>
                <a:gd name="T0" fmla="*/ 8 w 86"/>
                <a:gd name="T1" fmla="*/ 14 h 14"/>
                <a:gd name="T2" fmla="*/ 79 w 86"/>
                <a:gd name="T3" fmla="*/ 14 h 14"/>
                <a:gd name="T4" fmla="*/ 86 w 86"/>
                <a:gd name="T5" fmla="*/ 7 h 14"/>
                <a:gd name="T6" fmla="*/ 79 w 86"/>
                <a:gd name="T7" fmla="*/ 0 h 14"/>
                <a:gd name="T8" fmla="*/ 8 w 86"/>
                <a:gd name="T9" fmla="*/ 0 h 14"/>
                <a:gd name="T10" fmla="*/ 0 w 86"/>
                <a:gd name="T11" fmla="*/ 7 h 14"/>
                <a:gd name="T12" fmla="*/ 8 w 86"/>
                <a:gd name="T13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6" h="14">
                  <a:moveTo>
                    <a:pt x="8" y="14"/>
                  </a:moveTo>
                  <a:cubicBezTo>
                    <a:pt x="79" y="14"/>
                    <a:pt x="79" y="14"/>
                    <a:pt x="79" y="14"/>
                  </a:cubicBezTo>
                  <a:cubicBezTo>
                    <a:pt x="83" y="14"/>
                    <a:pt x="86" y="11"/>
                    <a:pt x="86" y="7"/>
                  </a:cubicBezTo>
                  <a:cubicBezTo>
                    <a:pt x="86" y="3"/>
                    <a:pt x="83" y="0"/>
                    <a:pt x="79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3"/>
                    <a:pt x="0" y="7"/>
                  </a:cubicBezTo>
                  <a:cubicBezTo>
                    <a:pt x="0" y="11"/>
                    <a:pt x="4" y="14"/>
                    <a:pt x="8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Oval 39">
              <a:extLst>
                <a:ext uri="{FF2B5EF4-FFF2-40B4-BE49-F238E27FC236}">
                  <a16:creationId xmlns:a16="http://schemas.microsoft.com/office/drawing/2014/main" id="{79A1EEE9-BF9B-EFF7-8EBD-39DBD69122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437" y="2670175"/>
              <a:ext cx="107950" cy="1047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40">
              <a:extLst>
                <a:ext uri="{FF2B5EF4-FFF2-40B4-BE49-F238E27FC236}">
                  <a16:creationId xmlns:a16="http://schemas.microsoft.com/office/drawing/2014/main" id="{EF4BCD4D-09EC-2E04-8FDF-D0F4247030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25" y="1941513"/>
              <a:ext cx="458788" cy="374650"/>
            </a:xfrm>
            <a:custGeom>
              <a:avLst/>
              <a:gdLst>
                <a:gd name="T0" fmla="*/ 115 w 122"/>
                <a:gd name="T1" fmla="*/ 29 h 100"/>
                <a:gd name="T2" fmla="*/ 36 w 122"/>
                <a:gd name="T3" fmla="*/ 29 h 100"/>
                <a:gd name="T4" fmla="*/ 36 w 122"/>
                <a:gd name="T5" fmla="*/ 7 h 100"/>
                <a:gd name="T6" fmla="*/ 29 w 122"/>
                <a:gd name="T7" fmla="*/ 0 h 100"/>
                <a:gd name="T8" fmla="*/ 7 w 122"/>
                <a:gd name="T9" fmla="*/ 0 h 100"/>
                <a:gd name="T10" fmla="*/ 0 w 122"/>
                <a:gd name="T11" fmla="*/ 7 h 100"/>
                <a:gd name="T12" fmla="*/ 7 w 122"/>
                <a:gd name="T13" fmla="*/ 14 h 100"/>
                <a:gd name="T14" fmla="*/ 21 w 122"/>
                <a:gd name="T15" fmla="*/ 14 h 100"/>
                <a:gd name="T16" fmla="*/ 21 w 122"/>
                <a:gd name="T17" fmla="*/ 93 h 100"/>
                <a:gd name="T18" fmla="*/ 29 w 122"/>
                <a:gd name="T19" fmla="*/ 100 h 100"/>
                <a:gd name="T20" fmla="*/ 115 w 122"/>
                <a:gd name="T21" fmla="*/ 100 h 100"/>
                <a:gd name="T22" fmla="*/ 122 w 122"/>
                <a:gd name="T23" fmla="*/ 93 h 100"/>
                <a:gd name="T24" fmla="*/ 122 w 122"/>
                <a:gd name="T25" fmla="*/ 36 h 100"/>
                <a:gd name="T26" fmla="*/ 115 w 122"/>
                <a:gd name="T27" fmla="*/ 29 h 100"/>
                <a:gd name="T28" fmla="*/ 107 w 122"/>
                <a:gd name="T29" fmla="*/ 86 h 100"/>
                <a:gd name="T30" fmla="*/ 36 w 122"/>
                <a:gd name="T31" fmla="*/ 86 h 100"/>
                <a:gd name="T32" fmla="*/ 36 w 122"/>
                <a:gd name="T33" fmla="*/ 43 h 100"/>
                <a:gd name="T34" fmla="*/ 107 w 122"/>
                <a:gd name="T35" fmla="*/ 43 h 100"/>
                <a:gd name="T36" fmla="*/ 107 w 122"/>
                <a:gd name="T37" fmla="*/ 86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2" h="100">
                  <a:moveTo>
                    <a:pt x="115" y="29"/>
                  </a:moveTo>
                  <a:cubicBezTo>
                    <a:pt x="36" y="29"/>
                    <a:pt x="36" y="29"/>
                    <a:pt x="36" y="29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6" y="3"/>
                    <a:pt x="32" y="0"/>
                    <a:pt x="29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11"/>
                    <a:pt x="3" y="14"/>
                    <a:pt x="7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93"/>
                    <a:pt x="21" y="93"/>
                    <a:pt x="21" y="93"/>
                  </a:cubicBezTo>
                  <a:cubicBezTo>
                    <a:pt x="21" y="97"/>
                    <a:pt x="25" y="100"/>
                    <a:pt x="29" y="100"/>
                  </a:cubicBezTo>
                  <a:cubicBezTo>
                    <a:pt x="115" y="100"/>
                    <a:pt x="115" y="100"/>
                    <a:pt x="115" y="100"/>
                  </a:cubicBezTo>
                  <a:cubicBezTo>
                    <a:pt x="119" y="100"/>
                    <a:pt x="122" y="97"/>
                    <a:pt x="122" y="93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2" y="32"/>
                    <a:pt x="119" y="29"/>
                    <a:pt x="115" y="29"/>
                  </a:cubicBezTo>
                  <a:close/>
                  <a:moveTo>
                    <a:pt x="107" y="86"/>
                  </a:moveTo>
                  <a:cubicBezTo>
                    <a:pt x="36" y="86"/>
                    <a:pt x="36" y="86"/>
                    <a:pt x="36" y="86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107" y="43"/>
                    <a:pt x="107" y="43"/>
                    <a:pt x="107" y="43"/>
                  </a:cubicBezTo>
                  <a:lnTo>
                    <a:pt x="107" y="8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Oval 41">
              <a:extLst>
                <a:ext uri="{FF2B5EF4-FFF2-40B4-BE49-F238E27FC236}">
                  <a16:creationId xmlns:a16="http://schemas.microsoft.com/office/drawing/2014/main" id="{737D93FB-3FB8-F97A-A14E-D0C5BFFEF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062" y="2343150"/>
              <a:ext cx="104775" cy="109537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Oval 42">
              <a:extLst>
                <a:ext uri="{FF2B5EF4-FFF2-40B4-BE49-F238E27FC236}">
                  <a16:creationId xmlns:a16="http://schemas.microsoft.com/office/drawing/2014/main" id="{62E86B9C-8973-FE06-4310-09AB4F3F48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375" y="2343150"/>
              <a:ext cx="107950" cy="109537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99" name="Group 126">
            <a:extLst>
              <a:ext uri="{FF2B5EF4-FFF2-40B4-BE49-F238E27FC236}">
                <a16:creationId xmlns:a16="http://schemas.microsoft.com/office/drawing/2014/main" id="{4CD76FFF-2C32-6FA4-93D1-7A02A4D09F7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513666" y="5072417"/>
            <a:ext cx="544513" cy="431800"/>
            <a:chOff x="1252" y="2727"/>
            <a:chExt cx="343" cy="272"/>
          </a:xfrm>
          <a:solidFill>
            <a:schemeClr val="accent1"/>
          </a:solidFill>
        </p:grpSpPr>
        <p:sp>
          <p:nvSpPr>
            <p:cNvPr id="100" name="Freeform 127">
              <a:extLst>
                <a:ext uri="{FF2B5EF4-FFF2-40B4-BE49-F238E27FC236}">
                  <a16:creationId xmlns:a16="http://schemas.microsoft.com/office/drawing/2014/main" id="{746186F0-C3A9-9517-CB41-334FD20392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0" y="2927"/>
              <a:ext cx="129" cy="43"/>
            </a:xfrm>
            <a:custGeom>
              <a:avLst/>
              <a:gdLst>
                <a:gd name="T0" fmla="*/ 87 w 108"/>
                <a:gd name="T1" fmla="*/ 36 h 36"/>
                <a:gd name="T2" fmla="*/ 6 w 108"/>
                <a:gd name="T3" fmla="*/ 36 h 36"/>
                <a:gd name="T4" fmla="*/ 0 w 108"/>
                <a:gd name="T5" fmla="*/ 30 h 36"/>
                <a:gd name="T6" fmla="*/ 6 w 108"/>
                <a:gd name="T7" fmla="*/ 24 h 36"/>
                <a:gd name="T8" fmla="*/ 87 w 108"/>
                <a:gd name="T9" fmla="*/ 24 h 36"/>
                <a:gd name="T10" fmla="*/ 96 w 108"/>
                <a:gd name="T11" fmla="*/ 18 h 36"/>
                <a:gd name="T12" fmla="*/ 87 w 108"/>
                <a:gd name="T13" fmla="*/ 12 h 36"/>
                <a:gd name="T14" fmla="*/ 42 w 108"/>
                <a:gd name="T15" fmla="*/ 12 h 36"/>
                <a:gd name="T16" fmla="*/ 36 w 108"/>
                <a:gd name="T17" fmla="*/ 6 h 36"/>
                <a:gd name="T18" fmla="*/ 42 w 108"/>
                <a:gd name="T19" fmla="*/ 0 h 36"/>
                <a:gd name="T20" fmla="*/ 87 w 108"/>
                <a:gd name="T21" fmla="*/ 0 h 36"/>
                <a:gd name="T22" fmla="*/ 108 w 108"/>
                <a:gd name="T23" fmla="*/ 18 h 36"/>
                <a:gd name="T24" fmla="*/ 87 w 108"/>
                <a:gd name="T25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" h="36">
                  <a:moveTo>
                    <a:pt x="87" y="36"/>
                  </a:moveTo>
                  <a:cubicBezTo>
                    <a:pt x="6" y="36"/>
                    <a:pt x="6" y="36"/>
                    <a:pt x="6" y="36"/>
                  </a:cubicBezTo>
                  <a:cubicBezTo>
                    <a:pt x="2" y="36"/>
                    <a:pt x="0" y="33"/>
                    <a:pt x="0" y="30"/>
                  </a:cubicBezTo>
                  <a:cubicBezTo>
                    <a:pt x="0" y="26"/>
                    <a:pt x="2" y="24"/>
                    <a:pt x="6" y="24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93" y="24"/>
                    <a:pt x="96" y="21"/>
                    <a:pt x="96" y="18"/>
                  </a:cubicBezTo>
                  <a:cubicBezTo>
                    <a:pt x="96" y="15"/>
                    <a:pt x="93" y="12"/>
                    <a:pt x="87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38" y="12"/>
                    <a:pt x="36" y="9"/>
                    <a:pt x="36" y="6"/>
                  </a:cubicBezTo>
                  <a:cubicBezTo>
                    <a:pt x="36" y="2"/>
                    <a:pt x="38" y="0"/>
                    <a:pt x="42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100" y="0"/>
                    <a:pt x="108" y="9"/>
                    <a:pt x="108" y="18"/>
                  </a:cubicBezTo>
                  <a:cubicBezTo>
                    <a:pt x="108" y="27"/>
                    <a:pt x="100" y="36"/>
                    <a:pt x="87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01" name="Freeform 128">
              <a:extLst>
                <a:ext uri="{FF2B5EF4-FFF2-40B4-BE49-F238E27FC236}">
                  <a16:creationId xmlns:a16="http://schemas.microsoft.com/office/drawing/2014/main" id="{FC030745-DE91-24FF-0D25-691AA3B327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2" y="2841"/>
              <a:ext cx="272" cy="158"/>
            </a:xfrm>
            <a:custGeom>
              <a:avLst/>
              <a:gdLst>
                <a:gd name="T0" fmla="*/ 201 w 228"/>
                <a:gd name="T1" fmla="*/ 132 h 132"/>
                <a:gd name="T2" fmla="*/ 165 w 228"/>
                <a:gd name="T3" fmla="*/ 132 h 132"/>
                <a:gd name="T4" fmla="*/ 111 w 228"/>
                <a:gd name="T5" fmla="*/ 108 h 132"/>
                <a:gd name="T6" fmla="*/ 6 w 228"/>
                <a:gd name="T7" fmla="*/ 108 h 132"/>
                <a:gd name="T8" fmla="*/ 0 w 228"/>
                <a:gd name="T9" fmla="*/ 102 h 132"/>
                <a:gd name="T10" fmla="*/ 0 w 228"/>
                <a:gd name="T11" fmla="*/ 18 h 132"/>
                <a:gd name="T12" fmla="*/ 6 w 228"/>
                <a:gd name="T13" fmla="*/ 12 h 132"/>
                <a:gd name="T14" fmla="*/ 112 w 228"/>
                <a:gd name="T15" fmla="*/ 12 h 132"/>
                <a:gd name="T16" fmla="*/ 165 w 228"/>
                <a:gd name="T17" fmla="*/ 0 h 132"/>
                <a:gd name="T18" fmla="*/ 204 w 228"/>
                <a:gd name="T19" fmla="*/ 0 h 132"/>
                <a:gd name="T20" fmla="*/ 210 w 228"/>
                <a:gd name="T21" fmla="*/ 6 h 132"/>
                <a:gd name="T22" fmla="*/ 204 w 228"/>
                <a:gd name="T23" fmla="*/ 12 h 132"/>
                <a:gd name="T24" fmla="*/ 165 w 228"/>
                <a:gd name="T25" fmla="*/ 12 h 132"/>
                <a:gd name="T26" fmla="*/ 117 w 228"/>
                <a:gd name="T27" fmla="*/ 23 h 132"/>
                <a:gd name="T28" fmla="*/ 114 w 228"/>
                <a:gd name="T29" fmla="*/ 24 h 132"/>
                <a:gd name="T30" fmla="*/ 12 w 228"/>
                <a:gd name="T31" fmla="*/ 24 h 132"/>
                <a:gd name="T32" fmla="*/ 12 w 228"/>
                <a:gd name="T33" fmla="*/ 96 h 132"/>
                <a:gd name="T34" fmla="*/ 114 w 228"/>
                <a:gd name="T35" fmla="*/ 96 h 132"/>
                <a:gd name="T36" fmla="*/ 118 w 228"/>
                <a:gd name="T37" fmla="*/ 97 h 132"/>
                <a:gd name="T38" fmla="*/ 165 w 228"/>
                <a:gd name="T39" fmla="*/ 120 h 132"/>
                <a:gd name="T40" fmla="*/ 201 w 228"/>
                <a:gd name="T41" fmla="*/ 120 h 132"/>
                <a:gd name="T42" fmla="*/ 216 w 228"/>
                <a:gd name="T43" fmla="*/ 108 h 132"/>
                <a:gd name="T44" fmla="*/ 216 w 228"/>
                <a:gd name="T45" fmla="*/ 102 h 132"/>
                <a:gd name="T46" fmla="*/ 222 w 228"/>
                <a:gd name="T47" fmla="*/ 96 h 132"/>
                <a:gd name="T48" fmla="*/ 228 w 228"/>
                <a:gd name="T49" fmla="*/ 102 h 132"/>
                <a:gd name="T50" fmla="*/ 228 w 228"/>
                <a:gd name="T51" fmla="*/ 108 h 132"/>
                <a:gd name="T52" fmla="*/ 201 w 228"/>
                <a:gd name="T53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8" h="132">
                  <a:moveTo>
                    <a:pt x="201" y="132"/>
                  </a:moveTo>
                  <a:cubicBezTo>
                    <a:pt x="165" y="132"/>
                    <a:pt x="165" y="132"/>
                    <a:pt x="165" y="132"/>
                  </a:cubicBezTo>
                  <a:cubicBezTo>
                    <a:pt x="142" y="132"/>
                    <a:pt x="118" y="113"/>
                    <a:pt x="111" y="108"/>
                  </a:cubicBezTo>
                  <a:cubicBezTo>
                    <a:pt x="6" y="108"/>
                    <a:pt x="6" y="108"/>
                    <a:pt x="6" y="108"/>
                  </a:cubicBezTo>
                  <a:cubicBezTo>
                    <a:pt x="2" y="108"/>
                    <a:pt x="0" y="105"/>
                    <a:pt x="0" y="102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4"/>
                    <a:pt x="2" y="12"/>
                    <a:pt x="6" y="12"/>
                  </a:cubicBezTo>
                  <a:cubicBezTo>
                    <a:pt x="112" y="12"/>
                    <a:pt x="112" y="12"/>
                    <a:pt x="112" y="12"/>
                  </a:cubicBezTo>
                  <a:cubicBezTo>
                    <a:pt x="117" y="9"/>
                    <a:pt x="135" y="0"/>
                    <a:pt x="165" y="0"/>
                  </a:cubicBezTo>
                  <a:cubicBezTo>
                    <a:pt x="204" y="0"/>
                    <a:pt x="204" y="0"/>
                    <a:pt x="204" y="0"/>
                  </a:cubicBezTo>
                  <a:cubicBezTo>
                    <a:pt x="207" y="0"/>
                    <a:pt x="210" y="2"/>
                    <a:pt x="210" y="6"/>
                  </a:cubicBezTo>
                  <a:cubicBezTo>
                    <a:pt x="210" y="9"/>
                    <a:pt x="207" y="12"/>
                    <a:pt x="204" y="12"/>
                  </a:cubicBezTo>
                  <a:cubicBezTo>
                    <a:pt x="165" y="12"/>
                    <a:pt x="165" y="12"/>
                    <a:pt x="165" y="12"/>
                  </a:cubicBezTo>
                  <a:cubicBezTo>
                    <a:pt x="134" y="12"/>
                    <a:pt x="117" y="23"/>
                    <a:pt x="117" y="23"/>
                  </a:cubicBezTo>
                  <a:cubicBezTo>
                    <a:pt x="116" y="23"/>
                    <a:pt x="115" y="24"/>
                    <a:pt x="114" y="24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12" y="96"/>
                    <a:pt x="12" y="96"/>
                    <a:pt x="12" y="96"/>
                  </a:cubicBezTo>
                  <a:cubicBezTo>
                    <a:pt x="114" y="96"/>
                    <a:pt x="114" y="96"/>
                    <a:pt x="114" y="96"/>
                  </a:cubicBezTo>
                  <a:cubicBezTo>
                    <a:pt x="115" y="96"/>
                    <a:pt x="116" y="96"/>
                    <a:pt x="118" y="97"/>
                  </a:cubicBezTo>
                  <a:cubicBezTo>
                    <a:pt x="118" y="97"/>
                    <a:pt x="143" y="120"/>
                    <a:pt x="165" y="120"/>
                  </a:cubicBezTo>
                  <a:cubicBezTo>
                    <a:pt x="201" y="120"/>
                    <a:pt x="201" y="120"/>
                    <a:pt x="201" y="120"/>
                  </a:cubicBezTo>
                  <a:cubicBezTo>
                    <a:pt x="207" y="120"/>
                    <a:pt x="216" y="114"/>
                    <a:pt x="216" y="108"/>
                  </a:cubicBezTo>
                  <a:cubicBezTo>
                    <a:pt x="216" y="102"/>
                    <a:pt x="216" y="102"/>
                    <a:pt x="216" y="102"/>
                  </a:cubicBezTo>
                  <a:cubicBezTo>
                    <a:pt x="216" y="98"/>
                    <a:pt x="218" y="96"/>
                    <a:pt x="222" y="96"/>
                  </a:cubicBezTo>
                  <a:cubicBezTo>
                    <a:pt x="225" y="96"/>
                    <a:pt x="228" y="98"/>
                    <a:pt x="228" y="102"/>
                  </a:cubicBezTo>
                  <a:cubicBezTo>
                    <a:pt x="228" y="108"/>
                    <a:pt x="228" y="108"/>
                    <a:pt x="228" y="108"/>
                  </a:cubicBezTo>
                  <a:cubicBezTo>
                    <a:pt x="228" y="121"/>
                    <a:pt x="213" y="132"/>
                    <a:pt x="201" y="1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02" name="Freeform 129">
              <a:extLst>
                <a:ext uri="{FF2B5EF4-FFF2-40B4-BE49-F238E27FC236}">
                  <a16:creationId xmlns:a16="http://schemas.microsoft.com/office/drawing/2014/main" id="{6ABB2C19-1742-FF79-1693-585B856B22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7" y="2898"/>
              <a:ext cx="78" cy="43"/>
            </a:xfrm>
            <a:custGeom>
              <a:avLst/>
              <a:gdLst>
                <a:gd name="T0" fmla="*/ 51 w 65"/>
                <a:gd name="T1" fmla="*/ 36 h 36"/>
                <a:gd name="T2" fmla="*/ 6 w 65"/>
                <a:gd name="T3" fmla="*/ 36 h 36"/>
                <a:gd name="T4" fmla="*/ 0 w 65"/>
                <a:gd name="T5" fmla="*/ 30 h 36"/>
                <a:gd name="T6" fmla="*/ 6 w 65"/>
                <a:gd name="T7" fmla="*/ 24 h 36"/>
                <a:gd name="T8" fmla="*/ 51 w 65"/>
                <a:gd name="T9" fmla="*/ 24 h 36"/>
                <a:gd name="T10" fmla="*/ 53 w 65"/>
                <a:gd name="T11" fmla="*/ 18 h 36"/>
                <a:gd name="T12" fmla="*/ 51 w 65"/>
                <a:gd name="T13" fmla="*/ 12 h 36"/>
                <a:gd name="T14" fmla="*/ 6 w 65"/>
                <a:gd name="T15" fmla="*/ 12 h 36"/>
                <a:gd name="T16" fmla="*/ 0 w 65"/>
                <a:gd name="T17" fmla="*/ 6 h 36"/>
                <a:gd name="T18" fmla="*/ 6 w 65"/>
                <a:gd name="T19" fmla="*/ 0 h 36"/>
                <a:gd name="T20" fmla="*/ 51 w 65"/>
                <a:gd name="T21" fmla="*/ 0 h 36"/>
                <a:gd name="T22" fmla="*/ 65 w 65"/>
                <a:gd name="T23" fmla="*/ 18 h 36"/>
                <a:gd name="T24" fmla="*/ 62 w 65"/>
                <a:gd name="T25" fmla="*/ 29 h 36"/>
                <a:gd name="T26" fmla="*/ 51 w 65"/>
                <a:gd name="T27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5" h="36">
                  <a:moveTo>
                    <a:pt x="51" y="36"/>
                  </a:moveTo>
                  <a:cubicBezTo>
                    <a:pt x="6" y="36"/>
                    <a:pt x="6" y="36"/>
                    <a:pt x="6" y="36"/>
                  </a:cubicBezTo>
                  <a:cubicBezTo>
                    <a:pt x="2" y="36"/>
                    <a:pt x="0" y="33"/>
                    <a:pt x="0" y="30"/>
                  </a:cubicBezTo>
                  <a:cubicBezTo>
                    <a:pt x="0" y="26"/>
                    <a:pt x="2" y="24"/>
                    <a:pt x="6" y="24"/>
                  </a:cubicBezTo>
                  <a:cubicBezTo>
                    <a:pt x="51" y="24"/>
                    <a:pt x="51" y="24"/>
                    <a:pt x="51" y="24"/>
                  </a:cubicBezTo>
                  <a:cubicBezTo>
                    <a:pt x="52" y="24"/>
                    <a:pt x="53" y="21"/>
                    <a:pt x="53" y="18"/>
                  </a:cubicBezTo>
                  <a:cubicBezTo>
                    <a:pt x="53" y="14"/>
                    <a:pt x="52" y="12"/>
                    <a:pt x="51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9" y="0"/>
                    <a:pt x="65" y="7"/>
                    <a:pt x="65" y="18"/>
                  </a:cubicBezTo>
                  <a:cubicBezTo>
                    <a:pt x="65" y="22"/>
                    <a:pt x="64" y="26"/>
                    <a:pt x="62" y="29"/>
                  </a:cubicBezTo>
                  <a:cubicBezTo>
                    <a:pt x="59" y="33"/>
                    <a:pt x="55" y="36"/>
                    <a:pt x="51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03" name="Freeform 130">
              <a:extLst>
                <a:ext uri="{FF2B5EF4-FFF2-40B4-BE49-F238E27FC236}">
                  <a16:creationId xmlns:a16="http://schemas.microsoft.com/office/drawing/2014/main" id="{4E235A43-1057-BAAB-83AD-62EFA50E1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3" y="2870"/>
              <a:ext cx="78" cy="43"/>
            </a:xfrm>
            <a:custGeom>
              <a:avLst/>
              <a:gdLst>
                <a:gd name="T0" fmla="*/ 51 w 65"/>
                <a:gd name="T1" fmla="*/ 36 h 36"/>
                <a:gd name="T2" fmla="*/ 6 w 65"/>
                <a:gd name="T3" fmla="*/ 36 h 36"/>
                <a:gd name="T4" fmla="*/ 0 w 65"/>
                <a:gd name="T5" fmla="*/ 30 h 36"/>
                <a:gd name="T6" fmla="*/ 6 w 65"/>
                <a:gd name="T7" fmla="*/ 24 h 36"/>
                <a:gd name="T8" fmla="*/ 51 w 65"/>
                <a:gd name="T9" fmla="*/ 24 h 36"/>
                <a:gd name="T10" fmla="*/ 52 w 65"/>
                <a:gd name="T11" fmla="*/ 23 h 36"/>
                <a:gd name="T12" fmla="*/ 53 w 65"/>
                <a:gd name="T13" fmla="*/ 18 h 36"/>
                <a:gd name="T14" fmla="*/ 51 w 65"/>
                <a:gd name="T15" fmla="*/ 12 h 36"/>
                <a:gd name="T16" fmla="*/ 6 w 65"/>
                <a:gd name="T17" fmla="*/ 12 h 36"/>
                <a:gd name="T18" fmla="*/ 0 w 65"/>
                <a:gd name="T19" fmla="*/ 6 h 36"/>
                <a:gd name="T20" fmla="*/ 6 w 65"/>
                <a:gd name="T21" fmla="*/ 0 h 36"/>
                <a:gd name="T22" fmla="*/ 51 w 65"/>
                <a:gd name="T23" fmla="*/ 0 h 36"/>
                <a:gd name="T24" fmla="*/ 65 w 65"/>
                <a:gd name="T25" fmla="*/ 18 h 36"/>
                <a:gd name="T26" fmla="*/ 62 w 65"/>
                <a:gd name="T27" fmla="*/ 29 h 36"/>
                <a:gd name="T28" fmla="*/ 51 w 65"/>
                <a:gd name="T29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" h="36">
                  <a:moveTo>
                    <a:pt x="51" y="36"/>
                  </a:moveTo>
                  <a:cubicBezTo>
                    <a:pt x="6" y="36"/>
                    <a:pt x="6" y="36"/>
                    <a:pt x="6" y="36"/>
                  </a:cubicBezTo>
                  <a:cubicBezTo>
                    <a:pt x="2" y="36"/>
                    <a:pt x="0" y="33"/>
                    <a:pt x="0" y="30"/>
                  </a:cubicBezTo>
                  <a:cubicBezTo>
                    <a:pt x="0" y="26"/>
                    <a:pt x="2" y="24"/>
                    <a:pt x="6" y="24"/>
                  </a:cubicBezTo>
                  <a:cubicBezTo>
                    <a:pt x="51" y="24"/>
                    <a:pt x="51" y="24"/>
                    <a:pt x="51" y="24"/>
                  </a:cubicBezTo>
                  <a:cubicBezTo>
                    <a:pt x="51" y="24"/>
                    <a:pt x="52" y="24"/>
                    <a:pt x="52" y="23"/>
                  </a:cubicBezTo>
                  <a:cubicBezTo>
                    <a:pt x="53" y="22"/>
                    <a:pt x="53" y="20"/>
                    <a:pt x="53" y="18"/>
                  </a:cubicBezTo>
                  <a:cubicBezTo>
                    <a:pt x="53" y="15"/>
                    <a:pt x="52" y="12"/>
                    <a:pt x="51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9" y="0"/>
                    <a:pt x="65" y="7"/>
                    <a:pt x="65" y="18"/>
                  </a:cubicBezTo>
                  <a:cubicBezTo>
                    <a:pt x="65" y="22"/>
                    <a:pt x="64" y="26"/>
                    <a:pt x="62" y="29"/>
                  </a:cubicBezTo>
                  <a:cubicBezTo>
                    <a:pt x="59" y="33"/>
                    <a:pt x="55" y="36"/>
                    <a:pt x="51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04" name="Freeform 131">
              <a:extLst>
                <a:ext uri="{FF2B5EF4-FFF2-40B4-BE49-F238E27FC236}">
                  <a16:creationId xmlns:a16="http://schemas.microsoft.com/office/drawing/2014/main" id="{C7C38C8B-D9C0-D2C8-13B6-23352F251B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0" y="2841"/>
              <a:ext cx="100" cy="43"/>
            </a:xfrm>
            <a:custGeom>
              <a:avLst/>
              <a:gdLst>
                <a:gd name="T0" fmla="*/ 63 w 84"/>
                <a:gd name="T1" fmla="*/ 36 h 36"/>
                <a:gd name="T2" fmla="*/ 30 w 84"/>
                <a:gd name="T3" fmla="*/ 36 h 36"/>
                <a:gd name="T4" fmla="*/ 24 w 84"/>
                <a:gd name="T5" fmla="*/ 30 h 36"/>
                <a:gd name="T6" fmla="*/ 30 w 84"/>
                <a:gd name="T7" fmla="*/ 24 h 36"/>
                <a:gd name="T8" fmla="*/ 63 w 84"/>
                <a:gd name="T9" fmla="*/ 24 h 36"/>
                <a:gd name="T10" fmla="*/ 72 w 84"/>
                <a:gd name="T11" fmla="*/ 18 h 36"/>
                <a:gd name="T12" fmla="*/ 63 w 84"/>
                <a:gd name="T13" fmla="*/ 12 h 36"/>
                <a:gd name="T14" fmla="*/ 6 w 84"/>
                <a:gd name="T15" fmla="*/ 12 h 36"/>
                <a:gd name="T16" fmla="*/ 0 w 84"/>
                <a:gd name="T17" fmla="*/ 6 h 36"/>
                <a:gd name="T18" fmla="*/ 6 w 84"/>
                <a:gd name="T19" fmla="*/ 0 h 36"/>
                <a:gd name="T20" fmla="*/ 63 w 84"/>
                <a:gd name="T21" fmla="*/ 0 h 36"/>
                <a:gd name="T22" fmla="*/ 78 w 84"/>
                <a:gd name="T23" fmla="*/ 5 h 36"/>
                <a:gd name="T24" fmla="*/ 84 w 84"/>
                <a:gd name="T25" fmla="*/ 18 h 36"/>
                <a:gd name="T26" fmla="*/ 63 w 84"/>
                <a:gd name="T27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36">
                  <a:moveTo>
                    <a:pt x="63" y="36"/>
                  </a:moveTo>
                  <a:cubicBezTo>
                    <a:pt x="30" y="36"/>
                    <a:pt x="30" y="36"/>
                    <a:pt x="30" y="36"/>
                  </a:cubicBezTo>
                  <a:cubicBezTo>
                    <a:pt x="26" y="36"/>
                    <a:pt x="24" y="33"/>
                    <a:pt x="24" y="30"/>
                  </a:cubicBezTo>
                  <a:cubicBezTo>
                    <a:pt x="24" y="26"/>
                    <a:pt x="26" y="24"/>
                    <a:pt x="30" y="24"/>
                  </a:cubicBezTo>
                  <a:cubicBezTo>
                    <a:pt x="63" y="24"/>
                    <a:pt x="63" y="24"/>
                    <a:pt x="63" y="24"/>
                  </a:cubicBezTo>
                  <a:cubicBezTo>
                    <a:pt x="69" y="24"/>
                    <a:pt x="72" y="21"/>
                    <a:pt x="72" y="18"/>
                  </a:cubicBezTo>
                  <a:cubicBezTo>
                    <a:pt x="72" y="15"/>
                    <a:pt x="69" y="12"/>
                    <a:pt x="63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9" y="0"/>
                    <a:pt x="74" y="2"/>
                    <a:pt x="78" y="5"/>
                  </a:cubicBezTo>
                  <a:cubicBezTo>
                    <a:pt x="81" y="8"/>
                    <a:pt x="84" y="13"/>
                    <a:pt x="84" y="18"/>
                  </a:cubicBezTo>
                  <a:cubicBezTo>
                    <a:pt x="84" y="27"/>
                    <a:pt x="76" y="36"/>
                    <a:pt x="63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05" name="Freeform 132">
              <a:extLst>
                <a:ext uri="{FF2B5EF4-FFF2-40B4-BE49-F238E27FC236}">
                  <a16:creationId xmlns:a16="http://schemas.microsoft.com/office/drawing/2014/main" id="{5A373BF9-2A3F-7987-33B6-227B2CA1BA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10" y="2884"/>
              <a:ext cx="71" cy="57"/>
            </a:xfrm>
            <a:custGeom>
              <a:avLst/>
              <a:gdLst>
                <a:gd name="T0" fmla="*/ 54 w 60"/>
                <a:gd name="T1" fmla="*/ 48 h 48"/>
                <a:gd name="T2" fmla="*/ 6 w 60"/>
                <a:gd name="T3" fmla="*/ 48 h 48"/>
                <a:gd name="T4" fmla="*/ 0 w 60"/>
                <a:gd name="T5" fmla="*/ 42 h 48"/>
                <a:gd name="T6" fmla="*/ 0 w 60"/>
                <a:gd name="T7" fmla="*/ 6 h 48"/>
                <a:gd name="T8" fmla="*/ 6 w 60"/>
                <a:gd name="T9" fmla="*/ 0 h 48"/>
                <a:gd name="T10" fmla="*/ 54 w 60"/>
                <a:gd name="T11" fmla="*/ 0 h 48"/>
                <a:gd name="T12" fmla="*/ 60 w 60"/>
                <a:gd name="T13" fmla="*/ 6 h 48"/>
                <a:gd name="T14" fmla="*/ 60 w 60"/>
                <a:gd name="T15" fmla="*/ 42 h 48"/>
                <a:gd name="T16" fmla="*/ 54 w 60"/>
                <a:gd name="T17" fmla="*/ 48 h 48"/>
                <a:gd name="T18" fmla="*/ 12 w 60"/>
                <a:gd name="T19" fmla="*/ 36 h 48"/>
                <a:gd name="T20" fmla="*/ 48 w 60"/>
                <a:gd name="T21" fmla="*/ 36 h 48"/>
                <a:gd name="T22" fmla="*/ 48 w 60"/>
                <a:gd name="T23" fmla="*/ 12 h 48"/>
                <a:gd name="T24" fmla="*/ 12 w 60"/>
                <a:gd name="T25" fmla="*/ 12 h 48"/>
                <a:gd name="T26" fmla="*/ 12 w 60"/>
                <a:gd name="T27" fmla="*/ 3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0" h="48">
                  <a:moveTo>
                    <a:pt x="54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2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7" y="0"/>
                    <a:pt x="60" y="2"/>
                    <a:pt x="60" y="6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5"/>
                    <a:pt x="57" y="48"/>
                    <a:pt x="54" y="48"/>
                  </a:cubicBezTo>
                  <a:close/>
                  <a:moveTo>
                    <a:pt x="12" y="36"/>
                  </a:moveTo>
                  <a:cubicBezTo>
                    <a:pt x="48" y="36"/>
                    <a:pt x="48" y="36"/>
                    <a:pt x="48" y="36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06" name="Freeform 133">
              <a:extLst>
                <a:ext uri="{FF2B5EF4-FFF2-40B4-BE49-F238E27FC236}">
                  <a16:creationId xmlns:a16="http://schemas.microsoft.com/office/drawing/2014/main" id="{246A533D-90E5-36A5-9505-F022DE8897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3" y="2855"/>
              <a:ext cx="14" cy="43"/>
            </a:xfrm>
            <a:custGeom>
              <a:avLst/>
              <a:gdLst>
                <a:gd name="T0" fmla="*/ 6 w 12"/>
                <a:gd name="T1" fmla="*/ 36 h 36"/>
                <a:gd name="T2" fmla="*/ 0 w 12"/>
                <a:gd name="T3" fmla="*/ 30 h 36"/>
                <a:gd name="T4" fmla="*/ 0 w 12"/>
                <a:gd name="T5" fmla="*/ 6 h 36"/>
                <a:gd name="T6" fmla="*/ 6 w 12"/>
                <a:gd name="T7" fmla="*/ 0 h 36"/>
                <a:gd name="T8" fmla="*/ 12 w 12"/>
                <a:gd name="T9" fmla="*/ 6 h 36"/>
                <a:gd name="T10" fmla="*/ 12 w 12"/>
                <a:gd name="T11" fmla="*/ 30 h 36"/>
                <a:gd name="T12" fmla="*/ 6 w 12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36">
                  <a:moveTo>
                    <a:pt x="6" y="36"/>
                  </a:moveTo>
                  <a:cubicBezTo>
                    <a:pt x="2" y="36"/>
                    <a:pt x="0" y="33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2" y="33"/>
                    <a:pt x="9" y="36"/>
                    <a:pt x="6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07" name="Freeform 134">
              <a:extLst>
                <a:ext uri="{FF2B5EF4-FFF2-40B4-BE49-F238E27FC236}">
                  <a16:creationId xmlns:a16="http://schemas.microsoft.com/office/drawing/2014/main" id="{D19DE769-CD2A-68EE-0BA3-E54FB88EEF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3" y="2927"/>
              <a:ext cx="14" cy="43"/>
            </a:xfrm>
            <a:custGeom>
              <a:avLst/>
              <a:gdLst>
                <a:gd name="T0" fmla="*/ 6 w 12"/>
                <a:gd name="T1" fmla="*/ 36 h 36"/>
                <a:gd name="T2" fmla="*/ 0 w 12"/>
                <a:gd name="T3" fmla="*/ 30 h 36"/>
                <a:gd name="T4" fmla="*/ 0 w 12"/>
                <a:gd name="T5" fmla="*/ 6 h 36"/>
                <a:gd name="T6" fmla="*/ 6 w 12"/>
                <a:gd name="T7" fmla="*/ 0 h 36"/>
                <a:gd name="T8" fmla="*/ 12 w 12"/>
                <a:gd name="T9" fmla="*/ 6 h 36"/>
                <a:gd name="T10" fmla="*/ 12 w 12"/>
                <a:gd name="T11" fmla="*/ 30 h 36"/>
                <a:gd name="T12" fmla="*/ 6 w 12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36">
                  <a:moveTo>
                    <a:pt x="6" y="36"/>
                  </a:moveTo>
                  <a:cubicBezTo>
                    <a:pt x="2" y="36"/>
                    <a:pt x="0" y="33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2" y="33"/>
                    <a:pt x="9" y="36"/>
                    <a:pt x="6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08" name="Freeform 135">
              <a:extLst>
                <a:ext uri="{FF2B5EF4-FFF2-40B4-BE49-F238E27FC236}">
                  <a16:creationId xmlns:a16="http://schemas.microsoft.com/office/drawing/2014/main" id="{5D359C33-6A9F-193D-3F8B-56F819795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4" y="2855"/>
              <a:ext cx="14" cy="43"/>
            </a:xfrm>
            <a:custGeom>
              <a:avLst/>
              <a:gdLst>
                <a:gd name="T0" fmla="*/ 6 w 12"/>
                <a:gd name="T1" fmla="*/ 36 h 36"/>
                <a:gd name="T2" fmla="*/ 0 w 12"/>
                <a:gd name="T3" fmla="*/ 30 h 36"/>
                <a:gd name="T4" fmla="*/ 0 w 12"/>
                <a:gd name="T5" fmla="*/ 6 h 36"/>
                <a:gd name="T6" fmla="*/ 6 w 12"/>
                <a:gd name="T7" fmla="*/ 0 h 36"/>
                <a:gd name="T8" fmla="*/ 12 w 12"/>
                <a:gd name="T9" fmla="*/ 6 h 36"/>
                <a:gd name="T10" fmla="*/ 12 w 12"/>
                <a:gd name="T11" fmla="*/ 30 h 36"/>
                <a:gd name="T12" fmla="*/ 6 w 12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36">
                  <a:moveTo>
                    <a:pt x="6" y="36"/>
                  </a:moveTo>
                  <a:cubicBezTo>
                    <a:pt x="2" y="36"/>
                    <a:pt x="0" y="33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2" y="33"/>
                    <a:pt x="9" y="36"/>
                    <a:pt x="6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09" name="Freeform 136">
              <a:extLst>
                <a:ext uri="{FF2B5EF4-FFF2-40B4-BE49-F238E27FC236}">
                  <a16:creationId xmlns:a16="http://schemas.microsoft.com/office/drawing/2014/main" id="{D57FA724-11DE-954B-E823-B52DEA7C8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4" y="2927"/>
              <a:ext cx="14" cy="43"/>
            </a:xfrm>
            <a:custGeom>
              <a:avLst/>
              <a:gdLst>
                <a:gd name="T0" fmla="*/ 6 w 12"/>
                <a:gd name="T1" fmla="*/ 36 h 36"/>
                <a:gd name="T2" fmla="*/ 0 w 12"/>
                <a:gd name="T3" fmla="*/ 30 h 36"/>
                <a:gd name="T4" fmla="*/ 0 w 12"/>
                <a:gd name="T5" fmla="*/ 6 h 36"/>
                <a:gd name="T6" fmla="*/ 6 w 12"/>
                <a:gd name="T7" fmla="*/ 0 h 36"/>
                <a:gd name="T8" fmla="*/ 12 w 12"/>
                <a:gd name="T9" fmla="*/ 6 h 36"/>
                <a:gd name="T10" fmla="*/ 12 w 12"/>
                <a:gd name="T11" fmla="*/ 30 h 36"/>
                <a:gd name="T12" fmla="*/ 6 w 12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36">
                  <a:moveTo>
                    <a:pt x="6" y="36"/>
                  </a:moveTo>
                  <a:cubicBezTo>
                    <a:pt x="2" y="36"/>
                    <a:pt x="0" y="33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2" y="33"/>
                    <a:pt x="9" y="36"/>
                    <a:pt x="6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10" name="Freeform 137">
              <a:extLst>
                <a:ext uri="{FF2B5EF4-FFF2-40B4-BE49-F238E27FC236}">
                  <a16:creationId xmlns:a16="http://schemas.microsoft.com/office/drawing/2014/main" id="{7BCF8C68-1AAB-9096-277A-AA07B669E4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6" y="2727"/>
              <a:ext cx="152" cy="36"/>
            </a:xfrm>
            <a:custGeom>
              <a:avLst/>
              <a:gdLst>
                <a:gd name="T0" fmla="*/ 120 w 127"/>
                <a:gd name="T1" fmla="*/ 29 h 30"/>
                <a:gd name="T2" fmla="*/ 117 w 127"/>
                <a:gd name="T3" fmla="*/ 28 h 30"/>
                <a:gd name="T4" fmla="*/ 64 w 127"/>
                <a:gd name="T5" fmla="*/ 12 h 30"/>
                <a:gd name="T6" fmla="*/ 10 w 127"/>
                <a:gd name="T7" fmla="*/ 28 h 30"/>
                <a:gd name="T8" fmla="*/ 2 w 127"/>
                <a:gd name="T9" fmla="*/ 27 h 30"/>
                <a:gd name="T10" fmla="*/ 4 w 127"/>
                <a:gd name="T11" fmla="*/ 18 h 30"/>
                <a:gd name="T12" fmla="*/ 64 w 127"/>
                <a:gd name="T13" fmla="*/ 0 h 30"/>
                <a:gd name="T14" fmla="*/ 123 w 127"/>
                <a:gd name="T15" fmla="*/ 18 h 30"/>
                <a:gd name="T16" fmla="*/ 125 w 127"/>
                <a:gd name="T17" fmla="*/ 27 h 30"/>
                <a:gd name="T18" fmla="*/ 120 w 127"/>
                <a:gd name="T19" fmla="*/ 2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7" h="30">
                  <a:moveTo>
                    <a:pt x="120" y="29"/>
                  </a:moveTo>
                  <a:cubicBezTo>
                    <a:pt x="119" y="29"/>
                    <a:pt x="118" y="29"/>
                    <a:pt x="117" y="28"/>
                  </a:cubicBezTo>
                  <a:cubicBezTo>
                    <a:pt x="101" y="18"/>
                    <a:pt x="83" y="12"/>
                    <a:pt x="64" y="12"/>
                  </a:cubicBezTo>
                  <a:cubicBezTo>
                    <a:pt x="45" y="12"/>
                    <a:pt x="26" y="18"/>
                    <a:pt x="10" y="28"/>
                  </a:cubicBezTo>
                  <a:cubicBezTo>
                    <a:pt x="8" y="30"/>
                    <a:pt x="4" y="29"/>
                    <a:pt x="2" y="27"/>
                  </a:cubicBezTo>
                  <a:cubicBezTo>
                    <a:pt x="0" y="24"/>
                    <a:pt x="1" y="20"/>
                    <a:pt x="4" y="18"/>
                  </a:cubicBezTo>
                  <a:cubicBezTo>
                    <a:pt x="21" y="6"/>
                    <a:pt x="42" y="0"/>
                    <a:pt x="64" y="0"/>
                  </a:cubicBezTo>
                  <a:cubicBezTo>
                    <a:pt x="85" y="0"/>
                    <a:pt x="106" y="6"/>
                    <a:pt x="123" y="18"/>
                  </a:cubicBezTo>
                  <a:cubicBezTo>
                    <a:pt x="126" y="20"/>
                    <a:pt x="127" y="24"/>
                    <a:pt x="125" y="27"/>
                  </a:cubicBezTo>
                  <a:cubicBezTo>
                    <a:pt x="124" y="28"/>
                    <a:pt x="122" y="29"/>
                    <a:pt x="120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11" name="Freeform 138">
              <a:extLst>
                <a:ext uri="{FF2B5EF4-FFF2-40B4-BE49-F238E27FC236}">
                  <a16:creationId xmlns:a16="http://schemas.microsoft.com/office/drawing/2014/main" id="{58A175E1-4C39-46ED-66D3-A20491305A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" y="2756"/>
              <a:ext cx="120" cy="31"/>
            </a:xfrm>
            <a:custGeom>
              <a:avLst/>
              <a:gdLst>
                <a:gd name="T0" fmla="*/ 94 w 101"/>
                <a:gd name="T1" fmla="*/ 25 h 26"/>
                <a:gd name="T2" fmla="*/ 90 w 101"/>
                <a:gd name="T3" fmla="*/ 24 h 26"/>
                <a:gd name="T4" fmla="*/ 51 w 101"/>
                <a:gd name="T5" fmla="*/ 12 h 26"/>
                <a:gd name="T6" fmla="*/ 11 w 101"/>
                <a:gd name="T7" fmla="*/ 24 h 26"/>
                <a:gd name="T8" fmla="*/ 2 w 101"/>
                <a:gd name="T9" fmla="*/ 23 h 26"/>
                <a:gd name="T10" fmla="*/ 4 w 101"/>
                <a:gd name="T11" fmla="*/ 14 h 26"/>
                <a:gd name="T12" fmla="*/ 51 w 101"/>
                <a:gd name="T13" fmla="*/ 0 h 26"/>
                <a:gd name="T14" fmla="*/ 97 w 101"/>
                <a:gd name="T15" fmla="*/ 14 h 26"/>
                <a:gd name="T16" fmla="*/ 99 w 101"/>
                <a:gd name="T17" fmla="*/ 23 h 26"/>
                <a:gd name="T18" fmla="*/ 94 w 101"/>
                <a:gd name="T19" fmla="*/ 25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1" h="26">
                  <a:moveTo>
                    <a:pt x="94" y="25"/>
                  </a:moveTo>
                  <a:cubicBezTo>
                    <a:pt x="93" y="25"/>
                    <a:pt x="92" y="25"/>
                    <a:pt x="90" y="24"/>
                  </a:cubicBezTo>
                  <a:cubicBezTo>
                    <a:pt x="79" y="16"/>
                    <a:pt x="65" y="12"/>
                    <a:pt x="51" y="12"/>
                  </a:cubicBezTo>
                  <a:cubicBezTo>
                    <a:pt x="36" y="12"/>
                    <a:pt x="22" y="16"/>
                    <a:pt x="11" y="24"/>
                  </a:cubicBezTo>
                  <a:cubicBezTo>
                    <a:pt x="8" y="26"/>
                    <a:pt x="4" y="25"/>
                    <a:pt x="2" y="23"/>
                  </a:cubicBezTo>
                  <a:cubicBezTo>
                    <a:pt x="0" y="20"/>
                    <a:pt x="1" y="16"/>
                    <a:pt x="4" y="14"/>
                  </a:cubicBezTo>
                  <a:cubicBezTo>
                    <a:pt x="18" y="5"/>
                    <a:pt x="34" y="0"/>
                    <a:pt x="51" y="0"/>
                  </a:cubicBezTo>
                  <a:cubicBezTo>
                    <a:pt x="67" y="0"/>
                    <a:pt x="83" y="5"/>
                    <a:pt x="97" y="14"/>
                  </a:cubicBezTo>
                  <a:cubicBezTo>
                    <a:pt x="100" y="16"/>
                    <a:pt x="101" y="20"/>
                    <a:pt x="99" y="23"/>
                  </a:cubicBezTo>
                  <a:cubicBezTo>
                    <a:pt x="98" y="24"/>
                    <a:pt x="96" y="25"/>
                    <a:pt x="94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12" name="Freeform 139">
              <a:extLst>
                <a:ext uri="{FF2B5EF4-FFF2-40B4-BE49-F238E27FC236}">
                  <a16:creationId xmlns:a16="http://schemas.microsoft.com/office/drawing/2014/main" id="{802EE55B-A438-BBC0-EB49-CCF1F3BF65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8" y="2785"/>
              <a:ext cx="88" cy="26"/>
            </a:xfrm>
            <a:custGeom>
              <a:avLst/>
              <a:gdLst>
                <a:gd name="T0" fmla="*/ 67 w 73"/>
                <a:gd name="T1" fmla="*/ 21 h 22"/>
                <a:gd name="T2" fmla="*/ 63 w 73"/>
                <a:gd name="T3" fmla="*/ 20 h 22"/>
                <a:gd name="T4" fmla="*/ 37 w 73"/>
                <a:gd name="T5" fmla="*/ 12 h 22"/>
                <a:gd name="T6" fmla="*/ 10 w 73"/>
                <a:gd name="T7" fmla="*/ 20 h 22"/>
                <a:gd name="T8" fmla="*/ 2 w 73"/>
                <a:gd name="T9" fmla="*/ 19 h 22"/>
                <a:gd name="T10" fmla="*/ 3 w 73"/>
                <a:gd name="T11" fmla="*/ 10 h 22"/>
                <a:gd name="T12" fmla="*/ 37 w 73"/>
                <a:gd name="T13" fmla="*/ 0 h 22"/>
                <a:gd name="T14" fmla="*/ 70 w 73"/>
                <a:gd name="T15" fmla="*/ 10 h 22"/>
                <a:gd name="T16" fmla="*/ 72 w 73"/>
                <a:gd name="T17" fmla="*/ 19 h 22"/>
                <a:gd name="T18" fmla="*/ 67 w 73"/>
                <a:gd name="T19" fmla="*/ 2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3" h="22">
                  <a:moveTo>
                    <a:pt x="67" y="21"/>
                  </a:moveTo>
                  <a:cubicBezTo>
                    <a:pt x="65" y="21"/>
                    <a:pt x="64" y="21"/>
                    <a:pt x="63" y="20"/>
                  </a:cubicBezTo>
                  <a:cubicBezTo>
                    <a:pt x="55" y="15"/>
                    <a:pt x="46" y="12"/>
                    <a:pt x="37" y="12"/>
                  </a:cubicBezTo>
                  <a:cubicBezTo>
                    <a:pt x="27" y="12"/>
                    <a:pt x="18" y="15"/>
                    <a:pt x="10" y="20"/>
                  </a:cubicBezTo>
                  <a:cubicBezTo>
                    <a:pt x="7" y="22"/>
                    <a:pt x="3" y="21"/>
                    <a:pt x="2" y="19"/>
                  </a:cubicBezTo>
                  <a:cubicBezTo>
                    <a:pt x="0" y="16"/>
                    <a:pt x="1" y="12"/>
                    <a:pt x="3" y="10"/>
                  </a:cubicBezTo>
                  <a:cubicBezTo>
                    <a:pt x="13" y="4"/>
                    <a:pt x="25" y="0"/>
                    <a:pt x="37" y="0"/>
                  </a:cubicBezTo>
                  <a:cubicBezTo>
                    <a:pt x="48" y="0"/>
                    <a:pt x="60" y="4"/>
                    <a:pt x="70" y="10"/>
                  </a:cubicBezTo>
                  <a:cubicBezTo>
                    <a:pt x="73" y="12"/>
                    <a:pt x="73" y="16"/>
                    <a:pt x="72" y="19"/>
                  </a:cubicBezTo>
                  <a:cubicBezTo>
                    <a:pt x="70" y="20"/>
                    <a:pt x="68" y="21"/>
                    <a:pt x="67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113" name="Group 28">
            <a:extLst>
              <a:ext uri="{FF2B5EF4-FFF2-40B4-BE49-F238E27FC236}">
                <a16:creationId xmlns:a16="http://schemas.microsoft.com/office/drawing/2014/main" id="{9246EE01-5596-11DF-271C-4AC5F840393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188901" y="1786215"/>
            <a:ext cx="546100" cy="295275"/>
            <a:chOff x="2100" y="775"/>
            <a:chExt cx="344" cy="186"/>
          </a:xfrm>
          <a:solidFill>
            <a:schemeClr val="accent1"/>
          </a:solidFill>
        </p:grpSpPr>
        <p:sp>
          <p:nvSpPr>
            <p:cNvPr id="114" name="Freeform 29">
              <a:extLst>
                <a:ext uri="{FF2B5EF4-FFF2-40B4-BE49-F238E27FC236}">
                  <a16:creationId xmlns:a16="http://schemas.microsoft.com/office/drawing/2014/main" id="{CCF1E1ED-46D5-8E74-BEA9-E3C80933FB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00" y="775"/>
              <a:ext cx="344" cy="186"/>
            </a:xfrm>
            <a:custGeom>
              <a:avLst/>
              <a:gdLst>
                <a:gd name="T0" fmla="*/ 258 w 288"/>
                <a:gd name="T1" fmla="*/ 156 h 156"/>
                <a:gd name="T2" fmla="*/ 30 w 288"/>
                <a:gd name="T3" fmla="*/ 156 h 156"/>
                <a:gd name="T4" fmla="*/ 0 w 288"/>
                <a:gd name="T5" fmla="*/ 126 h 156"/>
                <a:gd name="T6" fmla="*/ 0 w 288"/>
                <a:gd name="T7" fmla="*/ 30 h 156"/>
                <a:gd name="T8" fmla="*/ 30 w 288"/>
                <a:gd name="T9" fmla="*/ 0 h 156"/>
                <a:gd name="T10" fmla="*/ 258 w 288"/>
                <a:gd name="T11" fmla="*/ 0 h 156"/>
                <a:gd name="T12" fmla="*/ 288 w 288"/>
                <a:gd name="T13" fmla="*/ 30 h 156"/>
                <a:gd name="T14" fmla="*/ 288 w 288"/>
                <a:gd name="T15" fmla="*/ 126 h 156"/>
                <a:gd name="T16" fmla="*/ 258 w 288"/>
                <a:gd name="T17" fmla="*/ 156 h 156"/>
                <a:gd name="T18" fmla="*/ 30 w 288"/>
                <a:gd name="T19" fmla="*/ 12 h 156"/>
                <a:gd name="T20" fmla="*/ 12 w 288"/>
                <a:gd name="T21" fmla="*/ 30 h 156"/>
                <a:gd name="T22" fmla="*/ 12 w 288"/>
                <a:gd name="T23" fmla="*/ 126 h 156"/>
                <a:gd name="T24" fmla="*/ 30 w 288"/>
                <a:gd name="T25" fmla="*/ 144 h 156"/>
                <a:gd name="T26" fmla="*/ 258 w 288"/>
                <a:gd name="T27" fmla="*/ 144 h 156"/>
                <a:gd name="T28" fmla="*/ 276 w 288"/>
                <a:gd name="T29" fmla="*/ 126 h 156"/>
                <a:gd name="T30" fmla="*/ 276 w 288"/>
                <a:gd name="T31" fmla="*/ 30 h 156"/>
                <a:gd name="T32" fmla="*/ 258 w 288"/>
                <a:gd name="T33" fmla="*/ 12 h 156"/>
                <a:gd name="T34" fmla="*/ 30 w 288"/>
                <a:gd name="T35" fmla="*/ 12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8" h="156">
                  <a:moveTo>
                    <a:pt x="258" y="156"/>
                  </a:moveTo>
                  <a:cubicBezTo>
                    <a:pt x="30" y="156"/>
                    <a:pt x="30" y="156"/>
                    <a:pt x="30" y="156"/>
                  </a:cubicBezTo>
                  <a:cubicBezTo>
                    <a:pt x="13" y="156"/>
                    <a:pt x="0" y="143"/>
                    <a:pt x="0" y="126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14"/>
                    <a:pt x="13" y="0"/>
                    <a:pt x="30" y="0"/>
                  </a:cubicBezTo>
                  <a:cubicBezTo>
                    <a:pt x="258" y="0"/>
                    <a:pt x="258" y="0"/>
                    <a:pt x="258" y="0"/>
                  </a:cubicBezTo>
                  <a:cubicBezTo>
                    <a:pt x="274" y="0"/>
                    <a:pt x="288" y="14"/>
                    <a:pt x="288" y="30"/>
                  </a:cubicBezTo>
                  <a:cubicBezTo>
                    <a:pt x="288" y="126"/>
                    <a:pt x="288" y="126"/>
                    <a:pt x="288" y="126"/>
                  </a:cubicBezTo>
                  <a:cubicBezTo>
                    <a:pt x="288" y="143"/>
                    <a:pt x="274" y="156"/>
                    <a:pt x="258" y="156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126"/>
                    <a:pt x="12" y="126"/>
                    <a:pt x="12" y="126"/>
                  </a:cubicBezTo>
                  <a:cubicBezTo>
                    <a:pt x="12" y="136"/>
                    <a:pt x="20" y="144"/>
                    <a:pt x="30" y="144"/>
                  </a:cubicBezTo>
                  <a:cubicBezTo>
                    <a:pt x="258" y="144"/>
                    <a:pt x="258" y="144"/>
                    <a:pt x="258" y="144"/>
                  </a:cubicBezTo>
                  <a:cubicBezTo>
                    <a:pt x="268" y="144"/>
                    <a:pt x="276" y="136"/>
                    <a:pt x="276" y="126"/>
                  </a:cubicBezTo>
                  <a:cubicBezTo>
                    <a:pt x="276" y="30"/>
                    <a:pt x="276" y="30"/>
                    <a:pt x="276" y="30"/>
                  </a:cubicBezTo>
                  <a:cubicBezTo>
                    <a:pt x="276" y="20"/>
                    <a:pt x="268" y="12"/>
                    <a:pt x="258" y="12"/>
                  </a:cubicBezTo>
                  <a:lnTo>
                    <a:pt x="3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15" name="Freeform 30">
              <a:extLst>
                <a:ext uri="{FF2B5EF4-FFF2-40B4-BE49-F238E27FC236}">
                  <a16:creationId xmlns:a16="http://schemas.microsoft.com/office/drawing/2014/main" id="{A761234C-8BA5-AEE0-E40B-104B9724B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2" y="832"/>
              <a:ext cx="50" cy="72"/>
            </a:xfrm>
            <a:custGeom>
              <a:avLst/>
              <a:gdLst>
                <a:gd name="T0" fmla="*/ 36 w 42"/>
                <a:gd name="T1" fmla="*/ 60 h 60"/>
                <a:gd name="T2" fmla="*/ 6 w 42"/>
                <a:gd name="T3" fmla="*/ 60 h 60"/>
                <a:gd name="T4" fmla="*/ 0 w 42"/>
                <a:gd name="T5" fmla="*/ 54 h 60"/>
                <a:gd name="T6" fmla="*/ 0 w 42"/>
                <a:gd name="T7" fmla="*/ 6 h 60"/>
                <a:gd name="T8" fmla="*/ 6 w 42"/>
                <a:gd name="T9" fmla="*/ 0 h 60"/>
                <a:gd name="T10" fmla="*/ 36 w 42"/>
                <a:gd name="T11" fmla="*/ 0 h 60"/>
                <a:gd name="T12" fmla="*/ 42 w 42"/>
                <a:gd name="T13" fmla="*/ 6 h 60"/>
                <a:gd name="T14" fmla="*/ 36 w 42"/>
                <a:gd name="T15" fmla="*/ 12 h 60"/>
                <a:gd name="T16" fmla="*/ 12 w 42"/>
                <a:gd name="T17" fmla="*/ 12 h 60"/>
                <a:gd name="T18" fmla="*/ 12 w 42"/>
                <a:gd name="T19" fmla="*/ 48 h 60"/>
                <a:gd name="T20" fmla="*/ 36 w 42"/>
                <a:gd name="T21" fmla="*/ 48 h 60"/>
                <a:gd name="T22" fmla="*/ 42 w 42"/>
                <a:gd name="T23" fmla="*/ 54 h 60"/>
                <a:gd name="T24" fmla="*/ 36 w 42"/>
                <a:gd name="T25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2" h="60">
                  <a:moveTo>
                    <a:pt x="36" y="60"/>
                  </a:moveTo>
                  <a:cubicBezTo>
                    <a:pt x="6" y="60"/>
                    <a:pt x="6" y="60"/>
                    <a:pt x="6" y="60"/>
                  </a:cubicBezTo>
                  <a:cubicBezTo>
                    <a:pt x="2" y="60"/>
                    <a:pt x="0" y="58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9" y="0"/>
                    <a:pt x="42" y="3"/>
                    <a:pt x="42" y="6"/>
                  </a:cubicBezTo>
                  <a:cubicBezTo>
                    <a:pt x="42" y="10"/>
                    <a:pt x="39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36" y="48"/>
                    <a:pt x="36" y="48"/>
                    <a:pt x="36" y="48"/>
                  </a:cubicBezTo>
                  <a:cubicBezTo>
                    <a:pt x="39" y="48"/>
                    <a:pt x="42" y="51"/>
                    <a:pt x="42" y="54"/>
                  </a:cubicBezTo>
                  <a:cubicBezTo>
                    <a:pt x="42" y="58"/>
                    <a:pt x="39" y="60"/>
                    <a:pt x="36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16" name="Freeform 31">
              <a:extLst>
                <a:ext uri="{FF2B5EF4-FFF2-40B4-BE49-F238E27FC236}">
                  <a16:creationId xmlns:a16="http://schemas.microsoft.com/office/drawing/2014/main" id="{4564A62D-60D7-B5AA-2953-F23B9C077F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2" y="861"/>
              <a:ext cx="50" cy="14"/>
            </a:xfrm>
            <a:custGeom>
              <a:avLst/>
              <a:gdLst>
                <a:gd name="T0" fmla="*/ 36 w 42"/>
                <a:gd name="T1" fmla="*/ 12 h 12"/>
                <a:gd name="T2" fmla="*/ 6 w 42"/>
                <a:gd name="T3" fmla="*/ 12 h 12"/>
                <a:gd name="T4" fmla="*/ 0 w 42"/>
                <a:gd name="T5" fmla="*/ 6 h 12"/>
                <a:gd name="T6" fmla="*/ 6 w 42"/>
                <a:gd name="T7" fmla="*/ 0 h 12"/>
                <a:gd name="T8" fmla="*/ 36 w 42"/>
                <a:gd name="T9" fmla="*/ 0 h 12"/>
                <a:gd name="T10" fmla="*/ 42 w 42"/>
                <a:gd name="T11" fmla="*/ 6 h 12"/>
                <a:gd name="T12" fmla="*/ 36 w 42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" h="12">
                  <a:moveTo>
                    <a:pt x="3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10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9" y="0"/>
                    <a:pt x="42" y="3"/>
                    <a:pt x="42" y="6"/>
                  </a:cubicBezTo>
                  <a:cubicBezTo>
                    <a:pt x="42" y="10"/>
                    <a:pt x="3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17" name="Freeform 32">
              <a:extLst>
                <a:ext uri="{FF2B5EF4-FFF2-40B4-BE49-F238E27FC236}">
                  <a16:creationId xmlns:a16="http://schemas.microsoft.com/office/drawing/2014/main" id="{32C953D3-636E-532D-BAC7-1E66CA6BA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8" y="831"/>
              <a:ext cx="60" cy="73"/>
            </a:xfrm>
            <a:custGeom>
              <a:avLst/>
              <a:gdLst>
                <a:gd name="T0" fmla="*/ 43 w 50"/>
                <a:gd name="T1" fmla="*/ 61 h 61"/>
                <a:gd name="T2" fmla="*/ 38 w 50"/>
                <a:gd name="T3" fmla="*/ 59 h 61"/>
                <a:gd name="T4" fmla="*/ 2 w 50"/>
                <a:gd name="T5" fmla="*/ 11 h 61"/>
                <a:gd name="T6" fmla="*/ 4 w 50"/>
                <a:gd name="T7" fmla="*/ 2 h 61"/>
                <a:gd name="T8" fmla="*/ 12 w 50"/>
                <a:gd name="T9" fmla="*/ 4 h 61"/>
                <a:gd name="T10" fmla="*/ 48 w 50"/>
                <a:gd name="T11" fmla="*/ 52 h 61"/>
                <a:gd name="T12" fmla="*/ 46 w 50"/>
                <a:gd name="T13" fmla="*/ 60 h 61"/>
                <a:gd name="T14" fmla="*/ 43 w 50"/>
                <a:gd name="T1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" h="61">
                  <a:moveTo>
                    <a:pt x="43" y="61"/>
                  </a:moveTo>
                  <a:cubicBezTo>
                    <a:pt x="41" y="61"/>
                    <a:pt x="39" y="60"/>
                    <a:pt x="38" y="59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8"/>
                    <a:pt x="1" y="4"/>
                    <a:pt x="4" y="2"/>
                  </a:cubicBezTo>
                  <a:cubicBezTo>
                    <a:pt x="6" y="0"/>
                    <a:pt x="10" y="1"/>
                    <a:pt x="12" y="4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50" y="54"/>
                    <a:pt x="49" y="58"/>
                    <a:pt x="46" y="60"/>
                  </a:cubicBezTo>
                  <a:cubicBezTo>
                    <a:pt x="45" y="61"/>
                    <a:pt x="44" y="61"/>
                    <a:pt x="43" y="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18" name="Freeform 33">
              <a:extLst>
                <a:ext uri="{FF2B5EF4-FFF2-40B4-BE49-F238E27FC236}">
                  <a16:creationId xmlns:a16="http://schemas.microsoft.com/office/drawing/2014/main" id="{30B6651A-1037-C4B4-7B9C-1C74178D8B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8" y="831"/>
              <a:ext cx="60" cy="73"/>
            </a:xfrm>
            <a:custGeom>
              <a:avLst/>
              <a:gdLst>
                <a:gd name="T0" fmla="*/ 7 w 50"/>
                <a:gd name="T1" fmla="*/ 61 h 61"/>
                <a:gd name="T2" fmla="*/ 4 w 50"/>
                <a:gd name="T3" fmla="*/ 60 h 61"/>
                <a:gd name="T4" fmla="*/ 2 w 50"/>
                <a:gd name="T5" fmla="*/ 52 h 61"/>
                <a:gd name="T6" fmla="*/ 38 w 50"/>
                <a:gd name="T7" fmla="*/ 4 h 61"/>
                <a:gd name="T8" fmla="*/ 46 w 50"/>
                <a:gd name="T9" fmla="*/ 2 h 61"/>
                <a:gd name="T10" fmla="*/ 48 w 50"/>
                <a:gd name="T11" fmla="*/ 11 h 61"/>
                <a:gd name="T12" fmla="*/ 12 w 50"/>
                <a:gd name="T13" fmla="*/ 59 h 61"/>
                <a:gd name="T14" fmla="*/ 7 w 50"/>
                <a:gd name="T1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" h="61">
                  <a:moveTo>
                    <a:pt x="7" y="61"/>
                  </a:moveTo>
                  <a:cubicBezTo>
                    <a:pt x="6" y="61"/>
                    <a:pt x="5" y="61"/>
                    <a:pt x="4" y="60"/>
                  </a:cubicBezTo>
                  <a:cubicBezTo>
                    <a:pt x="1" y="58"/>
                    <a:pt x="0" y="54"/>
                    <a:pt x="2" y="52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40" y="1"/>
                    <a:pt x="44" y="0"/>
                    <a:pt x="46" y="2"/>
                  </a:cubicBezTo>
                  <a:cubicBezTo>
                    <a:pt x="49" y="4"/>
                    <a:pt x="50" y="8"/>
                    <a:pt x="48" y="11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60"/>
                    <a:pt x="9" y="61"/>
                    <a:pt x="7" y="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19" name="Freeform 34">
              <a:extLst>
                <a:ext uri="{FF2B5EF4-FFF2-40B4-BE49-F238E27FC236}">
                  <a16:creationId xmlns:a16="http://schemas.microsoft.com/office/drawing/2014/main" id="{E64373EC-4E79-7452-51D6-45323A6CDE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1" y="832"/>
              <a:ext cx="14" cy="72"/>
            </a:xfrm>
            <a:custGeom>
              <a:avLst/>
              <a:gdLst>
                <a:gd name="T0" fmla="*/ 6 w 12"/>
                <a:gd name="T1" fmla="*/ 60 h 60"/>
                <a:gd name="T2" fmla="*/ 0 w 12"/>
                <a:gd name="T3" fmla="*/ 54 h 60"/>
                <a:gd name="T4" fmla="*/ 0 w 12"/>
                <a:gd name="T5" fmla="*/ 6 h 60"/>
                <a:gd name="T6" fmla="*/ 6 w 12"/>
                <a:gd name="T7" fmla="*/ 0 h 60"/>
                <a:gd name="T8" fmla="*/ 12 w 12"/>
                <a:gd name="T9" fmla="*/ 6 h 60"/>
                <a:gd name="T10" fmla="*/ 12 w 12"/>
                <a:gd name="T11" fmla="*/ 54 h 60"/>
                <a:gd name="T12" fmla="*/ 6 w 12"/>
                <a:gd name="T13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60">
                  <a:moveTo>
                    <a:pt x="6" y="60"/>
                  </a:moveTo>
                  <a:cubicBezTo>
                    <a:pt x="2" y="60"/>
                    <a:pt x="0" y="58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12" y="58"/>
                    <a:pt x="9" y="60"/>
                    <a:pt x="6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20" name="Freeform 35">
              <a:extLst>
                <a:ext uri="{FF2B5EF4-FFF2-40B4-BE49-F238E27FC236}">
                  <a16:creationId xmlns:a16="http://schemas.microsoft.com/office/drawing/2014/main" id="{0DD778DA-4F12-97BA-9B08-5AA1161F91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4" y="832"/>
              <a:ext cx="14" cy="72"/>
            </a:xfrm>
            <a:custGeom>
              <a:avLst/>
              <a:gdLst>
                <a:gd name="T0" fmla="*/ 6 w 12"/>
                <a:gd name="T1" fmla="*/ 60 h 60"/>
                <a:gd name="T2" fmla="*/ 0 w 12"/>
                <a:gd name="T3" fmla="*/ 54 h 60"/>
                <a:gd name="T4" fmla="*/ 0 w 12"/>
                <a:gd name="T5" fmla="*/ 6 h 60"/>
                <a:gd name="T6" fmla="*/ 6 w 12"/>
                <a:gd name="T7" fmla="*/ 0 h 60"/>
                <a:gd name="T8" fmla="*/ 12 w 12"/>
                <a:gd name="T9" fmla="*/ 6 h 60"/>
                <a:gd name="T10" fmla="*/ 12 w 12"/>
                <a:gd name="T11" fmla="*/ 54 h 60"/>
                <a:gd name="T12" fmla="*/ 6 w 12"/>
                <a:gd name="T13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60">
                  <a:moveTo>
                    <a:pt x="6" y="60"/>
                  </a:moveTo>
                  <a:cubicBezTo>
                    <a:pt x="2" y="60"/>
                    <a:pt x="0" y="58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12" y="58"/>
                    <a:pt x="9" y="60"/>
                    <a:pt x="6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21" name="Freeform 36">
              <a:extLst>
                <a:ext uri="{FF2B5EF4-FFF2-40B4-BE49-F238E27FC236}">
                  <a16:creationId xmlns:a16="http://schemas.microsoft.com/office/drawing/2014/main" id="{E474DBC7-6066-270A-DAA1-B997F447DB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9" y="832"/>
              <a:ext cx="43" cy="15"/>
            </a:xfrm>
            <a:custGeom>
              <a:avLst/>
              <a:gdLst>
                <a:gd name="T0" fmla="*/ 30 w 36"/>
                <a:gd name="T1" fmla="*/ 12 h 12"/>
                <a:gd name="T2" fmla="*/ 6 w 36"/>
                <a:gd name="T3" fmla="*/ 12 h 12"/>
                <a:gd name="T4" fmla="*/ 0 w 36"/>
                <a:gd name="T5" fmla="*/ 6 h 12"/>
                <a:gd name="T6" fmla="*/ 6 w 36"/>
                <a:gd name="T7" fmla="*/ 0 h 12"/>
                <a:gd name="T8" fmla="*/ 30 w 36"/>
                <a:gd name="T9" fmla="*/ 0 h 12"/>
                <a:gd name="T10" fmla="*/ 36 w 36"/>
                <a:gd name="T11" fmla="*/ 6 h 12"/>
                <a:gd name="T12" fmla="*/ 30 w 3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10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6" y="3"/>
                    <a:pt x="36" y="6"/>
                  </a:cubicBezTo>
                  <a:cubicBezTo>
                    <a:pt x="36" y="10"/>
                    <a:pt x="33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130" name="Group 84">
            <a:extLst>
              <a:ext uri="{FF2B5EF4-FFF2-40B4-BE49-F238E27FC236}">
                <a16:creationId xmlns:a16="http://schemas.microsoft.com/office/drawing/2014/main" id="{559430F1-F5E8-38FC-A499-A37D78BB554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440343" y="1743052"/>
            <a:ext cx="398534" cy="399745"/>
            <a:chOff x="2078" y="1666"/>
            <a:chExt cx="329" cy="330"/>
          </a:xfrm>
          <a:solidFill>
            <a:schemeClr val="accent1"/>
          </a:solidFill>
        </p:grpSpPr>
        <p:sp>
          <p:nvSpPr>
            <p:cNvPr id="131" name="Freeform 85">
              <a:extLst>
                <a:ext uri="{FF2B5EF4-FFF2-40B4-BE49-F238E27FC236}">
                  <a16:creationId xmlns:a16="http://schemas.microsoft.com/office/drawing/2014/main" id="{4F954838-81BE-D5E4-2838-B26568513A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8" y="1824"/>
              <a:ext cx="229" cy="14"/>
            </a:xfrm>
            <a:custGeom>
              <a:avLst/>
              <a:gdLst>
                <a:gd name="T0" fmla="*/ 186 w 192"/>
                <a:gd name="T1" fmla="*/ 12 h 12"/>
                <a:gd name="T2" fmla="*/ 6 w 192"/>
                <a:gd name="T3" fmla="*/ 12 h 12"/>
                <a:gd name="T4" fmla="*/ 0 w 192"/>
                <a:gd name="T5" fmla="*/ 6 h 12"/>
                <a:gd name="T6" fmla="*/ 6 w 192"/>
                <a:gd name="T7" fmla="*/ 0 h 12"/>
                <a:gd name="T8" fmla="*/ 186 w 192"/>
                <a:gd name="T9" fmla="*/ 0 h 12"/>
                <a:gd name="T10" fmla="*/ 192 w 192"/>
                <a:gd name="T11" fmla="*/ 6 h 12"/>
                <a:gd name="T12" fmla="*/ 186 w 192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2" h="12">
                  <a:moveTo>
                    <a:pt x="18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6" y="0"/>
                    <a:pt x="186" y="0"/>
                    <a:pt x="186" y="0"/>
                  </a:cubicBezTo>
                  <a:cubicBezTo>
                    <a:pt x="189" y="0"/>
                    <a:pt x="192" y="3"/>
                    <a:pt x="192" y="6"/>
                  </a:cubicBezTo>
                  <a:cubicBezTo>
                    <a:pt x="192" y="10"/>
                    <a:pt x="189" y="12"/>
                    <a:pt x="18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2" name="Freeform 86">
              <a:extLst>
                <a:ext uri="{FF2B5EF4-FFF2-40B4-BE49-F238E27FC236}">
                  <a16:creationId xmlns:a16="http://schemas.microsoft.com/office/drawing/2014/main" id="{816201EA-99EC-39BD-9813-4F2AE688B4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7" y="1767"/>
              <a:ext cx="74" cy="128"/>
            </a:xfrm>
            <a:custGeom>
              <a:avLst/>
              <a:gdLst>
                <a:gd name="T0" fmla="*/ 55 w 62"/>
                <a:gd name="T1" fmla="*/ 108 h 108"/>
                <a:gd name="T2" fmla="*/ 51 w 62"/>
                <a:gd name="T3" fmla="*/ 106 h 108"/>
                <a:gd name="T4" fmla="*/ 3 w 62"/>
                <a:gd name="T5" fmla="*/ 58 h 108"/>
                <a:gd name="T6" fmla="*/ 3 w 62"/>
                <a:gd name="T7" fmla="*/ 50 h 108"/>
                <a:gd name="T8" fmla="*/ 51 w 62"/>
                <a:gd name="T9" fmla="*/ 2 h 108"/>
                <a:gd name="T10" fmla="*/ 59 w 62"/>
                <a:gd name="T11" fmla="*/ 2 h 108"/>
                <a:gd name="T12" fmla="*/ 59 w 62"/>
                <a:gd name="T13" fmla="*/ 10 h 108"/>
                <a:gd name="T14" fmla="*/ 16 w 62"/>
                <a:gd name="T15" fmla="*/ 54 h 108"/>
                <a:gd name="T16" fmla="*/ 59 w 62"/>
                <a:gd name="T17" fmla="*/ 98 h 108"/>
                <a:gd name="T18" fmla="*/ 59 w 62"/>
                <a:gd name="T19" fmla="*/ 106 h 108"/>
                <a:gd name="T20" fmla="*/ 55 w 62"/>
                <a:gd name="T21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2" h="108">
                  <a:moveTo>
                    <a:pt x="55" y="108"/>
                  </a:moveTo>
                  <a:cubicBezTo>
                    <a:pt x="54" y="108"/>
                    <a:pt x="52" y="108"/>
                    <a:pt x="51" y="106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0" y="56"/>
                    <a:pt x="0" y="52"/>
                    <a:pt x="3" y="50"/>
                  </a:cubicBezTo>
                  <a:cubicBezTo>
                    <a:pt x="51" y="2"/>
                    <a:pt x="51" y="2"/>
                    <a:pt x="51" y="2"/>
                  </a:cubicBezTo>
                  <a:cubicBezTo>
                    <a:pt x="53" y="0"/>
                    <a:pt x="57" y="0"/>
                    <a:pt x="59" y="2"/>
                  </a:cubicBezTo>
                  <a:cubicBezTo>
                    <a:pt x="62" y="4"/>
                    <a:pt x="62" y="8"/>
                    <a:pt x="59" y="10"/>
                  </a:cubicBezTo>
                  <a:cubicBezTo>
                    <a:pt x="16" y="54"/>
                    <a:pt x="16" y="54"/>
                    <a:pt x="16" y="54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62" y="100"/>
                    <a:pt x="62" y="104"/>
                    <a:pt x="59" y="106"/>
                  </a:cubicBezTo>
                  <a:cubicBezTo>
                    <a:pt x="58" y="108"/>
                    <a:pt x="57" y="108"/>
                    <a:pt x="55" y="10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3" name="Freeform 87">
              <a:extLst>
                <a:ext uri="{FF2B5EF4-FFF2-40B4-BE49-F238E27FC236}">
                  <a16:creationId xmlns:a16="http://schemas.microsoft.com/office/drawing/2014/main" id="{53BC1945-A5A2-FE89-05A3-A0C31DE929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8" y="1666"/>
              <a:ext cx="316" cy="330"/>
            </a:xfrm>
            <a:custGeom>
              <a:avLst/>
              <a:gdLst>
                <a:gd name="T0" fmla="*/ 138 w 265"/>
                <a:gd name="T1" fmla="*/ 276 h 276"/>
                <a:gd name="T2" fmla="*/ 0 w 265"/>
                <a:gd name="T3" fmla="*/ 138 h 276"/>
                <a:gd name="T4" fmla="*/ 138 w 265"/>
                <a:gd name="T5" fmla="*/ 0 h 276"/>
                <a:gd name="T6" fmla="*/ 264 w 265"/>
                <a:gd name="T7" fmla="*/ 81 h 276"/>
                <a:gd name="T8" fmla="*/ 261 w 265"/>
                <a:gd name="T9" fmla="*/ 89 h 276"/>
                <a:gd name="T10" fmla="*/ 253 w 265"/>
                <a:gd name="T11" fmla="*/ 86 h 276"/>
                <a:gd name="T12" fmla="*/ 138 w 265"/>
                <a:gd name="T13" fmla="*/ 12 h 276"/>
                <a:gd name="T14" fmla="*/ 12 w 265"/>
                <a:gd name="T15" fmla="*/ 138 h 276"/>
                <a:gd name="T16" fmla="*/ 138 w 265"/>
                <a:gd name="T17" fmla="*/ 264 h 276"/>
                <a:gd name="T18" fmla="*/ 253 w 265"/>
                <a:gd name="T19" fmla="*/ 190 h 276"/>
                <a:gd name="T20" fmla="*/ 261 w 265"/>
                <a:gd name="T21" fmla="*/ 187 h 276"/>
                <a:gd name="T22" fmla="*/ 264 w 265"/>
                <a:gd name="T23" fmla="*/ 195 h 276"/>
                <a:gd name="T24" fmla="*/ 138 w 265"/>
                <a:gd name="T25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65" h="276">
                  <a:moveTo>
                    <a:pt x="138" y="276"/>
                  </a:moveTo>
                  <a:cubicBezTo>
                    <a:pt x="62" y="276"/>
                    <a:pt x="0" y="214"/>
                    <a:pt x="0" y="138"/>
                  </a:cubicBezTo>
                  <a:cubicBezTo>
                    <a:pt x="0" y="62"/>
                    <a:pt x="62" y="0"/>
                    <a:pt x="138" y="0"/>
                  </a:cubicBezTo>
                  <a:cubicBezTo>
                    <a:pt x="192" y="0"/>
                    <a:pt x="241" y="32"/>
                    <a:pt x="264" y="81"/>
                  </a:cubicBezTo>
                  <a:cubicBezTo>
                    <a:pt x="265" y="84"/>
                    <a:pt x="264" y="88"/>
                    <a:pt x="261" y="89"/>
                  </a:cubicBezTo>
                  <a:cubicBezTo>
                    <a:pt x="258" y="90"/>
                    <a:pt x="254" y="89"/>
                    <a:pt x="253" y="86"/>
                  </a:cubicBezTo>
                  <a:cubicBezTo>
                    <a:pt x="232" y="41"/>
                    <a:pt x="187" y="12"/>
                    <a:pt x="138" y="12"/>
                  </a:cubicBezTo>
                  <a:cubicBezTo>
                    <a:pt x="69" y="12"/>
                    <a:pt x="12" y="69"/>
                    <a:pt x="12" y="138"/>
                  </a:cubicBezTo>
                  <a:cubicBezTo>
                    <a:pt x="12" y="208"/>
                    <a:pt x="69" y="264"/>
                    <a:pt x="138" y="264"/>
                  </a:cubicBezTo>
                  <a:cubicBezTo>
                    <a:pt x="188" y="264"/>
                    <a:pt x="233" y="235"/>
                    <a:pt x="253" y="190"/>
                  </a:cubicBezTo>
                  <a:cubicBezTo>
                    <a:pt x="254" y="187"/>
                    <a:pt x="258" y="185"/>
                    <a:pt x="261" y="187"/>
                  </a:cubicBezTo>
                  <a:cubicBezTo>
                    <a:pt x="264" y="188"/>
                    <a:pt x="265" y="192"/>
                    <a:pt x="264" y="195"/>
                  </a:cubicBezTo>
                  <a:cubicBezTo>
                    <a:pt x="242" y="244"/>
                    <a:pt x="192" y="276"/>
                    <a:pt x="138" y="2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0BF6B2ED-8FAC-DEA3-63E2-F49E4388DD31}"/>
              </a:ext>
            </a:extLst>
          </p:cNvPr>
          <p:cNvGrpSpPr>
            <a:grpSpLocks noChangeAspect="1"/>
          </p:cNvGrpSpPr>
          <p:nvPr/>
        </p:nvGrpSpPr>
        <p:grpSpPr>
          <a:xfrm>
            <a:off x="2030075" y="2465162"/>
            <a:ext cx="321044" cy="367152"/>
            <a:chOff x="3775076" y="1674813"/>
            <a:chExt cx="1193800" cy="1365250"/>
          </a:xfrm>
          <a:solidFill>
            <a:schemeClr val="accent1"/>
          </a:solidFill>
        </p:grpSpPr>
        <p:sp>
          <p:nvSpPr>
            <p:cNvPr id="135" name="Freeform 46">
              <a:extLst>
                <a:ext uri="{FF2B5EF4-FFF2-40B4-BE49-F238E27FC236}">
                  <a16:creationId xmlns:a16="http://schemas.microsoft.com/office/drawing/2014/main" id="{56EED0DF-76CF-8476-C826-4FACEE2D9D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56113" y="2243138"/>
              <a:ext cx="512763" cy="796925"/>
            </a:xfrm>
            <a:custGeom>
              <a:avLst/>
              <a:gdLst>
                <a:gd name="T0" fmla="*/ 108 w 645"/>
                <a:gd name="T1" fmla="*/ 71 h 1002"/>
                <a:gd name="T2" fmla="*/ 94 w 645"/>
                <a:gd name="T3" fmla="*/ 74 h 1002"/>
                <a:gd name="T4" fmla="*/ 82 w 645"/>
                <a:gd name="T5" fmla="*/ 82 h 1002"/>
                <a:gd name="T6" fmla="*/ 75 w 645"/>
                <a:gd name="T7" fmla="*/ 92 h 1002"/>
                <a:gd name="T8" fmla="*/ 72 w 645"/>
                <a:gd name="T9" fmla="*/ 107 h 1002"/>
                <a:gd name="T10" fmla="*/ 72 w 645"/>
                <a:gd name="T11" fmla="*/ 894 h 1002"/>
                <a:gd name="T12" fmla="*/ 75 w 645"/>
                <a:gd name="T13" fmla="*/ 909 h 1002"/>
                <a:gd name="T14" fmla="*/ 82 w 645"/>
                <a:gd name="T15" fmla="*/ 920 h 1002"/>
                <a:gd name="T16" fmla="*/ 94 w 645"/>
                <a:gd name="T17" fmla="*/ 927 h 1002"/>
                <a:gd name="T18" fmla="*/ 108 w 645"/>
                <a:gd name="T19" fmla="*/ 930 h 1002"/>
                <a:gd name="T20" fmla="*/ 537 w 645"/>
                <a:gd name="T21" fmla="*/ 930 h 1002"/>
                <a:gd name="T22" fmla="*/ 552 w 645"/>
                <a:gd name="T23" fmla="*/ 927 h 1002"/>
                <a:gd name="T24" fmla="*/ 562 w 645"/>
                <a:gd name="T25" fmla="*/ 920 h 1002"/>
                <a:gd name="T26" fmla="*/ 570 w 645"/>
                <a:gd name="T27" fmla="*/ 909 h 1002"/>
                <a:gd name="T28" fmla="*/ 573 w 645"/>
                <a:gd name="T29" fmla="*/ 894 h 1002"/>
                <a:gd name="T30" fmla="*/ 573 w 645"/>
                <a:gd name="T31" fmla="*/ 107 h 1002"/>
                <a:gd name="T32" fmla="*/ 570 w 645"/>
                <a:gd name="T33" fmla="*/ 92 h 1002"/>
                <a:gd name="T34" fmla="*/ 562 w 645"/>
                <a:gd name="T35" fmla="*/ 82 h 1002"/>
                <a:gd name="T36" fmla="*/ 552 w 645"/>
                <a:gd name="T37" fmla="*/ 74 h 1002"/>
                <a:gd name="T38" fmla="*/ 537 w 645"/>
                <a:gd name="T39" fmla="*/ 71 h 1002"/>
                <a:gd name="T40" fmla="*/ 108 w 645"/>
                <a:gd name="T41" fmla="*/ 71 h 1002"/>
                <a:gd name="T42" fmla="*/ 108 w 645"/>
                <a:gd name="T43" fmla="*/ 0 h 1002"/>
                <a:gd name="T44" fmla="*/ 537 w 645"/>
                <a:gd name="T45" fmla="*/ 0 h 1002"/>
                <a:gd name="T46" fmla="*/ 565 w 645"/>
                <a:gd name="T47" fmla="*/ 3 h 1002"/>
                <a:gd name="T48" fmla="*/ 591 w 645"/>
                <a:gd name="T49" fmla="*/ 15 h 1002"/>
                <a:gd name="T50" fmla="*/ 613 w 645"/>
                <a:gd name="T51" fmla="*/ 31 h 1002"/>
                <a:gd name="T52" fmla="*/ 630 w 645"/>
                <a:gd name="T53" fmla="*/ 53 h 1002"/>
                <a:gd name="T54" fmla="*/ 642 w 645"/>
                <a:gd name="T55" fmla="*/ 79 h 1002"/>
                <a:gd name="T56" fmla="*/ 645 w 645"/>
                <a:gd name="T57" fmla="*/ 107 h 1002"/>
                <a:gd name="T58" fmla="*/ 645 w 645"/>
                <a:gd name="T59" fmla="*/ 894 h 1002"/>
                <a:gd name="T60" fmla="*/ 642 w 645"/>
                <a:gd name="T61" fmla="*/ 923 h 1002"/>
                <a:gd name="T62" fmla="*/ 630 w 645"/>
                <a:gd name="T63" fmla="*/ 950 h 1002"/>
                <a:gd name="T64" fmla="*/ 613 w 645"/>
                <a:gd name="T65" fmla="*/ 971 h 1002"/>
                <a:gd name="T66" fmla="*/ 591 w 645"/>
                <a:gd name="T67" fmla="*/ 987 h 1002"/>
                <a:gd name="T68" fmla="*/ 565 w 645"/>
                <a:gd name="T69" fmla="*/ 999 h 1002"/>
                <a:gd name="T70" fmla="*/ 537 w 645"/>
                <a:gd name="T71" fmla="*/ 1002 h 1002"/>
                <a:gd name="T72" fmla="*/ 108 w 645"/>
                <a:gd name="T73" fmla="*/ 1002 h 1002"/>
                <a:gd name="T74" fmla="*/ 79 w 645"/>
                <a:gd name="T75" fmla="*/ 999 h 1002"/>
                <a:gd name="T76" fmla="*/ 54 w 645"/>
                <a:gd name="T77" fmla="*/ 987 h 1002"/>
                <a:gd name="T78" fmla="*/ 31 w 645"/>
                <a:gd name="T79" fmla="*/ 971 h 1002"/>
                <a:gd name="T80" fmla="*/ 15 w 645"/>
                <a:gd name="T81" fmla="*/ 950 h 1002"/>
                <a:gd name="T82" fmla="*/ 4 w 645"/>
                <a:gd name="T83" fmla="*/ 923 h 1002"/>
                <a:gd name="T84" fmla="*/ 0 w 645"/>
                <a:gd name="T85" fmla="*/ 894 h 1002"/>
                <a:gd name="T86" fmla="*/ 0 w 645"/>
                <a:gd name="T87" fmla="*/ 107 h 1002"/>
                <a:gd name="T88" fmla="*/ 4 w 645"/>
                <a:gd name="T89" fmla="*/ 79 h 1002"/>
                <a:gd name="T90" fmla="*/ 15 w 645"/>
                <a:gd name="T91" fmla="*/ 53 h 1002"/>
                <a:gd name="T92" fmla="*/ 31 w 645"/>
                <a:gd name="T93" fmla="*/ 31 h 1002"/>
                <a:gd name="T94" fmla="*/ 54 w 645"/>
                <a:gd name="T95" fmla="*/ 15 h 1002"/>
                <a:gd name="T96" fmla="*/ 79 w 645"/>
                <a:gd name="T97" fmla="*/ 3 h 1002"/>
                <a:gd name="T98" fmla="*/ 108 w 645"/>
                <a:gd name="T99" fmla="*/ 0 h 1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645" h="1002">
                  <a:moveTo>
                    <a:pt x="108" y="71"/>
                  </a:moveTo>
                  <a:lnTo>
                    <a:pt x="94" y="74"/>
                  </a:lnTo>
                  <a:lnTo>
                    <a:pt x="82" y="82"/>
                  </a:lnTo>
                  <a:lnTo>
                    <a:pt x="75" y="92"/>
                  </a:lnTo>
                  <a:lnTo>
                    <a:pt x="72" y="107"/>
                  </a:lnTo>
                  <a:lnTo>
                    <a:pt x="72" y="894"/>
                  </a:lnTo>
                  <a:lnTo>
                    <a:pt x="75" y="909"/>
                  </a:lnTo>
                  <a:lnTo>
                    <a:pt x="82" y="920"/>
                  </a:lnTo>
                  <a:lnTo>
                    <a:pt x="94" y="927"/>
                  </a:lnTo>
                  <a:lnTo>
                    <a:pt x="108" y="930"/>
                  </a:lnTo>
                  <a:lnTo>
                    <a:pt x="537" y="930"/>
                  </a:lnTo>
                  <a:lnTo>
                    <a:pt x="552" y="927"/>
                  </a:lnTo>
                  <a:lnTo>
                    <a:pt x="562" y="920"/>
                  </a:lnTo>
                  <a:lnTo>
                    <a:pt x="570" y="909"/>
                  </a:lnTo>
                  <a:lnTo>
                    <a:pt x="573" y="894"/>
                  </a:lnTo>
                  <a:lnTo>
                    <a:pt x="573" y="107"/>
                  </a:lnTo>
                  <a:lnTo>
                    <a:pt x="570" y="92"/>
                  </a:lnTo>
                  <a:lnTo>
                    <a:pt x="562" y="82"/>
                  </a:lnTo>
                  <a:lnTo>
                    <a:pt x="552" y="74"/>
                  </a:lnTo>
                  <a:lnTo>
                    <a:pt x="537" y="71"/>
                  </a:lnTo>
                  <a:lnTo>
                    <a:pt x="108" y="71"/>
                  </a:lnTo>
                  <a:close/>
                  <a:moveTo>
                    <a:pt x="108" y="0"/>
                  </a:moveTo>
                  <a:lnTo>
                    <a:pt x="537" y="0"/>
                  </a:lnTo>
                  <a:lnTo>
                    <a:pt x="565" y="3"/>
                  </a:lnTo>
                  <a:lnTo>
                    <a:pt x="591" y="15"/>
                  </a:lnTo>
                  <a:lnTo>
                    <a:pt x="613" y="31"/>
                  </a:lnTo>
                  <a:lnTo>
                    <a:pt x="630" y="53"/>
                  </a:lnTo>
                  <a:lnTo>
                    <a:pt x="642" y="79"/>
                  </a:lnTo>
                  <a:lnTo>
                    <a:pt x="645" y="107"/>
                  </a:lnTo>
                  <a:lnTo>
                    <a:pt x="645" y="894"/>
                  </a:lnTo>
                  <a:lnTo>
                    <a:pt x="642" y="923"/>
                  </a:lnTo>
                  <a:lnTo>
                    <a:pt x="630" y="950"/>
                  </a:lnTo>
                  <a:lnTo>
                    <a:pt x="613" y="971"/>
                  </a:lnTo>
                  <a:lnTo>
                    <a:pt x="591" y="987"/>
                  </a:lnTo>
                  <a:lnTo>
                    <a:pt x="565" y="999"/>
                  </a:lnTo>
                  <a:lnTo>
                    <a:pt x="537" y="1002"/>
                  </a:lnTo>
                  <a:lnTo>
                    <a:pt x="108" y="1002"/>
                  </a:lnTo>
                  <a:lnTo>
                    <a:pt x="79" y="999"/>
                  </a:lnTo>
                  <a:lnTo>
                    <a:pt x="54" y="987"/>
                  </a:lnTo>
                  <a:lnTo>
                    <a:pt x="31" y="971"/>
                  </a:lnTo>
                  <a:lnTo>
                    <a:pt x="15" y="950"/>
                  </a:lnTo>
                  <a:lnTo>
                    <a:pt x="4" y="923"/>
                  </a:lnTo>
                  <a:lnTo>
                    <a:pt x="0" y="894"/>
                  </a:lnTo>
                  <a:lnTo>
                    <a:pt x="0" y="107"/>
                  </a:lnTo>
                  <a:lnTo>
                    <a:pt x="4" y="79"/>
                  </a:lnTo>
                  <a:lnTo>
                    <a:pt x="15" y="53"/>
                  </a:lnTo>
                  <a:lnTo>
                    <a:pt x="31" y="31"/>
                  </a:lnTo>
                  <a:lnTo>
                    <a:pt x="54" y="15"/>
                  </a:lnTo>
                  <a:lnTo>
                    <a:pt x="79" y="3"/>
                  </a:lnTo>
                  <a:lnTo>
                    <a:pt x="10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Freeform 47">
              <a:extLst>
                <a:ext uri="{FF2B5EF4-FFF2-40B4-BE49-F238E27FC236}">
                  <a16:creationId xmlns:a16="http://schemas.microsoft.com/office/drawing/2014/main" id="{B48C06A2-F4D9-F29B-A1FE-9B785D763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6113" y="2813050"/>
              <a:ext cx="512763" cy="57150"/>
            </a:xfrm>
            <a:custGeom>
              <a:avLst/>
              <a:gdLst>
                <a:gd name="T0" fmla="*/ 36 w 645"/>
                <a:gd name="T1" fmla="*/ 0 h 72"/>
                <a:gd name="T2" fmla="*/ 609 w 645"/>
                <a:gd name="T3" fmla="*/ 0 h 72"/>
                <a:gd name="T4" fmla="*/ 622 w 645"/>
                <a:gd name="T5" fmla="*/ 3 h 72"/>
                <a:gd name="T6" fmla="*/ 634 w 645"/>
                <a:gd name="T7" fmla="*/ 11 h 72"/>
                <a:gd name="T8" fmla="*/ 642 w 645"/>
                <a:gd name="T9" fmla="*/ 21 h 72"/>
                <a:gd name="T10" fmla="*/ 645 w 645"/>
                <a:gd name="T11" fmla="*/ 36 h 72"/>
                <a:gd name="T12" fmla="*/ 642 w 645"/>
                <a:gd name="T13" fmla="*/ 50 h 72"/>
                <a:gd name="T14" fmla="*/ 634 w 645"/>
                <a:gd name="T15" fmla="*/ 62 h 72"/>
                <a:gd name="T16" fmla="*/ 622 w 645"/>
                <a:gd name="T17" fmla="*/ 69 h 72"/>
                <a:gd name="T18" fmla="*/ 609 w 645"/>
                <a:gd name="T19" fmla="*/ 72 h 72"/>
                <a:gd name="T20" fmla="*/ 36 w 645"/>
                <a:gd name="T21" fmla="*/ 72 h 72"/>
                <a:gd name="T22" fmla="*/ 22 w 645"/>
                <a:gd name="T23" fmla="*/ 69 h 72"/>
                <a:gd name="T24" fmla="*/ 10 w 645"/>
                <a:gd name="T25" fmla="*/ 62 h 72"/>
                <a:gd name="T26" fmla="*/ 3 w 645"/>
                <a:gd name="T27" fmla="*/ 50 h 72"/>
                <a:gd name="T28" fmla="*/ 0 w 645"/>
                <a:gd name="T29" fmla="*/ 36 h 72"/>
                <a:gd name="T30" fmla="*/ 3 w 645"/>
                <a:gd name="T31" fmla="*/ 21 h 72"/>
                <a:gd name="T32" fmla="*/ 10 w 645"/>
                <a:gd name="T33" fmla="*/ 11 h 72"/>
                <a:gd name="T34" fmla="*/ 22 w 645"/>
                <a:gd name="T35" fmla="*/ 3 h 72"/>
                <a:gd name="T36" fmla="*/ 36 w 645"/>
                <a:gd name="T37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45" h="72">
                  <a:moveTo>
                    <a:pt x="36" y="0"/>
                  </a:moveTo>
                  <a:lnTo>
                    <a:pt x="609" y="0"/>
                  </a:lnTo>
                  <a:lnTo>
                    <a:pt x="622" y="3"/>
                  </a:lnTo>
                  <a:lnTo>
                    <a:pt x="634" y="11"/>
                  </a:lnTo>
                  <a:lnTo>
                    <a:pt x="642" y="21"/>
                  </a:lnTo>
                  <a:lnTo>
                    <a:pt x="645" y="36"/>
                  </a:lnTo>
                  <a:lnTo>
                    <a:pt x="642" y="50"/>
                  </a:lnTo>
                  <a:lnTo>
                    <a:pt x="634" y="62"/>
                  </a:lnTo>
                  <a:lnTo>
                    <a:pt x="622" y="69"/>
                  </a:lnTo>
                  <a:lnTo>
                    <a:pt x="609" y="72"/>
                  </a:lnTo>
                  <a:lnTo>
                    <a:pt x="36" y="72"/>
                  </a:lnTo>
                  <a:lnTo>
                    <a:pt x="22" y="69"/>
                  </a:lnTo>
                  <a:lnTo>
                    <a:pt x="10" y="62"/>
                  </a:lnTo>
                  <a:lnTo>
                    <a:pt x="3" y="50"/>
                  </a:lnTo>
                  <a:lnTo>
                    <a:pt x="0" y="36"/>
                  </a:lnTo>
                  <a:lnTo>
                    <a:pt x="3" y="21"/>
                  </a:lnTo>
                  <a:lnTo>
                    <a:pt x="10" y="11"/>
                  </a:lnTo>
                  <a:lnTo>
                    <a:pt x="22" y="3"/>
                  </a:lnTo>
                  <a:lnTo>
                    <a:pt x="3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Freeform 48">
              <a:extLst>
                <a:ext uri="{FF2B5EF4-FFF2-40B4-BE49-F238E27FC236}">
                  <a16:creationId xmlns:a16="http://schemas.microsoft.com/office/drawing/2014/main" id="{333F2BE5-DB01-D2CA-9572-6278C795E0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4713" y="2897188"/>
              <a:ext cx="57150" cy="57150"/>
            </a:xfrm>
            <a:custGeom>
              <a:avLst/>
              <a:gdLst>
                <a:gd name="T0" fmla="*/ 36 w 72"/>
                <a:gd name="T1" fmla="*/ 0 h 71"/>
                <a:gd name="T2" fmla="*/ 50 w 72"/>
                <a:gd name="T3" fmla="*/ 3 h 71"/>
                <a:gd name="T4" fmla="*/ 62 w 72"/>
                <a:gd name="T5" fmla="*/ 10 h 71"/>
                <a:gd name="T6" fmla="*/ 69 w 72"/>
                <a:gd name="T7" fmla="*/ 22 h 71"/>
                <a:gd name="T8" fmla="*/ 72 w 72"/>
                <a:gd name="T9" fmla="*/ 36 h 71"/>
                <a:gd name="T10" fmla="*/ 69 w 72"/>
                <a:gd name="T11" fmla="*/ 51 h 71"/>
                <a:gd name="T12" fmla="*/ 62 w 72"/>
                <a:gd name="T13" fmla="*/ 61 h 71"/>
                <a:gd name="T14" fmla="*/ 50 w 72"/>
                <a:gd name="T15" fmla="*/ 68 h 71"/>
                <a:gd name="T16" fmla="*/ 36 w 72"/>
                <a:gd name="T17" fmla="*/ 71 h 71"/>
                <a:gd name="T18" fmla="*/ 21 w 72"/>
                <a:gd name="T19" fmla="*/ 68 h 71"/>
                <a:gd name="T20" fmla="*/ 11 w 72"/>
                <a:gd name="T21" fmla="*/ 61 h 71"/>
                <a:gd name="T22" fmla="*/ 3 w 72"/>
                <a:gd name="T23" fmla="*/ 51 h 71"/>
                <a:gd name="T24" fmla="*/ 0 w 72"/>
                <a:gd name="T25" fmla="*/ 36 h 71"/>
                <a:gd name="T26" fmla="*/ 3 w 72"/>
                <a:gd name="T27" fmla="*/ 22 h 71"/>
                <a:gd name="T28" fmla="*/ 11 w 72"/>
                <a:gd name="T29" fmla="*/ 10 h 71"/>
                <a:gd name="T30" fmla="*/ 21 w 72"/>
                <a:gd name="T31" fmla="*/ 3 h 71"/>
                <a:gd name="T32" fmla="*/ 36 w 72"/>
                <a:gd name="T33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2" h="71">
                  <a:moveTo>
                    <a:pt x="36" y="0"/>
                  </a:moveTo>
                  <a:lnTo>
                    <a:pt x="50" y="3"/>
                  </a:lnTo>
                  <a:lnTo>
                    <a:pt x="62" y="10"/>
                  </a:lnTo>
                  <a:lnTo>
                    <a:pt x="69" y="22"/>
                  </a:lnTo>
                  <a:lnTo>
                    <a:pt x="72" y="36"/>
                  </a:lnTo>
                  <a:lnTo>
                    <a:pt x="69" y="51"/>
                  </a:lnTo>
                  <a:lnTo>
                    <a:pt x="62" y="61"/>
                  </a:lnTo>
                  <a:lnTo>
                    <a:pt x="50" y="68"/>
                  </a:lnTo>
                  <a:lnTo>
                    <a:pt x="36" y="71"/>
                  </a:lnTo>
                  <a:lnTo>
                    <a:pt x="21" y="68"/>
                  </a:lnTo>
                  <a:lnTo>
                    <a:pt x="11" y="61"/>
                  </a:lnTo>
                  <a:lnTo>
                    <a:pt x="3" y="51"/>
                  </a:lnTo>
                  <a:lnTo>
                    <a:pt x="0" y="36"/>
                  </a:lnTo>
                  <a:lnTo>
                    <a:pt x="3" y="22"/>
                  </a:lnTo>
                  <a:lnTo>
                    <a:pt x="11" y="10"/>
                  </a:lnTo>
                  <a:lnTo>
                    <a:pt x="21" y="3"/>
                  </a:lnTo>
                  <a:lnTo>
                    <a:pt x="3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Freeform 49">
              <a:extLst>
                <a:ext uri="{FF2B5EF4-FFF2-40B4-BE49-F238E27FC236}">
                  <a16:creationId xmlns:a16="http://schemas.microsoft.com/office/drawing/2014/main" id="{D03B0ABE-E811-A451-A5C7-DEECA16852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73501" y="1674813"/>
              <a:ext cx="593725" cy="533400"/>
            </a:xfrm>
            <a:custGeom>
              <a:avLst/>
              <a:gdLst>
                <a:gd name="T0" fmla="*/ 120 w 748"/>
                <a:gd name="T1" fmla="*/ 87 h 672"/>
                <a:gd name="T2" fmla="*/ 99 w 748"/>
                <a:gd name="T3" fmla="*/ 129 h 672"/>
                <a:gd name="T4" fmla="*/ 84 w 748"/>
                <a:gd name="T5" fmla="*/ 172 h 672"/>
                <a:gd name="T6" fmla="*/ 75 w 748"/>
                <a:gd name="T7" fmla="*/ 217 h 672"/>
                <a:gd name="T8" fmla="*/ 72 w 748"/>
                <a:gd name="T9" fmla="*/ 263 h 672"/>
                <a:gd name="T10" fmla="*/ 75 w 748"/>
                <a:gd name="T11" fmla="*/ 310 h 672"/>
                <a:gd name="T12" fmla="*/ 84 w 748"/>
                <a:gd name="T13" fmla="*/ 353 h 672"/>
                <a:gd name="T14" fmla="*/ 99 w 748"/>
                <a:gd name="T15" fmla="*/ 395 h 672"/>
                <a:gd name="T16" fmla="*/ 120 w 748"/>
                <a:gd name="T17" fmla="*/ 434 h 672"/>
                <a:gd name="T18" fmla="*/ 144 w 748"/>
                <a:gd name="T19" fmla="*/ 470 h 672"/>
                <a:gd name="T20" fmla="*/ 174 w 748"/>
                <a:gd name="T21" fmla="*/ 503 h 672"/>
                <a:gd name="T22" fmla="*/ 208 w 748"/>
                <a:gd name="T23" fmla="*/ 533 h 672"/>
                <a:gd name="T24" fmla="*/ 255 w 748"/>
                <a:gd name="T25" fmla="*/ 561 h 672"/>
                <a:gd name="T26" fmla="*/ 302 w 748"/>
                <a:gd name="T27" fmla="*/ 582 h 672"/>
                <a:gd name="T28" fmla="*/ 353 w 748"/>
                <a:gd name="T29" fmla="*/ 595 h 672"/>
                <a:gd name="T30" fmla="*/ 407 w 748"/>
                <a:gd name="T31" fmla="*/ 601 h 672"/>
                <a:gd name="T32" fmla="*/ 460 w 748"/>
                <a:gd name="T33" fmla="*/ 597 h 672"/>
                <a:gd name="T34" fmla="*/ 506 w 748"/>
                <a:gd name="T35" fmla="*/ 588 h 672"/>
                <a:gd name="T36" fmla="*/ 549 w 748"/>
                <a:gd name="T37" fmla="*/ 571 h 672"/>
                <a:gd name="T38" fmla="*/ 590 w 748"/>
                <a:gd name="T39" fmla="*/ 551 h 672"/>
                <a:gd name="T40" fmla="*/ 627 w 748"/>
                <a:gd name="T41" fmla="*/ 524 h 672"/>
                <a:gd name="T42" fmla="*/ 660 w 748"/>
                <a:gd name="T43" fmla="*/ 492 h 672"/>
                <a:gd name="T44" fmla="*/ 120 w 748"/>
                <a:gd name="T45" fmla="*/ 87 h 672"/>
                <a:gd name="T46" fmla="*/ 106 w 748"/>
                <a:gd name="T47" fmla="*/ 0 h 672"/>
                <a:gd name="T48" fmla="*/ 120 w 748"/>
                <a:gd name="T49" fmla="*/ 1 h 672"/>
                <a:gd name="T50" fmla="*/ 133 w 748"/>
                <a:gd name="T51" fmla="*/ 7 h 672"/>
                <a:gd name="T52" fmla="*/ 733 w 748"/>
                <a:gd name="T53" fmla="*/ 456 h 672"/>
                <a:gd name="T54" fmla="*/ 739 w 748"/>
                <a:gd name="T55" fmla="*/ 462 h 672"/>
                <a:gd name="T56" fmla="*/ 742 w 748"/>
                <a:gd name="T57" fmla="*/ 467 h 672"/>
                <a:gd name="T58" fmla="*/ 745 w 748"/>
                <a:gd name="T59" fmla="*/ 474 h 672"/>
                <a:gd name="T60" fmla="*/ 748 w 748"/>
                <a:gd name="T61" fmla="*/ 480 h 672"/>
                <a:gd name="T62" fmla="*/ 747 w 748"/>
                <a:gd name="T63" fmla="*/ 495 h 672"/>
                <a:gd name="T64" fmla="*/ 741 w 748"/>
                <a:gd name="T65" fmla="*/ 507 h 672"/>
                <a:gd name="T66" fmla="*/ 705 w 748"/>
                <a:gd name="T67" fmla="*/ 549 h 672"/>
                <a:gd name="T68" fmla="*/ 666 w 748"/>
                <a:gd name="T69" fmla="*/ 585 h 672"/>
                <a:gd name="T70" fmla="*/ 621 w 748"/>
                <a:gd name="T71" fmla="*/ 615 h 672"/>
                <a:gd name="T72" fmla="*/ 573 w 748"/>
                <a:gd name="T73" fmla="*/ 639 h 672"/>
                <a:gd name="T74" fmla="*/ 524 w 748"/>
                <a:gd name="T75" fmla="*/ 657 h 672"/>
                <a:gd name="T76" fmla="*/ 470 w 748"/>
                <a:gd name="T77" fmla="*/ 669 h 672"/>
                <a:gd name="T78" fmla="*/ 412 w 748"/>
                <a:gd name="T79" fmla="*/ 672 h 672"/>
                <a:gd name="T80" fmla="*/ 359 w 748"/>
                <a:gd name="T81" fmla="*/ 669 h 672"/>
                <a:gd name="T82" fmla="*/ 307 w 748"/>
                <a:gd name="T83" fmla="*/ 658 h 672"/>
                <a:gd name="T84" fmla="*/ 258 w 748"/>
                <a:gd name="T85" fmla="*/ 642 h 672"/>
                <a:gd name="T86" fmla="*/ 210 w 748"/>
                <a:gd name="T87" fmla="*/ 619 h 672"/>
                <a:gd name="T88" fmla="*/ 165 w 748"/>
                <a:gd name="T89" fmla="*/ 589 h 672"/>
                <a:gd name="T90" fmla="*/ 124 w 748"/>
                <a:gd name="T91" fmla="*/ 555 h 672"/>
                <a:gd name="T92" fmla="*/ 88 w 748"/>
                <a:gd name="T93" fmla="*/ 515 h 672"/>
                <a:gd name="T94" fmla="*/ 57 w 748"/>
                <a:gd name="T95" fmla="*/ 471 h 672"/>
                <a:gd name="T96" fmla="*/ 33 w 748"/>
                <a:gd name="T97" fmla="*/ 423 h 672"/>
                <a:gd name="T98" fmla="*/ 15 w 748"/>
                <a:gd name="T99" fmla="*/ 372 h 672"/>
                <a:gd name="T100" fmla="*/ 5 w 748"/>
                <a:gd name="T101" fmla="*/ 320 h 672"/>
                <a:gd name="T102" fmla="*/ 0 w 748"/>
                <a:gd name="T103" fmla="*/ 265 h 672"/>
                <a:gd name="T104" fmla="*/ 3 w 748"/>
                <a:gd name="T105" fmla="*/ 212 h 672"/>
                <a:gd name="T106" fmla="*/ 14 w 748"/>
                <a:gd name="T107" fmla="*/ 160 h 672"/>
                <a:gd name="T108" fmla="*/ 30 w 748"/>
                <a:gd name="T109" fmla="*/ 109 h 672"/>
                <a:gd name="T110" fmla="*/ 53 w 748"/>
                <a:gd name="T111" fmla="*/ 60 h 672"/>
                <a:gd name="T112" fmla="*/ 82 w 748"/>
                <a:gd name="T113" fmla="*/ 15 h 672"/>
                <a:gd name="T114" fmla="*/ 93 w 748"/>
                <a:gd name="T115" fmla="*/ 4 h 672"/>
                <a:gd name="T116" fmla="*/ 106 w 748"/>
                <a:gd name="T117" fmla="*/ 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48" h="672">
                  <a:moveTo>
                    <a:pt x="120" y="87"/>
                  </a:moveTo>
                  <a:lnTo>
                    <a:pt x="99" y="129"/>
                  </a:lnTo>
                  <a:lnTo>
                    <a:pt x="84" y="172"/>
                  </a:lnTo>
                  <a:lnTo>
                    <a:pt x="75" y="217"/>
                  </a:lnTo>
                  <a:lnTo>
                    <a:pt x="72" y="263"/>
                  </a:lnTo>
                  <a:lnTo>
                    <a:pt x="75" y="310"/>
                  </a:lnTo>
                  <a:lnTo>
                    <a:pt x="84" y="353"/>
                  </a:lnTo>
                  <a:lnTo>
                    <a:pt x="99" y="395"/>
                  </a:lnTo>
                  <a:lnTo>
                    <a:pt x="120" y="434"/>
                  </a:lnTo>
                  <a:lnTo>
                    <a:pt x="144" y="470"/>
                  </a:lnTo>
                  <a:lnTo>
                    <a:pt x="174" y="503"/>
                  </a:lnTo>
                  <a:lnTo>
                    <a:pt x="208" y="533"/>
                  </a:lnTo>
                  <a:lnTo>
                    <a:pt x="255" y="561"/>
                  </a:lnTo>
                  <a:lnTo>
                    <a:pt x="302" y="582"/>
                  </a:lnTo>
                  <a:lnTo>
                    <a:pt x="353" y="595"/>
                  </a:lnTo>
                  <a:lnTo>
                    <a:pt x="407" y="601"/>
                  </a:lnTo>
                  <a:lnTo>
                    <a:pt x="460" y="597"/>
                  </a:lnTo>
                  <a:lnTo>
                    <a:pt x="506" y="588"/>
                  </a:lnTo>
                  <a:lnTo>
                    <a:pt x="549" y="571"/>
                  </a:lnTo>
                  <a:lnTo>
                    <a:pt x="590" y="551"/>
                  </a:lnTo>
                  <a:lnTo>
                    <a:pt x="627" y="524"/>
                  </a:lnTo>
                  <a:lnTo>
                    <a:pt x="660" y="492"/>
                  </a:lnTo>
                  <a:lnTo>
                    <a:pt x="120" y="87"/>
                  </a:lnTo>
                  <a:close/>
                  <a:moveTo>
                    <a:pt x="106" y="0"/>
                  </a:moveTo>
                  <a:lnTo>
                    <a:pt x="120" y="1"/>
                  </a:lnTo>
                  <a:lnTo>
                    <a:pt x="133" y="7"/>
                  </a:lnTo>
                  <a:lnTo>
                    <a:pt x="733" y="456"/>
                  </a:lnTo>
                  <a:lnTo>
                    <a:pt x="739" y="462"/>
                  </a:lnTo>
                  <a:lnTo>
                    <a:pt x="742" y="467"/>
                  </a:lnTo>
                  <a:lnTo>
                    <a:pt x="745" y="474"/>
                  </a:lnTo>
                  <a:lnTo>
                    <a:pt x="748" y="480"/>
                  </a:lnTo>
                  <a:lnTo>
                    <a:pt x="747" y="495"/>
                  </a:lnTo>
                  <a:lnTo>
                    <a:pt x="741" y="507"/>
                  </a:lnTo>
                  <a:lnTo>
                    <a:pt x="705" y="549"/>
                  </a:lnTo>
                  <a:lnTo>
                    <a:pt x="666" y="585"/>
                  </a:lnTo>
                  <a:lnTo>
                    <a:pt x="621" y="615"/>
                  </a:lnTo>
                  <a:lnTo>
                    <a:pt x="573" y="639"/>
                  </a:lnTo>
                  <a:lnTo>
                    <a:pt x="524" y="657"/>
                  </a:lnTo>
                  <a:lnTo>
                    <a:pt x="470" y="669"/>
                  </a:lnTo>
                  <a:lnTo>
                    <a:pt x="412" y="672"/>
                  </a:lnTo>
                  <a:lnTo>
                    <a:pt x="359" y="669"/>
                  </a:lnTo>
                  <a:lnTo>
                    <a:pt x="307" y="658"/>
                  </a:lnTo>
                  <a:lnTo>
                    <a:pt x="258" y="642"/>
                  </a:lnTo>
                  <a:lnTo>
                    <a:pt x="210" y="619"/>
                  </a:lnTo>
                  <a:lnTo>
                    <a:pt x="165" y="589"/>
                  </a:lnTo>
                  <a:lnTo>
                    <a:pt x="124" y="555"/>
                  </a:lnTo>
                  <a:lnTo>
                    <a:pt x="88" y="515"/>
                  </a:lnTo>
                  <a:lnTo>
                    <a:pt x="57" y="471"/>
                  </a:lnTo>
                  <a:lnTo>
                    <a:pt x="33" y="423"/>
                  </a:lnTo>
                  <a:lnTo>
                    <a:pt x="15" y="372"/>
                  </a:lnTo>
                  <a:lnTo>
                    <a:pt x="5" y="320"/>
                  </a:lnTo>
                  <a:lnTo>
                    <a:pt x="0" y="265"/>
                  </a:lnTo>
                  <a:lnTo>
                    <a:pt x="3" y="212"/>
                  </a:lnTo>
                  <a:lnTo>
                    <a:pt x="14" y="160"/>
                  </a:lnTo>
                  <a:lnTo>
                    <a:pt x="30" y="109"/>
                  </a:lnTo>
                  <a:lnTo>
                    <a:pt x="53" y="60"/>
                  </a:lnTo>
                  <a:lnTo>
                    <a:pt x="82" y="15"/>
                  </a:lnTo>
                  <a:lnTo>
                    <a:pt x="93" y="4"/>
                  </a:lnTo>
                  <a:lnTo>
                    <a:pt x="10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Freeform 50">
              <a:extLst>
                <a:ext uri="{FF2B5EF4-FFF2-40B4-BE49-F238E27FC236}">
                  <a16:creationId xmlns:a16="http://schemas.microsoft.com/office/drawing/2014/main" id="{0C594808-8654-5BAD-99D5-B3018FE1EA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1951" y="1744663"/>
              <a:ext cx="138113" cy="165100"/>
            </a:xfrm>
            <a:custGeom>
              <a:avLst/>
              <a:gdLst>
                <a:gd name="T0" fmla="*/ 134 w 175"/>
                <a:gd name="T1" fmla="*/ 0 h 208"/>
                <a:gd name="T2" fmla="*/ 148 w 175"/>
                <a:gd name="T3" fmla="*/ 0 h 208"/>
                <a:gd name="T4" fmla="*/ 160 w 175"/>
                <a:gd name="T5" fmla="*/ 6 h 208"/>
                <a:gd name="T6" fmla="*/ 170 w 175"/>
                <a:gd name="T7" fmla="*/ 17 h 208"/>
                <a:gd name="T8" fmla="*/ 175 w 175"/>
                <a:gd name="T9" fmla="*/ 30 h 208"/>
                <a:gd name="T10" fmla="*/ 173 w 175"/>
                <a:gd name="T11" fmla="*/ 44 h 208"/>
                <a:gd name="T12" fmla="*/ 167 w 175"/>
                <a:gd name="T13" fmla="*/ 57 h 208"/>
                <a:gd name="T14" fmla="*/ 64 w 175"/>
                <a:gd name="T15" fmla="*/ 195 h 208"/>
                <a:gd name="T16" fmla="*/ 57 w 175"/>
                <a:gd name="T17" fmla="*/ 202 h 208"/>
                <a:gd name="T18" fmla="*/ 46 w 175"/>
                <a:gd name="T19" fmla="*/ 207 h 208"/>
                <a:gd name="T20" fmla="*/ 36 w 175"/>
                <a:gd name="T21" fmla="*/ 208 h 208"/>
                <a:gd name="T22" fmla="*/ 28 w 175"/>
                <a:gd name="T23" fmla="*/ 208 h 208"/>
                <a:gd name="T24" fmla="*/ 21 w 175"/>
                <a:gd name="T25" fmla="*/ 205 h 208"/>
                <a:gd name="T26" fmla="*/ 15 w 175"/>
                <a:gd name="T27" fmla="*/ 202 h 208"/>
                <a:gd name="T28" fmla="*/ 4 w 175"/>
                <a:gd name="T29" fmla="*/ 192 h 208"/>
                <a:gd name="T30" fmla="*/ 0 w 175"/>
                <a:gd name="T31" fmla="*/ 178 h 208"/>
                <a:gd name="T32" fmla="*/ 1 w 175"/>
                <a:gd name="T33" fmla="*/ 165 h 208"/>
                <a:gd name="T34" fmla="*/ 7 w 175"/>
                <a:gd name="T35" fmla="*/ 151 h 208"/>
                <a:gd name="T36" fmla="*/ 110 w 175"/>
                <a:gd name="T37" fmla="*/ 14 h 208"/>
                <a:gd name="T38" fmla="*/ 121 w 175"/>
                <a:gd name="T39" fmla="*/ 5 h 208"/>
                <a:gd name="T40" fmla="*/ 134 w 175"/>
                <a:gd name="T41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5" h="208">
                  <a:moveTo>
                    <a:pt x="134" y="0"/>
                  </a:moveTo>
                  <a:lnTo>
                    <a:pt x="148" y="0"/>
                  </a:lnTo>
                  <a:lnTo>
                    <a:pt x="160" y="6"/>
                  </a:lnTo>
                  <a:lnTo>
                    <a:pt x="170" y="17"/>
                  </a:lnTo>
                  <a:lnTo>
                    <a:pt x="175" y="30"/>
                  </a:lnTo>
                  <a:lnTo>
                    <a:pt x="173" y="44"/>
                  </a:lnTo>
                  <a:lnTo>
                    <a:pt x="167" y="57"/>
                  </a:lnTo>
                  <a:lnTo>
                    <a:pt x="64" y="195"/>
                  </a:lnTo>
                  <a:lnTo>
                    <a:pt x="57" y="202"/>
                  </a:lnTo>
                  <a:lnTo>
                    <a:pt x="46" y="207"/>
                  </a:lnTo>
                  <a:lnTo>
                    <a:pt x="36" y="208"/>
                  </a:lnTo>
                  <a:lnTo>
                    <a:pt x="28" y="208"/>
                  </a:lnTo>
                  <a:lnTo>
                    <a:pt x="21" y="205"/>
                  </a:lnTo>
                  <a:lnTo>
                    <a:pt x="15" y="202"/>
                  </a:lnTo>
                  <a:lnTo>
                    <a:pt x="4" y="192"/>
                  </a:lnTo>
                  <a:lnTo>
                    <a:pt x="0" y="178"/>
                  </a:lnTo>
                  <a:lnTo>
                    <a:pt x="1" y="165"/>
                  </a:lnTo>
                  <a:lnTo>
                    <a:pt x="7" y="151"/>
                  </a:lnTo>
                  <a:lnTo>
                    <a:pt x="110" y="14"/>
                  </a:lnTo>
                  <a:lnTo>
                    <a:pt x="121" y="5"/>
                  </a:lnTo>
                  <a:lnTo>
                    <a:pt x="1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Freeform 51">
              <a:extLst>
                <a:ext uri="{FF2B5EF4-FFF2-40B4-BE49-F238E27FC236}">
                  <a16:creationId xmlns:a16="http://schemas.microsoft.com/office/drawing/2014/main" id="{717FB646-AEC8-6819-7AE9-9C7870A62B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5076" y="2068513"/>
              <a:ext cx="436563" cy="288925"/>
            </a:xfrm>
            <a:custGeom>
              <a:avLst/>
              <a:gdLst>
                <a:gd name="T0" fmla="*/ 275 w 551"/>
                <a:gd name="T1" fmla="*/ 91 h 363"/>
                <a:gd name="T2" fmla="*/ 111 w 551"/>
                <a:gd name="T3" fmla="*/ 291 h 363"/>
                <a:gd name="T4" fmla="*/ 440 w 551"/>
                <a:gd name="T5" fmla="*/ 291 h 363"/>
                <a:gd name="T6" fmla="*/ 275 w 551"/>
                <a:gd name="T7" fmla="*/ 91 h 363"/>
                <a:gd name="T8" fmla="*/ 275 w 551"/>
                <a:gd name="T9" fmla="*/ 0 h 363"/>
                <a:gd name="T10" fmla="*/ 290 w 551"/>
                <a:gd name="T11" fmla="*/ 3 h 363"/>
                <a:gd name="T12" fmla="*/ 304 w 551"/>
                <a:gd name="T13" fmla="*/ 12 h 363"/>
                <a:gd name="T14" fmla="*/ 543 w 551"/>
                <a:gd name="T15" fmla="*/ 305 h 363"/>
                <a:gd name="T16" fmla="*/ 549 w 551"/>
                <a:gd name="T17" fmla="*/ 315 h 363"/>
                <a:gd name="T18" fmla="*/ 551 w 551"/>
                <a:gd name="T19" fmla="*/ 329 h 363"/>
                <a:gd name="T20" fmla="*/ 548 w 551"/>
                <a:gd name="T21" fmla="*/ 342 h 363"/>
                <a:gd name="T22" fmla="*/ 540 w 551"/>
                <a:gd name="T23" fmla="*/ 353 h 363"/>
                <a:gd name="T24" fmla="*/ 528 w 551"/>
                <a:gd name="T25" fmla="*/ 360 h 363"/>
                <a:gd name="T26" fmla="*/ 515 w 551"/>
                <a:gd name="T27" fmla="*/ 363 h 363"/>
                <a:gd name="T28" fmla="*/ 36 w 551"/>
                <a:gd name="T29" fmla="*/ 363 h 363"/>
                <a:gd name="T30" fmla="*/ 22 w 551"/>
                <a:gd name="T31" fmla="*/ 360 h 363"/>
                <a:gd name="T32" fmla="*/ 12 w 551"/>
                <a:gd name="T33" fmla="*/ 353 h 363"/>
                <a:gd name="T34" fmla="*/ 3 w 551"/>
                <a:gd name="T35" fmla="*/ 342 h 363"/>
                <a:gd name="T36" fmla="*/ 0 w 551"/>
                <a:gd name="T37" fmla="*/ 329 h 363"/>
                <a:gd name="T38" fmla="*/ 1 w 551"/>
                <a:gd name="T39" fmla="*/ 315 h 363"/>
                <a:gd name="T40" fmla="*/ 7 w 551"/>
                <a:gd name="T41" fmla="*/ 305 h 363"/>
                <a:gd name="T42" fmla="*/ 248 w 551"/>
                <a:gd name="T43" fmla="*/ 12 h 363"/>
                <a:gd name="T44" fmla="*/ 260 w 551"/>
                <a:gd name="T45" fmla="*/ 3 h 363"/>
                <a:gd name="T46" fmla="*/ 275 w 551"/>
                <a:gd name="T47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51" h="363">
                  <a:moveTo>
                    <a:pt x="275" y="91"/>
                  </a:moveTo>
                  <a:lnTo>
                    <a:pt x="111" y="291"/>
                  </a:lnTo>
                  <a:lnTo>
                    <a:pt x="440" y="291"/>
                  </a:lnTo>
                  <a:lnTo>
                    <a:pt x="275" y="91"/>
                  </a:lnTo>
                  <a:close/>
                  <a:moveTo>
                    <a:pt x="275" y="0"/>
                  </a:moveTo>
                  <a:lnTo>
                    <a:pt x="290" y="3"/>
                  </a:lnTo>
                  <a:lnTo>
                    <a:pt x="304" y="12"/>
                  </a:lnTo>
                  <a:lnTo>
                    <a:pt x="543" y="305"/>
                  </a:lnTo>
                  <a:lnTo>
                    <a:pt x="549" y="315"/>
                  </a:lnTo>
                  <a:lnTo>
                    <a:pt x="551" y="329"/>
                  </a:lnTo>
                  <a:lnTo>
                    <a:pt x="548" y="342"/>
                  </a:lnTo>
                  <a:lnTo>
                    <a:pt x="540" y="353"/>
                  </a:lnTo>
                  <a:lnTo>
                    <a:pt x="528" y="360"/>
                  </a:lnTo>
                  <a:lnTo>
                    <a:pt x="515" y="363"/>
                  </a:lnTo>
                  <a:lnTo>
                    <a:pt x="36" y="363"/>
                  </a:lnTo>
                  <a:lnTo>
                    <a:pt x="22" y="360"/>
                  </a:lnTo>
                  <a:lnTo>
                    <a:pt x="12" y="353"/>
                  </a:lnTo>
                  <a:lnTo>
                    <a:pt x="3" y="342"/>
                  </a:lnTo>
                  <a:lnTo>
                    <a:pt x="0" y="329"/>
                  </a:lnTo>
                  <a:lnTo>
                    <a:pt x="1" y="315"/>
                  </a:lnTo>
                  <a:lnTo>
                    <a:pt x="7" y="305"/>
                  </a:lnTo>
                  <a:lnTo>
                    <a:pt x="248" y="12"/>
                  </a:lnTo>
                  <a:lnTo>
                    <a:pt x="260" y="3"/>
                  </a:lnTo>
                  <a:lnTo>
                    <a:pt x="2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Freeform 52">
              <a:extLst>
                <a:ext uri="{FF2B5EF4-FFF2-40B4-BE49-F238E27FC236}">
                  <a16:creationId xmlns:a16="http://schemas.microsoft.com/office/drawing/2014/main" id="{3E8E1259-09E7-96B3-FDCA-2DD09D4966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7538" y="1846263"/>
              <a:ext cx="427038" cy="339725"/>
            </a:xfrm>
            <a:custGeom>
              <a:avLst/>
              <a:gdLst>
                <a:gd name="T0" fmla="*/ 36 w 537"/>
                <a:gd name="T1" fmla="*/ 0 h 430"/>
                <a:gd name="T2" fmla="*/ 501 w 537"/>
                <a:gd name="T3" fmla="*/ 0 h 430"/>
                <a:gd name="T4" fmla="*/ 516 w 537"/>
                <a:gd name="T5" fmla="*/ 3 h 430"/>
                <a:gd name="T6" fmla="*/ 527 w 537"/>
                <a:gd name="T7" fmla="*/ 11 h 430"/>
                <a:gd name="T8" fmla="*/ 534 w 537"/>
                <a:gd name="T9" fmla="*/ 21 h 430"/>
                <a:gd name="T10" fmla="*/ 537 w 537"/>
                <a:gd name="T11" fmla="*/ 36 h 430"/>
                <a:gd name="T12" fmla="*/ 537 w 537"/>
                <a:gd name="T13" fmla="*/ 394 h 430"/>
                <a:gd name="T14" fmla="*/ 534 w 537"/>
                <a:gd name="T15" fmla="*/ 407 h 430"/>
                <a:gd name="T16" fmla="*/ 527 w 537"/>
                <a:gd name="T17" fmla="*/ 419 h 430"/>
                <a:gd name="T18" fmla="*/ 516 w 537"/>
                <a:gd name="T19" fmla="*/ 427 h 430"/>
                <a:gd name="T20" fmla="*/ 501 w 537"/>
                <a:gd name="T21" fmla="*/ 430 h 430"/>
                <a:gd name="T22" fmla="*/ 488 w 537"/>
                <a:gd name="T23" fmla="*/ 427 h 430"/>
                <a:gd name="T24" fmla="*/ 476 w 537"/>
                <a:gd name="T25" fmla="*/ 419 h 430"/>
                <a:gd name="T26" fmla="*/ 468 w 537"/>
                <a:gd name="T27" fmla="*/ 407 h 430"/>
                <a:gd name="T28" fmla="*/ 465 w 537"/>
                <a:gd name="T29" fmla="*/ 394 h 430"/>
                <a:gd name="T30" fmla="*/ 465 w 537"/>
                <a:gd name="T31" fmla="*/ 72 h 430"/>
                <a:gd name="T32" fmla="*/ 36 w 537"/>
                <a:gd name="T33" fmla="*/ 72 h 430"/>
                <a:gd name="T34" fmla="*/ 22 w 537"/>
                <a:gd name="T35" fmla="*/ 69 h 430"/>
                <a:gd name="T36" fmla="*/ 10 w 537"/>
                <a:gd name="T37" fmla="*/ 62 h 430"/>
                <a:gd name="T38" fmla="*/ 3 w 537"/>
                <a:gd name="T39" fmla="*/ 50 h 430"/>
                <a:gd name="T40" fmla="*/ 0 w 537"/>
                <a:gd name="T41" fmla="*/ 36 h 430"/>
                <a:gd name="T42" fmla="*/ 3 w 537"/>
                <a:gd name="T43" fmla="*/ 21 h 430"/>
                <a:gd name="T44" fmla="*/ 10 w 537"/>
                <a:gd name="T45" fmla="*/ 11 h 430"/>
                <a:gd name="T46" fmla="*/ 22 w 537"/>
                <a:gd name="T47" fmla="*/ 3 h 430"/>
                <a:gd name="T48" fmla="*/ 36 w 537"/>
                <a:gd name="T49" fmla="*/ 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37" h="430">
                  <a:moveTo>
                    <a:pt x="36" y="0"/>
                  </a:moveTo>
                  <a:lnTo>
                    <a:pt x="501" y="0"/>
                  </a:lnTo>
                  <a:lnTo>
                    <a:pt x="516" y="3"/>
                  </a:lnTo>
                  <a:lnTo>
                    <a:pt x="527" y="11"/>
                  </a:lnTo>
                  <a:lnTo>
                    <a:pt x="534" y="21"/>
                  </a:lnTo>
                  <a:lnTo>
                    <a:pt x="537" y="36"/>
                  </a:lnTo>
                  <a:lnTo>
                    <a:pt x="537" y="394"/>
                  </a:lnTo>
                  <a:lnTo>
                    <a:pt x="534" y="407"/>
                  </a:lnTo>
                  <a:lnTo>
                    <a:pt x="527" y="419"/>
                  </a:lnTo>
                  <a:lnTo>
                    <a:pt x="516" y="427"/>
                  </a:lnTo>
                  <a:lnTo>
                    <a:pt x="501" y="430"/>
                  </a:lnTo>
                  <a:lnTo>
                    <a:pt x="488" y="427"/>
                  </a:lnTo>
                  <a:lnTo>
                    <a:pt x="476" y="419"/>
                  </a:lnTo>
                  <a:lnTo>
                    <a:pt x="468" y="407"/>
                  </a:lnTo>
                  <a:lnTo>
                    <a:pt x="465" y="394"/>
                  </a:lnTo>
                  <a:lnTo>
                    <a:pt x="465" y="72"/>
                  </a:lnTo>
                  <a:lnTo>
                    <a:pt x="36" y="72"/>
                  </a:lnTo>
                  <a:lnTo>
                    <a:pt x="22" y="69"/>
                  </a:lnTo>
                  <a:lnTo>
                    <a:pt x="10" y="62"/>
                  </a:lnTo>
                  <a:lnTo>
                    <a:pt x="3" y="50"/>
                  </a:lnTo>
                  <a:lnTo>
                    <a:pt x="0" y="36"/>
                  </a:lnTo>
                  <a:lnTo>
                    <a:pt x="3" y="21"/>
                  </a:lnTo>
                  <a:lnTo>
                    <a:pt x="10" y="11"/>
                  </a:lnTo>
                  <a:lnTo>
                    <a:pt x="22" y="3"/>
                  </a:lnTo>
                  <a:lnTo>
                    <a:pt x="3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Freeform 53">
              <a:extLst>
                <a:ext uri="{FF2B5EF4-FFF2-40B4-BE49-F238E27FC236}">
                  <a16:creationId xmlns:a16="http://schemas.microsoft.com/office/drawing/2014/main" id="{006F26BB-76D1-CE18-B5DC-C91885B8AD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4938" y="2439988"/>
              <a:ext cx="427038" cy="430213"/>
            </a:xfrm>
            <a:custGeom>
              <a:avLst/>
              <a:gdLst>
                <a:gd name="T0" fmla="*/ 36 w 537"/>
                <a:gd name="T1" fmla="*/ 0 h 541"/>
                <a:gd name="T2" fmla="*/ 51 w 537"/>
                <a:gd name="T3" fmla="*/ 3 h 541"/>
                <a:gd name="T4" fmla="*/ 61 w 537"/>
                <a:gd name="T5" fmla="*/ 10 h 541"/>
                <a:gd name="T6" fmla="*/ 69 w 537"/>
                <a:gd name="T7" fmla="*/ 22 h 541"/>
                <a:gd name="T8" fmla="*/ 72 w 537"/>
                <a:gd name="T9" fmla="*/ 35 h 541"/>
                <a:gd name="T10" fmla="*/ 72 w 537"/>
                <a:gd name="T11" fmla="*/ 469 h 541"/>
                <a:gd name="T12" fmla="*/ 501 w 537"/>
                <a:gd name="T13" fmla="*/ 469 h 541"/>
                <a:gd name="T14" fmla="*/ 516 w 537"/>
                <a:gd name="T15" fmla="*/ 472 h 541"/>
                <a:gd name="T16" fmla="*/ 527 w 537"/>
                <a:gd name="T17" fmla="*/ 480 h 541"/>
                <a:gd name="T18" fmla="*/ 536 w 537"/>
                <a:gd name="T19" fmla="*/ 490 h 541"/>
                <a:gd name="T20" fmla="*/ 537 w 537"/>
                <a:gd name="T21" fmla="*/ 505 h 541"/>
                <a:gd name="T22" fmla="*/ 536 w 537"/>
                <a:gd name="T23" fmla="*/ 519 h 541"/>
                <a:gd name="T24" fmla="*/ 527 w 537"/>
                <a:gd name="T25" fmla="*/ 531 h 541"/>
                <a:gd name="T26" fmla="*/ 516 w 537"/>
                <a:gd name="T27" fmla="*/ 538 h 541"/>
                <a:gd name="T28" fmla="*/ 501 w 537"/>
                <a:gd name="T29" fmla="*/ 541 h 541"/>
                <a:gd name="T30" fmla="*/ 36 w 537"/>
                <a:gd name="T31" fmla="*/ 541 h 541"/>
                <a:gd name="T32" fmla="*/ 22 w 537"/>
                <a:gd name="T33" fmla="*/ 538 h 541"/>
                <a:gd name="T34" fmla="*/ 10 w 537"/>
                <a:gd name="T35" fmla="*/ 531 h 541"/>
                <a:gd name="T36" fmla="*/ 3 w 537"/>
                <a:gd name="T37" fmla="*/ 519 h 541"/>
                <a:gd name="T38" fmla="*/ 0 w 537"/>
                <a:gd name="T39" fmla="*/ 505 h 541"/>
                <a:gd name="T40" fmla="*/ 0 w 537"/>
                <a:gd name="T41" fmla="*/ 35 h 541"/>
                <a:gd name="T42" fmla="*/ 3 w 537"/>
                <a:gd name="T43" fmla="*/ 22 h 541"/>
                <a:gd name="T44" fmla="*/ 10 w 537"/>
                <a:gd name="T45" fmla="*/ 10 h 541"/>
                <a:gd name="T46" fmla="*/ 22 w 537"/>
                <a:gd name="T47" fmla="*/ 3 h 541"/>
                <a:gd name="T48" fmla="*/ 36 w 537"/>
                <a:gd name="T49" fmla="*/ 0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37" h="541">
                  <a:moveTo>
                    <a:pt x="36" y="0"/>
                  </a:moveTo>
                  <a:lnTo>
                    <a:pt x="51" y="3"/>
                  </a:lnTo>
                  <a:lnTo>
                    <a:pt x="61" y="10"/>
                  </a:lnTo>
                  <a:lnTo>
                    <a:pt x="69" y="22"/>
                  </a:lnTo>
                  <a:lnTo>
                    <a:pt x="72" y="35"/>
                  </a:lnTo>
                  <a:lnTo>
                    <a:pt x="72" y="469"/>
                  </a:lnTo>
                  <a:lnTo>
                    <a:pt x="501" y="469"/>
                  </a:lnTo>
                  <a:lnTo>
                    <a:pt x="516" y="472"/>
                  </a:lnTo>
                  <a:lnTo>
                    <a:pt x="527" y="480"/>
                  </a:lnTo>
                  <a:lnTo>
                    <a:pt x="536" y="490"/>
                  </a:lnTo>
                  <a:lnTo>
                    <a:pt x="537" y="505"/>
                  </a:lnTo>
                  <a:lnTo>
                    <a:pt x="536" y="519"/>
                  </a:lnTo>
                  <a:lnTo>
                    <a:pt x="527" y="531"/>
                  </a:lnTo>
                  <a:lnTo>
                    <a:pt x="516" y="538"/>
                  </a:lnTo>
                  <a:lnTo>
                    <a:pt x="501" y="541"/>
                  </a:lnTo>
                  <a:lnTo>
                    <a:pt x="36" y="541"/>
                  </a:lnTo>
                  <a:lnTo>
                    <a:pt x="22" y="538"/>
                  </a:lnTo>
                  <a:lnTo>
                    <a:pt x="10" y="531"/>
                  </a:lnTo>
                  <a:lnTo>
                    <a:pt x="3" y="519"/>
                  </a:lnTo>
                  <a:lnTo>
                    <a:pt x="0" y="505"/>
                  </a:lnTo>
                  <a:lnTo>
                    <a:pt x="0" y="35"/>
                  </a:lnTo>
                  <a:lnTo>
                    <a:pt x="3" y="22"/>
                  </a:lnTo>
                  <a:lnTo>
                    <a:pt x="10" y="10"/>
                  </a:lnTo>
                  <a:lnTo>
                    <a:pt x="22" y="3"/>
                  </a:lnTo>
                  <a:lnTo>
                    <a:pt x="3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43" name="Group 141">
            <a:extLst>
              <a:ext uri="{FF2B5EF4-FFF2-40B4-BE49-F238E27FC236}">
                <a16:creationId xmlns:a16="http://schemas.microsoft.com/office/drawing/2014/main" id="{B801DA51-7642-BE82-86BB-6460356D1A4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998062" y="3248137"/>
            <a:ext cx="402801" cy="318494"/>
            <a:chOff x="3725" y="1714"/>
            <a:chExt cx="344" cy="272"/>
          </a:xfrm>
          <a:solidFill>
            <a:schemeClr val="accent1"/>
          </a:solidFill>
        </p:grpSpPr>
        <p:sp>
          <p:nvSpPr>
            <p:cNvPr id="144" name="Freeform 142">
              <a:extLst>
                <a:ext uri="{FF2B5EF4-FFF2-40B4-BE49-F238E27FC236}">
                  <a16:creationId xmlns:a16="http://schemas.microsoft.com/office/drawing/2014/main" id="{1E72EE39-C151-D119-D916-414B9E2301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25" y="1714"/>
              <a:ext cx="344" cy="272"/>
            </a:xfrm>
            <a:custGeom>
              <a:avLst/>
              <a:gdLst>
                <a:gd name="T0" fmla="*/ 258 w 288"/>
                <a:gd name="T1" fmla="*/ 228 h 228"/>
                <a:gd name="T2" fmla="*/ 30 w 288"/>
                <a:gd name="T3" fmla="*/ 228 h 228"/>
                <a:gd name="T4" fmla="*/ 0 w 288"/>
                <a:gd name="T5" fmla="*/ 198 h 228"/>
                <a:gd name="T6" fmla="*/ 0 w 288"/>
                <a:gd name="T7" fmla="*/ 30 h 228"/>
                <a:gd name="T8" fmla="*/ 30 w 288"/>
                <a:gd name="T9" fmla="*/ 0 h 228"/>
                <a:gd name="T10" fmla="*/ 258 w 288"/>
                <a:gd name="T11" fmla="*/ 0 h 228"/>
                <a:gd name="T12" fmla="*/ 288 w 288"/>
                <a:gd name="T13" fmla="*/ 30 h 228"/>
                <a:gd name="T14" fmla="*/ 288 w 288"/>
                <a:gd name="T15" fmla="*/ 198 h 228"/>
                <a:gd name="T16" fmla="*/ 258 w 288"/>
                <a:gd name="T17" fmla="*/ 228 h 228"/>
                <a:gd name="T18" fmla="*/ 30 w 288"/>
                <a:gd name="T19" fmla="*/ 12 h 228"/>
                <a:gd name="T20" fmla="*/ 12 w 288"/>
                <a:gd name="T21" fmla="*/ 30 h 228"/>
                <a:gd name="T22" fmla="*/ 12 w 288"/>
                <a:gd name="T23" fmla="*/ 198 h 228"/>
                <a:gd name="T24" fmla="*/ 30 w 288"/>
                <a:gd name="T25" fmla="*/ 216 h 228"/>
                <a:gd name="T26" fmla="*/ 258 w 288"/>
                <a:gd name="T27" fmla="*/ 216 h 228"/>
                <a:gd name="T28" fmla="*/ 276 w 288"/>
                <a:gd name="T29" fmla="*/ 198 h 228"/>
                <a:gd name="T30" fmla="*/ 276 w 288"/>
                <a:gd name="T31" fmla="*/ 30 h 228"/>
                <a:gd name="T32" fmla="*/ 258 w 288"/>
                <a:gd name="T33" fmla="*/ 12 h 228"/>
                <a:gd name="T34" fmla="*/ 30 w 288"/>
                <a:gd name="T35" fmla="*/ 12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8" h="228">
                  <a:moveTo>
                    <a:pt x="258" y="228"/>
                  </a:moveTo>
                  <a:cubicBezTo>
                    <a:pt x="30" y="228"/>
                    <a:pt x="30" y="228"/>
                    <a:pt x="30" y="228"/>
                  </a:cubicBezTo>
                  <a:cubicBezTo>
                    <a:pt x="13" y="228"/>
                    <a:pt x="0" y="214"/>
                    <a:pt x="0" y="198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13"/>
                    <a:pt x="13" y="0"/>
                    <a:pt x="30" y="0"/>
                  </a:cubicBezTo>
                  <a:cubicBezTo>
                    <a:pt x="258" y="0"/>
                    <a:pt x="258" y="0"/>
                    <a:pt x="258" y="0"/>
                  </a:cubicBezTo>
                  <a:cubicBezTo>
                    <a:pt x="275" y="0"/>
                    <a:pt x="288" y="13"/>
                    <a:pt x="288" y="30"/>
                  </a:cubicBezTo>
                  <a:cubicBezTo>
                    <a:pt x="288" y="198"/>
                    <a:pt x="288" y="198"/>
                    <a:pt x="288" y="198"/>
                  </a:cubicBezTo>
                  <a:cubicBezTo>
                    <a:pt x="288" y="214"/>
                    <a:pt x="275" y="228"/>
                    <a:pt x="258" y="228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198"/>
                    <a:pt x="12" y="198"/>
                    <a:pt x="12" y="198"/>
                  </a:cubicBezTo>
                  <a:cubicBezTo>
                    <a:pt x="12" y="208"/>
                    <a:pt x="20" y="216"/>
                    <a:pt x="30" y="216"/>
                  </a:cubicBezTo>
                  <a:cubicBezTo>
                    <a:pt x="258" y="216"/>
                    <a:pt x="258" y="216"/>
                    <a:pt x="258" y="216"/>
                  </a:cubicBezTo>
                  <a:cubicBezTo>
                    <a:pt x="268" y="216"/>
                    <a:pt x="276" y="208"/>
                    <a:pt x="276" y="198"/>
                  </a:cubicBezTo>
                  <a:cubicBezTo>
                    <a:pt x="276" y="30"/>
                    <a:pt x="276" y="30"/>
                    <a:pt x="276" y="30"/>
                  </a:cubicBezTo>
                  <a:cubicBezTo>
                    <a:pt x="276" y="20"/>
                    <a:pt x="268" y="12"/>
                    <a:pt x="258" y="12"/>
                  </a:cubicBezTo>
                  <a:lnTo>
                    <a:pt x="3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45" name="Freeform 143">
              <a:extLst>
                <a:ext uri="{FF2B5EF4-FFF2-40B4-BE49-F238E27FC236}">
                  <a16:creationId xmlns:a16="http://schemas.microsoft.com/office/drawing/2014/main" id="{90430DE1-25B4-92C0-6776-A2DE93B350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5" y="1786"/>
              <a:ext cx="344" cy="14"/>
            </a:xfrm>
            <a:custGeom>
              <a:avLst/>
              <a:gdLst>
                <a:gd name="T0" fmla="*/ 282 w 288"/>
                <a:gd name="T1" fmla="*/ 12 h 12"/>
                <a:gd name="T2" fmla="*/ 6 w 288"/>
                <a:gd name="T3" fmla="*/ 12 h 12"/>
                <a:gd name="T4" fmla="*/ 0 w 288"/>
                <a:gd name="T5" fmla="*/ 6 h 12"/>
                <a:gd name="T6" fmla="*/ 6 w 288"/>
                <a:gd name="T7" fmla="*/ 0 h 12"/>
                <a:gd name="T8" fmla="*/ 282 w 288"/>
                <a:gd name="T9" fmla="*/ 0 h 12"/>
                <a:gd name="T10" fmla="*/ 288 w 288"/>
                <a:gd name="T11" fmla="*/ 6 h 12"/>
                <a:gd name="T12" fmla="*/ 282 w 28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8" h="12">
                  <a:moveTo>
                    <a:pt x="28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5" y="0"/>
                    <a:pt x="288" y="3"/>
                    <a:pt x="288" y="6"/>
                  </a:cubicBezTo>
                  <a:cubicBezTo>
                    <a:pt x="288" y="9"/>
                    <a:pt x="285" y="12"/>
                    <a:pt x="28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46" name="Oval 144">
              <a:extLst>
                <a:ext uri="{FF2B5EF4-FFF2-40B4-BE49-F238E27FC236}">
                  <a16:creationId xmlns:a16="http://schemas.microsoft.com/office/drawing/2014/main" id="{14CC1A7F-4CFC-AD81-214C-4E01B97A7A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8" y="1743"/>
              <a:ext cx="29" cy="2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47" name="Oval 145">
              <a:extLst>
                <a:ext uri="{FF2B5EF4-FFF2-40B4-BE49-F238E27FC236}">
                  <a16:creationId xmlns:a16="http://schemas.microsoft.com/office/drawing/2014/main" id="{FA176AFD-AD73-9734-C7FF-1EBD100A7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" y="1743"/>
              <a:ext cx="28" cy="2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48" name="Oval 146">
              <a:extLst>
                <a:ext uri="{FF2B5EF4-FFF2-40B4-BE49-F238E27FC236}">
                  <a16:creationId xmlns:a16="http://schemas.microsoft.com/office/drawing/2014/main" id="{F0617C27-2D70-75D2-E0AE-E7484C6AB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4" y="1743"/>
              <a:ext cx="28" cy="2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49" name="Freeform 147">
              <a:extLst>
                <a:ext uri="{FF2B5EF4-FFF2-40B4-BE49-F238E27FC236}">
                  <a16:creationId xmlns:a16="http://schemas.microsoft.com/office/drawing/2014/main" id="{BDF42DA6-E968-660C-55F1-4DBD8A1FE2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9" y="1830"/>
              <a:ext cx="62" cy="111"/>
            </a:xfrm>
            <a:custGeom>
              <a:avLst/>
              <a:gdLst>
                <a:gd name="T0" fmla="*/ 26 w 52"/>
                <a:gd name="T1" fmla="*/ 93 h 93"/>
                <a:gd name="T2" fmla="*/ 0 w 52"/>
                <a:gd name="T3" fmla="*/ 67 h 93"/>
                <a:gd name="T4" fmla="*/ 6 w 52"/>
                <a:gd name="T5" fmla="*/ 61 h 93"/>
                <a:gd name="T6" fmla="*/ 12 w 52"/>
                <a:gd name="T7" fmla="*/ 67 h 93"/>
                <a:gd name="T8" fmla="*/ 26 w 52"/>
                <a:gd name="T9" fmla="*/ 81 h 93"/>
                <a:gd name="T10" fmla="*/ 40 w 52"/>
                <a:gd name="T11" fmla="*/ 67 h 93"/>
                <a:gd name="T12" fmla="*/ 26 w 52"/>
                <a:gd name="T13" fmla="*/ 53 h 93"/>
                <a:gd name="T14" fmla="*/ 0 w 52"/>
                <a:gd name="T15" fmla="*/ 27 h 93"/>
                <a:gd name="T16" fmla="*/ 26 w 52"/>
                <a:gd name="T17" fmla="*/ 0 h 93"/>
                <a:gd name="T18" fmla="*/ 52 w 52"/>
                <a:gd name="T19" fmla="*/ 27 h 93"/>
                <a:gd name="T20" fmla="*/ 46 w 52"/>
                <a:gd name="T21" fmla="*/ 33 h 93"/>
                <a:gd name="T22" fmla="*/ 40 w 52"/>
                <a:gd name="T23" fmla="*/ 27 h 93"/>
                <a:gd name="T24" fmla="*/ 26 w 52"/>
                <a:gd name="T25" fmla="*/ 12 h 93"/>
                <a:gd name="T26" fmla="*/ 12 w 52"/>
                <a:gd name="T27" fmla="*/ 27 h 93"/>
                <a:gd name="T28" fmla="*/ 26 w 52"/>
                <a:gd name="T29" fmla="*/ 41 h 93"/>
                <a:gd name="T30" fmla="*/ 52 w 52"/>
                <a:gd name="T31" fmla="*/ 67 h 93"/>
                <a:gd name="T32" fmla="*/ 26 w 52"/>
                <a:gd name="T33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2" h="93">
                  <a:moveTo>
                    <a:pt x="26" y="93"/>
                  </a:moveTo>
                  <a:cubicBezTo>
                    <a:pt x="12" y="93"/>
                    <a:pt x="0" y="82"/>
                    <a:pt x="0" y="67"/>
                  </a:cubicBezTo>
                  <a:cubicBezTo>
                    <a:pt x="0" y="64"/>
                    <a:pt x="2" y="61"/>
                    <a:pt x="6" y="61"/>
                  </a:cubicBezTo>
                  <a:cubicBezTo>
                    <a:pt x="9" y="61"/>
                    <a:pt x="12" y="64"/>
                    <a:pt x="12" y="67"/>
                  </a:cubicBezTo>
                  <a:cubicBezTo>
                    <a:pt x="12" y="75"/>
                    <a:pt x="18" y="81"/>
                    <a:pt x="26" y="81"/>
                  </a:cubicBezTo>
                  <a:cubicBezTo>
                    <a:pt x="34" y="81"/>
                    <a:pt x="40" y="75"/>
                    <a:pt x="40" y="67"/>
                  </a:cubicBezTo>
                  <a:cubicBezTo>
                    <a:pt x="40" y="59"/>
                    <a:pt x="34" y="53"/>
                    <a:pt x="26" y="53"/>
                  </a:cubicBezTo>
                  <a:cubicBezTo>
                    <a:pt x="12" y="53"/>
                    <a:pt x="0" y="41"/>
                    <a:pt x="0" y="27"/>
                  </a:cubicBezTo>
                  <a:cubicBezTo>
                    <a:pt x="0" y="12"/>
                    <a:pt x="12" y="0"/>
                    <a:pt x="26" y="0"/>
                  </a:cubicBezTo>
                  <a:cubicBezTo>
                    <a:pt x="41" y="0"/>
                    <a:pt x="52" y="12"/>
                    <a:pt x="52" y="27"/>
                  </a:cubicBezTo>
                  <a:cubicBezTo>
                    <a:pt x="52" y="30"/>
                    <a:pt x="50" y="33"/>
                    <a:pt x="46" y="33"/>
                  </a:cubicBezTo>
                  <a:cubicBezTo>
                    <a:pt x="43" y="33"/>
                    <a:pt x="40" y="30"/>
                    <a:pt x="40" y="27"/>
                  </a:cubicBezTo>
                  <a:cubicBezTo>
                    <a:pt x="40" y="19"/>
                    <a:pt x="34" y="12"/>
                    <a:pt x="26" y="12"/>
                  </a:cubicBezTo>
                  <a:cubicBezTo>
                    <a:pt x="18" y="12"/>
                    <a:pt x="12" y="19"/>
                    <a:pt x="12" y="27"/>
                  </a:cubicBezTo>
                  <a:cubicBezTo>
                    <a:pt x="12" y="34"/>
                    <a:pt x="18" y="41"/>
                    <a:pt x="26" y="41"/>
                  </a:cubicBezTo>
                  <a:cubicBezTo>
                    <a:pt x="41" y="41"/>
                    <a:pt x="52" y="53"/>
                    <a:pt x="52" y="67"/>
                  </a:cubicBezTo>
                  <a:cubicBezTo>
                    <a:pt x="52" y="82"/>
                    <a:pt x="41" y="93"/>
                    <a:pt x="26" y="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50" name="Freeform 148">
              <a:extLst>
                <a:ext uri="{FF2B5EF4-FFF2-40B4-BE49-F238E27FC236}">
                  <a16:creationId xmlns:a16="http://schemas.microsoft.com/office/drawing/2014/main" id="{9A5F41A6-A378-56FF-BFF9-3D0BC22329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2" y="1927"/>
              <a:ext cx="15" cy="31"/>
            </a:xfrm>
            <a:custGeom>
              <a:avLst/>
              <a:gdLst>
                <a:gd name="T0" fmla="*/ 6 w 12"/>
                <a:gd name="T1" fmla="*/ 26 h 26"/>
                <a:gd name="T2" fmla="*/ 0 w 12"/>
                <a:gd name="T3" fmla="*/ 20 h 26"/>
                <a:gd name="T4" fmla="*/ 0 w 12"/>
                <a:gd name="T5" fmla="*/ 6 h 26"/>
                <a:gd name="T6" fmla="*/ 6 w 12"/>
                <a:gd name="T7" fmla="*/ 0 h 26"/>
                <a:gd name="T8" fmla="*/ 12 w 12"/>
                <a:gd name="T9" fmla="*/ 6 h 26"/>
                <a:gd name="T10" fmla="*/ 12 w 12"/>
                <a:gd name="T11" fmla="*/ 20 h 26"/>
                <a:gd name="T12" fmla="*/ 6 w 12"/>
                <a:gd name="T13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6">
                  <a:moveTo>
                    <a:pt x="6" y="26"/>
                  </a:moveTo>
                  <a:cubicBezTo>
                    <a:pt x="3" y="26"/>
                    <a:pt x="0" y="23"/>
                    <a:pt x="0" y="2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3"/>
                    <a:pt x="9" y="26"/>
                    <a:pt x="6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51" name="Freeform 149">
              <a:extLst>
                <a:ext uri="{FF2B5EF4-FFF2-40B4-BE49-F238E27FC236}">
                  <a16:creationId xmlns:a16="http://schemas.microsoft.com/office/drawing/2014/main" id="{FE9C8E99-8A50-F1D0-3E7C-2C7530BE0C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2" y="1814"/>
              <a:ext cx="15" cy="30"/>
            </a:xfrm>
            <a:custGeom>
              <a:avLst/>
              <a:gdLst>
                <a:gd name="T0" fmla="*/ 6 w 12"/>
                <a:gd name="T1" fmla="*/ 25 h 25"/>
                <a:gd name="T2" fmla="*/ 0 w 12"/>
                <a:gd name="T3" fmla="*/ 19 h 25"/>
                <a:gd name="T4" fmla="*/ 0 w 12"/>
                <a:gd name="T5" fmla="*/ 6 h 25"/>
                <a:gd name="T6" fmla="*/ 6 w 12"/>
                <a:gd name="T7" fmla="*/ 0 h 25"/>
                <a:gd name="T8" fmla="*/ 12 w 12"/>
                <a:gd name="T9" fmla="*/ 6 h 25"/>
                <a:gd name="T10" fmla="*/ 12 w 12"/>
                <a:gd name="T11" fmla="*/ 19 h 25"/>
                <a:gd name="T12" fmla="*/ 6 w 12"/>
                <a:gd name="T13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5">
                  <a:moveTo>
                    <a:pt x="6" y="25"/>
                  </a:moveTo>
                  <a:cubicBezTo>
                    <a:pt x="3" y="25"/>
                    <a:pt x="0" y="23"/>
                    <a:pt x="0" y="1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3"/>
                    <a:pt x="9" y="25"/>
                    <a:pt x="6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163" name="Group 248">
            <a:extLst>
              <a:ext uri="{FF2B5EF4-FFF2-40B4-BE49-F238E27FC236}">
                <a16:creationId xmlns:a16="http://schemas.microsoft.com/office/drawing/2014/main" id="{88523156-2401-B8DA-FB7E-6566B6A33AD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015419" y="3860074"/>
            <a:ext cx="317691" cy="316207"/>
            <a:chOff x="351" y="438"/>
            <a:chExt cx="428" cy="426"/>
          </a:xfrm>
          <a:solidFill>
            <a:schemeClr val="accent1"/>
          </a:solidFill>
        </p:grpSpPr>
        <p:sp>
          <p:nvSpPr>
            <p:cNvPr id="164" name="Freeform 249">
              <a:extLst>
                <a:ext uri="{FF2B5EF4-FFF2-40B4-BE49-F238E27FC236}">
                  <a16:creationId xmlns:a16="http://schemas.microsoft.com/office/drawing/2014/main" id="{1AAB2232-AFF6-CBE9-1709-23BEA29E23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" y="527"/>
              <a:ext cx="426" cy="124"/>
            </a:xfrm>
            <a:custGeom>
              <a:avLst/>
              <a:gdLst>
                <a:gd name="T0" fmla="*/ 282 w 288"/>
                <a:gd name="T1" fmla="*/ 84 h 84"/>
                <a:gd name="T2" fmla="*/ 6 w 288"/>
                <a:gd name="T3" fmla="*/ 84 h 84"/>
                <a:gd name="T4" fmla="*/ 0 w 288"/>
                <a:gd name="T5" fmla="*/ 78 h 84"/>
                <a:gd name="T6" fmla="*/ 0 w 288"/>
                <a:gd name="T7" fmla="*/ 6 h 84"/>
                <a:gd name="T8" fmla="*/ 6 w 288"/>
                <a:gd name="T9" fmla="*/ 0 h 84"/>
                <a:gd name="T10" fmla="*/ 282 w 288"/>
                <a:gd name="T11" fmla="*/ 0 h 84"/>
                <a:gd name="T12" fmla="*/ 288 w 288"/>
                <a:gd name="T13" fmla="*/ 6 h 84"/>
                <a:gd name="T14" fmla="*/ 288 w 288"/>
                <a:gd name="T15" fmla="*/ 78 h 84"/>
                <a:gd name="T16" fmla="*/ 282 w 288"/>
                <a:gd name="T17" fmla="*/ 84 h 84"/>
                <a:gd name="T18" fmla="*/ 12 w 288"/>
                <a:gd name="T19" fmla="*/ 72 h 84"/>
                <a:gd name="T20" fmla="*/ 276 w 288"/>
                <a:gd name="T21" fmla="*/ 72 h 84"/>
                <a:gd name="T22" fmla="*/ 276 w 288"/>
                <a:gd name="T23" fmla="*/ 12 h 84"/>
                <a:gd name="T24" fmla="*/ 12 w 288"/>
                <a:gd name="T25" fmla="*/ 12 h 84"/>
                <a:gd name="T26" fmla="*/ 12 w 288"/>
                <a:gd name="T27" fmla="*/ 7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8" h="84">
                  <a:moveTo>
                    <a:pt x="282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78"/>
                    <a:pt x="288" y="78"/>
                    <a:pt x="288" y="78"/>
                  </a:cubicBezTo>
                  <a:cubicBezTo>
                    <a:pt x="288" y="81"/>
                    <a:pt x="286" y="84"/>
                    <a:pt x="282" y="84"/>
                  </a:cubicBezTo>
                  <a:close/>
                  <a:moveTo>
                    <a:pt x="12" y="72"/>
                  </a:moveTo>
                  <a:cubicBezTo>
                    <a:pt x="276" y="72"/>
                    <a:pt x="276" y="72"/>
                    <a:pt x="276" y="72"/>
                  </a:cubicBezTo>
                  <a:cubicBezTo>
                    <a:pt x="276" y="12"/>
                    <a:pt x="276" y="12"/>
                    <a:pt x="27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65" name="Freeform 250">
              <a:extLst>
                <a:ext uri="{FF2B5EF4-FFF2-40B4-BE49-F238E27FC236}">
                  <a16:creationId xmlns:a16="http://schemas.microsoft.com/office/drawing/2014/main" id="{16353E0B-38A4-FB9C-5B72-8339710F24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438"/>
              <a:ext cx="428" cy="106"/>
            </a:xfrm>
            <a:custGeom>
              <a:avLst/>
              <a:gdLst>
                <a:gd name="T0" fmla="*/ 282 w 289"/>
                <a:gd name="T1" fmla="*/ 72 h 72"/>
                <a:gd name="T2" fmla="*/ 278 w 289"/>
                <a:gd name="T3" fmla="*/ 70 h 72"/>
                <a:gd name="T4" fmla="*/ 208 w 289"/>
                <a:gd name="T5" fmla="*/ 12 h 72"/>
                <a:gd name="T6" fmla="*/ 80 w 289"/>
                <a:gd name="T7" fmla="*/ 12 h 72"/>
                <a:gd name="T8" fmla="*/ 10 w 289"/>
                <a:gd name="T9" fmla="*/ 70 h 72"/>
                <a:gd name="T10" fmla="*/ 2 w 289"/>
                <a:gd name="T11" fmla="*/ 69 h 72"/>
                <a:gd name="T12" fmla="*/ 2 w 289"/>
                <a:gd name="T13" fmla="*/ 61 h 72"/>
                <a:gd name="T14" fmla="*/ 74 w 289"/>
                <a:gd name="T15" fmla="*/ 1 h 72"/>
                <a:gd name="T16" fmla="*/ 78 w 289"/>
                <a:gd name="T17" fmla="*/ 0 h 72"/>
                <a:gd name="T18" fmla="*/ 210 w 289"/>
                <a:gd name="T19" fmla="*/ 0 h 72"/>
                <a:gd name="T20" fmla="*/ 214 w 289"/>
                <a:gd name="T21" fmla="*/ 1 h 72"/>
                <a:gd name="T22" fmla="*/ 286 w 289"/>
                <a:gd name="T23" fmla="*/ 61 h 72"/>
                <a:gd name="T24" fmla="*/ 287 w 289"/>
                <a:gd name="T25" fmla="*/ 69 h 72"/>
                <a:gd name="T26" fmla="*/ 282 w 289"/>
                <a:gd name="T27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9" h="72">
                  <a:moveTo>
                    <a:pt x="282" y="72"/>
                  </a:moveTo>
                  <a:cubicBezTo>
                    <a:pt x="281" y="72"/>
                    <a:pt x="280" y="71"/>
                    <a:pt x="278" y="70"/>
                  </a:cubicBezTo>
                  <a:cubicBezTo>
                    <a:pt x="208" y="12"/>
                    <a:pt x="208" y="12"/>
                    <a:pt x="208" y="12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10" y="70"/>
                    <a:pt x="10" y="70"/>
                    <a:pt x="10" y="70"/>
                  </a:cubicBezTo>
                  <a:cubicBezTo>
                    <a:pt x="8" y="72"/>
                    <a:pt x="4" y="72"/>
                    <a:pt x="2" y="69"/>
                  </a:cubicBezTo>
                  <a:cubicBezTo>
                    <a:pt x="0" y="67"/>
                    <a:pt x="0" y="63"/>
                    <a:pt x="2" y="61"/>
                  </a:cubicBezTo>
                  <a:cubicBezTo>
                    <a:pt x="74" y="1"/>
                    <a:pt x="74" y="1"/>
                    <a:pt x="74" y="1"/>
                  </a:cubicBezTo>
                  <a:cubicBezTo>
                    <a:pt x="75" y="0"/>
                    <a:pt x="77" y="0"/>
                    <a:pt x="78" y="0"/>
                  </a:cubicBezTo>
                  <a:cubicBezTo>
                    <a:pt x="210" y="0"/>
                    <a:pt x="210" y="0"/>
                    <a:pt x="210" y="0"/>
                  </a:cubicBezTo>
                  <a:cubicBezTo>
                    <a:pt x="212" y="0"/>
                    <a:pt x="213" y="0"/>
                    <a:pt x="214" y="1"/>
                  </a:cubicBezTo>
                  <a:cubicBezTo>
                    <a:pt x="286" y="61"/>
                    <a:pt x="286" y="61"/>
                    <a:pt x="286" y="61"/>
                  </a:cubicBezTo>
                  <a:cubicBezTo>
                    <a:pt x="289" y="63"/>
                    <a:pt x="289" y="67"/>
                    <a:pt x="287" y="69"/>
                  </a:cubicBezTo>
                  <a:cubicBezTo>
                    <a:pt x="286" y="71"/>
                    <a:pt x="284" y="72"/>
                    <a:pt x="282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66" name="Oval 251">
              <a:extLst>
                <a:ext uri="{FF2B5EF4-FFF2-40B4-BE49-F238E27FC236}">
                  <a16:creationId xmlns:a16="http://schemas.microsoft.com/office/drawing/2014/main" id="{6BE9E0E2-06FC-607C-C4B3-CC81A6C27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571"/>
              <a:ext cx="35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67" name="Oval 252">
              <a:extLst>
                <a:ext uri="{FF2B5EF4-FFF2-40B4-BE49-F238E27FC236}">
                  <a16:creationId xmlns:a16="http://schemas.microsoft.com/office/drawing/2014/main" id="{2DCE4800-0803-FEAA-768D-D216B1D796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571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68" name="Oval 253">
              <a:extLst>
                <a:ext uri="{FF2B5EF4-FFF2-40B4-BE49-F238E27FC236}">
                  <a16:creationId xmlns:a16="http://schemas.microsoft.com/office/drawing/2014/main" id="{0A43A0BC-0526-4E92-D7C2-4944136AF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571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69" name="Freeform 254">
              <a:extLst>
                <a:ext uri="{FF2B5EF4-FFF2-40B4-BE49-F238E27FC236}">
                  <a16:creationId xmlns:a16="http://schemas.microsoft.com/office/drawing/2014/main" id="{866E46D7-156F-1F8C-9DE1-55ECAD7F17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562"/>
              <a:ext cx="54" cy="54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70" name="Freeform 255">
              <a:extLst>
                <a:ext uri="{FF2B5EF4-FFF2-40B4-BE49-F238E27FC236}">
                  <a16:creationId xmlns:a16="http://schemas.microsoft.com/office/drawing/2014/main" id="{8EC3405C-6A09-42B5-E25A-757F271CC2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633"/>
              <a:ext cx="426" cy="125"/>
            </a:xfrm>
            <a:custGeom>
              <a:avLst/>
              <a:gdLst>
                <a:gd name="T0" fmla="*/ 282 w 288"/>
                <a:gd name="T1" fmla="*/ 84 h 84"/>
                <a:gd name="T2" fmla="*/ 6 w 288"/>
                <a:gd name="T3" fmla="*/ 84 h 84"/>
                <a:gd name="T4" fmla="*/ 0 w 288"/>
                <a:gd name="T5" fmla="*/ 78 h 84"/>
                <a:gd name="T6" fmla="*/ 0 w 288"/>
                <a:gd name="T7" fmla="*/ 6 h 84"/>
                <a:gd name="T8" fmla="*/ 6 w 288"/>
                <a:gd name="T9" fmla="*/ 0 h 84"/>
                <a:gd name="T10" fmla="*/ 12 w 288"/>
                <a:gd name="T11" fmla="*/ 6 h 84"/>
                <a:gd name="T12" fmla="*/ 12 w 288"/>
                <a:gd name="T13" fmla="*/ 72 h 84"/>
                <a:gd name="T14" fmla="*/ 276 w 288"/>
                <a:gd name="T15" fmla="*/ 72 h 84"/>
                <a:gd name="T16" fmla="*/ 276 w 288"/>
                <a:gd name="T17" fmla="*/ 6 h 84"/>
                <a:gd name="T18" fmla="*/ 282 w 288"/>
                <a:gd name="T19" fmla="*/ 0 h 84"/>
                <a:gd name="T20" fmla="*/ 288 w 288"/>
                <a:gd name="T21" fmla="*/ 6 h 84"/>
                <a:gd name="T22" fmla="*/ 288 w 288"/>
                <a:gd name="T23" fmla="*/ 78 h 84"/>
                <a:gd name="T24" fmla="*/ 282 w 288"/>
                <a:gd name="T25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8" h="84">
                  <a:moveTo>
                    <a:pt x="282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276" y="72"/>
                    <a:pt x="276" y="72"/>
                    <a:pt x="276" y="72"/>
                  </a:cubicBezTo>
                  <a:cubicBezTo>
                    <a:pt x="276" y="6"/>
                    <a:pt x="276" y="6"/>
                    <a:pt x="276" y="6"/>
                  </a:cubicBezTo>
                  <a:cubicBezTo>
                    <a:pt x="276" y="2"/>
                    <a:pt x="279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78"/>
                    <a:pt x="288" y="78"/>
                    <a:pt x="288" y="78"/>
                  </a:cubicBezTo>
                  <a:cubicBezTo>
                    <a:pt x="288" y="81"/>
                    <a:pt x="286" y="84"/>
                    <a:pt x="28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71" name="Oval 256">
              <a:extLst>
                <a:ext uri="{FF2B5EF4-FFF2-40B4-BE49-F238E27FC236}">
                  <a16:creationId xmlns:a16="http://schemas.microsoft.com/office/drawing/2014/main" id="{B9445AD8-129F-54B7-EB4B-48BF43B241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678"/>
              <a:ext cx="35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72" name="Oval 257">
              <a:extLst>
                <a:ext uri="{FF2B5EF4-FFF2-40B4-BE49-F238E27FC236}">
                  <a16:creationId xmlns:a16="http://schemas.microsoft.com/office/drawing/2014/main" id="{9166DFD4-A58D-858F-3FF0-AFE7F75C7F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678"/>
              <a:ext cx="36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73" name="Oval 258">
              <a:extLst>
                <a:ext uri="{FF2B5EF4-FFF2-40B4-BE49-F238E27FC236}">
                  <a16:creationId xmlns:a16="http://schemas.microsoft.com/office/drawing/2014/main" id="{C52D4D3F-18C4-50A1-D237-DB4FE79BFB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678"/>
              <a:ext cx="36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74" name="Freeform 259">
              <a:extLst>
                <a:ext uri="{FF2B5EF4-FFF2-40B4-BE49-F238E27FC236}">
                  <a16:creationId xmlns:a16="http://schemas.microsoft.com/office/drawing/2014/main" id="{84450508-C5A0-B8DE-774C-65FC7C9748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669"/>
              <a:ext cx="54" cy="53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75" name="Freeform 260">
              <a:extLst>
                <a:ext uri="{FF2B5EF4-FFF2-40B4-BE49-F238E27FC236}">
                  <a16:creationId xmlns:a16="http://schemas.microsoft.com/office/drawing/2014/main" id="{849B4597-A568-3E8C-0C7C-AFCB5FEA54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740"/>
              <a:ext cx="426" cy="124"/>
            </a:xfrm>
            <a:custGeom>
              <a:avLst/>
              <a:gdLst>
                <a:gd name="T0" fmla="*/ 258 w 288"/>
                <a:gd name="T1" fmla="*/ 84 h 84"/>
                <a:gd name="T2" fmla="*/ 30 w 288"/>
                <a:gd name="T3" fmla="*/ 84 h 84"/>
                <a:gd name="T4" fmla="*/ 0 w 288"/>
                <a:gd name="T5" fmla="*/ 54 h 84"/>
                <a:gd name="T6" fmla="*/ 0 w 288"/>
                <a:gd name="T7" fmla="*/ 6 h 84"/>
                <a:gd name="T8" fmla="*/ 6 w 288"/>
                <a:gd name="T9" fmla="*/ 0 h 84"/>
                <a:gd name="T10" fmla="*/ 12 w 288"/>
                <a:gd name="T11" fmla="*/ 6 h 84"/>
                <a:gd name="T12" fmla="*/ 12 w 288"/>
                <a:gd name="T13" fmla="*/ 54 h 84"/>
                <a:gd name="T14" fmla="*/ 30 w 288"/>
                <a:gd name="T15" fmla="*/ 72 h 84"/>
                <a:gd name="T16" fmla="*/ 258 w 288"/>
                <a:gd name="T17" fmla="*/ 72 h 84"/>
                <a:gd name="T18" fmla="*/ 276 w 288"/>
                <a:gd name="T19" fmla="*/ 54 h 84"/>
                <a:gd name="T20" fmla="*/ 276 w 288"/>
                <a:gd name="T21" fmla="*/ 6 h 84"/>
                <a:gd name="T22" fmla="*/ 282 w 288"/>
                <a:gd name="T23" fmla="*/ 0 h 84"/>
                <a:gd name="T24" fmla="*/ 288 w 288"/>
                <a:gd name="T25" fmla="*/ 6 h 84"/>
                <a:gd name="T26" fmla="*/ 288 w 288"/>
                <a:gd name="T27" fmla="*/ 54 h 84"/>
                <a:gd name="T28" fmla="*/ 258 w 288"/>
                <a:gd name="T2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8" h="84">
                  <a:moveTo>
                    <a:pt x="258" y="84"/>
                  </a:moveTo>
                  <a:cubicBezTo>
                    <a:pt x="30" y="84"/>
                    <a:pt x="30" y="84"/>
                    <a:pt x="30" y="84"/>
                  </a:cubicBezTo>
                  <a:cubicBezTo>
                    <a:pt x="14" y="84"/>
                    <a:pt x="0" y="70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12" y="64"/>
                    <a:pt x="20" y="72"/>
                    <a:pt x="30" y="72"/>
                  </a:cubicBezTo>
                  <a:cubicBezTo>
                    <a:pt x="258" y="72"/>
                    <a:pt x="258" y="72"/>
                    <a:pt x="258" y="72"/>
                  </a:cubicBezTo>
                  <a:cubicBezTo>
                    <a:pt x="268" y="72"/>
                    <a:pt x="276" y="64"/>
                    <a:pt x="276" y="54"/>
                  </a:cubicBezTo>
                  <a:cubicBezTo>
                    <a:pt x="276" y="6"/>
                    <a:pt x="276" y="6"/>
                    <a:pt x="276" y="6"/>
                  </a:cubicBezTo>
                  <a:cubicBezTo>
                    <a:pt x="276" y="2"/>
                    <a:pt x="279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54"/>
                    <a:pt x="288" y="54"/>
                    <a:pt x="288" y="54"/>
                  </a:cubicBezTo>
                  <a:cubicBezTo>
                    <a:pt x="288" y="70"/>
                    <a:pt x="275" y="84"/>
                    <a:pt x="258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76" name="Oval 261">
              <a:extLst>
                <a:ext uri="{FF2B5EF4-FFF2-40B4-BE49-F238E27FC236}">
                  <a16:creationId xmlns:a16="http://schemas.microsoft.com/office/drawing/2014/main" id="{7795C71C-B505-2347-1562-96A4E410C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784"/>
              <a:ext cx="35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77" name="Oval 262">
              <a:extLst>
                <a:ext uri="{FF2B5EF4-FFF2-40B4-BE49-F238E27FC236}">
                  <a16:creationId xmlns:a16="http://schemas.microsoft.com/office/drawing/2014/main" id="{43DD99EE-7351-AA4F-D75C-D30146137A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784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78" name="Oval 263">
              <a:extLst>
                <a:ext uri="{FF2B5EF4-FFF2-40B4-BE49-F238E27FC236}">
                  <a16:creationId xmlns:a16="http://schemas.microsoft.com/office/drawing/2014/main" id="{783BAECF-8735-D684-4D63-2D3A9C6BDA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784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79" name="Freeform 264">
              <a:extLst>
                <a:ext uri="{FF2B5EF4-FFF2-40B4-BE49-F238E27FC236}">
                  <a16:creationId xmlns:a16="http://schemas.microsoft.com/office/drawing/2014/main" id="{54D6E68E-7FC8-4ECE-FE71-7B23ED483C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775"/>
              <a:ext cx="54" cy="54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1A20778E-5072-51FC-F953-5E35057A9F25}"/>
              </a:ext>
            </a:extLst>
          </p:cNvPr>
          <p:cNvGrpSpPr>
            <a:grpSpLocks noChangeAspect="1"/>
          </p:cNvGrpSpPr>
          <p:nvPr/>
        </p:nvGrpSpPr>
        <p:grpSpPr>
          <a:xfrm>
            <a:off x="1998062" y="4490311"/>
            <a:ext cx="328004" cy="391725"/>
            <a:chOff x="9513888" y="2841625"/>
            <a:chExt cx="498475" cy="595313"/>
          </a:xfrm>
          <a:solidFill>
            <a:schemeClr val="accent1"/>
          </a:solidFill>
        </p:grpSpPr>
        <p:sp>
          <p:nvSpPr>
            <p:cNvPr id="181" name="Freeform 70">
              <a:extLst>
                <a:ext uri="{FF2B5EF4-FFF2-40B4-BE49-F238E27FC236}">
                  <a16:creationId xmlns:a16="http://schemas.microsoft.com/office/drawing/2014/main" id="{32AAF32D-4C99-5434-DC19-4A14D94FB8CE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8525" y="3167063"/>
              <a:ext cx="157163" cy="269875"/>
            </a:xfrm>
            <a:custGeom>
              <a:avLst/>
              <a:gdLst>
                <a:gd name="T0" fmla="*/ 14 w 24"/>
                <a:gd name="T1" fmla="*/ 0 h 40"/>
                <a:gd name="T2" fmla="*/ 10 w 24"/>
                <a:gd name="T3" fmla="*/ 0 h 40"/>
                <a:gd name="T4" fmla="*/ 0 w 24"/>
                <a:gd name="T5" fmla="*/ 10 h 40"/>
                <a:gd name="T6" fmla="*/ 0 w 24"/>
                <a:gd name="T7" fmla="*/ 30 h 40"/>
                <a:gd name="T8" fmla="*/ 10 w 24"/>
                <a:gd name="T9" fmla="*/ 40 h 40"/>
                <a:gd name="T10" fmla="*/ 14 w 24"/>
                <a:gd name="T11" fmla="*/ 40 h 40"/>
                <a:gd name="T12" fmla="*/ 24 w 24"/>
                <a:gd name="T13" fmla="*/ 30 h 40"/>
                <a:gd name="T14" fmla="*/ 24 w 24"/>
                <a:gd name="T15" fmla="*/ 22 h 40"/>
                <a:gd name="T16" fmla="*/ 22 w 24"/>
                <a:gd name="T17" fmla="*/ 20 h 40"/>
                <a:gd name="T18" fmla="*/ 10 w 24"/>
                <a:gd name="T19" fmla="*/ 20 h 40"/>
                <a:gd name="T20" fmla="*/ 8 w 24"/>
                <a:gd name="T21" fmla="*/ 22 h 40"/>
                <a:gd name="T22" fmla="*/ 10 w 24"/>
                <a:gd name="T23" fmla="*/ 24 h 40"/>
                <a:gd name="T24" fmla="*/ 20 w 24"/>
                <a:gd name="T25" fmla="*/ 24 h 40"/>
                <a:gd name="T26" fmla="*/ 20 w 24"/>
                <a:gd name="T27" fmla="*/ 30 h 40"/>
                <a:gd name="T28" fmla="*/ 14 w 24"/>
                <a:gd name="T29" fmla="*/ 36 h 40"/>
                <a:gd name="T30" fmla="*/ 10 w 24"/>
                <a:gd name="T31" fmla="*/ 36 h 40"/>
                <a:gd name="T32" fmla="*/ 4 w 24"/>
                <a:gd name="T33" fmla="*/ 30 h 40"/>
                <a:gd name="T34" fmla="*/ 4 w 24"/>
                <a:gd name="T35" fmla="*/ 10 h 40"/>
                <a:gd name="T36" fmla="*/ 10 w 24"/>
                <a:gd name="T37" fmla="*/ 4 h 40"/>
                <a:gd name="T38" fmla="*/ 14 w 24"/>
                <a:gd name="T39" fmla="*/ 4 h 40"/>
                <a:gd name="T40" fmla="*/ 20 w 24"/>
                <a:gd name="T41" fmla="*/ 10 h 40"/>
                <a:gd name="T42" fmla="*/ 20 w 24"/>
                <a:gd name="T43" fmla="*/ 14 h 40"/>
                <a:gd name="T44" fmla="*/ 22 w 24"/>
                <a:gd name="T45" fmla="*/ 16 h 40"/>
                <a:gd name="T46" fmla="*/ 24 w 24"/>
                <a:gd name="T47" fmla="*/ 14 h 40"/>
                <a:gd name="T48" fmla="*/ 24 w 24"/>
                <a:gd name="T49" fmla="*/ 10 h 40"/>
                <a:gd name="T50" fmla="*/ 14 w 24"/>
                <a:gd name="T51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40">
                  <a:moveTo>
                    <a:pt x="14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6"/>
                    <a:pt x="4" y="40"/>
                    <a:pt x="10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20" y="40"/>
                    <a:pt x="24" y="36"/>
                    <a:pt x="24" y="30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1"/>
                    <a:pt x="23" y="20"/>
                    <a:pt x="22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0"/>
                    <a:pt x="8" y="21"/>
                    <a:pt x="8" y="22"/>
                  </a:cubicBezTo>
                  <a:cubicBezTo>
                    <a:pt x="8" y="23"/>
                    <a:pt x="9" y="24"/>
                    <a:pt x="1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3"/>
                    <a:pt x="17" y="36"/>
                    <a:pt x="14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7" y="36"/>
                    <a:pt x="4" y="33"/>
                    <a:pt x="4" y="3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7"/>
                    <a:pt x="7" y="4"/>
                    <a:pt x="10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7" y="4"/>
                    <a:pt x="20" y="7"/>
                    <a:pt x="20" y="10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0" y="15"/>
                    <a:pt x="21" y="16"/>
                    <a:pt x="22" y="16"/>
                  </a:cubicBezTo>
                  <a:cubicBezTo>
                    <a:pt x="23" y="16"/>
                    <a:pt x="24" y="15"/>
                    <a:pt x="24" y="14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4"/>
                    <a:pt x="20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82" name="Freeform 71">
              <a:extLst>
                <a:ext uri="{FF2B5EF4-FFF2-40B4-BE49-F238E27FC236}">
                  <a16:creationId xmlns:a16="http://schemas.microsoft.com/office/drawing/2014/main" id="{82CBDDC0-03F1-1247-90E2-7F7ED1822BA9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8975" y="3167063"/>
              <a:ext cx="144463" cy="269875"/>
            </a:xfrm>
            <a:custGeom>
              <a:avLst/>
              <a:gdLst>
                <a:gd name="T0" fmla="*/ 20 w 22"/>
                <a:gd name="T1" fmla="*/ 4 h 40"/>
                <a:gd name="T2" fmla="*/ 22 w 22"/>
                <a:gd name="T3" fmla="*/ 2 h 40"/>
                <a:gd name="T4" fmla="*/ 20 w 22"/>
                <a:gd name="T5" fmla="*/ 0 h 40"/>
                <a:gd name="T6" fmla="*/ 2 w 22"/>
                <a:gd name="T7" fmla="*/ 0 h 40"/>
                <a:gd name="T8" fmla="*/ 0 w 22"/>
                <a:gd name="T9" fmla="*/ 2 h 40"/>
                <a:gd name="T10" fmla="*/ 0 w 22"/>
                <a:gd name="T11" fmla="*/ 18 h 40"/>
                <a:gd name="T12" fmla="*/ 1 w 22"/>
                <a:gd name="T13" fmla="*/ 19 h 40"/>
                <a:gd name="T14" fmla="*/ 2 w 22"/>
                <a:gd name="T15" fmla="*/ 20 h 40"/>
                <a:gd name="T16" fmla="*/ 2 w 22"/>
                <a:gd name="T17" fmla="*/ 20 h 40"/>
                <a:gd name="T18" fmla="*/ 12 w 22"/>
                <a:gd name="T19" fmla="*/ 20 h 40"/>
                <a:gd name="T20" fmla="*/ 18 w 22"/>
                <a:gd name="T21" fmla="*/ 28 h 40"/>
                <a:gd name="T22" fmla="*/ 12 w 22"/>
                <a:gd name="T23" fmla="*/ 36 h 40"/>
                <a:gd name="T24" fmla="*/ 2 w 22"/>
                <a:gd name="T25" fmla="*/ 36 h 40"/>
                <a:gd name="T26" fmla="*/ 0 w 22"/>
                <a:gd name="T27" fmla="*/ 38 h 40"/>
                <a:gd name="T28" fmla="*/ 2 w 22"/>
                <a:gd name="T29" fmla="*/ 40 h 40"/>
                <a:gd name="T30" fmla="*/ 12 w 22"/>
                <a:gd name="T31" fmla="*/ 40 h 40"/>
                <a:gd name="T32" fmla="*/ 22 w 22"/>
                <a:gd name="T33" fmla="*/ 28 h 40"/>
                <a:gd name="T34" fmla="*/ 12 w 22"/>
                <a:gd name="T35" fmla="*/ 16 h 40"/>
                <a:gd name="T36" fmla="*/ 4 w 22"/>
                <a:gd name="T37" fmla="*/ 16 h 40"/>
                <a:gd name="T38" fmla="*/ 4 w 22"/>
                <a:gd name="T39" fmla="*/ 4 h 40"/>
                <a:gd name="T40" fmla="*/ 20 w 22"/>
                <a:gd name="T41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" h="40">
                  <a:moveTo>
                    <a:pt x="20" y="4"/>
                  </a:moveTo>
                  <a:cubicBezTo>
                    <a:pt x="21" y="4"/>
                    <a:pt x="22" y="3"/>
                    <a:pt x="22" y="2"/>
                  </a:cubicBezTo>
                  <a:cubicBezTo>
                    <a:pt x="22" y="1"/>
                    <a:pt x="21" y="0"/>
                    <a:pt x="2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0" y="19"/>
                    <a:pt x="1" y="19"/>
                  </a:cubicBezTo>
                  <a:cubicBezTo>
                    <a:pt x="1" y="20"/>
                    <a:pt x="1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7" y="20"/>
                    <a:pt x="18" y="25"/>
                    <a:pt x="18" y="28"/>
                  </a:cubicBezTo>
                  <a:cubicBezTo>
                    <a:pt x="18" y="30"/>
                    <a:pt x="18" y="36"/>
                    <a:pt x="12" y="36"/>
                  </a:cubicBezTo>
                  <a:cubicBezTo>
                    <a:pt x="2" y="36"/>
                    <a:pt x="2" y="36"/>
                    <a:pt x="2" y="36"/>
                  </a:cubicBezTo>
                  <a:cubicBezTo>
                    <a:pt x="1" y="36"/>
                    <a:pt x="0" y="37"/>
                    <a:pt x="0" y="38"/>
                  </a:cubicBezTo>
                  <a:cubicBezTo>
                    <a:pt x="0" y="39"/>
                    <a:pt x="1" y="40"/>
                    <a:pt x="2" y="40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9" y="40"/>
                    <a:pt x="22" y="33"/>
                    <a:pt x="22" y="28"/>
                  </a:cubicBezTo>
                  <a:cubicBezTo>
                    <a:pt x="22" y="22"/>
                    <a:pt x="19" y="16"/>
                    <a:pt x="12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4"/>
                    <a:pt x="4" y="4"/>
                    <a:pt x="4" y="4"/>
                  </a:cubicBezTo>
                  <a:lnTo>
                    <a:pt x="20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83" name="Freeform 72">
              <a:extLst>
                <a:ext uri="{FF2B5EF4-FFF2-40B4-BE49-F238E27FC236}">
                  <a16:creationId xmlns:a16="http://schemas.microsoft.com/office/drawing/2014/main" id="{AFDF5AF0-9F8D-30DB-7A60-F1F19EF3C3EF}"/>
                </a:ext>
              </a:extLst>
            </p:cNvPr>
            <p:cNvSpPr>
              <a:spLocks/>
            </p:cNvSpPr>
            <p:nvPr/>
          </p:nvSpPr>
          <p:spPr bwMode="auto">
            <a:xfrm>
              <a:off x="9612313" y="3003550"/>
              <a:ext cx="301625" cy="95250"/>
            </a:xfrm>
            <a:custGeom>
              <a:avLst/>
              <a:gdLst>
                <a:gd name="T0" fmla="*/ 42 w 46"/>
                <a:gd name="T1" fmla="*/ 13 h 14"/>
                <a:gd name="T2" fmla="*/ 44 w 46"/>
                <a:gd name="T3" fmla="*/ 14 h 14"/>
                <a:gd name="T4" fmla="*/ 45 w 46"/>
                <a:gd name="T5" fmla="*/ 14 h 14"/>
                <a:gd name="T6" fmla="*/ 45 w 46"/>
                <a:gd name="T7" fmla="*/ 11 h 14"/>
                <a:gd name="T8" fmla="*/ 23 w 46"/>
                <a:gd name="T9" fmla="*/ 0 h 14"/>
                <a:gd name="T10" fmla="*/ 1 w 46"/>
                <a:gd name="T11" fmla="*/ 11 h 14"/>
                <a:gd name="T12" fmla="*/ 1 w 46"/>
                <a:gd name="T13" fmla="*/ 14 h 14"/>
                <a:gd name="T14" fmla="*/ 4 w 46"/>
                <a:gd name="T15" fmla="*/ 13 h 14"/>
                <a:gd name="T16" fmla="*/ 23 w 46"/>
                <a:gd name="T17" fmla="*/ 4 h 14"/>
                <a:gd name="T18" fmla="*/ 42 w 46"/>
                <a:gd name="T1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6" h="14">
                  <a:moveTo>
                    <a:pt x="42" y="13"/>
                  </a:moveTo>
                  <a:cubicBezTo>
                    <a:pt x="42" y="14"/>
                    <a:pt x="43" y="14"/>
                    <a:pt x="44" y="14"/>
                  </a:cubicBezTo>
                  <a:cubicBezTo>
                    <a:pt x="44" y="14"/>
                    <a:pt x="44" y="14"/>
                    <a:pt x="45" y="14"/>
                  </a:cubicBezTo>
                  <a:cubicBezTo>
                    <a:pt x="46" y="13"/>
                    <a:pt x="46" y="12"/>
                    <a:pt x="45" y="11"/>
                  </a:cubicBezTo>
                  <a:cubicBezTo>
                    <a:pt x="40" y="4"/>
                    <a:pt x="32" y="0"/>
                    <a:pt x="23" y="0"/>
                  </a:cubicBezTo>
                  <a:cubicBezTo>
                    <a:pt x="14" y="0"/>
                    <a:pt x="6" y="4"/>
                    <a:pt x="1" y="11"/>
                  </a:cubicBezTo>
                  <a:cubicBezTo>
                    <a:pt x="0" y="12"/>
                    <a:pt x="0" y="13"/>
                    <a:pt x="1" y="14"/>
                  </a:cubicBezTo>
                  <a:cubicBezTo>
                    <a:pt x="2" y="14"/>
                    <a:pt x="3" y="14"/>
                    <a:pt x="4" y="13"/>
                  </a:cubicBezTo>
                  <a:cubicBezTo>
                    <a:pt x="9" y="7"/>
                    <a:pt x="16" y="4"/>
                    <a:pt x="23" y="4"/>
                  </a:cubicBezTo>
                  <a:cubicBezTo>
                    <a:pt x="31" y="4"/>
                    <a:pt x="37" y="7"/>
                    <a:pt x="42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84" name="Freeform 73">
              <a:extLst>
                <a:ext uri="{FF2B5EF4-FFF2-40B4-BE49-F238E27FC236}">
                  <a16:creationId xmlns:a16="http://schemas.microsoft.com/office/drawing/2014/main" id="{ED80D64B-3292-0496-AD95-F3A89702D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9566275" y="2922588"/>
              <a:ext cx="392113" cy="122238"/>
            </a:xfrm>
            <a:custGeom>
              <a:avLst/>
              <a:gdLst>
                <a:gd name="T0" fmla="*/ 30 w 60"/>
                <a:gd name="T1" fmla="*/ 0 h 18"/>
                <a:gd name="T2" fmla="*/ 0 w 60"/>
                <a:gd name="T3" fmla="*/ 14 h 18"/>
                <a:gd name="T4" fmla="*/ 1 w 60"/>
                <a:gd name="T5" fmla="*/ 17 h 18"/>
                <a:gd name="T6" fmla="*/ 2 w 60"/>
                <a:gd name="T7" fmla="*/ 17 h 18"/>
                <a:gd name="T8" fmla="*/ 4 w 60"/>
                <a:gd name="T9" fmla="*/ 17 h 18"/>
                <a:gd name="T10" fmla="*/ 30 w 60"/>
                <a:gd name="T11" fmla="*/ 4 h 18"/>
                <a:gd name="T12" fmla="*/ 57 w 60"/>
                <a:gd name="T13" fmla="*/ 17 h 18"/>
                <a:gd name="T14" fmla="*/ 59 w 60"/>
                <a:gd name="T15" fmla="*/ 17 h 18"/>
                <a:gd name="T16" fmla="*/ 60 w 60"/>
                <a:gd name="T17" fmla="*/ 14 h 18"/>
                <a:gd name="T18" fmla="*/ 30 w 60"/>
                <a:gd name="T1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18">
                  <a:moveTo>
                    <a:pt x="30" y="0"/>
                  </a:moveTo>
                  <a:cubicBezTo>
                    <a:pt x="18" y="0"/>
                    <a:pt x="8" y="5"/>
                    <a:pt x="0" y="14"/>
                  </a:cubicBezTo>
                  <a:cubicBezTo>
                    <a:pt x="0" y="15"/>
                    <a:pt x="0" y="16"/>
                    <a:pt x="1" y="17"/>
                  </a:cubicBezTo>
                  <a:cubicBezTo>
                    <a:pt x="1" y="17"/>
                    <a:pt x="2" y="17"/>
                    <a:pt x="2" y="17"/>
                  </a:cubicBezTo>
                  <a:cubicBezTo>
                    <a:pt x="3" y="17"/>
                    <a:pt x="3" y="17"/>
                    <a:pt x="4" y="17"/>
                  </a:cubicBezTo>
                  <a:cubicBezTo>
                    <a:pt x="10" y="9"/>
                    <a:pt x="20" y="4"/>
                    <a:pt x="30" y="4"/>
                  </a:cubicBezTo>
                  <a:cubicBezTo>
                    <a:pt x="40" y="4"/>
                    <a:pt x="50" y="9"/>
                    <a:pt x="57" y="17"/>
                  </a:cubicBezTo>
                  <a:cubicBezTo>
                    <a:pt x="57" y="17"/>
                    <a:pt x="58" y="18"/>
                    <a:pt x="59" y="17"/>
                  </a:cubicBezTo>
                  <a:cubicBezTo>
                    <a:pt x="60" y="16"/>
                    <a:pt x="60" y="15"/>
                    <a:pt x="60" y="14"/>
                  </a:cubicBezTo>
                  <a:cubicBezTo>
                    <a:pt x="52" y="5"/>
                    <a:pt x="42" y="0"/>
                    <a:pt x="3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85" name="Freeform 74">
              <a:extLst>
                <a:ext uri="{FF2B5EF4-FFF2-40B4-BE49-F238E27FC236}">
                  <a16:creationId xmlns:a16="http://schemas.microsoft.com/office/drawing/2014/main" id="{19ABD213-E435-B271-C46A-9A103C5BF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3888" y="2841625"/>
              <a:ext cx="498475" cy="149225"/>
            </a:xfrm>
            <a:custGeom>
              <a:avLst/>
              <a:gdLst>
                <a:gd name="T0" fmla="*/ 76 w 76"/>
                <a:gd name="T1" fmla="*/ 18 h 22"/>
                <a:gd name="T2" fmla="*/ 38 w 76"/>
                <a:gd name="T3" fmla="*/ 0 h 22"/>
                <a:gd name="T4" fmla="*/ 0 w 76"/>
                <a:gd name="T5" fmla="*/ 18 h 22"/>
                <a:gd name="T6" fmla="*/ 1 w 76"/>
                <a:gd name="T7" fmla="*/ 21 h 22"/>
                <a:gd name="T8" fmla="*/ 4 w 76"/>
                <a:gd name="T9" fmla="*/ 21 h 22"/>
                <a:gd name="T10" fmla="*/ 38 w 76"/>
                <a:gd name="T11" fmla="*/ 4 h 22"/>
                <a:gd name="T12" fmla="*/ 73 w 76"/>
                <a:gd name="T13" fmla="*/ 21 h 22"/>
                <a:gd name="T14" fmla="*/ 74 w 76"/>
                <a:gd name="T15" fmla="*/ 21 h 22"/>
                <a:gd name="T16" fmla="*/ 75 w 76"/>
                <a:gd name="T17" fmla="*/ 21 h 22"/>
                <a:gd name="T18" fmla="*/ 76 w 76"/>
                <a:gd name="T19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6" h="22">
                  <a:moveTo>
                    <a:pt x="76" y="18"/>
                  </a:moveTo>
                  <a:cubicBezTo>
                    <a:pt x="67" y="7"/>
                    <a:pt x="53" y="0"/>
                    <a:pt x="38" y="0"/>
                  </a:cubicBezTo>
                  <a:cubicBezTo>
                    <a:pt x="23" y="0"/>
                    <a:pt x="10" y="7"/>
                    <a:pt x="0" y="18"/>
                  </a:cubicBezTo>
                  <a:cubicBezTo>
                    <a:pt x="0" y="19"/>
                    <a:pt x="0" y="20"/>
                    <a:pt x="1" y="21"/>
                  </a:cubicBezTo>
                  <a:cubicBezTo>
                    <a:pt x="2" y="22"/>
                    <a:pt x="3" y="22"/>
                    <a:pt x="4" y="21"/>
                  </a:cubicBezTo>
                  <a:cubicBezTo>
                    <a:pt x="12" y="10"/>
                    <a:pt x="25" y="4"/>
                    <a:pt x="38" y="4"/>
                  </a:cubicBezTo>
                  <a:cubicBezTo>
                    <a:pt x="52" y="4"/>
                    <a:pt x="64" y="10"/>
                    <a:pt x="73" y="21"/>
                  </a:cubicBezTo>
                  <a:cubicBezTo>
                    <a:pt x="73" y="21"/>
                    <a:pt x="74" y="21"/>
                    <a:pt x="74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6" y="20"/>
                    <a:pt x="76" y="19"/>
                    <a:pt x="76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</p:grpSp>
      <p:grpSp>
        <p:nvGrpSpPr>
          <p:cNvPr id="186" name="Group 211">
            <a:extLst>
              <a:ext uri="{FF2B5EF4-FFF2-40B4-BE49-F238E27FC236}">
                <a16:creationId xmlns:a16="http://schemas.microsoft.com/office/drawing/2014/main" id="{B666DD6C-E6B7-380E-F77B-A9B2C9DA3F0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096000" y="1694145"/>
            <a:ext cx="444913" cy="402193"/>
            <a:chOff x="1375" y="3018"/>
            <a:chExt cx="427" cy="386"/>
          </a:xfrm>
          <a:solidFill>
            <a:schemeClr val="accent1"/>
          </a:solidFill>
        </p:grpSpPr>
        <p:sp>
          <p:nvSpPr>
            <p:cNvPr id="187" name="Freeform 212">
              <a:extLst>
                <a:ext uri="{FF2B5EF4-FFF2-40B4-BE49-F238E27FC236}">
                  <a16:creationId xmlns:a16="http://schemas.microsoft.com/office/drawing/2014/main" id="{9BC81DC8-D6CE-186C-4FD2-2110D2D8EF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93" y="3351"/>
              <a:ext cx="71" cy="53"/>
            </a:xfrm>
            <a:custGeom>
              <a:avLst/>
              <a:gdLst>
                <a:gd name="T0" fmla="*/ 42 w 48"/>
                <a:gd name="T1" fmla="*/ 36 h 36"/>
                <a:gd name="T2" fmla="*/ 6 w 48"/>
                <a:gd name="T3" fmla="*/ 36 h 36"/>
                <a:gd name="T4" fmla="*/ 0 w 48"/>
                <a:gd name="T5" fmla="*/ 30 h 36"/>
                <a:gd name="T6" fmla="*/ 0 w 48"/>
                <a:gd name="T7" fmla="*/ 6 h 36"/>
                <a:gd name="T8" fmla="*/ 6 w 48"/>
                <a:gd name="T9" fmla="*/ 0 h 36"/>
                <a:gd name="T10" fmla="*/ 42 w 48"/>
                <a:gd name="T11" fmla="*/ 0 h 36"/>
                <a:gd name="T12" fmla="*/ 48 w 48"/>
                <a:gd name="T13" fmla="*/ 6 h 36"/>
                <a:gd name="T14" fmla="*/ 48 w 48"/>
                <a:gd name="T15" fmla="*/ 30 h 36"/>
                <a:gd name="T16" fmla="*/ 42 w 48"/>
                <a:gd name="T17" fmla="*/ 36 h 36"/>
                <a:gd name="T18" fmla="*/ 12 w 48"/>
                <a:gd name="T19" fmla="*/ 24 h 36"/>
                <a:gd name="T20" fmla="*/ 36 w 48"/>
                <a:gd name="T21" fmla="*/ 24 h 36"/>
                <a:gd name="T22" fmla="*/ 36 w 48"/>
                <a:gd name="T23" fmla="*/ 12 h 36"/>
                <a:gd name="T24" fmla="*/ 12 w 48"/>
                <a:gd name="T25" fmla="*/ 12 h 36"/>
                <a:gd name="T26" fmla="*/ 12 w 48"/>
                <a:gd name="T27" fmla="*/ 2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36">
                  <a:moveTo>
                    <a:pt x="42" y="36"/>
                  </a:moveTo>
                  <a:cubicBezTo>
                    <a:pt x="6" y="36"/>
                    <a:pt x="6" y="36"/>
                    <a:pt x="6" y="36"/>
                  </a:cubicBezTo>
                  <a:cubicBezTo>
                    <a:pt x="3" y="36"/>
                    <a:pt x="0" y="34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8" y="34"/>
                    <a:pt x="45" y="36"/>
                    <a:pt x="42" y="36"/>
                  </a:cubicBezTo>
                  <a:close/>
                  <a:moveTo>
                    <a:pt x="12" y="24"/>
                  </a:moveTo>
                  <a:cubicBezTo>
                    <a:pt x="36" y="24"/>
                    <a:pt x="36" y="24"/>
                    <a:pt x="36" y="24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88" name="Freeform 213">
              <a:extLst>
                <a:ext uri="{FF2B5EF4-FFF2-40B4-BE49-F238E27FC236}">
                  <a16:creationId xmlns:a16="http://schemas.microsoft.com/office/drawing/2014/main" id="{7D10608B-36D0-F993-FA15-CBBD2CEE14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88" y="3351"/>
              <a:ext cx="72" cy="53"/>
            </a:xfrm>
            <a:custGeom>
              <a:avLst/>
              <a:gdLst>
                <a:gd name="T0" fmla="*/ 42 w 48"/>
                <a:gd name="T1" fmla="*/ 36 h 36"/>
                <a:gd name="T2" fmla="*/ 6 w 48"/>
                <a:gd name="T3" fmla="*/ 36 h 36"/>
                <a:gd name="T4" fmla="*/ 0 w 48"/>
                <a:gd name="T5" fmla="*/ 30 h 36"/>
                <a:gd name="T6" fmla="*/ 0 w 48"/>
                <a:gd name="T7" fmla="*/ 6 h 36"/>
                <a:gd name="T8" fmla="*/ 6 w 48"/>
                <a:gd name="T9" fmla="*/ 0 h 36"/>
                <a:gd name="T10" fmla="*/ 42 w 48"/>
                <a:gd name="T11" fmla="*/ 0 h 36"/>
                <a:gd name="T12" fmla="*/ 48 w 48"/>
                <a:gd name="T13" fmla="*/ 6 h 36"/>
                <a:gd name="T14" fmla="*/ 48 w 48"/>
                <a:gd name="T15" fmla="*/ 30 h 36"/>
                <a:gd name="T16" fmla="*/ 42 w 48"/>
                <a:gd name="T17" fmla="*/ 36 h 36"/>
                <a:gd name="T18" fmla="*/ 12 w 48"/>
                <a:gd name="T19" fmla="*/ 24 h 36"/>
                <a:gd name="T20" fmla="*/ 36 w 48"/>
                <a:gd name="T21" fmla="*/ 24 h 36"/>
                <a:gd name="T22" fmla="*/ 36 w 48"/>
                <a:gd name="T23" fmla="*/ 12 h 36"/>
                <a:gd name="T24" fmla="*/ 12 w 48"/>
                <a:gd name="T25" fmla="*/ 12 h 36"/>
                <a:gd name="T26" fmla="*/ 12 w 48"/>
                <a:gd name="T27" fmla="*/ 2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36">
                  <a:moveTo>
                    <a:pt x="42" y="36"/>
                  </a:moveTo>
                  <a:cubicBezTo>
                    <a:pt x="6" y="36"/>
                    <a:pt x="6" y="36"/>
                    <a:pt x="6" y="36"/>
                  </a:cubicBezTo>
                  <a:cubicBezTo>
                    <a:pt x="3" y="36"/>
                    <a:pt x="0" y="34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8" y="34"/>
                    <a:pt x="45" y="36"/>
                    <a:pt x="42" y="36"/>
                  </a:cubicBezTo>
                  <a:close/>
                  <a:moveTo>
                    <a:pt x="12" y="24"/>
                  </a:moveTo>
                  <a:cubicBezTo>
                    <a:pt x="36" y="24"/>
                    <a:pt x="36" y="24"/>
                    <a:pt x="36" y="24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89" name="Freeform 214">
              <a:extLst>
                <a:ext uri="{FF2B5EF4-FFF2-40B4-BE49-F238E27FC236}">
                  <a16:creationId xmlns:a16="http://schemas.microsoft.com/office/drawing/2014/main" id="{54D631C5-0AB1-8F9B-2196-B58FA3B550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75" y="3262"/>
              <a:ext cx="302" cy="106"/>
            </a:xfrm>
            <a:custGeom>
              <a:avLst/>
              <a:gdLst>
                <a:gd name="T0" fmla="*/ 198 w 204"/>
                <a:gd name="T1" fmla="*/ 72 h 72"/>
                <a:gd name="T2" fmla="*/ 6 w 204"/>
                <a:gd name="T3" fmla="*/ 72 h 72"/>
                <a:gd name="T4" fmla="*/ 0 w 204"/>
                <a:gd name="T5" fmla="*/ 66 h 72"/>
                <a:gd name="T6" fmla="*/ 0 w 204"/>
                <a:gd name="T7" fmla="*/ 30 h 72"/>
                <a:gd name="T8" fmla="*/ 2 w 204"/>
                <a:gd name="T9" fmla="*/ 26 h 72"/>
                <a:gd name="T10" fmla="*/ 26 w 204"/>
                <a:gd name="T11" fmla="*/ 2 h 72"/>
                <a:gd name="T12" fmla="*/ 30 w 204"/>
                <a:gd name="T13" fmla="*/ 0 h 72"/>
                <a:gd name="T14" fmla="*/ 174 w 204"/>
                <a:gd name="T15" fmla="*/ 0 h 72"/>
                <a:gd name="T16" fmla="*/ 178 w 204"/>
                <a:gd name="T17" fmla="*/ 2 h 72"/>
                <a:gd name="T18" fmla="*/ 202 w 204"/>
                <a:gd name="T19" fmla="*/ 26 h 72"/>
                <a:gd name="T20" fmla="*/ 204 w 204"/>
                <a:gd name="T21" fmla="*/ 30 h 72"/>
                <a:gd name="T22" fmla="*/ 204 w 204"/>
                <a:gd name="T23" fmla="*/ 66 h 72"/>
                <a:gd name="T24" fmla="*/ 198 w 204"/>
                <a:gd name="T25" fmla="*/ 72 h 72"/>
                <a:gd name="T26" fmla="*/ 12 w 204"/>
                <a:gd name="T27" fmla="*/ 60 h 72"/>
                <a:gd name="T28" fmla="*/ 192 w 204"/>
                <a:gd name="T29" fmla="*/ 60 h 72"/>
                <a:gd name="T30" fmla="*/ 192 w 204"/>
                <a:gd name="T31" fmla="*/ 33 h 72"/>
                <a:gd name="T32" fmla="*/ 171 w 204"/>
                <a:gd name="T33" fmla="*/ 12 h 72"/>
                <a:gd name="T34" fmla="*/ 32 w 204"/>
                <a:gd name="T35" fmla="*/ 12 h 72"/>
                <a:gd name="T36" fmla="*/ 12 w 204"/>
                <a:gd name="T37" fmla="*/ 33 h 72"/>
                <a:gd name="T38" fmla="*/ 12 w 204"/>
                <a:gd name="T39" fmla="*/ 6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04" h="72">
                  <a:moveTo>
                    <a:pt x="198" y="72"/>
                  </a:moveTo>
                  <a:cubicBezTo>
                    <a:pt x="6" y="72"/>
                    <a:pt x="6" y="72"/>
                    <a:pt x="6" y="72"/>
                  </a:cubicBezTo>
                  <a:cubicBezTo>
                    <a:pt x="3" y="72"/>
                    <a:pt x="0" y="70"/>
                    <a:pt x="0" y="66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29"/>
                    <a:pt x="0" y="27"/>
                    <a:pt x="2" y="26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7" y="1"/>
                    <a:pt x="28" y="0"/>
                    <a:pt x="30" y="0"/>
                  </a:cubicBezTo>
                  <a:cubicBezTo>
                    <a:pt x="174" y="0"/>
                    <a:pt x="174" y="0"/>
                    <a:pt x="174" y="0"/>
                  </a:cubicBezTo>
                  <a:cubicBezTo>
                    <a:pt x="175" y="0"/>
                    <a:pt x="177" y="1"/>
                    <a:pt x="178" y="2"/>
                  </a:cubicBezTo>
                  <a:cubicBezTo>
                    <a:pt x="202" y="26"/>
                    <a:pt x="202" y="26"/>
                    <a:pt x="202" y="26"/>
                  </a:cubicBezTo>
                  <a:cubicBezTo>
                    <a:pt x="203" y="27"/>
                    <a:pt x="204" y="29"/>
                    <a:pt x="204" y="30"/>
                  </a:cubicBezTo>
                  <a:cubicBezTo>
                    <a:pt x="204" y="66"/>
                    <a:pt x="204" y="66"/>
                    <a:pt x="204" y="66"/>
                  </a:cubicBezTo>
                  <a:cubicBezTo>
                    <a:pt x="204" y="70"/>
                    <a:pt x="201" y="72"/>
                    <a:pt x="198" y="72"/>
                  </a:cubicBezTo>
                  <a:close/>
                  <a:moveTo>
                    <a:pt x="12" y="60"/>
                  </a:moveTo>
                  <a:cubicBezTo>
                    <a:pt x="192" y="60"/>
                    <a:pt x="192" y="60"/>
                    <a:pt x="192" y="60"/>
                  </a:cubicBezTo>
                  <a:cubicBezTo>
                    <a:pt x="192" y="33"/>
                    <a:pt x="192" y="33"/>
                    <a:pt x="192" y="33"/>
                  </a:cubicBezTo>
                  <a:cubicBezTo>
                    <a:pt x="171" y="12"/>
                    <a:pt x="171" y="12"/>
                    <a:pt x="171" y="12"/>
                  </a:cubicBezTo>
                  <a:cubicBezTo>
                    <a:pt x="32" y="12"/>
                    <a:pt x="32" y="12"/>
                    <a:pt x="32" y="12"/>
                  </a:cubicBezTo>
                  <a:cubicBezTo>
                    <a:pt x="12" y="33"/>
                    <a:pt x="12" y="33"/>
                    <a:pt x="12" y="33"/>
                  </a:cubicBezTo>
                  <a:lnTo>
                    <a:pt x="1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90" name="Freeform 215">
              <a:extLst>
                <a:ext uri="{FF2B5EF4-FFF2-40B4-BE49-F238E27FC236}">
                  <a16:creationId xmlns:a16="http://schemas.microsoft.com/office/drawing/2014/main" id="{24C055F5-1BFD-A802-4C38-EB1E6ADFC8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1" y="3173"/>
              <a:ext cx="231" cy="107"/>
            </a:xfrm>
            <a:custGeom>
              <a:avLst/>
              <a:gdLst>
                <a:gd name="T0" fmla="*/ 150 w 156"/>
                <a:gd name="T1" fmla="*/ 72 h 72"/>
                <a:gd name="T2" fmla="*/ 6 w 156"/>
                <a:gd name="T3" fmla="*/ 72 h 72"/>
                <a:gd name="T4" fmla="*/ 1 w 156"/>
                <a:gd name="T5" fmla="*/ 70 h 72"/>
                <a:gd name="T6" fmla="*/ 0 w 156"/>
                <a:gd name="T7" fmla="*/ 64 h 72"/>
                <a:gd name="T8" fmla="*/ 24 w 156"/>
                <a:gd name="T9" fmla="*/ 4 h 72"/>
                <a:gd name="T10" fmla="*/ 30 w 156"/>
                <a:gd name="T11" fmla="*/ 0 h 72"/>
                <a:gd name="T12" fmla="*/ 126 w 156"/>
                <a:gd name="T13" fmla="*/ 0 h 72"/>
                <a:gd name="T14" fmla="*/ 131 w 156"/>
                <a:gd name="T15" fmla="*/ 4 h 72"/>
                <a:gd name="T16" fmla="*/ 155 w 156"/>
                <a:gd name="T17" fmla="*/ 64 h 72"/>
                <a:gd name="T18" fmla="*/ 155 w 156"/>
                <a:gd name="T19" fmla="*/ 70 h 72"/>
                <a:gd name="T20" fmla="*/ 150 w 156"/>
                <a:gd name="T21" fmla="*/ 72 h 72"/>
                <a:gd name="T22" fmla="*/ 15 w 156"/>
                <a:gd name="T23" fmla="*/ 60 h 72"/>
                <a:gd name="T24" fmla="*/ 141 w 156"/>
                <a:gd name="T25" fmla="*/ 60 h 72"/>
                <a:gd name="T26" fmla="*/ 122 w 156"/>
                <a:gd name="T27" fmla="*/ 12 h 72"/>
                <a:gd name="T28" fmla="*/ 34 w 156"/>
                <a:gd name="T29" fmla="*/ 12 h 72"/>
                <a:gd name="T30" fmla="*/ 15 w 156"/>
                <a:gd name="T31" fmla="*/ 6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6" h="72">
                  <a:moveTo>
                    <a:pt x="150" y="72"/>
                  </a:moveTo>
                  <a:cubicBezTo>
                    <a:pt x="6" y="72"/>
                    <a:pt x="6" y="72"/>
                    <a:pt x="6" y="72"/>
                  </a:cubicBezTo>
                  <a:cubicBezTo>
                    <a:pt x="4" y="72"/>
                    <a:pt x="2" y="71"/>
                    <a:pt x="1" y="70"/>
                  </a:cubicBezTo>
                  <a:cubicBezTo>
                    <a:pt x="0" y="68"/>
                    <a:pt x="0" y="66"/>
                    <a:pt x="0" y="6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5" y="2"/>
                    <a:pt x="27" y="0"/>
                    <a:pt x="30" y="0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28" y="0"/>
                    <a:pt x="131" y="2"/>
                    <a:pt x="131" y="4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6" y="66"/>
                    <a:pt x="156" y="68"/>
                    <a:pt x="155" y="70"/>
                  </a:cubicBezTo>
                  <a:cubicBezTo>
                    <a:pt x="154" y="71"/>
                    <a:pt x="152" y="72"/>
                    <a:pt x="150" y="72"/>
                  </a:cubicBezTo>
                  <a:close/>
                  <a:moveTo>
                    <a:pt x="15" y="60"/>
                  </a:moveTo>
                  <a:cubicBezTo>
                    <a:pt x="141" y="60"/>
                    <a:pt x="141" y="60"/>
                    <a:pt x="141" y="60"/>
                  </a:cubicBezTo>
                  <a:cubicBezTo>
                    <a:pt x="122" y="12"/>
                    <a:pt x="122" y="12"/>
                    <a:pt x="122" y="12"/>
                  </a:cubicBezTo>
                  <a:cubicBezTo>
                    <a:pt x="34" y="12"/>
                    <a:pt x="34" y="12"/>
                    <a:pt x="34" y="12"/>
                  </a:cubicBezTo>
                  <a:lnTo>
                    <a:pt x="15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91" name="Freeform 216">
              <a:extLst>
                <a:ext uri="{FF2B5EF4-FFF2-40B4-BE49-F238E27FC236}">
                  <a16:creationId xmlns:a16="http://schemas.microsoft.com/office/drawing/2014/main" id="{13793BB8-5F7A-A79F-235D-8B1A0ED8FA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5" y="3315"/>
              <a:ext cx="98" cy="18"/>
            </a:xfrm>
            <a:custGeom>
              <a:avLst/>
              <a:gdLst>
                <a:gd name="T0" fmla="*/ 60 w 66"/>
                <a:gd name="T1" fmla="*/ 12 h 12"/>
                <a:gd name="T2" fmla="*/ 6 w 66"/>
                <a:gd name="T3" fmla="*/ 12 h 12"/>
                <a:gd name="T4" fmla="*/ 0 w 66"/>
                <a:gd name="T5" fmla="*/ 6 h 12"/>
                <a:gd name="T6" fmla="*/ 6 w 66"/>
                <a:gd name="T7" fmla="*/ 0 h 12"/>
                <a:gd name="T8" fmla="*/ 60 w 66"/>
                <a:gd name="T9" fmla="*/ 0 h 12"/>
                <a:gd name="T10" fmla="*/ 66 w 66"/>
                <a:gd name="T11" fmla="*/ 6 h 12"/>
                <a:gd name="T12" fmla="*/ 60 w 6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12">
                  <a:moveTo>
                    <a:pt x="6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3" y="0"/>
                    <a:pt x="66" y="3"/>
                    <a:pt x="66" y="6"/>
                  </a:cubicBezTo>
                  <a:cubicBezTo>
                    <a:pt x="66" y="10"/>
                    <a:pt x="63" y="12"/>
                    <a:pt x="6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92" name="Freeform 217">
              <a:extLst>
                <a:ext uri="{FF2B5EF4-FFF2-40B4-BE49-F238E27FC236}">
                  <a16:creationId xmlns:a16="http://schemas.microsoft.com/office/drawing/2014/main" id="{483361DC-434F-46B2-7B4B-C0D625311B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0" y="3315"/>
              <a:ext cx="97" cy="18"/>
            </a:xfrm>
            <a:custGeom>
              <a:avLst/>
              <a:gdLst>
                <a:gd name="T0" fmla="*/ 60 w 66"/>
                <a:gd name="T1" fmla="*/ 12 h 12"/>
                <a:gd name="T2" fmla="*/ 6 w 66"/>
                <a:gd name="T3" fmla="*/ 12 h 12"/>
                <a:gd name="T4" fmla="*/ 0 w 66"/>
                <a:gd name="T5" fmla="*/ 6 h 12"/>
                <a:gd name="T6" fmla="*/ 6 w 66"/>
                <a:gd name="T7" fmla="*/ 0 h 12"/>
                <a:gd name="T8" fmla="*/ 60 w 66"/>
                <a:gd name="T9" fmla="*/ 0 h 12"/>
                <a:gd name="T10" fmla="*/ 66 w 66"/>
                <a:gd name="T11" fmla="*/ 6 h 12"/>
                <a:gd name="T12" fmla="*/ 60 w 6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12">
                  <a:moveTo>
                    <a:pt x="6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3" y="0"/>
                    <a:pt x="66" y="3"/>
                    <a:pt x="66" y="6"/>
                  </a:cubicBezTo>
                  <a:cubicBezTo>
                    <a:pt x="66" y="10"/>
                    <a:pt x="63" y="12"/>
                    <a:pt x="6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93" name="Freeform 218">
              <a:extLst>
                <a:ext uri="{FF2B5EF4-FFF2-40B4-BE49-F238E27FC236}">
                  <a16:creationId xmlns:a16="http://schemas.microsoft.com/office/drawing/2014/main" id="{9790156E-FBA4-7953-C02C-BB18067A56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13" y="3191"/>
              <a:ext cx="89" cy="213"/>
            </a:xfrm>
            <a:custGeom>
              <a:avLst/>
              <a:gdLst>
                <a:gd name="T0" fmla="*/ 54 w 60"/>
                <a:gd name="T1" fmla="*/ 144 h 144"/>
                <a:gd name="T2" fmla="*/ 6 w 60"/>
                <a:gd name="T3" fmla="*/ 144 h 144"/>
                <a:gd name="T4" fmla="*/ 0 w 60"/>
                <a:gd name="T5" fmla="*/ 138 h 144"/>
                <a:gd name="T6" fmla="*/ 0 w 60"/>
                <a:gd name="T7" fmla="*/ 6 h 144"/>
                <a:gd name="T8" fmla="*/ 6 w 60"/>
                <a:gd name="T9" fmla="*/ 0 h 144"/>
                <a:gd name="T10" fmla="*/ 54 w 60"/>
                <a:gd name="T11" fmla="*/ 0 h 144"/>
                <a:gd name="T12" fmla="*/ 60 w 60"/>
                <a:gd name="T13" fmla="*/ 6 h 144"/>
                <a:gd name="T14" fmla="*/ 60 w 60"/>
                <a:gd name="T15" fmla="*/ 138 h 144"/>
                <a:gd name="T16" fmla="*/ 54 w 60"/>
                <a:gd name="T17" fmla="*/ 144 h 144"/>
                <a:gd name="T18" fmla="*/ 12 w 60"/>
                <a:gd name="T19" fmla="*/ 132 h 144"/>
                <a:gd name="T20" fmla="*/ 48 w 60"/>
                <a:gd name="T21" fmla="*/ 132 h 144"/>
                <a:gd name="T22" fmla="*/ 48 w 60"/>
                <a:gd name="T23" fmla="*/ 12 h 144"/>
                <a:gd name="T24" fmla="*/ 12 w 60"/>
                <a:gd name="T25" fmla="*/ 12 h 144"/>
                <a:gd name="T26" fmla="*/ 12 w 60"/>
                <a:gd name="T27" fmla="*/ 132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0" h="144">
                  <a:moveTo>
                    <a:pt x="54" y="144"/>
                  </a:moveTo>
                  <a:cubicBezTo>
                    <a:pt x="6" y="144"/>
                    <a:pt x="6" y="144"/>
                    <a:pt x="6" y="144"/>
                  </a:cubicBezTo>
                  <a:cubicBezTo>
                    <a:pt x="3" y="144"/>
                    <a:pt x="0" y="142"/>
                    <a:pt x="0" y="13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7" y="0"/>
                    <a:pt x="60" y="3"/>
                    <a:pt x="60" y="6"/>
                  </a:cubicBezTo>
                  <a:cubicBezTo>
                    <a:pt x="60" y="138"/>
                    <a:pt x="60" y="138"/>
                    <a:pt x="60" y="138"/>
                  </a:cubicBezTo>
                  <a:cubicBezTo>
                    <a:pt x="60" y="142"/>
                    <a:pt x="57" y="144"/>
                    <a:pt x="54" y="144"/>
                  </a:cubicBezTo>
                  <a:close/>
                  <a:moveTo>
                    <a:pt x="12" y="132"/>
                  </a:moveTo>
                  <a:cubicBezTo>
                    <a:pt x="48" y="132"/>
                    <a:pt x="48" y="132"/>
                    <a:pt x="48" y="13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1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94" name="Freeform 219">
              <a:extLst>
                <a:ext uri="{FF2B5EF4-FFF2-40B4-BE49-F238E27FC236}">
                  <a16:creationId xmlns:a16="http://schemas.microsoft.com/office/drawing/2014/main" id="{554F551D-069D-03B6-D813-BBE6A022F2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0" y="3018"/>
              <a:ext cx="222" cy="190"/>
            </a:xfrm>
            <a:custGeom>
              <a:avLst/>
              <a:gdLst>
                <a:gd name="T0" fmla="*/ 143 w 150"/>
                <a:gd name="T1" fmla="*/ 129 h 129"/>
                <a:gd name="T2" fmla="*/ 139 w 150"/>
                <a:gd name="T3" fmla="*/ 128 h 129"/>
                <a:gd name="T4" fmla="*/ 2 w 150"/>
                <a:gd name="T5" fmla="*/ 11 h 129"/>
                <a:gd name="T6" fmla="*/ 2 w 150"/>
                <a:gd name="T7" fmla="*/ 2 h 129"/>
                <a:gd name="T8" fmla="*/ 10 w 150"/>
                <a:gd name="T9" fmla="*/ 2 h 129"/>
                <a:gd name="T10" fmla="*/ 147 w 150"/>
                <a:gd name="T11" fmla="*/ 119 h 129"/>
                <a:gd name="T12" fmla="*/ 147 w 150"/>
                <a:gd name="T13" fmla="*/ 127 h 129"/>
                <a:gd name="T14" fmla="*/ 143 w 150"/>
                <a:gd name="T15" fmla="*/ 129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0" h="129">
                  <a:moveTo>
                    <a:pt x="143" y="129"/>
                  </a:moveTo>
                  <a:cubicBezTo>
                    <a:pt x="141" y="129"/>
                    <a:pt x="140" y="129"/>
                    <a:pt x="139" y="128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9"/>
                    <a:pt x="0" y="5"/>
                    <a:pt x="2" y="2"/>
                  </a:cubicBezTo>
                  <a:cubicBezTo>
                    <a:pt x="4" y="0"/>
                    <a:pt x="8" y="0"/>
                    <a:pt x="10" y="2"/>
                  </a:cubicBezTo>
                  <a:cubicBezTo>
                    <a:pt x="147" y="119"/>
                    <a:pt x="147" y="119"/>
                    <a:pt x="147" y="119"/>
                  </a:cubicBezTo>
                  <a:cubicBezTo>
                    <a:pt x="149" y="121"/>
                    <a:pt x="150" y="125"/>
                    <a:pt x="147" y="127"/>
                  </a:cubicBezTo>
                  <a:cubicBezTo>
                    <a:pt x="146" y="129"/>
                    <a:pt x="145" y="129"/>
                    <a:pt x="143" y="1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95" name="Freeform 220">
              <a:extLst>
                <a:ext uri="{FF2B5EF4-FFF2-40B4-BE49-F238E27FC236}">
                  <a16:creationId xmlns:a16="http://schemas.microsoft.com/office/drawing/2014/main" id="{8EED7B1F-9F3A-19EA-DFF7-304792AF18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1" y="3191"/>
              <a:ext cx="82" cy="80"/>
            </a:xfrm>
            <a:custGeom>
              <a:avLst/>
              <a:gdLst>
                <a:gd name="T0" fmla="*/ 7 w 55"/>
                <a:gd name="T1" fmla="*/ 54 h 54"/>
                <a:gd name="T2" fmla="*/ 3 w 55"/>
                <a:gd name="T3" fmla="*/ 53 h 54"/>
                <a:gd name="T4" fmla="*/ 3 w 55"/>
                <a:gd name="T5" fmla="*/ 44 h 54"/>
                <a:gd name="T6" fmla="*/ 44 w 55"/>
                <a:gd name="T7" fmla="*/ 2 h 54"/>
                <a:gd name="T8" fmla="*/ 53 w 55"/>
                <a:gd name="T9" fmla="*/ 2 h 54"/>
                <a:gd name="T10" fmla="*/ 53 w 55"/>
                <a:gd name="T11" fmla="*/ 11 h 54"/>
                <a:gd name="T12" fmla="*/ 11 w 55"/>
                <a:gd name="T13" fmla="*/ 53 h 54"/>
                <a:gd name="T14" fmla="*/ 7 w 55"/>
                <a:gd name="T1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" h="54">
                  <a:moveTo>
                    <a:pt x="7" y="54"/>
                  </a:moveTo>
                  <a:cubicBezTo>
                    <a:pt x="5" y="54"/>
                    <a:pt x="4" y="54"/>
                    <a:pt x="3" y="53"/>
                  </a:cubicBezTo>
                  <a:cubicBezTo>
                    <a:pt x="0" y="50"/>
                    <a:pt x="0" y="46"/>
                    <a:pt x="3" y="44"/>
                  </a:cubicBezTo>
                  <a:cubicBezTo>
                    <a:pt x="44" y="2"/>
                    <a:pt x="44" y="2"/>
                    <a:pt x="44" y="2"/>
                  </a:cubicBezTo>
                  <a:cubicBezTo>
                    <a:pt x="47" y="0"/>
                    <a:pt x="50" y="0"/>
                    <a:pt x="53" y="2"/>
                  </a:cubicBezTo>
                  <a:cubicBezTo>
                    <a:pt x="55" y="4"/>
                    <a:pt x="55" y="8"/>
                    <a:pt x="53" y="11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0" y="54"/>
                    <a:pt x="8" y="54"/>
                    <a:pt x="7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96" name="Freeform 221">
              <a:extLst>
                <a:ext uri="{FF2B5EF4-FFF2-40B4-BE49-F238E27FC236}">
                  <a16:creationId xmlns:a16="http://schemas.microsoft.com/office/drawing/2014/main" id="{3D8C4660-8372-9733-AD33-6B5F1ED5B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1" y="3248"/>
              <a:ext cx="91" cy="89"/>
            </a:xfrm>
            <a:custGeom>
              <a:avLst/>
              <a:gdLst>
                <a:gd name="T0" fmla="*/ 7 w 61"/>
                <a:gd name="T1" fmla="*/ 60 h 60"/>
                <a:gd name="T2" fmla="*/ 3 w 61"/>
                <a:gd name="T3" fmla="*/ 59 h 60"/>
                <a:gd name="T4" fmla="*/ 3 w 61"/>
                <a:gd name="T5" fmla="*/ 50 h 60"/>
                <a:gd name="T6" fmla="*/ 51 w 61"/>
                <a:gd name="T7" fmla="*/ 2 h 60"/>
                <a:gd name="T8" fmla="*/ 59 w 61"/>
                <a:gd name="T9" fmla="*/ 2 h 60"/>
                <a:gd name="T10" fmla="*/ 59 w 61"/>
                <a:gd name="T11" fmla="*/ 11 h 60"/>
                <a:gd name="T12" fmla="*/ 11 w 61"/>
                <a:gd name="T13" fmla="*/ 59 h 60"/>
                <a:gd name="T14" fmla="*/ 7 w 61"/>
                <a:gd name="T15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0">
                  <a:moveTo>
                    <a:pt x="7" y="60"/>
                  </a:moveTo>
                  <a:cubicBezTo>
                    <a:pt x="5" y="60"/>
                    <a:pt x="4" y="60"/>
                    <a:pt x="3" y="59"/>
                  </a:cubicBezTo>
                  <a:cubicBezTo>
                    <a:pt x="0" y="56"/>
                    <a:pt x="0" y="52"/>
                    <a:pt x="3" y="50"/>
                  </a:cubicBezTo>
                  <a:cubicBezTo>
                    <a:pt x="51" y="2"/>
                    <a:pt x="51" y="2"/>
                    <a:pt x="51" y="2"/>
                  </a:cubicBezTo>
                  <a:cubicBezTo>
                    <a:pt x="53" y="0"/>
                    <a:pt x="57" y="0"/>
                    <a:pt x="59" y="2"/>
                  </a:cubicBezTo>
                  <a:cubicBezTo>
                    <a:pt x="61" y="4"/>
                    <a:pt x="61" y="8"/>
                    <a:pt x="59" y="11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10" y="60"/>
                    <a:pt x="8" y="60"/>
                    <a:pt x="7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97" name="Freeform 222">
              <a:extLst>
                <a:ext uri="{FF2B5EF4-FFF2-40B4-BE49-F238E27FC236}">
                  <a16:creationId xmlns:a16="http://schemas.microsoft.com/office/drawing/2014/main" id="{BBBDA1FC-BB73-BC99-8E6D-354F4961D1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1" y="3315"/>
              <a:ext cx="91" cy="89"/>
            </a:xfrm>
            <a:custGeom>
              <a:avLst/>
              <a:gdLst>
                <a:gd name="T0" fmla="*/ 7 w 61"/>
                <a:gd name="T1" fmla="*/ 60 h 60"/>
                <a:gd name="T2" fmla="*/ 3 w 61"/>
                <a:gd name="T3" fmla="*/ 59 h 60"/>
                <a:gd name="T4" fmla="*/ 3 w 61"/>
                <a:gd name="T5" fmla="*/ 50 h 60"/>
                <a:gd name="T6" fmla="*/ 51 w 61"/>
                <a:gd name="T7" fmla="*/ 2 h 60"/>
                <a:gd name="T8" fmla="*/ 59 w 61"/>
                <a:gd name="T9" fmla="*/ 2 h 60"/>
                <a:gd name="T10" fmla="*/ 59 w 61"/>
                <a:gd name="T11" fmla="*/ 11 h 60"/>
                <a:gd name="T12" fmla="*/ 11 w 61"/>
                <a:gd name="T13" fmla="*/ 59 h 60"/>
                <a:gd name="T14" fmla="*/ 7 w 61"/>
                <a:gd name="T15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0">
                  <a:moveTo>
                    <a:pt x="7" y="60"/>
                  </a:moveTo>
                  <a:cubicBezTo>
                    <a:pt x="5" y="60"/>
                    <a:pt x="4" y="60"/>
                    <a:pt x="3" y="59"/>
                  </a:cubicBezTo>
                  <a:cubicBezTo>
                    <a:pt x="0" y="56"/>
                    <a:pt x="0" y="52"/>
                    <a:pt x="3" y="50"/>
                  </a:cubicBezTo>
                  <a:cubicBezTo>
                    <a:pt x="51" y="2"/>
                    <a:pt x="51" y="2"/>
                    <a:pt x="51" y="2"/>
                  </a:cubicBezTo>
                  <a:cubicBezTo>
                    <a:pt x="53" y="0"/>
                    <a:pt x="57" y="0"/>
                    <a:pt x="59" y="2"/>
                  </a:cubicBezTo>
                  <a:cubicBezTo>
                    <a:pt x="61" y="4"/>
                    <a:pt x="61" y="8"/>
                    <a:pt x="59" y="11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10" y="60"/>
                    <a:pt x="8" y="60"/>
                    <a:pt x="7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</p:grpSp>
      <p:grpSp>
        <p:nvGrpSpPr>
          <p:cNvPr id="198" name="Group 39">
            <a:extLst>
              <a:ext uri="{FF2B5EF4-FFF2-40B4-BE49-F238E27FC236}">
                <a16:creationId xmlns:a16="http://schemas.microsoft.com/office/drawing/2014/main" id="{C4EEB0B9-AFC3-B978-A9E9-CFF189A6990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835058" y="1777438"/>
            <a:ext cx="428048" cy="410926"/>
            <a:chOff x="3425" y="429"/>
            <a:chExt cx="450" cy="432"/>
          </a:xfrm>
          <a:solidFill>
            <a:schemeClr val="accent1"/>
          </a:solidFill>
        </p:grpSpPr>
        <p:sp>
          <p:nvSpPr>
            <p:cNvPr id="199" name="Freeform 40">
              <a:extLst>
                <a:ext uri="{FF2B5EF4-FFF2-40B4-BE49-F238E27FC236}">
                  <a16:creationId xmlns:a16="http://schemas.microsoft.com/office/drawing/2014/main" id="{EDA28DB7-BB46-14AC-5AA5-43BEBE332A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494"/>
              <a:ext cx="302" cy="302"/>
            </a:xfrm>
            <a:custGeom>
              <a:avLst/>
              <a:gdLst>
                <a:gd name="T0" fmla="*/ 7 w 204"/>
                <a:gd name="T1" fmla="*/ 203 h 204"/>
                <a:gd name="T2" fmla="*/ 20 w 204"/>
                <a:gd name="T3" fmla="*/ 172 h 204"/>
                <a:gd name="T4" fmla="*/ 32 w 204"/>
                <a:gd name="T5" fmla="*/ 177 h 204"/>
                <a:gd name="T6" fmla="*/ 41 w 204"/>
                <a:gd name="T7" fmla="*/ 169 h 204"/>
                <a:gd name="T8" fmla="*/ 41 w 204"/>
                <a:gd name="T9" fmla="*/ 143 h 204"/>
                <a:gd name="T10" fmla="*/ 71 w 204"/>
                <a:gd name="T11" fmla="*/ 145 h 204"/>
                <a:gd name="T12" fmla="*/ 75 w 204"/>
                <a:gd name="T13" fmla="*/ 143 h 204"/>
                <a:gd name="T14" fmla="*/ 75 w 204"/>
                <a:gd name="T15" fmla="*/ 135 h 204"/>
                <a:gd name="T16" fmla="*/ 88 w 204"/>
                <a:gd name="T17" fmla="*/ 104 h 204"/>
                <a:gd name="T18" fmla="*/ 100 w 204"/>
                <a:gd name="T19" fmla="*/ 109 h 204"/>
                <a:gd name="T20" fmla="*/ 105 w 204"/>
                <a:gd name="T21" fmla="*/ 111 h 204"/>
                <a:gd name="T22" fmla="*/ 111 w 204"/>
                <a:gd name="T23" fmla="*/ 105 h 204"/>
                <a:gd name="T24" fmla="*/ 109 w 204"/>
                <a:gd name="T25" fmla="*/ 75 h 204"/>
                <a:gd name="T26" fmla="*/ 143 w 204"/>
                <a:gd name="T27" fmla="*/ 75 h 204"/>
                <a:gd name="T28" fmla="*/ 143 w 204"/>
                <a:gd name="T29" fmla="*/ 41 h 204"/>
                <a:gd name="T30" fmla="*/ 177 w 204"/>
                <a:gd name="T31" fmla="*/ 41 h 204"/>
                <a:gd name="T32" fmla="*/ 177 w 204"/>
                <a:gd name="T33" fmla="*/ 33 h 204"/>
                <a:gd name="T34" fmla="*/ 202 w 204"/>
                <a:gd name="T35" fmla="*/ 8 h 204"/>
                <a:gd name="T36" fmla="*/ 194 w 204"/>
                <a:gd name="T37" fmla="*/ 16 h 204"/>
                <a:gd name="T38" fmla="*/ 185 w 204"/>
                <a:gd name="T39" fmla="*/ 24 h 204"/>
                <a:gd name="T40" fmla="*/ 185 w 204"/>
                <a:gd name="T41" fmla="*/ 50 h 204"/>
                <a:gd name="T42" fmla="*/ 160 w 204"/>
                <a:gd name="T43" fmla="*/ 50 h 204"/>
                <a:gd name="T44" fmla="*/ 151 w 204"/>
                <a:gd name="T45" fmla="*/ 58 h 204"/>
                <a:gd name="T46" fmla="*/ 139 w 204"/>
                <a:gd name="T47" fmla="*/ 89 h 204"/>
                <a:gd name="T48" fmla="*/ 117 w 204"/>
                <a:gd name="T49" fmla="*/ 84 h 204"/>
                <a:gd name="T50" fmla="*/ 123 w 204"/>
                <a:gd name="T51" fmla="*/ 105 h 204"/>
                <a:gd name="T52" fmla="*/ 105 w 204"/>
                <a:gd name="T53" fmla="*/ 123 h 204"/>
                <a:gd name="T54" fmla="*/ 92 w 204"/>
                <a:gd name="T55" fmla="*/ 118 h 204"/>
                <a:gd name="T56" fmla="*/ 88 w 204"/>
                <a:gd name="T57" fmla="*/ 116 h 204"/>
                <a:gd name="T58" fmla="*/ 83 w 204"/>
                <a:gd name="T59" fmla="*/ 126 h 204"/>
                <a:gd name="T60" fmla="*/ 83 w 204"/>
                <a:gd name="T61" fmla="*/ 152 h 204"/>
                <a:gd name="T62" fmla="*/ 71 w 204"/>
                <a:gd name="T63" fmla="*/ 157 h 204"/>
                <a:gd name="T64" fmla="*/ 49 w 204"/>
                <a:gd name="T65" fmla="*/ 152 h 204"/>
                <a:gd name="T66" fmla="*/ 49 w 204"/>
                <a:gd name="T67" fmla="*/ 160 h 204"/>
                <a:gd name="T68" fmla="*/ 24 w 204"/>
                <a:gd name="T69" fmla="*/ 186 h 204"/>
                <a:gd name="T70" fmla="*/ 20 w 204"/>
                <a:gd name="T71" fmla="*/ 184 h 204"/>
                <a:gd name="T72" fmla="*/ 15 w 204"/>
                <a:gd name="T73" fmla="*/ 194 h 204"/>
                <a:gd name="T74" fmla="*/ 11 w 204"/>
                <a:gd name="T75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4" h="204">
                  <a:moveTo>
                    <a:pt x="11" y="204"/>
                  </a:moveTo>
                  <a:cubicBezTo>
                    <a:pt x="10" y="204"/>
                    <a:pt x="8" y="204"/>
                    <a:pt x="7" y="203"/>
                  </a:cubicBezTo>
                  <a:cubicBezTo>
                    <a:pt x="0" y="196"/>
                    <a:pt x="0" y="184"/>
                    <a:pt x="7" y="177"/>
                  </a:cubicBezTo>
                  <a:cubicBezTo>
                    <a:pt x="10" y="174"/>
                    <a:pt x="15" y="172"/>
                    <a:pt x="20" y="172"/>
                  </a:cubicBezTo>
                  <a:cubicBezTo>
                    <a:pt x="20" y="172"/>
                    <a:pt x="20" y="172"/>
                    <a:pt x="20" y="172"/>
                  </a:cubicBezTo>
                  <a:cubicBezTo>
                    <a:pt x="25" y="172"/>
                    <a:pt x="29" y="174"/>
                    <a:pt x="32" y="177"/>
                  </a:cubicBezTo>
                  <a:cubicBezTo>
                    <a:pt x="35" y="180"/>
                    <a:pt x="39" y="180"/>
                    <a:pt x="41" y="177"/>
                  </a:cubicBezTo>
                  <a:cubicBezTo>
                    <a:pt x="43" y="175"/>
                    <a:pt x="43" y="171"/>
                    <a:pt x="41" y="169"/>
                  </a:cubicBezTo>
                  <a:cubicBezTo>
                    <a:pt x="38" y="165"/>
                    <a:pt x="36" y="161"/>
                    <a:pt x="36" y="156"/>
                  </a:cubicBezTo>
                  <a:cubicBezTo>
                    <a:pt x="36" y="151"/>
                    <a:pt x="38" y="147"/>
                    <a:pt x="41" y="143"/>
                  </a:cubicBezTo>
                  <a:cubicBezTo>
                    <a:pt x="48" y="136"/>
                    <a:pt x="59" y="136"/>
                    <a:pt x="66" y="143"/>
                  </a:cubicBezTo>
                  <a:cubicBezTo>
                    <a:pt x="68" y="144"/>
                    <a:pt x="69" y="145"/>
                    <a:pt x="71" y="145"/>
                  </a:cubicBezTo>
                  <a:cubicBezTo>
                    <a:pt x="71" y="145"/>
                    <a:pt x="71" y="145"/>
                    <a:pt x="71" y="145"/>
                  </a:cubicBezTo>
                  <a:cubicBezTo>
                    <a:pt x="72" y="145"/>
                    <a:pt x="74" y="144"/>
                    <a:pt x="75" y="143"/>
                  </a:cubicBezTo>
                  <a:cubicBezTo>
                    <a:pt x="76" y="142"/>
                    <a:pt x="77" y="141"/>
                    <a:pt x="77" y="139"/>
                  </a:cubicBezTo>
                  <a:cubicBezTo>
                    <a:pt x="77" y="137"/>
                    <a:pt x="76" y="136"/>
                    <a:pt x="75" y="135"/>
                  </a:cubicBezTo>
                  <a:cubicBezTo>
                    <a:pt x="68" y="128"/>
                    <a:pt x="68" y="116"/>
                    <a:pt x="75" y="109"/>
                  </a:cubicBezTo>
                  <a:cubicBezTo>
                    <a:pt x="78" y="106"/>
                    <a:pt x="83" y="104"/>
                    <a:pt x="88" y="104"/>
                  </a:cubicBezTo>
                  <a:cubicBezTo>
                    <a:pt x="88" y="104"/>
                    <a:pt x="88" y="104"/>
                    <a:pt x="88" y="104"/>
                  </a:cubicBezTo>
                  <a:cubicBezTo>
                    <a:pt x="92" y="104"/>
                    <a:pt x="97" y="106"/>
                    <a:pt x="100" y="109"/>
                  </a:cubicBezTo>
                  <a:cubicBezTo>
                    <a:pt x="101" y="110"/>
                    <a:pt x="103" y="111"/>
                    <a:pt x="105" y="111"/>
                  </a:cubicBezTo>
                  <a:cubicBezTo>
                    <a:pt x="105" y="111"/>
                    <a:pt x="105" y="111"/>
                    <a:pt x="105" y="111"/>
                  </a:cubicBezTo>
                  <a:cubicBezTo>
                    <a:pt x="106" y="111"/>
                    <a:pt x="108" y="110"/>
                    <a:pt x="109" y="109"/>
                  </a:cubicBezTo>
                  <a:cubicBezTo>
                    <a:pt x="110" y="108"/>
                    <a:pt x="111" y="107"/>
                    <a:pt x="111" y="105"/>
                  </a:cubicBezTo>
                  <a:cubicBezTo>
                    <a:pt x="111" y="103"/>
                    <a:pt x="110" y="102"/>
                    <a:pt x="109" y="101"/>
                  </a:cubicBezTo>
                  <a:cubicBezTo>
                    <a:pt x="102" y="94"/>
                    <a:pt x="102" y="82"/>
                    <a:pt x="109" y="75"/>
                  </a:cubicBezTo>
                  <a:cubicBezTo>
                    <a:pt x="116" y="68"/>
                    <a:pt x="127" y="68"/>
                    <a:pt x="134" y="75"/>
                  </a:cubicBezTo>
                  <a:cubicBezTo>
                    <a:pt x="137" y="78"/>
                    <a:pt x="140" y="78"/>
                    <a:pt x="143" y="75"/>
                  </a:cubicBezTo>
                  <a:cubicBezTo>
                    <a:pt x="145" y="73"/>
                    <a:pt x="145" y="69"/>
                    <a:pt x="143" y="67"/>
                  </a:cubicBezTo>
                  <a:cubicBezTo>
                    <a:pt x="136" y="60"/>
                    <a:pt x="136" y="48"/>
                    <a:pt x="143" y="41"/>
                  </a:cubicBezTo>
                  <a:cubicBezTo>
                    <a:pt x="150" y="34"/>
                    <a:pt x="161" y="34"/>
                    <a:pt x="168" y="41"/>
                  </a:cubicBezTo>
                  <a:cubicBezTo>
                    <a:pt x="170" y="44"/>
                    <a:pt x="174" y="44"/>
                    <a:pt x="177" y="41"/>
                  </a:cubicBezTo>
                  <a:cubicBezTo>
                    <a:pt x="178" y="40"/>
                    <a:pt x="178" y="39"/>
                    <a:pt x="178" y="37"/>
                  </a:cubicBezTo>
                  <a:cubicBezTo>
                    <a:pt x="178" y="36"/>
                    <a:pt x="178" y="34"/>
                    <a:pt x="177" y="33"/>
                  </a:cubicBezTo>
                  <a:cubicBezTo>
                    <a:pt x="170" y="26"/>
                    <a:pt x="170" y="15"/>
                    <a:pt x="177" y="8"/>
                  </a:cubicBezTo>
                  <a:cubicBezTo>
                    <a:pt x="184" y="0"/>
                    <a:pt x="195" y="0"/>
                    <a:pt x="202" y="8"/>
                  </a:cubicBezTo>
                  <a:cubicBezTo>
                    <a:pt x="204" y="10"/>
                    <a:pt x="204" y="14"/>
                    <a:pt x="202" y="16"/>
                  </a:cubicBezTo>
                  <a:cubicBezTo>
                    <a:pt x="200" y="18"/>
                    <a:pt x="196" y="18"/>
                    <a:pt x="194" y="16"/>
                  </a:cubicBezTo>
                  <a:cubicBezTo>
                    <a:pt x="191" y="14"/>
                    <a:pt x="188" y="14"/>
                    <a:pt x="185" y="16"/>
                  </a:cubicBezTo>
                  <a:cubicBezTo>
                    <a:pt x="183" y="18"/>
                    <a:pt x="183" y="22"/>
                    <a:pt x="185" y="24"/>
                  </a:cubicBezTo>
                  <a:cubicBezTo>
                    <a:pt x="189" y="28"/>
                    <a:pt x="190" y="32"/>
                    <a:pt x="190" y="37"/>
                  </a:cubicBezTo>
                  <a:cubicBezTo>
                    <a:pt x="190" y="42"/>
                    <a:pt x="189" y="47"/>
                    <a:pt x="185" y="50"/>
                  </a:cubicBezTo>
                  <a:cubicBezTo>
                    <a:pt x="182" y="53"/>
                    <a:pt x="177" y="55"/>
                    <a:pt x="172" y="55"/>
                  </a:cubicBezTo>
                  <a:cubicBezTo>
                    <a:pt x="168" y="55"/>
                    <a:pt x="163" y="53"/>
                    <a:pt x="160" y="50"/>
                  </a:cubicBezTo>
                  <a:cubicBezTo>
                    <a:pt x="157" y="48"/>
                    <a:pt x="154" y="48"/>
                    <a:pt x="151" y="50"/>
                  </a:cubicBezTo>
                  <a:cubicBezTo>
                    <a:pt x="149" y="52"/>
                    <a:pt x="149" y="56"/>
                    <a:pt x="151" y="58"/>
                  </a:cubicBezTo>
                  <a:cubicBezTo>
                    <a:pt x="158" y="65"/>
                    <a:pt x="158" y="77"/>
                    <a:pt x="151" y="84"/>
                  </a:cubicBezTo>
                  <a:cubicBezTo>
                    <a:pt x="148" y="87"/>
                    <a:pt x="143" y="89"/>
                    <a:pt x="139" y="89"/>
                  </a:cubicBezTo>
                  <a:cubicBezTo>
                    <a:pt x="134" y="89"/>
                    <a:pt x="129" y="87"/>
                    <a:pt x="126" y="84"/>
                  </a:cubicBezTo>
                  <a:cubicBezTo>
                    <a:pt x="123" y="82"/>
                    <a:pt x="120" y="82"/>
                    <a:pt x="117" y="84"/>
                  </a:cubicBezTo>
                  <a:cubicBezTo>
                    <a:pt x="115" y="86"/>
                    <a:pt x="115" y="90"/>
                    <a:pt x="117" y="92"/>
                  </a:cubicBezTo>
                  <a:cubicBezTo>
                    <a:pt x="121" y="96"/>
                    <a:pt x="123" y="100"/>
                    <a:pt x="123" y="105"/>
                  </a:cubicBezTo>
                  <a:cubicBezTo>
                    <a:pt x="123" y="110"/>
                    <a:pt x="121" y="114"/>
                    <a:pt x="117" y="118"/>
                  </a:cubicBezTo>
                  <a:cubicBezTo>
                    <a:pt x="114" y="121"/>
                    <a:pt x="109" y="123"/>
                    <a:pt x="105" y="123"/>
                  </a:cubicBezTo>
                  <a:cubicBezTo>
                    <a:pt x="105" y="123"/>
                    <a:pt x="105" y="123"/>
                    <a:pt x="105" y="123"/>
                  </a:cubicBezTo>
                  <a:cubicBezTo>
                    <a:pt x="100" y="123"/>
                    <a:pt x="95" y="121"/>
                    <a:pt x="92" y="118"/>
                  </a:cubicBezTo>
                  <a:cubicBezTo>
                    <a:pt x="91" y="117"/>
                    <a:pt x="89" y="116"/>
                    <a:pt x="88" y="116"/>
                  </a:cubicBezTo>
                  <a:cubicBezTo>
                    <a:pt x="88" y="116"/>
                    <a:pt x="88" y="116"/>
                    <a:pt x="88" y="116"/>
                  </a:cubicBezTo>
                  <a:cubicBezTo>
                    <a:pt x="86" y="116"/>
                    <a:pt x="84" y="117"/>
                    <a:pt x="83" y="118"/>
                  </a:cubicBezTo>
                  <a:cubicBezTo>
                    <a:pt x="81" y="120"/>
                    <a:pt x="81" y="124"/>
                    <a:pt x="83" y="126"/>
                  </a:cubicBezTo>
                  <a:cubicBezTo>
                    <a:pt x="87" y="130"/>
                    <a:pt x="89" y="134"/>
                    <a:pt x="89" y="139"/>
                  </a:cubicBezTo>
                  <a:cubicBezTo>
                    <a:pt x="89" y="144"/>
                    <a:pt x="87" y="148"/>
                    <a:pt x="83" y="152"/>
                  </a:cubicBezTo>
                  <a:cubicBezTo>
                    <a:pt x="80" y="155"/>
                    <a:pt x="75" y="157"/>
                    <a:pt x="71" y="157"/>
                  </a:cubicBezTo>
                  <a:cubicBezTo>
                    <a:pt x="71" y="157"/>
                    <a:pt x="71" y="157"/>
                    <a:pt x="71" y="157"/>
                  </a:cubicBezTo>
                  <a:cubicBezTo>
                    <a:pt x="66" y="157"/>
                    <a:pt x="61" y="155"/>
                    <a:pt x="58" y="152"/>
                  </a:cubicBezTo>
                  <a:cubicBezTo>
                    <a:pt x="56" y="149"/>
                    <a:pt x="52" y="149"/>
                    <a:pt x="49" y="152"/>
                  </a:cubicBezTo>
                  <a:cubicBezTo>
                    <a:pt x="48" y="153"/>
                    <a:pt x="48" y="154"/>
                    <a:pt x="48" y="156"/>
                  </a:cubicBezTo>
                  <a:cubicBezTo>
                    <a:pt x="48" y="158"/>
                    <a:pt x="48" y="159"/>
                    <a:pt x="49" y="160"/>
                  </a:cubicBezTo>
                  <a:cubicBezTo>
                    <a:pt x="56" y="167"/>
                    <a:pt x="56" y="179"/>
                    <a:pt x="49" y="186"/>
                  </a:cubicBezTo>
                  <a:cubicBezTo>
                    <a:pt x="42" y="193"/>
                    <a:pt x="31" y="193"/>
                    <a:pt x="24" y="186"/>
                  </a:cubicBezTo>
                  <a:cubicBezTo>
                    <a:pt x="23" y="185"/>
                    <a:pt x="21" y="184"/>
                    <a:pt x="20" y="184"/>
                  </a:cubicBezTo>
                  <a:cubicBezTo>
                    <a:pt x="20" y="184"/>
                    <a:pt x="20" y="184"/>
                    <a:pt x="20" y="184"/>
                  </a:cubicBezTo>
                  <a:cubicBezTo>
                    <a:pt x="18" y="184"/>
                    <a:pt x="17" y="185"/>
                    <a:pt x="15" y="186"/>
                  </a:cubicBezTo>
                  <a:cubicBezTo>
                    <a:pt x="13" y="188"/>
                    <a:pt x="13" y="192"/>
                    <a:pt x="15" y="194"/>
                  </a:cubicBezTo>
                  <a:cubicBezTo>
                    <a:pt x="18" y="197"/>
                    <a:pt x="18" y="200"/>
                    <a:pt x="15" y="203"/>
                  </a:cubicBezTo>
                  <a:cubicBezTo>
                    <a:pt x="14" y="204"/>
                    <a:pt x="13" y="204"/>
                    <a:pt x="11" y="2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00" name="Freeform 41">
              <a:extLst>
                <a:ext uri="{FF2B5EF4-FFF2-40B4-BE49-F238E27FC236}">
                  <a16:creationId xmlns:a16="http://schemas.microsoft.com/office/drawing/2014/main" id="{3461C141-C6E1-A078-2EB9-4A72B0E82E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57" y="456"/>
              <a:ext cx="386" cy="381"/>
            </a:xfrm>
            <a:custGeom>
              <a:avLst/>
              <a:gdLst>
                <a:gd name="T0" fmla="*/ 46 w 261"/>
                <a:gd name="T1" fmla="*/ 258 h 258"/>
                <a:gd name="T2" fmla="*/ 16 w 261"/>
                <a:gd name="T3" fmla="*/ 246 h 258"/>
                <a:gd name="T4" fmla="*/ 16 w 261"/>
                <a:gd name="T5" fmla="*/ 186 h 258"/>
                <a:gd name="T6" fmla="*/ 16 w 261"/>
                <a:gd name="T7" fmla="*/ 186 h 258"/>
                <a:gd name="T8" fmla="*/ 186 w 261"/>
                <a:gd name="T9" fmla="*/ 17 h 258"/>
                <a:gd name="T10" fmla="*/ 245 w 261"/>
                <a:gd name="T11" fmla="*/ 17 h 258"/>
                <a:gd name="T12" fmla="*/ 245 w 261"/>
                <a:gd name="T13" fmla="*/ 76 h 258"/>
                <a:gd name="T14" fmla="*/ 75 w 261"/>
                <a:gd name="T15" fmla="*/ 246 h 258"/>
                <a:gd name="T16" fmla="*/ 46 w 261"/>
                <a:gd name="T17" fmla="*/ 258 h 258"/>
                <a:gd name="T18" fmla="*/ 24 w 261"/>
                <a:gd name="T19" fmla="*/ 195 h 258"/>
                <a:gd name="T20" fmla="*/ 24 w 261"/>
                <a:gd name="T21" fmla="*/ 237 h 258"/>
                <a:gd name="T22" fmla="*/ 46 w 261"/>
                <a:gd name="T23" fmla="*/ 246 h 258"/>
                <a:gd name="T24" fmla="*/ 67 w 261"/>
                <a:gd name="T25" fmla="*/ 237 h 258"/>
                <a:gd name="T26" fmla="*/ 237 w 261"/>
                <a:gd name="T27" fmla="*/ 67 h 258"/>
                <a:gd name="T28" fmla="*/ 237 w 261"/>
                <a:gd name="T29" fmla="*/ 25 h 258"/>
                <a:gd name="T30" fmla="*/ 194 w 261"/>
                <a:gd name="T31" fmla="*/ 25 h 258"/>
                <a:gd name="T32" fmla="*/ 24 w 261"/>
                <a:gd name="T33" fmla="*/ 19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61" h="258">
                  <a:moveTo>
                    <a:pt x="46" y="258"/>
                  </a:moveTo>
                  <a:cubicBezTo>
                    <a:pt x="34" y="258"/>
                    <a:pt x="24" y="254"/>
                    <a:pt x="16" y="246"/>
                  </a:cubicBezTo>
                  <a:cubicBezTo>
                    <a:pt x="0" y="229"/>
                    <a:pt x="0" y="203"/>
                    <a:pt x="16" y="186"/>
                  </a:cubicBezTo>
                  <a:cubicBezTo>
                    <a:pt x="16" y="186"/>
                    <a:pt x="16" y="186"/>
                    <a:pt x="16" y="186"/>
                  </a:cubicBezTo>
                  <a:cubicBezTo>
                    <a:pt x="186" y="17"/>
                    <a:pt x="186" y="17"/>
                    <a:pt x="186" y="17"/>
                  </a:cubicBezTo>
                  <a:cubicBezTo>
                    <a:pt x="202" y="0"/>
                    <a:pt x="229" y="0"/>
                    <a:pt x="245" y="17"/>
                  </a:cubicBezTo>
                  <a:cubicBezTo>
                    <a:pt x="261" y="33"/>
                    <a:pt x="261" y="60"/>
                    <a:pt x="245" y="76"/>
                  </a:cubicBezTo>
                  <a:cubicBezTo>
                    <a:pt x="75" y="246"/>
                    <a:pt x="75" y="246"/>
                    <a:pt x="75" y="246"/>
                  </a:cubicBezTo>
                  <a:cubicBezTo>
                    <a:pt x="67" y="254"/>
                    <a:pt x="57" y="258"/>
                    <a:pt x="46" y="258"/>
                  </a:cubicBezTo>
                  <a:close/>
                  <a:moveTo>
                    <a:pt x="24" y="195"/>
                  </a:moveTo>
                  <a:cubicBezTo>
                    <a:pt x="13" y="206"/>
                    <a:pt x="13" y="225"/>
                    <a:pt x="24" y="237"/>
                  </a:cubicBezTo>
                  <a:cubicBezTo>
                    <a:pt x="30" y="243"/>
                    <a:pt x="38" y="246"/>
                    <a:pt x="46" y="246"/>
                  </a:cubicBezTo>
                  <a:cubicBezTo>
                    <a:pt x="54" y="246"/>
                    <a:pt x="61" y="243"/>
                    <a:pt x="67" y="237"/>
                  </a:cubicBezTo>
                  <a:cubicBezTo>
                    <a:pt x="237" y="67"/>
                    <a:pt x="237" y="67"/>
                    <a:pt x="237" y="67"/>
                  </a:cubicBezTo>
                  <a:cubicBezTo>
                    <a:pt x="248" y="56"/>
                    <a:pt x="248" y="37"/>
                    <a:pt x="237" y="25"/>
                  </a:cubicBezTo>
                  <a:cubicBezTo>
                    <a:pt x="225" y="13"/>
                    <a:pt x="206" y="13"/>
                    <a:pt x="194" y="25"/>
                  </a:cubicBezTo>
                  <a:cubicBezTo>
                    <a:pt x="24" y="195"/>
                    <a:pt x="24" y="195"/>
                    <a:pt x="24" y="1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01" name="Freeform 42">
              <a:extLst>
                <a:ext uri="{FF2B5EF4-FFF2-40B4-BE49-F238E27FC236}">
                  <a16:creationId xmlns:a16="http://schemas.microsoft.com/office/drawing/2014/main" id="{F3A08665-3675-E5C1-392B-42D6C03FC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2" y="531"/>
              <a:ext cx="343" cy="330"/>
            </a:xfrm>
            <a:custGeom>
              <a:avLst/>
              <a:gdLst>
                <a:gd name="T0" fmla="*/ 42 w 232"/>
                <a:gd name="T1" fmla="*/ 223 h 223"/>
                <a:gd name="T2" fmla="*/ 42 w 232"/>
                <a:gd name="T3" fmla="*/ 223 h 223"/>
                <a:gd name="T4" fmla="*/ 0 w 232"/>
                <a:gd name="T5" fmla="*/ 204 h 223"/>
                <a:gd name="T6" fmla="*/ 8 w 232"/>
                <a:gd name="T7" fmla="*/ 196 h 223"/>
                <a:gd name="T8" fmla="*/ 42 w 232"/>
                <a:gd name="T9" fmla="*/ 211 h 223"/>
                <a:gd name="T10" fmla="*/ 42 w 232"/>
                <a:gd name="T11" fmla="*/ 211 h 223"/>
                <a:gd name="T12" fmla="*/ 71 w 232"/>
                <a:gd name="T13" fmla="*/ 199 h 223"/>
                <a:gd name="T14" fmla="*/ 198 w 232"/>
                <a:gd name="T15" fmla="*/ 72 h 223"/>
                <a:gd name="T16" fmla="*/ 195 w 232"/>
                <a:gd name="T17" fmla="*/ 9 h 223"/>
                <a:gd name="T18" fmla="*/ 204 w 232"/>
                <a:gd name="T19" fmla="*/ 0 h 223"/>
                <a:gd name="T20" fmla="*/ 207 w 232"/>
                <a:gd name="T21" fmla="*/ 80 h 223"/>
                <a:gd name="T22" fmla="*/ 80 w 232"/>
                <a:gd name="T23" fmla="*/ 207 h 223"/>
                <a:gd name="T24" fmla="*/ 42 w 232"/>
                <a:gd name="T25" fmla="*/ 223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" h="223">
                  <a:moveTo>
                    <a:pt x="42" y="223"/>
                  </a:moveTo>
                  <a:cubicBezTo>
                    <a:pt x="42" y="223"/>
                    <a:pt x="42" y="223"/>
                    <a:pt x="42" y="223"/>
                  </a:cubicBezTo>
                  <a:cubicBezTo>
                    <a:pt x="26" y="223"/>
                    <a:pt x="12" y="216"/>
                    <a:pt x="0" y="204"/>
                  </a:cubicBezTo>
                  <a:cubicBezTo>
                    <a:pt x="8" y="196"/>
                    <a:pt x="8" y="196"/>
                    <a:pt x="8" y="196"/>
                  </a:cubicBezTo>
                  <a:cubicBezTo>
                    <a:pt x="18" y="206"/>
                    <a:pt x="30" y="211"/>
                    <a:pt x="42" y="211"/>
                  </a:cubicBezTo>
                  <a:cubicBezTo>
                    <a:pt x="42" y="211"/>
                    <a:pt x="42" y="211"/>
                    <a:pt x="42" y="211"/>
                  </a:cubicBezTo>
                  <a:cubicBezTo>
                    <a:pt x="53" y="211"/>
                    <a:pt x="63" y="207"/>
                    <a:pt x="71" y="199"/>
                  </a:cubicBezTo>
                  <a:cubicBezTo>
                    <a:pt x="198" y="72"/>
                    <a:pt x="198" y="72"/>
                    <a:pt x="198" y="72"/>
                  </a:cubicBezTo>
                  <a:cubicBezTo>
                    <a:pt x="212" y="58"/>
                    <a:pt x="219" y="34"/>
                    <a:pt x="195" y="9"/>
                  </a:cubicBezTo>
                  <a:cubicBezTo>
                    <a:pt x="204" y="0"/>
                    <a:pt x="204" y="0"/>
                    <a:pt x="204" y="0"/>
                  </a:cubicBezTo>
                  <a:cubicBezTo>
                    <a:pt x="232" y="30"/>
                    <a:pt x="226" y="61"/>
                    <a:pt x="207" y="80"/>
                  </a:cubicBezTo>
                  <a:cubicBezTo>
                    <a:pt x="80" y="207"/>
                    <a:pt x="80" y="207"/>
                    <a:pt x="80" y="207"/>
                  </a:cubicBezTo>
                  <a:cubicBezTo>
                    <a:pt x="70" y="217"/>
                    <a:pt x="56" y="223"/>
                    <a:pt x="42" y="2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02" name="Freeform 43">
              <a:extLst>
                <a:ext uri="{FF2B5EF4-FFF2-40B4-BE49-F238E27FC236}">
                  <a16:creationId xmlns:a16="http://schemas.microsoft.com/office/drawing/2014/main" id="{E16EA52D-6641-3782-9BF3-A1481E790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5" y="429"/>
              <a:ext cx="347" cy="342"/>
            </a:xfrm>
            <a:custGeom>
              <a:avLst/>
              <a:gdLst>
                <a:gd name="T0" fmla="*/ 33 w 235"/>
                <a:gd name="T1" fmla="*/ 231 h 231"/>
                <a:gd name="T2" fmla="*/ 29 w 235"/>
                <a:gd name="T3" fmla="*/ 229 h 231"/>
                <a:gd name="T4" fmla="*/ 25 w 235"/>
                <a:gd name="T5" fmla="*/ 149 h 231"/>
                <a:gd name="T6" fmla="*/ 153 w 235"/>
                <a:gd name="T7" fmla="*/ 22 h 231"/>
                <a:gd name="T8" fmla="*/ 232 w 235"/>
                <a:gd name="T9" fmla="*/ 25 h 231"/>
                <a:gd name="T10" fmla="*/ 233 w 235"/>
                <a:gd name="T11" fmla="*/ 33 h 231"/>
                <a:gd name="T12" fmla="*/ 225 w 235"/>
                <a:gd name="T13" fmla="*/ 34 h 231"/>
                <a:gd name="T14" fmla="*/ 161 w 235"/>
                <a:gd name="T15" fmla="*/ 30 h 231"/>
                <a:gd name="T16" fmla="*/ 34 w 235"/>
                <a:gd name="T17" fmla="*/ 158 h 231"/>
                <a:gd name="T18" fmla="*/ 37 w 235"/>
                <a:gd name="T19" fmla="*/ 220 h 231"/>
                <a:gd name="T20" fmla="*/ 37 w 235"/>
                <a:gd name="T21" fmla="*/ 229 h 231"/>
                <a:gd name="T22" fmla="*/ 33 w 235"/>
                <a:gd name="T23" fmla="*/ 231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35" h="231">
                  <a:moveTo>
                    <a:pt x="33" y="231"/>
                  </a:moveTo>
                  <a:cubicBezTo>
                    <a:pt x="31" y="231"/>
                    <a:pt x="30" y="230"/>
                    <a:pt x="29" y="229"/>
                  </a:cubicBezTo>
                  <a:cubicBezTo>
                    <a:pt x="0" y="200"/>
                    <a:pt x="7" y="167"/>
                    <a:pt x="25" y="149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75" y="0"/>
                    <a:pt x="205" y="1"/>
                    <a:pt x="232" y="25"/>
                  </a:cubicBezTo>
                  <a:cubicBezTo>
                    <a:pt x="235" y="27"/>
                    <a:pt x="235" y="31"/>
                    <a:pt x="233" y="33"/>
                  </a:cubicBezTo>
                  <a:cubicBezTo>
                    <a:pt x="231" y="36"/>
                    <a:pt x="227" y="36"/>
                    <a:pt x="225" y="34"/>
                  </a:cubicBezTo>
                  <a:cubicBezTo>
                    <a:pt x="202" y="14"/>
                    <a:pt x="179" y="13"/>
                    <a:pt x="161" y="30"/>
                  </a:cubicBezTo>
                  <a:cubicBezTo>
                    <a:pt x="34" y="158"/>
                    <a:pt x="34" y="158"/>
                    <a:pt x="34" y="158"/>
                  </a:cubicBezTo>
                  <a:cubicBezTo>
                    <a:pt x="19" y="172"/>
                    <a:pt x="15" y="197"/>
                    <a:pt x="37" y="220"/>
                  </a:cubicBezTo>
                  <a:cubicBezTo>
                    <a:pt x="40" y="223"/>
                    <a:pt x="39" y="227"/>
                    <a:pt x="37" y="229"/>
                  </a:cubicBezTo>
                  <a:cubicBezTo>
                    <a:pt x="36" y="230"/>
                    <a:pt x="34" y="231"/>
                    <a:pt x="33" y="2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</p:grpSp>
      <p:grpSp>
        <p:nvGrpSpPr>
          <p:cNvPr id="203" name="Group 48">
            <a:extLst>
              <a:ext uri="{FF2B5EF4-FFF2-40B4-BE49-F238E27FC236}">
                <a16:creationId xmlns:a16="http://schemas.microsoft.com/office/drawing/2014/main" id="{0DA8FC08-686B-F931-1D6F-CDF8F6C6753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899204" y="1697975"/>
            <a:ext cx="452967" cy="450850"/>
            <a:chOff x="4478" y="440"/>
            <a:chExt cx="428" cy="426"/>
          </a:xfrm>
          <a:solidFill>
            <a:schemeClr val="accent1"/>
          </a:solidFill>
        </p:grpSpPr>
        <p:sp>
          <p:nvSpPr>
            <p:cNvPr id="204" name="Freeform 49">
              <a:extLst>
                <a:ext uri="{FF2B5EF4-FFF2-40B4-BE49-F238E27FC236}">
                  <a16:creationId xmlns:a16="http://schemas.microsoft.com/office/drawing/2014/main" id="{199C0208-9E81-A5E3-568B-D4617907CA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78" y="760"/>
              <a:ext cx="426" cy="106"/>
            </a:xfrm>
            <a:custGeom>
              <a:avLst/>
              <a:gdLst>
                <a:gd name="T0" fmla="*/ 282 w 288"/>
                <a:gd name="T1" fmla="*/ 72 h 72"/>
                <a:gd name="T2" fmla="*/ 6 w 288"/>
                <a:gd name="T3" fmla="*/ 72 h 72"/>
                <a:gd name="T4" fmla="*/ 0 w 288"/>
                <a:gd name="T5" fmla="*/ 66 h 72"/>
                <a:gd name="T6" fmla="*/ 0 w 288"/>
                <a:gd name="T7" fmla="*/ 6 h 72"/>
                <a:gd name="T8" fmla="*/ 6 w 288"/>
                <a:gd name="T9" fmla="*/ 0 h 72"/>
                <a:gd name="T10" fmla="*/ 282 w 288"/>
                <a:gd name="T11" fmla="*/ 0 h 72"/>
                <a:gd name="T12" fmla="*/ 288 w 288"/>
                <a:gd name="T13" fmla="*/ 6 h 72"/>
                <a:gd name="T14" fmla="*/ 288 w 288"/>
                <a:gd name="T15" fmla="*/ 66 h 72"/>
                <a:gd name="T16" fmla="*/ 282 w 288"/>
                <a:gd name="T17" fmla="*/ 72 h 72"/>
                <a:gd name="T18" fmla="*/ 12 w 288"/>
                <a:gd name="T19" fmla="*/ 60 h 72"/>
                <a:gd name="T20" fmla="*/ 276 w 288"/>
                <a:gd name="T21" fmla="*/ 60 h 72"/>
                <a:gd name="T22" fmla="*/ 276 w 288"/>
                <a:gd name="T23" fmla="*/ 12 h 72"/>
                <a:gd name="T24" fmla="*/ 12 w 288"/>
                <a:gd name="T25" fmla="*/ 12 h 72"/>
                <a:gd name="T26" fmla="*/ 12 w 288"/>
                <a:gd name="T27" fmla="*/ 6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8" h="72">
                  <a:moveTo>
                    <a:pt x="282" y="72"/>
                  </a:moveTo>
                  <a:cubicBezTo>
                    <a:pt x="6" y="72"/>
                    <a:pt x="6" y="72"/>
                    <a:pt x="6" y="72"/>
                  </a:cubicBezTo>
                  <a:cubicBezTo>
                    <a:pt x="3" y="72"/>
                    <a:pt x="0" y="70"/>
                    <a:pt x="0" y="6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6" y="0"/>
                    <a:pt x="288" y="3"/>
                    <a:pt x="288" y="6"/>
                  </a:cubicBezTo>
                  <a:cubicBezTo>
                    <a:pt x="288" y="66"/>
                    <a:pt x="288" y="66"/>
                    <a:pt x="288" y="66"/>
                  </a:cubicBezTo>
                  <a:cubicBezTo>
                    <a:pt x="288" y="70"/>
                    <a:pt x="286" y="72"/>
                    <a:pt x="282" y="72"/>
                  </a:cubicBezTo>
                  <a:close/>
                  <a:moveTo>
                    <a:pt x="12" y="60"/>
                  </a:moveTo>
                  <a:cubicBezTo>
                    <a:pt x="276" y="60"/>
                    <a:pt x="276" y="60"/>
                    <a:pt x="276" y="60"/>
                  </a:cubicBezTo>
                  <a:cubicBezTo>
                    <a:pt x="276" y="12"/>
                    <a:pt x="276" y="12"/>
                    <a:pt x="27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05" name="Freeform 50">
              <a:extLst>
                <a:ext uri="{FF2B5EF4-FFF2-40B4-BE49-F238E27FC236}">
                  <a16:creationId xmlns:a16="http://schemas.microsoft.com/office/drawing/2014/main" id="{16B96484-BB65-027B-8480-7F3ED86684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78" y="653"/>
              <a:ext cx="428" cy="124"/>
            </a:xfrm>
            <a:custGeom>
              <a:avLst/>
              <a:gdLst>
                <a:gd name="T0" fmla="*/ 282 w 289"/>
                <a:gd name="T1" fmla="*/ 84 h 84"/>
                <a:gd name="T2" fmla="*/ 6 w 289"/>
                <a:gd name="T3" fmla="*/ 84 h 84"/>
                <a:gd name="T4" fmla="*/ 1 w 289"/>
                <a:gd name="T5" fmla="*/ 82 h 84"/>
                <a:gd name="T6" fmla="*/ 1 w 289"/>
                <a:gd name="T7" fmla="*/ 76 h 84"/>
                <a:gd name="T8" fmla="*/ 37 w 289"/>
                <a:gd name="T9" fmla="*/ 4 h 84"/>
                <a:gd name="T10" fmla="*/ 42 w 289"/>
                <a:gd name="T11" fmla="*/ 0 h 84"/>
                <a:gd name="T12" fmla="*/ 246 w 289"/>
                <a:gd name="T13" fmla="*/ 0 h 84"/>
                <a:gd name="T14" fmla="*/ 252 w 289"/>
                <a:gd name="T15" fmla="*/ 4 h 84"/>
                <a:gd name="T16" fmla="*/ 288 w 289"/>
                <a:gd name="T17" fmla="*/ 76 h 84"/>
                <a:gd name="T18" fmla="*/ 287 w 289"/>
                <a:gd name="T19" fmla="*/ 82 h 84"/>
                <a:gd name="T20" fmla="*/ 282 w 289"/>
                <a:gd name="T21" fmla="*/ 84 h 84"/>
                <a:gd name="T22" fmla="*/ 16 w 289"/>
                <a:gd name="T23" fmla="*/ 72 h 84"/>
                <a:gd name="T24" fmla="*/ 273 w 289"/>
                <a:gd name="T25" fmla="*/ 72 h 84"/>
                <a:gd name="T26" fmla="*/ 243 w 289"/>
                <a:gd name="T27" fmla="*/ 12 h 84"/>
                <a:gd name="T28" fmla="*/ 46 w 289"/>
                <a:gd name="T29" fmla="*/ 12 h 84"/>
                <a:gd name="T30" fmla="*/ 16 w 289"/>
                <a:gd name="T31" fmla="*/ 7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9" h="84">
                  <a:moveTo>
                    <a:pt x="282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4" y="84"/>
                    <a:pt x="2" y="83"/>
                    <a:pt x="1" y="82"/>
                  </a:cubicBezTo>
                  <a:cubicBezTo>
                    <a:pt x="0" y="80"/>
                    <a:pt x="0" y="78"/>
                    <a:pt x="1" y="76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8" y="2"/>
                    <a:pt x="40" y="0"/>
                    <a:pt x="42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249" y="0"/>
                    <a:pt x="251" y="2"/>
                    <a:pt x="252" y="4"/>
                  </a:cubicBezTo>
                  <a:cubicBezTo>
                    <a:pt x="288" y="76"/>
                    <a:pt x="288" y="76"/>
                    <a:pt x="288" y="76"/>
                  </a:cubicBezTo>
                  <a:cubicBezTo>
                    <a:pt x="289" y="78"/>
                    <a:pt x="288" y="80"/>
                    <a:pt x="287" y="82"/>
                  </a:cubicBezTo>
                  <a:cubicBezTo>
                    <a:pt x="286" y="83"/>
                    <a:pt x="284" y="84"/>
                    <a:pt x="282" y="84"/>
                  </a:cubicBezTo>
                  <a:close/>
                  <a:moveTo>
                    <a:pt x="16" y="72"/>
                  </a:moveTo>
                  <a:cubicBezTo>
                    <a:pt x="273" y="72"/>
                    <a:pt x="273" y="72"/>
                    <a:pt x="273" y="72"/>
                  </a:cubicBezTo>
                  <a:cubicBezTo>
                    <a:pt x="243" y="12"/>
                    <a:pt x="243" y="12"/>
                    <a:pt x="243" y="12"/>
                  </a:cubicBezTo>
                  <a:cubicBezTo>
                    <a:pt x="46" y="12"/>
                    <a:pt x="46" y="12"/>
                    <a:pt x="46" y="12"/>
                  </a:cubicBezTo>
                  <a:lnTo>
                    <a:pt x="16" y="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06" name="Freeform 51">
              <a:extLst>
                <a:ext uri="{FF2B5EF4-FFF2-40B4-BE49-F238E27FC236}">
                  <a16:creationId xmlns:a16="http://schemas.microsoft.com/office/drawing/2014/main" id="{ED464D1A-A163-91CD-4FC2-21AB4D3F8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0" y="795"/>
              <a:ext cx="124" cy="36"/>
            </a:xfrm>
            <a:custGeom>
              <a:avLst/>
              <a:gdLst>
                <a:gd name="T0" fmla="*/ 78 w 84"/>
                <a:gd name="T1" fmla="*/ 24 h 24"/>
                <a:gd name="T2" fmla="*/ 72 w 84"/>
                <a:gd name="T3" fmla="*/ 18 h 24"/>
                <a:gd name="T4" fmla="*/ 72 w 84"/>
                <a:gd name="T5" fmla="*/ 12 h 24"/>
                <a:gd name="T6" fmla="*/ 12 w 84"/>
                <a:gd name="T7" fmla="*/ 12 h 24"/>
                <a:gd name="T8" fmla="*/ 12 w 84"/>
                <a:gd name="T9" fmla="*/ 18 h 24"/>
                <a:gd name="T10" fmla="*/ 6 w 84"/>
                <a:gd name="T11" fmla="*/ 24 h 24"/>
                <a:gd name="T12" fmla="*/ 0 w 84"/>
                <a:gd name="T13" fmla="*/ 18 h 24"/>
                <a:gd name="T14" fmla="*/ 0 w 84"/>
                <a:gd name="T15" fmla="*/ 6 h 24"/>
                <a:gd name="T16" fmla="*/ 6 w 84"/>
                <a:gd name="T17" fmla="*/ 0 h 24"/>
                <a:gd name="T18" fmla="*/ 78 w 84"/>
                <a:gd name="T19" fmla="*/ 0 h 24"/>
                <a:gd name="T20" fmla="*/ 84 w 84"/>
                <a:gd name="T21" fmla="*/ 6 h 24"/>
                <a:gd name="T22" fmla="*/ 84 w 84"/>
                <a:gd name="T23" fmla="*/ 18 h 24"/>
                <a:gd name="T24" fmla="*/ 78 w 84"/>
                <a:gd name="T25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24">
                  <a:moveTo>
                    <a:pt x="78" y="24"/>
                  </a:moveTo>
                  <a:cubicBezTo>
                    <a:pt x="75" y="24"/>
                    <a:pt x="72" y="22"/>
                    <a:pt x="72" y="18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10" y="24"/>
                    <a:pt x="6" y="24"/>
                  </a:cubicBez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2" y="0"/>
                    <a:pt x="84" y="3"/>
                    <a:pt x="84" y="6"/>
                  </a:cubicBezTo>
                  <a:cubicBezTo>
                    <a:pt x="84" y="18"/>
                    <a:pt x="84" y="18"/>
                    <a:pt x="84" y="18"/>
                  </a:cubicBezTo>
                  <a:cubicBezTo>
                    <a:pt x="84" y="22"/>
                    <a:pt x="82" y="24"/>
                    <a:pt x="78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07" name="Rectangle 52">
              <a:extLst>
                <a:ext uri="{FF2B5EF4-FFF2-40B4-BE49-F238E27FC236}">
                  <a16:creationId xmlns:a16="http://schemas.microsoft.com/office/drawing/2014/main" id="{E6341D47-469E-B03B-5EBF-1F0CD66BDD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2" y="724"/>
              <a:ext cx="18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08" name="Rectangle 53">
              <a:extLst>
                <a:ext uri="{FF2B5EF4-FFF2-40B4-BE49-F238E27FC236}">
                  <a16:creationId xmlns:a16="http://schemas.microsoft.com/office/drawing/2014/main" id="{5CE6B0ED-2EF8-F58C-5041-2A87B3DDD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9" y="724"/>
              <a:ext cx="18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09" name="Rectangle 54">
              <a:extLst>
                <a:ext uri="{FF2B5EF4-FFF2-40B4-BE49-F238E27FC236}">
                  <a16:creationId xmlns:a16="http://schemas.microsoft.com/office/drawing/2014/main" id="{9BA947F7-D232-6A10-FE70-7278FE8437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5" y="724"/>
              <a:ext cx="18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10" name="Rectangle 55">
              <a:extLst>
                <a:ext uri="{FF2B5EF4-FFF2-40B4-BE49-F238E27FC236}">
                  <a16:creationId xmlns:a16="http://schemas.microsoft.com/office/drawing/2014/main" id="{3C5F1069-A3D3-6CB5-6105-962D60A5E7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9" y="724"/>
              <a:ext cx="18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11" name="Rectangle 56">
              <a:extLst>
                <a:ext uri="{FF2B5EF4-FFF2-40B4-BE49-F238E27FC236}">
                  <a16:creationId xmlns:a16="http://schemas.microsoft.com/office/drawing/2014/main" id="{D646A4B3-91A0-B62D-1A3A-43DC29117C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2" y="724"/>
              <a:ext cx="18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12" name="Rectangle 57">
              <a:extLst>
                <a:ext uri="{FF2B5EF4-FFF2-40B4-BE49-F238E27FC236}">
                  <a16:creationId xmlns:a16="http://schemas.microsoft.com/office/drawing/2014/main" id="{535A4FAF-832E-9BE7-0A73-A329B76A2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5" y="724"/>
              <a:ext cx="18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13" name="Rectangle 58">
              <a:extLst>
                <a:ext uri="{FF2B5EF4-FFF2-40B4-BE49-F238E27FC236}">
                  <a16:creationId xmlns:a16="http://schemas.microsoft.com/office/drawing/2014/main" id="{426E9DE5-ED2A-2A57-AC45-7D71643CD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2" y="689"/>
              <a:ext cx="18" cy="1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14" name="Rectangle 59">
              <a:extLst>
                <a:ext uri="{FF2B5EF4-FFF2-40B4-BE49-F238E27FC236}">
                  <a16:creationId xmlns:a16="http://schemas.microsoft.com/office/drawing/2014/main" id="{3C451797-F3AC-FDA5-93DC-182463F820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9" y="689"/>
              <a:ext cx="18" cy="1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15" name="Rectangle 60">
              <a:extLst>
                <a:ext uri="{FF2B5EF4-FFF2-40B4-BE49-F238E27FC236}">
                  <a16:creationId xmlns:a16="http://schemas.microsoft.com/office/drawing/2014/main" id="{C5656E00-27F9-B5DF-E5BE-B2E2510D6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5" y="689"/>
              <a:ext cx="18" cy="1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16" name="Rectangle 61">
              <a:extLst>
                <a:ext uri="{FF2B5EF4-FFF2-40B4-BE49-F238E27FC236}">
                  <a16:creationId xmlns:a16="http://schemas.microsoft.com/office/drawing/2014/main" id="{8D41E0A7-EBCD-161A-F99A-043E891E9B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2" y="689"/>
              <a:ext cx="18" cy="1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17" name="Freeform 62">
              <a:extLst>
                <a:ext uri="{FF2B5EF4-FFF2-40B4-BE49-F238E27FC236}">
                  <a16:creationId xmlns:a16="http://schemas.microsoft.com/office/drawing/2014/main" id="{97DB7978-9E96-761C-936D-F1E4671835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31" y="547"/>
              <a:ext cx="320" cy="124"/>
            </a:xfrm>
            <a:custGeom>
              <a:avLst/>
              <a:gdLst>
                <a:gd name="T0" fmla="*/ 210 w 216"/>
                <a:gd name="T1" fmla="*/ 84 h 84"/>
                <a:gd name="T2" fmla="*/ 6 w 216"/>
                <a:gd name="T3" fmla="*/ 84 h 84"/>
                <a:gd name="T4" fmla="*/ 0 w 216"/>
                <a:gd name="T5" fmla="*/ 78 h 84"/>
                <a:gd name="T6" fmla="*/ 0 w 216"/>
                <a:gd name="T7" fmla="*/ 6 h 84"/>
                <a:gd name="T8" fmla="*/ 6 w 216"/>
                <a:gd name="T9" fmla="*/ 0 h 84"/>
                <a:gd name="T10" fmla="*/ 210 w 216"/>
                <a:gd name="T11" fmla="*/ 0 h 84"/>
                <a:gd name="T12" fmla="*/ 216 w 216"/>
                <a:gd name="T13" fmla="*/ 6 h 84"/>
                <a:gd name="T14" fmla="*/ 216 w 216"/>
                <a:gd name="T15" fmla="*/ 78 h 84"/>
                <a:gd name="T16" fmla="*/ 210 w 216"/>
                <a:gd name="T17" fmla="*/ 84 h 84"/>
                <a:gd name="T18" fmla="*/ 12 w 216"/>
                <a:gd name="T19" fmla="*/ 72 h 84"/>
                <a:gd name="T20" fmla="*/ 204 w 216"/>
                <a:gd name="T21" fmla="*/ 72 h 84"/>
                <a:gd name="T22" fmla="*/ 204 w 216"/>
                <a:gd name="T23" fmla="*/ 12 h 84"/>
                <a:gd name="T24" fmla="*/ 12 w 216"/>
                <a:gd name="T25" fmla="*/ 12 h 84"/>
                <a:gd name="T26" fmla="*/ 12 w 216"/>
                <a:gd name="T27" fmla="*/ 7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6" h="84">
                  <a:moveTo>
                    <a:pt x="210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2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10" y="0"/>
                    <a:pt x="210" y="0"/>
                    <a:pt x="210" y="0"/>
                  </a:cubicBezTo>
                  <a:cubicBezTo>
                    <a:pt x="214" y="0"/>
                    <a:pt x="216" y="3"/>
                    <a:pt x="216" y="6"/>
                  </a:cubicBezTo>
                  <a:cubicBezTo>
                    <a:pt x="216" y="78"/>
                    <a:pt x="216" y="78"/>
                    <a:pt x="216" y="78"/>
                  </a:cubicBezTo>
                  <a:cubicBezTo>
                    <a:pt x="216" y="82"/>
                    <a:pt x="214" y="84"/>
                    <a:pt x="210" y="84"/>
                  </a:cubicBezTo>
                  <a:close/>
                  <a:moveTo>
                    <a:pt x="12" y="72"/>
                  </a:moveTo>
                  <a:cubicBezTo>
                    <a:pt x="204" y="72"/>
                    <a:pt x="204" y="72"/>
                    <a:pt x="204" y="72"/>
                  </a:cubicBezTo>
                  <a:cubicBezTo>
                    <a:pt x="204" y="12"/>
                    <a:pt x="204" y="12"/>
                    <a:pt x="204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18" name="Freeform 63">
              <a:extLst>
                <a:ext uri="{FF2B5EF4-FFF2-40B4-BE49-F238E27FC236}">
                  <a16:creationId xmlns:a16="http://schemas.microsoft.com/office/drawing/2014/main" id="{7DBB9EB7-A297-5F65-2E3B-07113D338C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67" y="582"/>
              <a:ext cx="115" cy="53"/>
            </a:xfrm>
            <a:custGeom>
              <a:avLst/>
              <a:gdLst>
                <a:gd name="T0" fmla="*/ 72 w 78"/>
                <a:gd name="T1" fmla="*/ 36 h 36"/>
                <a:gd name="T2" fmla="*/ 6 w 78"/>
                <a:gd name="T3" fmla="*/ 36 h 36"/>
                <a:gd name="T4" fmla="*/ 0 w 78"/>
                <a:gd name="T5" fmla="*/ 30 h 36"/>
                <a:gd name="T6" fmla="*/ 0 w 78"/>
                <a:gd name="T7" fmla="*/ 6 h 36"/>
                <a:gd name="T8" fmla="*/ 6 w 78"/>
                <a:gd name="T9" fmla="*/ 0 h 36"/>
                <a:gd name="T10" fmla="*/ 72 w 78"/>
                <a:gd name="T11" fmla="*/ 0 h 36"/>
                <a:gd name="T12" fmla="*/ 78 w 78"/>
                <a:gd name="T13" fmla="*/ 6 h 36"/>
                <a:gd name="T14" fmla="*/ 78 w 78"/>
                <a:gd name="T15" fmla="*/ 30 h 36"/>
                <a:gd name="T16" fmla="*/ 72 w 78"/>
                <a:gd name="T17" fmla="*/ 36 h 36"/>
                <a:gd name="T18" fmla="*/ 12 w 78"/>
                <a:gd name="T19" fmla="*/ 24 h 36"/>
                <a:gd name="T20" fmla="*/ 66 w 78"/>
                <a:gd name="T21" fmla="*/ 24 h 36"/>
                <a:gd name="T22" fmla="*/ 66 w 78"/>
                <a:gd name="T23" fmla="*/ 12 h 36"/>
                <a:gd name="T24" fmla="*/ 12 w 78"/>
                <a:gd name="T25" fmla="*/ 12 h 36"/>
                <a:gd name="T26" fmla="*/ 12 w 78"/>
                <a:gd name="T27" fmla="*/ 2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" h="36">
                  <a:moveTo>
                    <a:pt x="72" y="36"/>
                  </a:moveTo>
                  <a:cubicBezTo>
                    <a:pt x="6" y="36"/>
                    <a:pt x="6" y="36"/>
                    <a:pt x="6" y="36"/>
                  </a:cubicBezTo>
                  <a:cubicBezTo>
                    <a:pt x="3" y="36"/>
                    <a:pt x="0" y="34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6" y="0"/>
                    <a:pt x="78" y="3"/>
                    <a:pt x="78" y="6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4"/>
                    <a:pt x="76" y="36"/>
                    <a:pt x="72" y="36"/>
                  </a:cubicBezTo>
                  <a:close/>
                  <a:moveTo>
                    <a:pt x="12" y="24"/>
                  </a:moveTo>
                  <a:cubicBezTo>
                    <a:pt x="66" y="24"/>
                    <a:pt x="66" y="24"/>
                    <a:pt x="66" y="24"/>
                  </a:cubicBezTo>
                  <a:cubicBezTo>
                    <a:pt x="66" y="12"/>
                    <a:pt x="66" y="12"/>
                    <a:pt x="6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19" name="Freeform 64">
              <a:extLst>
                <a:ext uri="{FF2B5EF4-FFF2-40B4-BE49-F238E27FC236}">
                  <a16:creationId xmlns:a16="http://schemas.microsoft.com/office/drawing/2014/main" id="{788D9033-B7F9-F4DE-5637-5394D4BFB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8" y="600"/>
              <a:ext cx="97" cy="18"/>
            </a:xfrm>
            <a:custGeom>
              <a:avLst/>
              <a:gdLst>
                <a:gd name="T0" fmla="*/ 60 w 66"/>
                <a:gd name="T1" fmla="*/ 12 h 12"/>
                <a:gd name="T2" fmla="*/ 6 w 66"/>
                <a:gd name="T3" fmla="*/ 12 h 12"/>
                <a:gd name="T4" fmla="*/ 0 w 66"/>
                <a:gd name="T5" fmla="*/ 6 h 12"/>
                <a:gd name="T6" fmla="*/ 6 w 66"/>
                <a:gd name="T7" fmla="*/ 0 h 12"/>
                <a:gd name="T8" fmla="*/ 60 w 66"/>
                <a:gd name="T9" fmla="*/ 0 h 12"/>
                <a:gd name="T10" fmla="*/ 66 w 66"/>
                <a:gd name="T11" fmla="*/ 6 h 12"/>
                <a:gd name="T12" fmla="*/ 60 w 6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12">
                  <a:moveTo>
                    <a:pt x="6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4" y="0"/>
                    <a:pt x="66" y="3"/>
                    <a:pt x="66" y="6"/>
                  </a:cubicBezTo>
                  <a:cubicBezTo>
                    <a:pt x="66" y="10"/>
                    <a:pt x="64" y="12"/>
                    <a:pt x="6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20" name="Freeform 65">
              <a:extLst>
                <a:ext uri="{FF2B5EF4-FFF2-40B4-BE49-F238E27FC236}">
                  <a16:creationId xmlns:a16="http://schemas.microsoft.com/office/drawing/2014/main" id="{8D393BF0-A5FB-CB36-D599-877CC4C70E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67" y="476"/>
              <a:ext cx="88" cy="88"/>
            </a:xfrm>
            <a:custGeom>
              <a:avLst/>
              <a:gdLst>
                <a:gd name="T0" fmla="*/ 54 w 60"/>
                <a:gd name="T1" fmla="*/ 60 h 60"/>
                <a:gd name="T2" fmla="*/ 6 w 60"/>
                <a:gd name="T3" fmla="*/ 60 h 60"/>
                <a:gd name="T4" fmla="*/ 0 w 60"/>
                <a:gd name="T5" fmla="*/ 54 h 60"/>
                <a:gd name="T6" fmla="*/ 0 w 60"/>
                <a:gd name="T7" fmla="*/ 18 h 60"/>
                <a:gd name="T8" fmla="*/ 5 w 60"/>
                <a:gd name="T9" fmla="*/ 13 h 60"/>
                <a:gd name="T10" fmla="*/ 53 w 60"/>
                <a:gd name="T11" fmla="*/ 1 h 60"/>
                <a:gd name="T12" fmla="*/ 58 w 60"/>
                <a:gd name="T13" fmla="*/ 2 h 60"/>
                <a:gd name="T14" fmla="*/ 60 w 60"/>
                <a:gd name="T15" fmla="*/ 6 h 60"/>
                <a:gd name="T16" fmla="*/ 60 w 60"/>
                <a:gd name="T17" fmla="*/ 54 h 60"/>
                <a:gd name="T18" fmla="*/ 54 w 60"/>
                <a:gd name="T19" fmla="*/ 60 h 60"/>
                <a:gd name="T20" fmla="*/ 12 w 60"/>
                <a:gd name="T21" fmla="*/ 48 h 60"/>
                <a:gd name="T22" fmla="*/ 48 w 60"/>
                <a:gd name="T23" fmla="*/ 48 h 60"/>
                <a:gd name="T24" fmla="*/ 48 w 60"/>
                <a:gd name="T25" fmla="*/ 14 h 60"/>
                <a:gd name="T26" fmla="*/ 12 w 60"/>
                <a:gd name="T27" fmla="*/ 23 h 60"/>
                <a:gd name="T28" fmla="*/ 12 w 60"/>
                <a:gd name="T29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0" h="60">
                  <a:moveTo>
                    <a:pt x="54" y="60"/>
                  </a:moveTo>
                  <a:cubicBezTo>
                    <a:pt x="6" y="60"/>
                    <a:pt x="6" y="60"/>
                    <a:pt x="6" y="60"/>
                  </a:cubicBezTo>
                  <a:cubicBezTo>
                    <a:pt x="3" y="60"/>
                    <a:pt x="0" y="58"/>
                    <a:pt x="0" y="54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6"/>
                    <a:pt x="2" y="13"/>
                    <a:pt x="5" y="13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55" y="0"/>
                    <a:pt x="56" y="1"/>
                    <a:pt x="58" y="2"/>
                  </a:cubicBezTo>
                  <a:cubicBezTo>
                    <a:pt x="59" y="3"/>
                    <a:pt x="60" y="5"/>
                    <a:pt x="60" y="6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0" y="58"/>
                    <a:pt x="58" y="60"/>
                    <a:pt x="54" y="60"/>
                  </a:cubicBezTo>
                  <a:close/>
                  <a:moveTo>
                    <a:pt x="12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12" y="23"/>
                    <a:pt x="12" y="23"/>
                    <a:pt x="12" y="23"/>
                  </a:cubicBezTo>
                  <a:lnTo>
                    <a:pt x="12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21" name="Freeform 66">
              <a:extLst>
                <a:ext uri="{FF2B5EF4-FFF2-40B4-BE49-F238E27FC236}">
                  <a16:creationId xmlns:a16="http://schemas.microsoft.com/office/drawing/2014/main" id="{503C9187-99D3-AC33-CDD1-90EBD6A3A2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27" y="440"/>
              <a:ext cx="124" cy="71"/>
            </a:xfrm>
            <a:custGeom>
              <a:avLst/>
              <a:gdLst>
                <a:gd name="T0" fmla="*/ 66 w 84"/>
                <a:gd name="T1" fmla="*/ 48 h 48"/>
                <a:gd name="T2" fmla="*/ 18 w 84"/>
                <a:gd name="T3" fmla="*/ 48 h 48"/>
                <a:gd name="T4" fmla="*/ 0 w 84"/>
                <a:gd name="T5" fmla="*/ 30 h 48"/>
                <a:gd name="T6" fmla="*/ 0 w 84"/>
                <a:gd name="T7" fmla="*/ 18 h 48"/>
                <a:gd name="T8" fmla="*/ 18 w 84"/>
                <a:gd name="T9" fmla="*/ 0 h 48"/>
                <a:gd name="T10" fmla="*/ 66 w 84"/>
                <a:gd name="T11" fmla="*/ 0 h 48"/>
                <a:gd name="T12" fmla="*/ 84 w 84"/>
                <a:gd name="T13" fmla="*/ 18 h 48"/>
                <a:gd name="T14" fmla="*/ 84 w 84"/>
                <a:gd name="T15" fmla="*/ 30 h 48"/>
                <a:gd name="T16" fmla="*/ 66 w 84"/>
                <a:gd name="T17" fmla="*/ 48 h 48"/>
                <a:gd name="T18" fmla="*/ 18 w 84"/>
                <a:gd name="T19" fmla="*/ 12 h 48"/>
                <a:gd name="T20" fmla="*/ 12 w 84"/>
                <a:gd name="T21" fmla="*/ 18 h 48"/>
                <a:gd name="T22" fmla="*/ 12 w 84"/>
                <a:gd name="T23" fmla="*/ 30 h 48"/>
                <a:gd name="T24" fmla="*/ 18 w 84"/>
                <a:gd name="T25" fmla="*/ 36 h 48"/>
                <a:gd name="T26" fmla="*/ 66 w 84"/>
                <a:gd name="T27" fmla="*/ 36 h 48"/>
                <a:gd name="T28" fmla="*/ 72 w 84"/>
                <a:gd name="T29" fmla="*/ 30 h 48"/>
                <a:gd name="T30" fmla="*/ 72 w 84"/>
                <a:gd name="T31" fmla="*/ 18 h 48"/>
                <a:gd name="T32" fmla="*/ 66 w 84"/>
                <a:gd name="T33" fmla="*/ 12 h 48"/>
                <a:gd name="T34" fmla="*/ 18 w 84"/>
                <a:gd name="T35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4" h="48">
                  <a:moveTo>
                    <a:pt x="66" y="48"/>
                  </a:moveTo>
                  <a:cubicBezTo>
                    <a:pt x="18" y="48"/>
                    <a:pt x="18" y="48"/>
                    <a:pt x="18" y="48"/>
                  </a:cubicBezTo>
                  <a:cubicBezTo>
                    <a:pt x="8" y="48"/>
                    <a:pt x="0" y="40"/>
                    <a:pt x="0" y="3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76" y="0"/>
                    <a:pt x="84" y="9"/>
                    <a:pt x="84" y="18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4" y="40"/>
                    <a:pt x="76" y="48"/>
                    <a:pt x="66" y="48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5"/>
                    <a:pt x="12" y="18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2" y="34"/>
                    <a:pt x="15" y="36"/>
                    <a:pt x="18" y="36"/>
                  </a:cubicBezTo>
                  <a:cubicBezTo>
                    <a:pt x="66" y="36"/>
                    <a:pt x="66" y="36"/>
                    <a:pt x="66" y="36"/>
                  </a:cubicBezTo>
                  <a:cubicBezTo>
                    <a:pt x="70" y="36"/>
                    <a:pt x="72" y="34"/>
                    <a:pt x="72" y="30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15"/>
                    <a:pt x="70" y="12"/>
                    <a:pt x="66" y="12"/>
                  </a:cubicBezTo>
                  <a:lnTo>
                    <a:pt x="18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22" name="Freeform 67">
              <a:extLst>
                <a:ext uri="{FF2B5EF4-FFF2-40B4-BE49-F238E27FC236}">
                  <a16:creationId xmlns:a16="http://schemas.microsoft.com/office/drawing/2014/main" id="{B1B7BFE2-23EE-37AC-4F3D-50D9B8E62C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0" y="494"/>
              <a:ext cx="18" cy="70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6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6"/>
                    <a:pt x="10" y="48"/>
                    <a:pt x="6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</p:grpSp>
      <p:sp>
        <p:nvSpPr>
          <p:cNvPr id="225" name="Rounded Rectangle 35">
            <a:extLst>
              <a:ext uri="{FF2B5EF4-FFF2-40B4-BE49-F238E27FC236}">
                <a16:creationId xmlns:a16="http://schemas.microsoft.com/office/drawing/2014/main" id="{75875ECE-C6E8-52FC-27A9-FFEA2759A2C2}"/>
              </a:ext>
            </a:extLst>
          </p:cNvPr>
          <p:cNvSpPr/>
          <p:nvPr/>
        </p:nvSpPr>
        <p:spPr>
          <a:xfrm>
            <a:off x="381000" y="5696393"/>
            <a:ext cx="11630026" cy="593326"/>
          </a:xfrm>
          <a:prstGeom prst="roundRect">
            <a:avLst>
              <a:gd name="adj" fmla="val 5152"/>
            </a:avLst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r>
              <a:rPr lang="en-US" sz="1400" b="1">
                <a:solidFill>
                  <a:schemeClr val="tx1"/>
                </a:solidFill>
              </a:rPr>
              <a:t>(1) Technology layers </a:t>
            </a:r>
            <a:r>
              <a:rPr lang="en-US" sz="1400">
                <a:solidFill>
                  <a:schemeClr val="tx1"/>
                </a:solidFill>
              </a:rPr>
              <a:t>weighted against impact to the </a:t>
            </a:r>
            <a:r>
              <a:rPr lang="en-US" sz="1400" b="1">
                <a:solidFill>
                  <a:schemeClr val="tx1"/>
                </a:solidFill>
              </a:rPr>
              <a:t>(2) three phases </a:t>
            </a:r>
            <a:r>
              <a:rPr lang="en-US" sz="1400">
                <a:solidFill>
                  <a:schemeClr val="tx1"/>
                </a:solidFill>
              </a:rPr>
              <a:t>of an NFL game and given a low, medium, high </a:t>
            </a:r>
            <a:r>
              <a:rPr lang="en-US" sz="1400" b="1">
                <a:solidFill>
                  <a:schemeClr val="tx1"/>
                </a:solidFill>
              </a:rPr>
              <a:t>(3) capability score </a:t>
            </a:r>
            <a:r>
              <a:rPr lang="en-US" sz="1400">
                <a:solidFill>
                  <a:schemeClr val="tx1"/>
                </a:solidFill>
              </a:rPr>
              <a:t>across each phase</a:t>
            </a:r>
          </a:p>
        </p:txBody>
      </p:sp>
      <p:sp>
        <p:nvSpPr>
          <p:cNvPr id="226" name="Rounded Rectangle 36">
            <a:extLst>
              <a:ext uri="{FF2B5EF4-FFF2-40B4-BE49-F238E27FC236}">
                <a16:creationId xmlns:a16="http://schemas.microsoft.com/office/drawing/2014/main" id="{65EA4BC6-8C05-6D9B-ABDE-17E2E60E2BD4}"/>
              </a:ext>
            </a:extLst>
          </p:cNvPr>
          <p:cNvSpPr/>
          <p:nvPr/>
        </p:nvSpPr>
        <p:spPr>
          <a:xfrm>
            <a:off x="380999" y="2081671"/>
            <a:ext cx="4438651" cy="309787"/>
          </a:xfrm>
          <a:prstGeom prst="roundRect">
            <a:avLst>
              <a:gd name="adj" fmla="val 5583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 fontAlgn="ctr"/>
            <a:r>
              <a:rPr lang="en-US" sz="1200" b="1">
                <a:solidFill>
                  <a:schemeClr val="bg1"/>
                </a:solidFill>
              </a:rPr>
              <a:t>TECH LAYER</a:t>
            </a:r>
          </a:p>
        </p:txBody>
      </p:sp>
      <p:sp>
        <p:nvSpPr>
          <p:cNvPr id="227" name="Rounded Rectangle 37">
            <a:extLst>
              <a:ext uri="{FF2B5EF4-FFF2-40B4-BE49-F238E27FC236}">
                <a16:creationId xmlns:a16="http://schemas.microsoft.com/office/drawing/2014/main" id="{83F08F23-1525-F868-2AEF-9D240D63CA25}"/>
              </a:ext>
            </a:extLst>
          </p:cNvPr>
          <p:cNvSpPr/>
          <p:nvPr/>
        </p:nvSpPr>
        <p:spPr>
          <a:xfrm>
            <a:off x="4819651" y="945167"/>
            <a:ext cx="7191376" cy="340394"/>
          </a:xfrm>
          <a:prstGeom prst="roundRect">
            <a:avLst>
              <a:gd name="adj" fmla="val 5583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 fontAlgn="ctr"/>
            <a:r>
              <a:rPr lang="en-US" sz="1200" b="1">
                <a:solidFill>
                  <a:schemeClr val="bg1"/>
                </a:solidFill>
              </a:rPr>
              <a:t>GAME PHASES</a:t>
            </a:r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12FFE18E-C730-3BA3-BE26-0DBCC4E130D9}"/>
              </a:ext>
            </a:extLst>
          </p:cNvPr>
          <p:cNvSpPr>
            <a:spLocks noChangeAspect="1"/>
          </p:cNvSpPr>
          <p:nvPr/>
        </p:nvSpPr>
        <p:spPr>
          <a:xfrm>
            <a:off x="216679" y="1997793"/>
            <a:ext cx="385791" cy="385791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064C918C-261D-1FC9-53DC-A965C76CA9CD}"/>
              </a:ext>
            </a:extLst>
          </p:cNvPr>
          <p:cNvSpPr>
            <a:spLocks noChangeAspect="1"/>
          </p:cNvSpPr>
          <p:nvPr/>
        </p:nvSpPr>
        <p:spPr>
          <a:xfrm>
            <a:off x="4626754" y="892687"/>
            <a:ext cx="385791" cy="385791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2B59450E-846E-0F6B-DF61-477E9B2FBA8E}"/>
              </a:ext>
            </a:extLst>
          </p:cNvPr>
          <p:cNvSpPr>
            <a:spLocks noChangeAspect="1"/>
          </p:cNvSpPr>
          <p:nvPr/>
        </p:nvSpPr>
        <p:spPr>
          <a:xfrm>
            <a:off x="3282876" y="1387454"/>
            <a:ext cx="385791" cy="385791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38" name="Rounded Rectangle 35">
            <a:extLst>
              <a:ext uri="{FF2B5EF4-FFF2-40B4-BE49-F238E27FC236}">
                <a16:creationId xmlns:a16="http://schemas.microsoft.com/office/drawing/2014/main" id="{2419259E-9826-4636-B30E-0402B7124EF8}"/>
              </a:ext>
            </a:extLst>
          </p:cNvPr>
          <p:cNvSpPr/>
          <p:nvPr/>
        </p:nvSpPr>
        <p:spPr>
          <a:xfrm rot="19634987">
            <a:off x="6909136" y="3728507"/>
            <a:ext cx="3012403" cy="593326"/>
          </a:xfrm>
          <a:prstGeom prst="roundRect">
            <a:avLst>
              <a:gd name="adj" fmla="val 5152"/>
            </a:avLst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Tech layer capability ratings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39" name="Oval 238">
            <a:extLst>
              <a:ext uri="{FF2B5EF4-FFF2-40B4-BE49-F238E27FC236}">
                <a16:creationId xmlns:a16="http://schemas.microsoft.com/office/drawing/2014/main" id="{3ECE30FA-D875-3B33-C63E-9238F99E33CD}"/>
              </a:ext>
            </a:extLst>
          </p:cNvPr>
          <p:cNvSpPr>
            <a:spLocks noChangeAspect="1"/>
          </p:cNvSpPr>
          <p:nvPr/>
        </p:nvSpPr>
        <p:spPr>
          <a:xfrm>
            <a:off x="6988078" y="4587231"/>
            <a:ext cx="385791" cy="385791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42" name="Title 18">
            <a:extLst>
              <a:ext uri="{FF2B5EF4-FFF2-40B4-BE49-F238E27FC236}">
                <a16:creationId xmlns:a16="http://schemas.microsoft.com/office/drawing/2014/main" id="{99000842-8E5A-6EB0-2E77-12318129F26A}"/>
              </a:ext>
            </a:extLst>
          </p:cNvPr>
          <p:cNvSpPr txBox="1">
            <a:spLocks/>
          </p:cNvSpPr>
          <p:nvPr/>
        </p:nvSpPr>
        <p:spPr>
          <a:xfrm>
            <a:off x="220579" y="161336"/>
            <a:ext cx="11430000" cy="990600"/>
          </a:xfrm>
          <a:prstGeom prst="rect">
            <a:avLst/>
          </a:prstGeom>
        </p:spPr>
        <p:txBody>
          <a:bodyPr/>
          <a:lstStyle>
            <a:lvl1pPr algn="l" defTabSz="914363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Phase 1 Methodology Scoring Overview</a:t>
            </a:r>
          </a:p>
        </p:txBody>
      </p:sp>
    </p:spTree>
    <p:extLst>
      <p:ext uri="{BB962C8B-B14F-4D97-AF65-F5344CB8AC3E}">
        <p14:creationId xmlns:p14="http://schemas.microsoft.com/office/powerpoint/2010/main" val="2303957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674C1-5BFA-40C8-3A37-B9DAC3C64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5B2E0E3-81F1-A4FC-6574-5FAE418845D3}"/>
              </a:ext>
            </a:extLst>
          </p:cNvPr>
          <p:cNvSpPr/>
          <p:nvPr/>
        </p:nvSpPr>
        <p:spPr>
          <a:xfrm>
            <a:off x="7475974" y="1"/>
            <a:ext cx="4732342" cy="685800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Rectangle: Rounded Corners 11">
            <a:extLst>
              <a:ext uri="{FF2B5EF4-FFF2-40B4-BE49-F238E27FC236}">
                <a16:creationId xmlns:a16="http://schemas.microsoft.com/office/drawing/2014/main" id="{BA54F6B3-81ED-30BE-F636-D79C1FFA0E26}"/>
              </a:ext>
            </a:extLst>
          </p:cNvPr>
          <p:cNvSpPr/>
          <p:nvPr/>
        </p:nvSpPr>
        <p:spPr>
          <a:xfrm rot="5400000">
            <a:off x="9174389" y="-1698415"/>
            <a:ext cx="1335503" cy="4732344"/>
          </a:xfrm>
          <a:prstGeom prst="homePlate">
            <a:avLst>
              <a:gd name="adj" fmla="val 17268"/>
            </a:avLst>
          </a:prstGeom>
          <a:solidFill>
            <a:srgbClr val="00339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en-US" sz="1600" b="1">
              <a:solidFill>
                <a:srgbClr val="FFFFFF"/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61A5849-9DF6-E29A-7E76-2F6E14FAABC7}"/>
              </a:ext>
            </a:extLst>
          </p:cNvPr>
          <p:cNvSpPr txBox="1"/>
          <p:nvPr/>
        </p:nvSpPr>
        <p:spPr>
          <a:xfrm>
            <a:off x="7137537" y="6400604"/>
            <a:ext cx="4318719" cy="25603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defPPr>
              <a:defRPr lang="en-US"/>
            </a:defPPr>
            <a:lvl1pPr algn="r">
              <a:lnSpc>
                <a:spcPct val="90000"/>
              </a:lnSpc>
              <a:defRPr sz="800"/>
            </a:lvl1pPr>
            <a:lvl2pPr marL="0" indent="0" algn="r">
              <a:defRPr sz="800"/>
            </a:lvl2pPr>
            <a:lvl3pPr marL="0" algn="r">
              <a:defRPr sz="800"/>
            </a:lvl3pPr>
            <a:lvl4pPr marL="0" algn="r">
              <a:defRPr sz="800"/>
            </a:lvl4pPr>
            <a:lvl5pPr marL="0" algn="r">
              <a:defRPr sz="800"/>
            </a:lvl5pPr>
            <a:lvl6pPr marL="0" indent="0" algn="r">
              <a:defRPr sz="800"/>
            </a:lvl6pPr>
            <a:lvl7pPr marL="0" algn="r">
              <a:defRPr sz="800"/>
            </a:lvl7pPr>
            <a:lvl8pPr marL="0" indent="0" algn="r">
              <a:defRPr sz="800"/>
            </a:lvl8pPr>
            <a:lvl9pPr marL="0" algn="r">
              <a:spcBef>
                <a:spcPts val="0"/>
              </a:spcBef>
              <a:defRPr sz="800"/>
            </a:lvl9pPr>
          </a:lstStyle>
          <a:p>
            <a:pPr defTabSz="228600">
              <a:lnSpc>
                <a:spcPct val="100000"/>
              </a:lnSpc>
              <a:spcAft>
                <a:spcPts val="1200"/>
              </a:spcAft>
              <a:defRPr/>
            </a:pPr>
            <a:r>
              <a:rPr lang="en-US">
                <a:solidFill>
                  <a:srgbClr val="013269"/>
                </a:solidFill>
                <a:latin typeface="Graphik Light" panose="020B0403030202060203" pitchFamily="34" charset="77"/>
              </a:rPr>
              <a:t>Copyright © 2025 Accenture. All rights reserved.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EE2F171-EDE3-77D2-7B30-B230F43D141B}"/>
              </a:ext>
            </a:extLst>
          </p:cNvPr>
          <p:cNvSpPr/>
          <p:nvPr/>
        </p:nvSpPr>
        <p:spPr>
          <a:xfrm>
            <a:off x="198727" y="723482"/>
            <a:ext cx="7170799" cy="5475754"/>
          </a:xfrm>
          <a:prstGeom prst="rect">
            <a:avLst/>
          </a:prstGeom>
          <a:solidFill>
            <a:schemeClr val="bg1"/>
          </a:solidFill>
          <a:ln>
            <a:solidFill>
              <a:srgbClr val="374D8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91440" rIns="3474720" bIns="91440" rtlCol="0" anchor="t"/>
          <a:lstStyle/>
          <a:p>
            <a:r>
              <a:rPr lang="en-US" b="1">
                <a:solidFill>
                  <a:schemeClr val="tx1"/>
                </a:solidFill>
              </a:rPr>
              <a:t>Phase 2 builds </a:t>
            </a:r>
            <a:r>
              <a:rPr lang="en-US">
                <a:solidFill>
                  <a:schemeClr val="tx1"/>
                </a:solidFill>
              </a:rPr>
              <a:t>on Phase 1 by refining </a:t>
            </a:r>
            <a:r>
              <a:rPr lang="en-US" b="1">
                <a:solidFill>
                  <a:schemeClr val="tx1"/>
                </a:solidFill>
              </a:rPr>
              <a:t>strategic vision</a:t>
            </a:r>
            <a:r>
              <a:rPr lang="en-US">
                <a:solidFill>
                  <a:schemeClr val="tx1"/>
                </a:solidFill>
              </a:rPr>
              <a:t> and business logic, integrating cross-team input for an </a:t>
            </a:r>
            <a:r>
              <a:rPr lang="en-US" b="1">
                <a:solidFill>
                  <a:schemeClr val="tx1"/>
                </a:solidFill>
              </a:rPr>
              <a:t>NFL-wide view</a:t>
            </a:r>
            <a:r>
              <a:rPr lang="en-US">
                <a:solidFill>
                  <a:schemeClr val="tx1"/>
                </a:solidFill>
              </a:rPr>
              <a:t>. Benchmarking global stadiums will </a:t>
            </a:r>
            <a:r>
              <a:rPr lang="en-US" b="1">
                <a:solidFill>
                  <a:schemeClr val="tx1"/>
                </a:solidFill>
              </a:rPr>
              <a:t>uncover performance gaps </a:t>
            </a:r>
            <a:r>
              <a:rPr lang="en-US">
                <a:solidFill>
                  <a:schemeClr val="tx1"/>
                </a:solidFill>
              </a:rPr>
              <a:t>and </a:t>
            </a:r>
            <a:r>
              <a:rPr lang="en-US" b="1">
                <a:solidFill>
                  <a:schemeClr val="tx1"/>
                </a:solidFill>
              </a:rPr>
              <a:t>provide recommendations </a:t>
            </a:r>
            <a:r>
              <a:rPr lang="en-US">
                <a:solidFill>
                  <a:schemeClr val="tx1"/>
                </a:solidFill>
              </a:rPr>
              <a:t>tied to a single technology layer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5056AA8-C76B-4F8F-32A6-AD928CF8C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639" y="159742"/>
            <a:ext cx="10515600" cy="685800"/>
          </a:xfrm>
        </p:spPr>
        <p:txBody>
          <a:bodyPr/>
          <a:lstStyle/>
          <a:p>
            <a:r>
              <a:rPr lang="en-US" sz="3200" b="1"/>
              <a:t>Phase 2 Scope Overview</a:t>
            </a:r>
          </a:p>
        </p:txBody>
      </p:sp>
      <p:sp>
        <p:nvSpPr>
          <p:cNvPr id="56" name="Slide Number Placeholder 13">
            <a:extLst>
              <a:ext uri="{FF2B5EF4-FFF2-40B4-BE49-F238E27FC236}">
                <a16:creationId xmlns:a16="http://schemas.microsoft.com/office/drawing/2014/main" id="{55366885-2671-0BD1-C448-78F2353ABFC2}"/>
              </a:ext>
            </a:extLst>
          </p:cNvPr>
          <p:cNvSpPr txBox="1">
            <a:spLocks/>
          </p:cNvSpPr>
          <p:nvPr/>
        </p:nvSpPr>
        <p:spPr>
          <a:xfrm>
            <a:off x="11698902" y="6442221"/>
            <a:ext cx="320749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96636F-A64E-6C4D-AE26-50A84E19B9C9}" type="slidenum">
              <a:rPr lang="en-US" sz="800">
                <a:solidFill>
                  <a:srgbClr val="96968A"/>
                </a:solidFill>
                <a:latin typeface="Avenir Next"/>
              </a:rPr>
              <a:pPr/>
              <a:t>6</a:t>
            </a:fld>
            <a:endParaRPr lang="en-US" sz="800">
              <a:solidFill>
                <a:srgbClr val="96968A"/>
              </a:solidFill>
              <a:latin typeface="Avenir Next"/>
            </a:endParaRPr>
          </a:p>
        </p:txBody>
      </p:sp>
      <p:pic>
        <p:nvPicPr>
          <p:cNvPr id="107" name="Picture 106" descr="NFL Logo (National Football League) and symbol, meaning, history, PNG, brand">
            <a:extLst>
              <a:ext uri="{FF2B5EF4-FFF2-40B4-BE49-F238E27FC236}">
                <a16:creationId xmlns:a16="http://schemas.microsoft.com/office/drawing/2014/main" id="{E5F7F554-5286-04DC-318C-370C6D121F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94" r="25471"/>
          <a:stretch/>
        </p:blipFill>
        <p:spPr bwMode="auto">
          <a:xfrm>
            <a:off x="1177499" y="6301271"/>
            <a:ext cx="272013" cy="37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" name="Picture 107" descr="Accenture Song">
            <a:extLst>
              <a:ext uri="{FF2B5EF4-FFF2-40B4-BE49-F238E27FC236}">
                <a16:creationId xmlns:a16="http://schemas.microsoft.com/office/drawing/2014/main" id="{2213E48B-002D-166A-2A8A-4CB2CC6ACE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 contrast="100000"/>
                    </a14:imgEffect>
                  </a14:imgLayer>
                </a14:imgProps>
              </a:ext>
            </a:extLst>
          </a:blip>
          <a:srcRect t="1" r="33616" b="-1"/>
          <a:stretch/>
        </p:blipFill>
        <p:spPr>
          <a:xfrm>
            <a:off x="289368" y="6409289"/>
            <a:ext cx="720278" cy="1819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A2664D-ACB9-09CF-F312-8120EC59C338}"/>
              </a:ext>
            </a:extLst>
          </p:cNvPr>
          <p:cNvSpPr txBox="1"/>
          <p:nvPr/>
        </p:nvSpPr>
        <p:spPr>
          <a:xfrm>
            <a:off x="7475969" y="23510"/>
            <a:ext cx="4732348" cy="115227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/>
            </a:pPr>
            <a:r>
              <a:rPr lang="en-US" sz="2800" b="1">
                <a:solidFill>
                  <a:srgbClr val="FFFFFF"/>
                </a:solidFill>
                <a:latin typeface="Graphik"/>
              </a:rPr>
              <a:t>Opportunity areas through benchmarking</a:t>
            </a: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D6894DA-13FE-D0DA-ECF6-2E746F104A58}"/>
              </a:ext>
            </a:extLst>
          </p:cNvPr>
          <p:cNvGrpSpPr/>
          <p:nvPr/>
        </p:nvGrpSpPr>
        <p:grpSpPr>
          <a:xfrm>
            <a:off x="7630838" y="1433774"/>
            <a:ext cx="2202125" cy="940639"/>
            <a:chOff x="1232714" y="5097979"/>
            <a:chExt cx="2202125" cy="94063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9B2661F-A05D-E990-A0C1-98A0BF1BD8F2}"/>
                </a:ext>
              </a:extLst>
            </p:cNvPr>
            <p:cNvSpPr/>
            <p:nvPr/>
          </p:nvSpPr>
          <p:spPr>
            <a:xfrm>
              <a:off x="1489929" y="5251303"/>
              <a:ext cx="1944910" cy="787315"/>
            </a:xfrm>
            <a:prstGeom prst="rect">
              <a:avLst/>
            </a:prstGeom>
            <a:solidFill>
              <a:srgbClr val="003399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>
                <a:spcAft>
                  <a:spcPts val="600"/>
                </a:spcAft>
              </a:pPr>
              <a:r>
                <a:rPr lang="en-US" sz="1600" b="1"/>
                <a:t>NFL Focus               Areas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40586B1-412B-3E93-5C59-ECEF373ECE57}"/>
                </a:ext>
              </a:extLst>
            </p:cNvPr>
            <p:cNvGrpSpPr/>
            <p:nvPr/>
          </p:nvGrpSpPr>
          <p:grpSpPr>
            <a:xfrm>
              <a:off x="1232714" y="5097979"/>
              <a:ext cx="548640" cy="548640"/>
              <a:chOff x="1146147" y="-1959269"/>
              <a:chExt cx="548640" cy="54864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pic>
            <p:nvPicPr>
              <p:cNvPr id="23" name="Graphic 22" descr="Shield with solid fill">
                <a:extLst>
                  <a:ext uri="{FF2B5EF4-FFF2-40B4-BE49-F238E27FC236}">
                    <a16:creationId xmlns:a16="http://schemas.microsoft.com/office/drawing/2014/main" id="{E9366D42-5B44-9211-1ED0-BC217EF5EE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146147" y="-1959269"/>
                <a:ext cx="548640" cy="548640"/>
              </a:xfrm>
              <a:prstGeom prst="rect">
                <a:avLst/>
              </a:prstGeom>
            </p:spPr>
          </p:pic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44F625F8-0E05-ED5D-009A-65F36ECF19D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37577" y="-1892195"/>
                <a:ext cx="365760" cy="36576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r>
                  <a:rPr 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1</a:t>
                </a: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77A8DD5-4A72-5A99-F6C7-6ACB90F91E7D}"/>
              </a:ext>
            </a:extLst>
          </p:cNvPr>
          <p:cNvGrpSpPr/>
          <p:nvPr/>
        </p:nvGrpSpPr>
        <p:grpSpPr>
          <a:xfrm>
            <a:off x="9809847" y="1433774"/>
            <a:ext cx="2201543" cy="940639"/>
            <a:chOff x="3932469" y="5097979"/>
            <a:chExt cx="2201543" cy="94063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D77E2E0-336E-04EB-0C3C-0AE1B90E9964}"/>
                </a:ext>
              </a:extLst>
            </p:cNvPr>
            <p:cNvSpPr/>
            <p:nvPr/>
          </p:nvSpPr>
          <p:spPr>
            <a:xfrm>
              <a:off x="4189102" y="5251303"/>
              <a:ext cx="1944910" cy="787315"/>
            </a:xfrm>
            <a:prstGeom prst="rect">
              <a:avLst/>
            </a:prstGeom>
            <a:solidFill>
              <a:srgbClr val="D50707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>
                <a:spcAft>
                  <a:spcPts val="600"/>
                </a:spcAft>
              </a:pPr>
              <a:r>
                <a:rPr lang="en-US" sz="1600" b="1"/>
                <a:t>Fan Survey                Improvements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A3E535E2-FE1C-765B-7B71-F8A5B8018BC3}"/>
                </a:ext>
              </a:extLst>
            </p:cNvPr>
            <p:cNvGrpSpPr/>
            <p:nvPr/>
          </p:nvGrpSpPr>
          <p:grpSpPr>
            <a:xfrm>
              <a:off x="3932469" y="5097979"/>
              <a:ext cx="548640" cy="548640"/>
              <a:chOff x="2531566" y="-1959269"/>
              <a:chExt cx="548640" cy="548640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pic>
            <p:nvPicPr>
              <p:cNvPr id="30" name="Graphic 29" descr="Shield with solid fill">
                <a:extLst>
                  <a:ext uri="{FF2B5EF4-FFF2-40B4-BE49-F238E27FC236}">
                    <a16:creationId xmlns:a16="http://schemas.microsoft.com/office/drawing/2014/main" id="{FF345995-6A52-487E-BB2C-9AB437249B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2531566" y="-1959269"/>
                <a:ext cx="548640" cy="548640"/>
              </a:xfrm>
              <a:prstGeom prst="rect">
                <a:avLst/>
              </a:prstGeom>
            </p:spPr>
          </p:pic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DCC84F00-65AC-FA2D-3DD3-8C6506831C1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624922" y="-1892195"/>
                <a:ext cx="365760" cy="36576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r>
                  <a:rPr 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2</a:t>
                </a:r>
              </a:p>
            </p:txBody>
          </p: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AB7FC5A-940C-9D6A-59B1-03C29F310E3C}"/>
              </a:ext>
            </a:extLst>
          </p:cNvPr>
          <p:cNvGrpSpPr/>
          <p:nvPr/>
        </p:nvGrpSpPr>
        <p:grpSpPr>
          <a:xfrm>
            <a:off x="7630838" y="2546153"/>
            <a:ext cx="2196248" cy="940639"/>
            <a:chOff x="6636937" y="5097979"/>
            <a:chExt cx="2196248" cy="94063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CDAF886-9849-F863-683D-FC804CE4DE85}"/>
                </a:ext>
              </a:extLst>
            </p:cNvPr>
            <p:cNvSpPr/>
            <p:nvPr/>
          </p:nvSpPr>
          <p:spPr>
            <a:xfrm>
              <a:off x="6888275" y="5251303"/>
              <a:ext cx="1944910" cy="787315"/>
            </a:xfrm>
            <a:prstGeom prst="rect">
              <a:avLst/>
            </a:prstGeom>
            <a:solidFill>
              <a:srgbClr val="D50707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>
                <a:spcAft>
                  <a:spcPts val="600"/>
                </a:spcAft>
              </a:pPr>
              <a:r>
                <a:rPr lang="en-US" sz="1600" b="1"/>
                <a:t>Operational Efficiency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7F42922-9165-7ABD-B617-55BD4315F461}"/>
                </a:ext>
              </a:extLst>
            </p:cNvPr>
            <p:cNvGrpSpPr/>
            <p:nvPr/>
          </p:nvGrpSpPr>
          <p:grpSpPr>
            <a:xfrm>
              <a:off x="6636937" y="5097979"/>
              <a:ext cx="548640" cy="548640"/>
              <a:chOff x="3661242" y="-1938742"/>
              <a:chExt cx="548640" cy="54864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pic>
            <p:nvPicPr>
              <p:cNvPr id="33" name="Graphic 32" descr="Shield with solid fill">
                <a:extLst>
                  <a:ext uri="{FF2B5EF4-FFF2-40B4-BE49-F238E27FC236}">
                    <a16:creationId xmlns:a16="http://schemas.microsoft.com/office/drawing/2014/main" id="{11BE9E7C-F9B7-4A5C-FA5D-913B6EE435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3661242" y="-1938742"/>
                <a:ext cx="548640" cy="548640"/>
              </a:xfrm>
              <a:prstGeom prst="rect">
                <a:avLst/>
              </a:prstGeom>
            </p:spPr>
          </p:pic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8D7AD3F8-A94F-46E1-DFE8-AB5465E80F3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52682" y="-1867829"/>
                <a:ext cx="365760" cy="36576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r>
                  <a:rPr 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3</a:t>
                </a:r>
              </a:p>
            </p:txBody>
          </p:sp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7320B64-D7B2-78FB-DBA9-4545DEA6B24D}"/>
              </a:ext>
            </a:extLst>
          </p:cNvPr>
          <p:cNvGrpSpPr/>
          <p:nvPr/>
        </p:nvGrpSpPr>
        <p:grpSpPr>
          <a:xfrm>
            <a:off x="9809847" y="2546153"/>
            <a:ext cx="2209804" cy="940639"/>
            <a:chOff x="9322554" y="5097979"/>
            <a:chExt cx="2209804" cy="94063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3EFB54A-494E-B70D-4F50-1F92376C9DB2}"/>
                </a:ext>
              </a:extLst>
            </p:cNvPr>
            <p:cNvSpPr/>
            <p:nvPr/>
          </p:nvSpPr>
          <p:spPr>
            <a:xfrm>
              <a:off x="9587448" y="5251303"/>
              <a:ext cx="1944910" cy="787315"/>
            </a:xfrm>
            <a:prstGeom prst="rect">
              <a:avLst/>
            </a:prstGeom>
            <a:solidFill>
              <a:srgbClr val="003399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>
                <a:spcAft>
                  <a:spcPts val="600"/>
                </a:spcAft>
              </a:pPr>
              <a:r>
                <a:rPr lang="en-US" sz="1600" b="1"/>
                <a:t>Sustainability &amp; Innovation</a:t>
              </a: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115144F-2ED7-7597-4751-1CC49A5ADAA5}"/>
                </a:ext>
              </a:extLst>
            </p:cNvPr>
            <p:cNvGrpSpPr/>
            <p:nvPr/>
          </p:nvGrpSpPr>
          <p:grpSpPr>
            <a:xfrm>
              <a:off x="9322554" y="5097979"/>
              <a:ext cx="548640" cy="548640"/>
              <a:chOff x="4800368" y="-1903315"/>
              <a:chExt cx="548640" cy="54864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pic>
            <p:nvPicPr>
              <p:cNvPr id="36" name="Graphic 35" descr="Shield with solid fill">
                <a:extLst>
                  <a:ext uri="{FF2B5EF4-FFF2-40B4-BE49-F238E27FC236}">
                    <a16:creationId xmlns:a16="http://schemas.microsoft.com/office/drawing/2014/main" id="{8304D3DE-8A53-24C0-839A-2301D200A3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800368" y="-1903315"/>
                <a:ext cx="548640" cy="548640"/>
              </a:xfrm>
              <a:prstGeom prst="rect">
                <a:avLst/>
              </a:prstGeom>
            </p:spPr>
          </p:pic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991FB886-B04E-D0BB-0EBE-4838478C3E5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76800" y="-1816438"/>
                <a:ext cx="365760" cy="36576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r>
                  <a:rPr 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4</a:t>
                </a:r>
              </a:p>
            </p:txBody>
          </p:sp>
        </p:grp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3B73B1E-9E06-E70C-79CF-6AEB98E1F56A}"/>
              </a:ext>
            </a:extLst>
          </p:cNvPr>
          <p:cNvGrpSpPr/>
          <p:nvPr/>
        </p:nvGrpSpPr>
        <p:grpSpPr>
          <a:xfrm>
            <a:off x="7630838" y="3658532"/>
            <a:ext cx="2202125" cy="938051"/>
            <a:chOff x="1232714" y="7332492"/>
            <a:chExt cx="2202125" cy="93805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DC00A7C-3FD5-4F7C-7B0D-8C38B6A5600F}"/>
                </a:ext>
              </a:extLst>
            </p:cNvPr>
            <p:cNvSpPr/>
            <p:nvPr/>
          </p:nvSpPr>
          <p:spPr>
            <a:xfrm>
              <a:off x="1489929" y="7483228"/>
              <a:ext cx="1944910" cy="787315"/>
            </a:xfrm>
            <a:prstGeom prst="rect">
              <a:avLst/>
            </a:prstGeom>
            <a:solidFill>
              <a:srgbClr val="003399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>
                <a:spcAft>
                  <a:spcPts val="600"/>
                </a:spcAft>
              </a:pPr>
              <a:r>
                <a:rPr lang="en-US" sz="1600" b="1"/>
                <a:t>Connectivity &amp; Infrastructure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3CB2EC2-5214-9148-926A-6EEC9B71975D}"/>
                </a:ext>
              </a:extLst>
            </p:cNvPr>
            <p:cNvGrpSpPr/>
            <p:nvPr/>
          </p:nvGrpSpPr>
          <p:grpSpPr>
            <a:xfrm>
              <a:off x="1232714" y="7332492"/>
              <a:ext cx="548640" cy="548640"/>
              <a:chOff x="5833865" y="-1953577"/>
              <a:chExt cx="548640" cy="54864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pic>
            <p:nvPicPr>
              <p:cNvPr id="42" name="Graphic 41" descr="Shield with solid fill">
                <a:extLst>
                  <a:ext uri="{FF2B5EF4-FFF2-40B4-BE49-F238E27FC236}">
                    <a16:creationId xmlns:a16="http://schemas.microsoft.com/office/drawing/2014/main" id="{6AF1A90A-431B-436E-1EF9-65E0672247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5833865" y="-1953577"/>
                <a:ext cx="548640" cy="548640"/>
              </a:xfrm>
              <a:prstGeom prst="rect">
                <a:avLst/>
              </a:prstGeom>
            </p:spPr>
          </p:pic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120140AA-FF72-5D4E-1753-4083591569C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925305" y="-1867829"/>
                <a:ext cx="365760" cy="36576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r>
                  <a:rPr 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5</a:t>
                </a:r>
              </a:p>
            </p:txBody>
          </p: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398C602-9B16-F969-29BE-4D10D232A06A}"/>
              </a:ext>
            </a:extLst>
          </p:cNvPr>
          <p:cNvGrpSpPr/>
          <p:nvPr/>
        </p:nvGrpSpPr>
        <p:grpSpPr>
          <a:xfrm>
            <a:off x="9809847" y="3658532"/>
            <a:ext cx="2201543" cy="938051"/>
            <a:chOff x="3932469" y="7332492"/>
            <a:chExt cx="2201543" cy="93805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C223F12-2CFB-EBAC-D36E-462CC72D9009}"/>
                </a:ext>
              </a:extLst>
            </p:cNvPr>
            <p:cNvSpPr/>
            <p:nvPr/>
          </p:nvSpPr>
          <p:spPr>
            <a:xfrm>
              <a:off x="4189102" y="7483228"/>
              <a:ext cx="1944910" cy="787315"/>
            </a:xfrm>
            <a:prstGeom prst="rect">
              <a:avLst/>
            </a:prstGeom>
            <a:solidFill>
              <a:srgbClr val="D50707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>
                <a:spcAft>
                  <a:spcPts val="600"/>
                </a:spcAft>
              </a:pPr>
              <a:r>
                <a:rPr lang="en-US" sz="1600" b="1"/>
                <a:t>Engagement &amp; Personalization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8AB2CA70-CB92-BD5F-C93F-A6E934D9DC60}"/>
                </a:ext>
              </a:extLst>
            </p:cNvPr>
            <p:cNvGrpSpPr/>
            <p:nvPr/>
          </p:nvGrpSpPr>
          <p:grpSpPr>
            <a:xfrm>
              <a:off x="3932469" y="7332492"/>
              <a:ext cx="548640" cy="548640"/>
              <a:chOff x="7005406" y="-1892195"/>
              <a:chExt cx="548640" cy="54864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pic>
            <p:nvPicPr>
              <p:cNvPr id="45" name="Graphic 44" descr="Shield with solid fill">
                <a:extLst>
                  <a:ext uri="{FF2B5EF4-FFF2-40B4-BE49-F238E27FC236}">
                    <a16:creationId xmlns:a16="http://schemas.microsoft.com/office/drawing/2014/main" id="{0E886C1D-1149-DC6C-45B9-C9ECB7EC4B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005406" y="-1892195"/>
                <a:ext cx="548640" cy="548640"/>
              </a:xfrm>
              <a:prstGeom prst="rect">
                <a:avLst/>
              </a:prstGeom>
            </p:spPr>
          </p:pic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7DB58CB9-D9C2-72AE-7797-2A79C89ADC1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96846" y="-1811875"/>
                <a:ext cx="365760" cy="36576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r>
                  <a:rPr 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6</a:t>
                </a:r>
              </a:p>
            </p:txBody>
          </p:sp>
        </p:grp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ACD7569-A7E3-E64D-1CB8-B21B2B778074}"/>
              </a:ext>
            </a:extLst>
          </p:cNvPr>
          <p:cNvGrpSpPr/>
          <p:nvPr/>
        </p:nvGrpSpPr>
        <p:grpSpPr>
          <a:xfrm>
            <a:off x="7630838" y="4768322"/>
            <a:ext cx="2196248" cy="938051"/>
            <a:chOff x="6636937" y="7332492"/>
            <a:chExt cx="2196248" cy="93805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A7AF64C-65F4-9FD0-0CA9-D8BA158EBCAF}"/>
                </a:ext>
              </a:extLst>
            </p:cNvPr>
            <p:cNvSpPr/>
            <p:nvPr/>
          </p:nvSpPr>
          <p:spPr>
            <a:xfrm>
              <a:off x="6888275" y="7483228"/>
              <a:ext cx="1944910" cy="787315"/>
            </a:xfrm>
            <a:prstGeom prst="rect">
              <a:avLst/>
            </a:prstGeom>
            <a:solidFill>
              <a:srgbClr val="D50707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>
                <a:spcAft>
                  <a:spcPts val="600"/>
                </a:spcAft>
              </a:pPr>
              <a:r>
                <a:rPr lang="en-US" sz="1600" b="1"/>
                <a:t>Transaction &amp; Commerce</a:t>
              </a: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4B34CCD1-2BB6-0238-0C2F-7DC3E73AE21B}"/>
                </a:ext>
              </a:extLst>
            </p:cNvPr>
            <p:cNvGrpSpPr/>
            <p:nvPr/>
          </p:nvGrpSpPr>
          <p:grpSpPr>
            <a:xfrm>
              <a:off x="6636937" y="7332492"/>
              <a:ext cx="548640" cy="548640"/>
              <a:chOff x="8093170" y="-1903315"/>
              <a:chExt cx="548640" cy="54864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pic>
            <p:nvPicPr>
              <p:cNvPr id="48" name="Graphic 47" descr="Shield with solid fill">
                <a:extLst>
                  <a:ext uri="{FF2B5EF4-FFF2-40B4-BE49-F238E27FC236}">
                    <a16:creationId xmlns:a16="http://schemas.microsoft.com/office/drawing/2014/main" id="{73D2C7B2-3D18-8097-699C-5A423D46B1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093170" y="-1903315"/>
                <a:ext cx="548640" cy="548640"/>
              </a:xfrm>
              <a:prstGeom prst="rect">
                <a:avLst/>
              </a:prstGeom>
            </p:spPr>
          </p:pic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892E8648-5B38-C6A3-8D72-AAFFAA41805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80733" y="-1816438"/>
                <a:ext cx="365760" cy="36576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r>
                  <a:rPr 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7</a:t>
                </a:r>
              </a:p>
            </p:txBody>
          </p:sp>
        </p:grp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638B14B-FF5A-4B16-54DC-60A698C0C824}"/>
              </a:ext>
            </a:extLst>
          </p:cNvPr>
          <p:cNvGrpSpPr/>
          <p:nvPr/>
        </p:nvGrpSpPr>
        <p:grpSpPr>
          <a:xfrm>
            <a:off x="9809847" y="4768322"/>
            <a:ext cx="2209804" cy="938051"/>
            <a:chOff x="9322554" y="7332492"/>
            <a:chExt cx="2209804" cy="93805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0D74751-2B08-710A-720E-C41AFAEF5DA3}"/>
                </a:ext>
              </a:extLst>
            </p:cNvPr>
            <p:cNvSpPr/>
            <p:nvPr/>
          </p:nvSpPr>
          <p:spPr>
            <a:xfrm>
              <a:off x="9587448" y="7483228"/>
              <a:ext cx="1944910" cy="787315"/>
            </a:xfrm>
            <a:prstGeom prst="rect">
              <a:avLst/>
            </a:prstGeom>
            <a:solidFill>
              <a:srgbClr val="002F8E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>
                <a:spcAft>
                  <a:spcPts val="600"/>
                </a:spcAft>
              </a:pPr>
              <a:r>
                <a:rPr lang="en-US" sz="1600" b="1"/>
                <a:t>Immersive Experiences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B49D239-4522-6AA9-D4F1-4232BBB473A2}"/>
                </a:ext>
              </a:extLst>
            </p:cNvPr>
            <p:cNvGrpSpPr/>
            <p:nvPr/>
          </p:nvGrpSpPr>
          <p:grpSpPr>
            <a:xfrm>
              <a:off x="9322554" y="7332492"/>
              <a:ext cx="548640" cy="548640"/>
              <a:chOff x="9225384" y="-1953567"/>
              <a:chExt cx="548640" cy="54864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pic>
            <p:nvPicPr>
              <p:cNvPr id="51" name="Graphic 50" descr="Shield with solid fill">
                <a:extLst>
                  <a:ext uri="{FF2B5EF4-FFF2-40B4-BE49-F238E27FC236}">
                    <a16:creationId xmlns:a16="http://schemas.microsoft.com/office/drawing/2014/main" id="{8CCA8C28-DCB3-F646-0A87-51C85F2A7F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9225384" y="-1953567"/>
                <a:ext cx="548640" cy="548640"/>
              </a:xfrm>
              <a:prstGeom prst="rect">
                <a:avLst/>
              </a:prstGeom>
            </p:spPr>
          </p:pic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4DC6C83E-56E8-4795-9BE3-C05C282E2E1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16824" y="-1878783"/>
                <a:ext cx="365760" cy="36576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r>
                  <a:rPr 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8</a:t>
                </a:r>
              </a:p>
            </p:txBody>
          </p:sp>
        </p:grpSp>
      </p:grpSp>
      <p:pic>
        <p:nvPicPr>
          <p:cNvPr id="115" name="Picture 114">
            <a:extLst>
              <a:ext uri="{FF2B5EF4-FFF2-40B4-BE49-F238E27FC236}">
                <a16:creationId xmlns:a16="http://schemas.microsoft.com/office/drawing/2014/main" id="{C4AE5F1C-EDD8-3C74-AE96-7417CB9272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9777" y="1292593"/>
            <a:ext cx="2812724" cy="145920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16" name="Rectangle 115">
            <a:extLst>
              <a:ext uri="{FF2B5EF4-FFF2-40B4-BE49-F238E27FC236}">
                <a16:creationId xmlns:a16="http://schemas.microsoft.com/office/drawing/2014/main" id="{644CA007-38FD-5E48-DB73-16E406BE40B0}"/>
              </a:ext>
            </a:extLst>
          </p:cNvPr>
          <p:cNvSpPr/>
          <p:nvPr/>
        </p:nvSpPr>
        <p:spPr>
          <a:xfrm>
            <a:off x="430055" y="3639054"/>
            <a:ext cx="6649435" cy="2205620"/>
          </a:xfrm>
          <a:prstGeom prst="rect">
            <a:avLst/>
          </a:prstGeom>
          <a:solidFill>
            <a:schemeClr val="bg1"/>
          </a:solidFill>
          <a:ln>
            <a:solidFill>
              <a:srgbClr val="374D8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91440" rIns="182880" bIns="91440" rtlCol="0" anchor="t"/>
          <a:lstStyle/>
          <a:p>
            <a:r>
              <a:rPr lang="en-US" sz="1600" b="1" dirty="0">
                <a:solidFill>
                  <a:schemeClr val="tx1"/>
                </a:solidFill>
              </a:rPr>
              <a:t>Phase 2 Scope: </a:t>
            </a:r>
            <a:endParaRPr lang="en-US" dirty="0">
              <a:solidFill>
                <a:schemeClr val="tx1"/>
              </a:solidFill>
            </a:endParaRPr>
          </a:p>
          <a:p>
            <a:pPr marL="228600" indent="-22860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tx1"/>
                </a:solidFill>
              </a:rPr>
              <a:t>Update strategic vision and guiding principles for benchmarking</a:t>
            </a:r>
            <a:endParaRPr lang="en-US" dirty="0">
              <a:solidFill>
                <a:schemeClr val="tx1"/>
              </a:solidFill>
            </a:endParaRPr>
          </a:p>
          <a:p>
            <a:pPr marL="228600" indent="-22860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tx1"/>
                </a:solidFill>
              </a:rPr>
              <a:t>Develop single technology layer survey (e.g. Infrastructure)</a:t>
            </a:r>
          </a:p>
          <a:p>
            <a:pPr marL="228600" indent="-22860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tx1"/>
                </a:solidFill>
              </a:rPr>
              <a:t>Refine methodology and survey by iterating with 3 NFL teams</a:t>
            </a:r>
          </a:p>
          <a:p>
            <a:pPr marL="228600" indent="-22860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tx1"/>
                </a:solidFill>
              </a:rPr>
              <a:t>Build and launch a scoring dashboard and send out for all 32 teams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DE76A5F-743C-BEC4-4FF1-CA0EB61C5CFE}"/>
              </a:ext>
            </a:extLst>
          </p:cNvPr>
          <p:cNvSpPr txBox="1"/>
          <p:nvPr/>
        </p:nvSpPr>
        <p:spPr>
          <a:xfrm>
            <a:off x="4219777" y="2946434"/>
            <a:ext cx="2859713" cy="4825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Prototype dashboard based on survey 1.0 data </a:t>
            </a:r>
          </a:p>
        </p:txBody>
      </p:sp>
    </p:spTree>
    <p:extLst>
      <p:ext uri="{BB962C8B-B14F-4D97-AF65-F5344CB8AC3E}">
        <p14:creationId xmlns:p14="http://schemas.microsoft.com/office/powerpoint/2010/main" val="2423240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344DE-A64C-3833-9712-04F6BBCD5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 Structure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12E0930-41BF-CC06-2F5A-F43BD09A3D7B}"/>
              </a:ext>
            </a:extLst>
          </p:cNvPr>
          <p:cNvCxnSpPr>
            <a:cxnSpLocks/>
          </p:cNvCxnSpPr>
          <p:nvPr/>
        </p:nvCxnSpPr>
        <p:spPr>
          <a:xfrm>
            <a:off x="3981798" y="2429151"/>
            <a:ext cx="0" cy="4196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BB6C678-09C7-1392-BCC8-170EDE2589A3}"/>
              </a:ext>
            </a:extLst>
          </p:cNvPr>
          <p:cNvCxnSpPr>
            <a:cxnSpLocks/>
          </p:cNvCxnSpPr>
          <p:nvPr/>
        </p:nvCxnSpPr>
        <p:spPr>
          <a:xfrm>
            <a:off x="1536625" y="2394511"/>
            <a:ext cx="1" cy="2717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FD1817E6-0226-F9EC-3378-C79BE779BC08}"/>
              </a:ext>
            </a:extLst>
          </p:cNvPr>
          <p:cNvSpPr/>
          <p:nvPr/>
        </p:nvSpPr>
        <p:spPr>
          <a:xfrm>
            <a:off x="5090518" y="1371600"/>
            <a:ext cx="6950655" cy="41513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2676" defTabSz="914104">
              <a:defRPr/>
            </a:pPr>
            <a:r>
              <a:rPr lang="en-US" sz="1100" b="1" kern="0">
                <a:solidFill>
                  <a:srgbClr val="000000"/>
                </a:solidFill>
                <a:cs typeface="Calibri" panose="020F0502020204030204" pitchFamily="34" charset="0"/>
              </a:rPr>
              <a:t>Steering Committee</a:t>
            </a:r>
          </a:p>
          <a:p>
            <a:pPr marL="284072" indent="-171394" defTabSz="914104">
              <a:buFont typeface="Arial" panose="020B0604020202020204" pitchFamily="34" charset="0"/>
              <a:buChar char="•"/>
              <a:defRPr/>
            </a:pPr>
            <a:r>
              <a:rPr lang="en-US" sz="1100" kern="0">
                <a:solidFill>
                  <a:srgbClr val="000000"/>
                </a:solidFill>
                <a:cs typeface="Calibri" panose="020F0502020204030204" pitchFamily="34" charset="0"/>
              </a:rPr>
              <a:t>Guidance, definition and validation</a:t>
            </a:r>
          </a:p>
          <a:p>
            <a:pPr marL="284072" indent="-171394" defTabSz="914104">
              <a:buFont typeface="Arial" panose="020B0604020202020204" pitchFamily="34" charset="0"/>
              <a:buChar char="•"/>
              <a:defRPr/>
            </a:pPr>
            <a:r>
              <a:rPr lang="en-US" sz="1100" kern="0">
                <a:solidFill>
                  <a:srgbClr val="000000"/>
                </a:solidFill>
                <a:cs typeface="Calibri" panose="020F0502020204030204" pitchFamily="34" charset="0"/>
              </a:rPr>
              <a:t>Participation in steering meetings &amp; key stakeholder conversations</a:t>
            </a:r>
          </a:p>
          <a:p>
            <a:pPr marL="284072" indent="-171394" defTabSz="914104">
              <a:buFont typeface="Arial" panose="020B0604020202020204" pitchFamily="34" charset="0"/>
              <a:buChar char="•"/>
              <a:defRPr/>
            </a:pPr>
            <a:r>
              <a:rPr lang="en-US" sz="1100" kern="0">
                <a:solidFill>
                  <a:srgbClr val="000000"/>
                </a:solidFill>
                <a:cs typeface="Calibri" panose="020F0502020204030204" pitchFamily="34" charset="0"/>
              </a:rPr>
              <a:t>Quality control</a:t>
            </a:r>
          </a:p>
          <a:p>
            <a:pPr defTabSz="914104">
              <a:defRPr/>
            </a:pPr>
            <a:endParaRPr lang="en-US" sz="1100" b="1">
              <a:solidFill>
                <a:schemeClr val="tx1"/>
              </a:solidFill>
              <a:latin typeface="Graphik"/>
            </a:endParaRPr>
          </a:p>
          <a:p>
            <a:pPr marL="112676" defTabSz="914104">
              <a:defRPr/>
            </a:pPr>
            <a:r>
              <a:rPr lang="en-US" sz="1100" b="1" kern="0">
                <a:solidFill>
                  <a:srgbClr val="000000"/>
                </a:solidFill>
                <a:cs typeface="Calibri" panose="020F0502020204030204" pitchFamily="34" charset="0"/>
              </a:rPr>
              <a:t>Delivery Lead </a:t>
            </a:r>
          </a:p>
          <a:p>
            <a:pPr marL="284072" indent="-171394" defTabSz="914104">
              <a:buFont typeface="Arial" panose="020B0604020202020204" pitchFamily="34" charset="0"/>
              <a:buChar char="•"/>
              <a:defRPr/>
            </a:pPr>
            <a:r>
              <a:rPr lang="en-US" sz="1100" kern="0">
                <a:solidFill>
                  <a:srgbClr val="000000"/>
                </a:solidFill>
                <a:cs typeface="Calibri" panose="020F0502020204030204" pitchFamily="34" charset="0"/>
              </a:rPr>
              <a:t>Project management, scope control, resources planning and reporting</a:t>
            </a:r>
          </a:p>
          <a:p>
            <a:pPr marL="284072" indent="-171394" defTabSz="914104">
              <a:buFont typeface="Arial" panose="020B0604020202020204" pitchFamily="34" charset="0"/>
              <a:buChar char="•"/>
              <a:defRPr/>
            </a:pPr>
            <a:r>
              <a:rPr lang="en-US" sz="1100" kern="0">
                <a:solidFill>
                  <a:srgbClr val="000000"/>
                </a:solidFill>
                <a:cs typeface="Calibri" panose="020F0502020204030204" pitchFamily="34" charset="0"/>
              </a:rPr>
              <a:t>Risk mitigation and issue resolution</a:t>
            </a:r>
          </a:p>
          <a:p>
            <a:pPr marL="284072" indent="-171394" defTabSz="914104">
              <a:buFont typeface="Arial" panose="020B0604020202020204" pitchFamily="34" charset="0"/>
              <a:buChar char="•"/>
              <a:defRPr/>
            </a:pPr>
            <a:r>
              <a:rPr lang="en-US" sz="1100" kern="0">
                <a:solidFill>
                  <a:srgbClr val="000000"/>
                </a:solidFill>
                <a:cs typeface="Calibri" panose="020F0502020204030204" pitchFamily="34" charset="0"/>
              </a:rPr>
              <a:t>Work with NFL lead on escalations and issue resolution</a:t>
            </a:r>
          </a:p>
          <a:p>
            <a:pPr marL="112676" defTabSz="914104">
              <a:defRPr/>
            </a:pPr>
            <a:endParaRPr lang="en-US" sz="1100" kern="0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marL="112676" defTabSz="914104">
              <a:defRPr/>
            </a:pPr>
            <a:r>
              <a:rPr lang="en-US" sz="1100" b="1" kern="0">
                <a:solidFill>
                  <a:srgbClr val="000000"/>
                </a:solidFill>
                <a:cs typeface="Calibri" panose="020F0502020204030204" pitchFamily="34" charset="0"/>
              </a:rPr>
              <a:t>Delivery Team</a:t>
            </a:r>
          </a:p>
          <a:p>
            <a:pPr marL="284072" indent="-171394" defTabSz="914104">
              <a:buFont typeface="Arial" panose="020B0604020202020204" pitchFamily="34" charset="0"/>
              <a:buChar char="•"/>
              <a:defRPr/>
            </a:pPr>
            <a:r>
              <a:rPr lang="en-US" sz="1100" kern="0">
                <a:solidFill>
                  <a:srgbClr val="000000"/>
                </a:solidFill>
                <a:cs typeface="Calibri" panose="020F0502020204030204" pitchFamily="34" charset="0"/>
              </a:rPr>
              <a:t>Define objective &amp; goals</a:t>
            </a:r>
          </a:p>
          <a:p>
            <a:pPr marL="284072" indent="-171394" defTabSz="914104">
              <a:buFont typeface="Arial" panose="020B0604020202020204" pitchFamily="34" charset="0"/>
              <a:buChar char="•"/>
              <a:defRPr/>
            </a:pPr>
            <a:r>
              <a:rPr lang="en-US" sz="1100" kern="0">
                <a:solidFill>
                  <a:srgbClr val="000000"/>
                </a:solidFill>
                <a:cs typeface="Calibri" panose="020F0502020204030204" pitchFamily="34" charset="0"/>
              </a:rPr>
              <a:t>Conduct initial analysis and lead delivery of program per agreed scope</a:t>
            </a:r>
          </a:p>
          <a:p>
            <a:pPr marL="284072" indent="-171394" defTabSz="914104">
              <a:buFont typeface="Arial" panose="020B0604020202020204" pitchFamily="34" charset="0"/>
              <a:buChar char="•"/>
              <a:defRPr/>
            </a:pPr>
            <a:r>
              <a:rPr lang="en-US" sz="1100" kern="0">
                <a:solidFill>
                  <a:srgbClr val="000000"/>
                </a:solidFill>
                <a:cs typeface="Calibri" panose="020F0502020204030204" pitchFamily="34" charset="0"/>
              </a:rPr>
              <a:t>Communicate continuously with NFL lead and stakeholder for feedback and direction</a:t>
            </a:r>
          </a:p>
          <a:p>
            <a:pPr marL="284072" indent="-171394" defTabSz="914104">
              <a:buFont typeface="Arial" panose="020B0604020202020204" pitchFamily="34" charset="0"/>
              <a:buChar char="•"/>
              <a:defRPr/>
            </a:pPr>
            <a:endParaRPr lang="en-US" sz="1100" kern="0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marL="112676" defTabSz="914104">
              <a:defRPr/>
            </a:pPr>
            <a:r>
              <a:rPr lang="en-US" sz="1100" b="1" kern="0">
                <a:solidFill>
                  <a:srgbClr val="000000"/>
                </a:solidFill>
                <a:cs typeface="Calibri" panose="020F0502020204030204" pitchFamily="34" charset="0"/>
              </a:rPr>
              <a:t>NFL / Team Business Stakeholders</a:t>
            </a:r>
            <a:endParaRPr lang="en-US" sz="1100" i="1" kern="0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marL="284072" indent="-171394" defTabSz="914104">
              <a:buFont typeface="Arial" panose="020B0604020202020204" pitchFamily="34" charset="0"/>
              <a:buChar char="•"/>
              <a:defRPr/>
            </a:pPr>
            <a:r>
              <a:rPr lang="en-US" sz="1100" kern="0">
                <a:solidFill>
                  <a:srgbClr val="000000"/>
                </a:solidFill>
                <a:cs typeface="Calibri" panose="020F0502020204030204" pitchFamily="34" charset="0"/>
              </a:rPr>
              <a:t>Participate in workshops and interviews</a:t>
            </a:r>
          </a:p>
          <a:p>
            <a:pPr marL="284072" indent="-171394" defTabSz="914104">
              <a:buFont typeface="Arial" panose="020B0604020202020204" pitchFamily="34" charset="0"/>
              <a:buChar char="•"/>
              <a:defRPr/>
            </a:pPr>
            <a:r>
              <a:rPr lang="en-US" sz="1100" kern="0">
                <a:solidFill>
                  <a:srgbClr val="000000"/>
                </a:solidFill>
                <a:cs typeface="Calibri" panose="020F0502020204030204" pitchFamily="34" charset="0"/>
              </a:rPr>
              <a:t>Provide information as needed</a:t>
            </a:r>
          </a:p>
          <a:p>
            <a:pPr marL="284072" indent="-171394" defTabSz="914104">
              <a:buFont typeface="Arial" panose="020B0604020202020204" pitchFamily="34" charset="0"/>
              <a:buChar char="•"/>
              <a:defRPr/>
            </a:pPr>
            <a:r>
              <a:rPr lang="en-US" sz="1100" kern="0">
                <a:solidFill>
                  <a:srgbClr val="000000"/>
                </a:solidFill>
                <a:cs typeface="Calibri" panose="020F0502020204030204" pitchFamily="34" charset="0"/>
              </a:rPr>
              <a:t>Inform scorecard assessment activities for refinement</a:t>
            </a:r>
          </a:p>
          <a:p>
            <a:pPr marL="284072" indent="-171394" defTabSz="914104">
              <a:buFont typeface="Arial" panose="020B0604020202020204" pitchFamily="34" charset="0"/>
              <a:buChar char="•"/>
              <a:defRPr/>
            </a:pPr>
            <a:endParaRPr lang="en-US" sz="1100" kern="0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marL="112676" defTabSz="914104">
              <a:defRPr/>
            </a:pPr>
            <a:r>
              <a:rPr lang="en-US" sz="1100" b="1" kern="0">
                <a:solidFill>
                  <a:srgbClr val="000000"/>
                </a:solidFill>
                <a:cs typeface="Calibri" panose="020F0502020204030204" pitchFamily="34" charset="0"/>
              </a:rPr>
              <a:t>Subject Matter Advisors (SMA)</a:t>
            </a:r>
          </a:p>
          <a:p>
            <a:pPr marL="284072" indent="-171394" defTabSz="914104">
              <a:buFont typeface="Arial" panose="020B0604020202020204" pitchFamily="34" charset="0"/>
              <a:buChar char="•"/>
              <a:defRPr/>
            </a:pPr>
            <a:r>
              <a:rPr lang="en-US" sz="1100" kern="0">
                <a:solidFill>
                  <a:srgbClr val="000000"/>
                </a:solidFill>
                <a:cs typeface="Calibri" panose="020F0502020204030204" pitchFamily="34" charset="0"/>
              </a:rPr>
              <a:t>Contribution with deep knowledge in different subjects within project scope</a:t>
            </a:r>
          </a:p>
          <a:p>
            <a:pPr marL="284072" indent="-171394" defTabSz="914104">
              <a:buFont typeface="Arial" panose="020B0604020202020204" pitchFamily="34" charset="0"/>
              <a:buChar char="•"/>
              <a:defRPr/>
            </a:pPr>
            <a:r>
              <a:rPr lang="en-US" sz="1100" kern="0">
                <a:solidFill>
                  <a:srgbClr val="000000"/>
                </a:solidFill>
                <a:cs typeface="Calibri" panose="020F0502020204030204" pitchFamily="34" charset="0"/>
              </a:rPr>
              <a:t>Participation in workshops during the project</a:t>
            </a:r>
          </a:p>
          <a:p>
            <a:pPr defTabSz="914104">
              <a:defRPr/>
            </a:pPr>
            <a:endParaRPr lang="en-US" sz="1100" b="1">
              <a:solidFill>
                <a:schemeClr val="tx1"/>
              </a:solidFill>
              <a:latin typeface="Graphik"/>
            </a:endParaRPr>
          </a:p>
        </p:txBody>
      </p:sp>
      <p:sp>
        <p:nvSpPr>
          <p:cNvPr id="7" name="Rectangle 52">
            <a:extLst>
              <a:ext uri="{FF2B5EF4-FFF2-40B4-BE49-F238E27FC236}">
                <a16:creationId xmlns:a16="http://schemas.microsoft.com/office/drawing/2014/main" id="{5C758EE9-0A2B-E78C-2ADE-0DA83697222E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423017" y="1371601"/>
            <a:ext cx="4541726" cy="105755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  <a:prstDash val="sysDot"/>
          </a:ln>
          <a:effectLst/>
        </p:spPr>
        <p:txBody>
          <a:bodyPr vert="horz" wrap="square" lIns="71981" tIns="71981" rIns="71981" bIns="0" numCol="1" anchor="t" anchorCtr="0" compatLnSpc="1">
            <a:prstTxWarp prst="textNoShape">
              <a:avLst/>
            </a:prstTxWarp>
            <a:no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286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0" hangingPunct="0">
              <a:spcBef>
                <a:spcPts val="0"/>
              </a:spcBef>
              <a:spcAft>
                <a:spcPts val="400"/>
              </a:spcAft>
              <a:buClr>
                <a:srgbClr val="FF0000"/>
              </a:buClr>
              <a:buSzPct val="100000"/>
              <a:defRPr/>
            </a:pPr>
            <a:r>
              <a:rPr lang="en-US" altLang="de-DE" sz="1400" b="1">
                <a:solidFill>
                  <a:prstClr val="black"/>
                </a:solidFill>
                <a:latin typeface="+mn-lt"/>
              </a:rPr>
              <a:t>Steering Committee</a:t>
            </a:r>
          </a:p>
        </p:txBody>
      </p:sp>
      <p:sp>
        <p:nvSpPr>
          <p:cNvPr id="8" name="Freeform: Shape 4">
            <a:extLst>
              <a:ext uri="{FF2B5EF4-FFF2-40B4-BE49-F238E27FC236}">
                <a16:creationId xmlns:a16="http://schemas.microsoft.com/office/drawing/2014/main" id="{44B16764-1F45-9F8F-2297-F15757E4869D}"/>
              </a:ext>
            </a:extLst>
          </p:cNvPr>
          <p:cNvSpPr/>
          <p:nvPr/>
        </p:nvSpPr>
        <p:spPr>
          <a:xfrm>
            <a:off x="3070682" y="1868121"/>
            <a:ext cx="1795549" cy="384048"/>
          </a:xfrm>
          <a:custGeom>
            <a:avLst/>
            <a:gdLst>
              <a:gd name="connsiteX0" fmla="*/ 0 w 1591406"/>
              <a:gd name="connsiteY0" fmla="*/ 0 h 823959"/>
              <a:gd name="connsiteX1" fmla="*/ 1591406 w 1591406"/>
              <a:gd name="connsiteY1" fmla="*/ 0 h 823959"/>
              <a:gd name="connsiteX2" fmla="*/ 1591406 w 1591406"/>
              <a:gd name="connsiteY2" fmla="*/ 823959 h 823959"/>
              <a:gd name="connsiteX3" fmla="*/ 0 w 1591406"/>
              <a:gd name="connsiteY3" fmla="*/ 823959 h 823959"/>
              <a:gd name="connsiteX4" fmla="*/ 0 w 1591406"/>
              <a:gd name="connsiteY4" fmla="*/ 0 h 823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1406" h="823959">
                <a:moveTo>
                  <a:pt x="0" y="0"/>
                </a:moveTo>
                <a:lnTo>
                  <a:pt x="1591406" y="0"/>
                </a:lnTo>
                <a:lnTo>
                  <a:pt x="1591406" y="823959"/>
                </a:lnTo>
                <a:lnTo>
                  <a:pt x="0" y="82395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71981" tIns="71981" rIns="71981" bIns="71981" anchor="ctr" anchorCtr="0">
            <a:noAutofit/>
          </a:bodyPr>
          <a:lstStyle/>
          <a:p>
            <a:pPr algn="ctr" eaLnBrk="0" hangingPunct="0">
              <a:spcBef>
                <a:spcPts val="300"/>
              </a:spcBef>
              <a:buSzPct val="50000"/>
            </a:pPr>
            <a:r>
              <a:rPr lang="en-US" sz="1100" b="1" kern="0">
                <a:solidFill>
                  <a:schemeClr val="bg1"/>
                </a:solidFill>
              </a:rPr>
              <a:t>Accenture Leadership</a:t>
            </a:r>
            <a:endParaRPr lang="en-US" sz="1100" b="1" i="1" kern="0">
              <a:solidFill>
                <a:schemeClr val="bg1"/>
              </a:solidFill>
            </a:endParaRPr>
          </a:p>
        </p:txBody>
      </p:sp>
      <p:sp>
        <p:nvSpPr>
          <p:cNvPr id="9" name="Rectangle 52">
            <a:extLst>
              <a:ext uri="{FF2B5EF4-FFF2-40B4-BE49-F238E27FC236}">
                <a16:creationId xmlns:a16="http://schemas.microsoft.com/office/drawing/2014/main" id="{937F2213-E08B-68C8-3B74-67136643478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423009" y="2666245"/>
            <a:ext cx="2019844" cy="2883953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  <a:prstDash val="sysDot"/>
          </a:ln>
          <a:effectLst/>
        </p:spPr>
        <p:txBody>
          <a:bodyPr vert="horz" wrap="square" lIns="71981" tIns="71981" rIns="71981" bIns="0" numCol="1" anchor="t" anchorCtr="0" compatLnSpc="1">
            <a:prstTxWarp prst="textNoShape">
              <a:avLst/>
            </a:prstTxWarp>
            <a:no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286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defTabSz="914104" eaLnBrk="0" hangingPunct="0">
              <a:spcBef>
                <a:spcPts val="0"/>
              </a:spcBef>
              <a:spcAft>
                <a:spcPts val="400"/>
              </a:spcAft>
              <a:buClr>
                <a:srgbClr val="FF0000"/>
              </a:buClr>
              <a:buSzPct val="100000"/>
              <a:defRPr/>
            </a:pPr>
            <a:r>
              <a:rPr lang="en-US" altLang="de-DE" sz="1400" b="1">
                <a:solidFill>
                  <a:prstClr val="black"/>
                </a:solidFill>
                <a:latin typeface="+mn-lt"/>
              </a:rPr>
              <a:t>NFL Teams</a:t>
            </a:r>
            <a:endParaRPr lang="en-US" altLang="de-DE" sz="1400">
              <a:solidFill>
                <a:srgbClr val="FFFFFF">
                  <a:lumMod val="50000"/>
                </a:srgbClr>
              </a:solidFill>
              <a:latin typeface="+mn-lt"/>
            </a:endParaRPr>
          </a:p>
        </p:txBody>
      </p:sp>
      <p:sp>
        <p:nvSpPr>
          <p:cNvPr id="10" name="Freeform: Shape 4">
            <a:extLst>
              <a:ext uri="{FF2B5EF4-FFF2-40B4-BE49-F238E27FC236}">
                <a16:creationId xmlns:a16="http://schemas.microsoft.com/office/drawing/2014/main" id="{CB992776-3EC7-BAE7-A395-3940ECF2B39A}"/>
              </a:ext>
            </a:extLst>
          </p:cNvPr>
          <p:cNvSpPr/>
          <p:nvPr/>
        </p:nvSpPr>
        <p:spPr>
          <a:xfrm>
            <a:off x="530844" y="1839273"/>
            <a:ext cx="1795549" cy="384048"/>
          </a:xfrm>
          <a:custGeom>
            <a:avLst/>
            <a:gdLst>
              <a:gd name="connsiteX0" fmla="*/ 0 w 1591406"/>
              <a:gd name="connsiteY0" fmla="*/ 0 h 823959"/>
              <a:gd name="connsiteX1" fmla="*/ 1591406 w 1591406"/>
              <a:gd name="connsiteY1" fmla="*/ 0 h 823959"/>
              <a:gd name="connsiteX2" fmla="*/ 1591406 w 1591406"/>
              <a:gd name="connsiteY2" fmla="*/ 823959 h 823959"/>
              <a:gd name="connsiteX3" fmla="*/ 0 w 1591406"/>
              <a:gd name="connsiteY3" fmla="*/ 823959 h 823959"/>
              <a:gd name="connsiteX4" fmla="*/ 0 w 1591406"/>
              <a:gd name="connsiteY4" fmla="*/ 0 h 823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1406" h="823959">
                <a:moveTo>
                  <a:pt x="0" y="0"/>
                </a:moveTo>
                <a:lnTo>
                  <a:pt x="1591406" y="0"/>
                </a:lnTo>
                <a:lnTo>
                  <a:pt x="1591406" y="823959"/>
                </a:lnTo>
                <a:lnTo>
                  <a:pt x="0" y="82395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71981" tIns="71981" rIns="71981" bIns="71981" anchor="ctr" anchorCtr="0">
            <a:noAutofit/>
          </a:bodyPr>
          <a:lstStyle/>
          <a:p>
            <a:pPr algn="ctr" eaLnBrk="0" hangingPunct="0">
              <a:spcBef>
                <a:spcPts val="300"/>
              </a:spcBef>
              <a:buSzPct val="50000"/>
            </a:pPr>
            <a:r>
              <a:rPr lang="en-US" sz="1100" b="1" kern="0">
                <a:solidFill>
                  <a:schemeClr val="bg1"/>
                </a:solidFill>
              </a:rPr>
              <a:t>NFL Leadership</a:t>
            </a:r>
          </a:p>
        </p:txBody>
      </p:sp>
      <p:sp>
        <p:nvSpPr>
          <p:cNvPr id="11" name="Freeform: Shape 12">
            <a:extLst>
              <a:ext uri="{FF2B5EF4-FFF2-40B4-BE49-F238E27FC236}">
                <a16:creationId xmlns:a16="http://schemas.microsoft.com/office/drawing/2014/main" id="{1BD778ED-1E96-B887-B63D-452F65C57086}"/>
              </a:ext>
            </a:extLst>
          </p:cNvPr>
          <p:cNvSpPr/>
          <p:nvPr/>
        </p:nvSpPr>
        <p:spPr>
          <a:xfrm>
            <a:off x="530844" y="3234305"/>
            <a:ext cx="1795549" cy="384048"/>
          </a:xfrm>
          <a:custGeom>
            <a:avLst/>
            <a:gdLst>
              <a:gd name="connsiteX0" fmla="*/ 0 w 1591406"/>
              <a:gd name="connsiteY0" fmla="*/ 0 h 823959"/>
              <a:gd name="connsiteX1" fmla="*/ 1591406 w 1591406"/>
              <a:gd name="connsiteY1" fmla="*/ 0 h 823959"/>
              <a:gd name="connsiteX2" fmla="*/ 1591406 w 1591406"/>
              <a:gd name="connsiteY2" fmla="*/ 823959 h 823959"/>
              <a:gd name="connsiteX3" fmla="*/ 0 w 1591406"/>
              <a:gd name="connsiteY3" fmla="*/ 823959 h 823959"/>
              <a:gd name="connsiteX4" fmla="*/ 0 w 1591406"/>
              <a:gd name="connsiteY4" fmla="*/ 0 h 823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1406" h="823959">
                <a:moveTo>
                  <a:pt x="0" y="0"/>
                </a:moveTo>
                <a:lnTo>
                  <a:pt x="1591406" y="0"/>
                </a:lnTo>
                <a:lnTo>
                  <a:pt x="1591406" y="823959"/>
                </a:lnTo>
                <a:lnTo>
                  <a:pt x="0" y="82395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71981" tIns="71981" rIns="71981" bIns="71981" anchor="ctr" anchorCtr="0">
            <a:noAutofit/>
          </a:bodyPr>
          <a:lstStyle/>
          <a:p>
            <a:pPr algn="ctr" eaLnBrk="0" hangingPunct="0">
              <a:spcBef>
                <a:spcPts val="300"/>
              </a:spcBef>
              <a:buSzPct val="50000"/>
            </a:pPr>
            <a:r>
              <a:rPr lang="en-US" sz="1100" b="1" kern="0">
                <a:solidFill>
                  <a:schemeClr val="bg1"/>
                </a:solidFill>
              </a:rPr>
              <a:t>IT and Infrastructure</a:t>
            </a:r>
          </a:p>
        </p:txBody>
      </p:sp>
      <p:sp>
        <p:nvSpPr>
          <p:cNvPr id="12" name="Freeform: Shape 12">
            <a:extLst>
              <a:ext uri="{FF2B5EF4-FFF2-40B4-BE49-F238E27FC236}">
                <a16:creationId xmlns:a16="http://schemas.microsoft.com/office/drawing/2014/main" id="{F59C55AD-5890-1C35-0AA3-0BD4BD3D8478}"/>
              </a:ext>
            </a:extLst>
          </p:cNvPr>
          <p:cNvSpPr/>
          <p:nvPr/>
        </p:nvSpPr>
        <p:spPr>
          <a:xfrm>
            <a:off x="530844" y="4475297"/>
            <a:ext cx="1795549" cy="384048"/>
          </a:xfrm>
          <a:custGeom>
            <a:avLst/>
            <a:gdLst>
              <a:gd name="connsiteX0" fmla="*/ 0 w 1591406"/>
              <a:gd name="connsiteY0" fmla="*/ 0 h 823959"/>
              <a:gd name="connsiteX1" fmla="*/ 1591406 w 1591406"/>
              <a:gd name="connsiteY1" fmla="*/ 0 h 823959"/>
              <a:gd name="connsiteX2" fmla="*/ 1591406 w 1591406"/>
              <a:gd name="connsiteY2" fmla="*/ 823959 h 823959"/>
              <a:gd name="connsiteX3" fmla="*/ 0 w 1591406"/>
              <a:gd name="connsiteY3" fmla="*/ 823959 h 823959"/>
              <a:gd name="connsiteX4" fmla="*/ 0 w 1591406"/>
              <a:gd name="connsiteY4" fmla="*/ 0 h 823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1406" h="823959">
                <a:moveTo>
                  <a:pt x="0" y="0"/>
                </a:moveTo>
                <a:lnTo>
                  <a:pt x="1591406" y="0"/>
                </a:lnTo>
                <a:lnTo>
                  <a:pt x="1591406" y="823959"/>
                </a:lnTo>
                <a:lnTo>
                  <a:pt x="0" y="82395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71981" tIns="71981" rIns="71981" bIns="71981" anchor="ctr" anchorCtr="0">
            <a:noAutofit/>
          </a:bodyPr>
          <a:lstStyle/>
          <a:p>
            <a:pPr algn="ctr" eaLnBrk="0" hangingPunct="0">
              <a:spcBef>
                <a:spcPts val="300"/>
              </a:spcBef>
              <a:buSzPct val="50000"/>
            </a:pPr>
            <a:r>
              <a:rPr lang="en-US" sz="1100" b="1" kern="0">
                <a:solidFill>
                  <a:schemeClr val="bg1"/>
                </a:solidFill>
              </a:rPr>
              <a:t>Marketing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8E715B1-07BE-AD49-8974-630A39E4FEC1}"/>
              </a:ext>
            </a:extLst>
          </p:cNvPr>
          <p:cNvSpPr/>
          <p:nvPr/>
        </p:nvSpPr>
        <p:spPr>
          <a:xfrm>
            <a:off x="530844" y="3637385"/>
            <a:ext cx="1795549" cy="384048"/>
          </a:xfrm>
          <a:custGeom>
            <a:avLst/>
            <a:gdLst>
              <a:gd name="connsiteX0" fmla="*/ 0 w 1591406"/>
              <a:gd name="connsiteY0" fmla="*/ 0 h 823959"/>
              <a:gd name="connsiteX1" fmla="*/ 1591406 w 1591406"/>
              <a:gd name="connsiteY1" fmla="*/ 0 h 823959"/>
              <a:gd name="connsiteX2" fmla="*/ 1591406 w 1591406"/>
              <a:gd name="connsiteY2" fmla="*/ 823959 h 823959"/>
              <a:gd name="connsiteX3" fmla="*/ 0 w 1591406"/>
              <a:gd name="connsiteY3" fmla="*/ 823959 h 823959"/>
              <a:gd name="connsiteX4" fmla="*/ 0 w 1591406"/>
              <a:gd name="connsiteY4" fmla="*/ 0 h 823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1406" h="823959">
                <a:moveTo>
                  <a:pt x="0" y="0"/>
                </a:moveTo>
                <a:lnTo>
                  <a:pt x="1591406" y="0"/>
                </a:lnTo>
                <a:lnTo>
                  <a:pt x="1591406" y="823959"/>
                </a:lnTo>
                <a:lnTo>
                  <a:pt x="0" y="82395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71981" tIns="71981" rIns="71981" bIns="71981" anchor="ctr" anchorCtr="0">
            <a:noAutofit/>
          </a:bodyPr>
          <a:lstStyle/>
          <a:p>
            <a:pPr algn="ctr" eaLnBrk="0" hangingPunct="0">
              <a:spcBef>
                <a:spcPts val="300"/>
              </a:spcBef>
              <a:buSzPct val="50000"/>
            </a:pPr>
            <a:r>
              <a:rPr lang="en-US" sz="1100" b="1" kern="0">
                <a:solidFill>
                  <a:schemeClr val="bg1"/>
                </a:solidFill>
              </a:rPr>
              <a:t>Business Operations </a:t>
            </a:r>
          </a:p>
        </p:txBody>
      </p:sp>
      <p:sp>
        <p:nvSpPr>
          <p:cNvPr id="14" name="Rectangle 52">
            <a:extLst>
              <a:ext uri="{FF2B5EF4-FFF2-40B4-BE49-F238E27FC236}">
                <a16:creationId xmlns:a16="http://schemas.microsoft.com/office/drawing/2014/main" id="{A5C65E40-1682-B988-AE65-B0273195711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2944899" y="2638993"/>
            <a:ext cx="2019844" cy="2883953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  <a:prstDash val="sysDot"/>
          </a:ln>
          <a:effectLst/>
        </p:spPr>
        <p:txBody>
          <a:bodyPr vert="horz" wrap="square" lIns="71981" tIns="71981" rIns="71981" bIns="0" numCol="1" anchor="t" anchorCtr="0" compatLnSpc="1">
            <a:prstTxWarp prst="textNoShape">
              <a:avLst/>
            </a:prstTxWarp>
            <a:no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286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defTabSz="914104" eaLnBrk="0" hangingPunct="0">
              <a:spcBef>
                <a:spcPts val="0"/>
              </a:spcBef>
              <a:spcAft>
                <a:spcPts val="400"/>
              </a:spcAft>
              <a:buClr>
                <a:srgbClr val="FF0000"/>
              </a:buClr>
              <a:buSzPct val="100000"/>
              <a:defRPr/>
            </a:pPr>
            <a:r>
              <a:rPr lang="en-US" altLang="de-DE" sz="1400" b="1">
                <a:solidFill>
                  <a:prstClr val="black"/>
                </a:solidFill>
                <a:latin typeface="+mn-lt"/>
              </a:rPr>
              <a:t>Accenture Delivery Team</a:t>
            </a:r>
            <a:endParaRPr lang="en-US" altLang="de-DE" sz="1400" b="1">
              <a:solidFill>
                <a:srgbClr val="FFFFFF">
                  <a:lumMod val="50000"/>
                </a:srgbClr>
              </a:solidFill>
              <a:latin typeface="+mn-lt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B9E8D71-7273-D208-F1B0-7CDDE9CFB424}"/>
              </a:ext>
            </a:extLst>
          </p:cNvPr>
          <p:cNvSpPr/>
          <p:nvPr/>
        </p:nvSpPr>
        <p:spPr>
          <a:xfrm>
            <a:off x="3070682" y="3298313"/>
            <a:ext cx="1795549" cy="384048"/>
          </a:xfrm>
          <a:custGeom>
            <a:avLst/>
            <a:gdLst>
              <a:gd name="connsiteX0" fmla="*/ 0 w 1591406"/>
              <a:gd name="connsiteY0" fmla="*/ 0 h 823959"/>
              <a:gd name="connsiteX1" fmla="*/ 1591406 w 1591406"/>
              <a:gd name="connsiteY1" fmla="*/ 0 h 823959"/>
              <a:gd name="connsiteX2" fmla="*/ 1591406 w 1591406"/>
              <a:gd name="connsiteY2" fmla="*/ 823959 h 823959"/>
              <a:gd name="connsiteX3" fmla="*/ 0 w 1591406"/>
              <a:gd name="connsiteY3" fmla="*/ 823959 h 823959"/>
              <a:gd name="connsiteX4" fmla="*/ 0 w 1591406"/>
              <a:gd name="connsiteY4" fmla="*/ 0 h 823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1406" h="823959">
                <a:moveTo>
                  <a:pt x="0" y="0"/>
                </a:moveTo>
                <a:lnTo>
                  <a:pt x="1591406" y="0"/>
                </a:lnTo>
                <a:lnTo>
                  <a:pt x="1591406" y="823959"/>
                </a:lnTo>
                <a:lnTo>
                  <a:pt x="0" y="82395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71981" tIns="71981" rIns="71981" bIns="71981" anchor="ctr" anchorCtr="0">
            <a:noAutofit/>
          </a:bodyPr>
          <a:lstStyle/>
          <a:p>
            <a:pPr algn="ctr" eaLnBrk="0" hangingPunct="0">
              <a:spcBef>
                <a:spcPts val="300"/>
              </a:spcBef>
              <a:buSzPct val="50000"/>
            </a:pPr>
            <a:r>
              <a:rPr lang="en-US" sz="1100" b="1" kern="0">
                <a:solidFill>
                  <a:schemeClr val="bg1"/>
                </a:solidFill>
              </a:rPr>
              <a:t>Delivery  Lead</a:t>
            </a:r>
          </a:p>
        </p:txBody>
      </p:sp>
      <p:sp>
        <p:nvSpPr>
          <p:cNvPr id="16" name="Freeform: Shape 12">
            <a:extLst>
              <a:ext uri="{FF2B5EF4-FFF2-40B4-BE49-F238E27FC236}">
                <a16:creationId xmlns:a16="http://schemas.microsoft.com/office/drawing/2014/main" id="{11942CF1-7108-A40B-CDC2-48861097AEA6}"/>
              </a:ext>
            </a:extLst>
          </p:cNvPr>
          <p:cNvSpPr/>
          <p:nvPr/>
        </p:nvSpPr>
        <p:spPr>
          <a:xfrm>
            <a:off x="3057046" y="4540700"/>
            <a:ext cx="1795549" cy="384048"/>
          </a:xfrm>
          <a:custGeom>
            <a:avLst/>
            <a:gdLst>
              <a:gd name="connsiteX0" fmla="*/ 0 w 1591406"/>
              <a:gd name="connsiteY0" fmla="*/ 0 h 823959"/>
              <a:gd name="connsiteX1" fmla="*/ 1591406 w 1591406"/>
              <a:gd name="connsiteY1" fmla="*/ 0 h 823959"/>
              <a:gd name="connsiteX2" fmla="*/ 1591406 w 1591406"/>
              <a:gd name="connsiteY2" fmla="*/ 823959 h 823959"/>
              <a:gd name="connsiteX3" fmla="*/ 0 w 1591406"/>
              <a:gd name="connsiteY3" fmla="*/ 823959 h 823959"/>
              <a:gd name="connsiteX4" fmla="*/ 0 w 1591406"/>
              <a:gd name="connsiteY4" fmla="*/ 0 h 823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1406" h="823959">
                <a:moveTo>
                  <a:pt x="0" y="0"/>
                </a:moveTo>
                <a:lnTo>
                  <a:pt x="1591406" y="0"/>
                </a:lnTo>
                <a:lnTo>
                  <a:pt x="1591406" y="823959"/>
                </a:lnTo>
                <a:lnTo>
                  <a:pt x="0" y="82395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71981" tIns="71981" rIns="71981" bIns="71981" anchor="ctr" anchorCtr="0">
            <a:noAutofit/>
          </a:bodyPr>
          <a:lstStyle/>
          <a:p>
            <a:pPr algn="ctr" eaLnBrk="0" hangingPunct="0">
              <a:spcBef>
                <a:spcPts val="300"/>
              </a:spcBef>
              <a:buSzPct val="50000"/>
            </a:pPr>
            <a:r>
              <a:rPr lang="en-US" sz="1100" b="1" kern="0">
                <a:solidFill>
                  <a:schemeClr val="bg1"/>
                </a:solidFill>
              </a:rPr>
              <a:t>Dashboard Analyst</a:t>
            </a:r>
          </a:p>
        </p:txBody>
      </p:sp>
      <p:sp>
        <p:nvSpPr>
          <p:cNvPr id="17" name="Freeform: Shape 12">
            <a:extLst>
              <a:ext uri="{FF2B5EF4-FFF2-40B4-BE49-F238E27FC236}">
                <a16:creationId xmlns:a16="http://schemas.microsoft.com/office/drawing/2014/main" id="{16206F68-889D-2089-A57D-E4CA40198424}"/>
              </a:ext>
            </a:extLst>
          </p:cNvPr>
          <p:cNvSpPr/>
          <p:nvPr/>
        </p:nvSpPr>
        <p:spPr>
          <a:xfrm>
            <a:off x="3070682" y="3712442"/>
            <a:ext cx="1795549" cy="384048"/>
          </a:xfrm>
          <a:custGeom>
            <a:avLst/>
            <a:gdLst>
              <a:gd name="connsiteX0" fmla="*/ 0 w 1591406"/>
              <a:gd name="connsiteY0" fmla="*/ 0 h 823959"/>
              <a:gd name="connsiteX1" fmla="*/ 1591406 w 1591406"/>
              <a:gd name="connsiteY1" fmla="*/ 0 h 823959"/>
              <a:gd name="connsiteX2" fmla="*/ 1591406 w 1591406"/>
              <a:gd name="connsiteY2" fmla="*/ 823959 h 823959"/>
              <a:gd name="connsiteX3" fmla="*/ 0 w 1591406"/>
              <a:gd name="connsiteY3" fmla="*/ 823959 h 823959"/>
              <a:gd name="connsiteX4" fmla="*/ 0 w 1591406"/>
              <a:gd name="connsiteY4" fmla="*/ 0 h 823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1406" h="823959">
                <a:moveTo>
                  <a:pt x="0" y="0"/>
                </a:moveTo>
                <a:lnTo>
                  <a:pt x="1591406" y="0"/>
                </a:lnTo>
                <a:lnTo>
                  <a:pt x="1591406" y="823959"/>
                </a:lnTo>
                <a:lnTo>
                  <a:pt x="0" y="82395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71981" tIns="71981" rIns="71981" bIns="71981" anchor="ctr" anchorCtr="0">
            <a:noAutofit/>
          </a:bodyPr>
          <a:lstStyle/>
          <a:p>
            <a:pPr algn="ctr" eaLnBrk="0" hangingPunct="0">
              <a:spcBef>
                <a:spcPts val="300"/>
              </a:spcBef>
              <a:buSzPct val="50000"/>
            </a:pPr>
            <a:r>
              <a:rPr lang="en-US" sz="1100" b="1" kern="0">
                <a:solidFill>
                  <a:schemeClr val="bg1"/>
                </a:solidFill>
              </a:rPr>
              <a:t>Survey Designer  </a:t>
            </a:r>
          </a:p>
        </p:txBody>
      </p:sp>
      <p:sp>
        <p:nvSpPr>
          <p:cNvPr id="19" name="Freeform: Shape 12">
            <a:extLst>
              <a:ext uri="{FF2B5EF4-FFF2-40B4-BE49-F238E27FC236}">
                <a16:creationId xmlns:a16="http://schemas.microsoft.com/office/drawing/2014/main" id="{B18711AF-628D-6BD3-0159-99F5A40DD412}"/>
              </a:ext>
            </a:extLst>
          </p:cNvPr>
          <p:cNvSpPr/>
          <p:nvPr/>
        </p:nvSpPr>
        <p:spPr>
          <a:xfrm>
            <a:off x="530844" y="4046180"/>
            <a:ext cx="1795549" cy="384048"/>
          </a:xfrm>
          <a:custGeom>
            <a:avLst/>
            <a:gdLst>
              <a:gd name="connsiteX0" fmla="*/ 0 w 1591406"/>
              <a:gd name="connsiteY0" fmla="*/ 0 h 823959"/>
              <a:gd name="connsiteX1" fmla="*/ 1591406 w 1591406"/>
              <a:gd name="connsiteY1" fmla="*/ 0 h 823959"/>
              <a:gd name="connsiteX2" fmla="*/ 1591406 w 1591406"/>
              <a:gd name="connsiteY2" fmla="*/ 823959 h 823959"/>
              <a:gd name="connsiteX3" fmla="*/ 0 w 1591406"/>
              <a:gd name="connsiteY3" fmla="*/ 823959 h 823959"/>
              <a:gd name="connsiteX4" fmla="*/ 0 w 1591406"/>
              <a:gd name="connsiteY4" fmla="*/ 0 h 823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1406" h="823959">
                <a:moveTo>
                  <a:pt x="0" y="0"/>
                </a:moveTo>
                <a:lnTo>
                  <a:pt x="1591406" y="0"/>
                </a:lnTo>
                <a:lnTo>
                  <a:pt x="1591406" y="823959"/>
                </a:lnTo>
                <a:lnTo>
                  <a:pt x="0" y="82395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71981" tIns="71981" rIns="71981" bIns="71981" anchor="ctr" anchorCtr="0">
            <a:noAutofit/>
          </a:bodyPr>
          <a:lstStyle/>
          <a:p>
            <a:pPr algn="ctr" eaLnBrk="0" hangingPunct="0">
              <a:spcBef>
                <a:spcPts val="300"/>
              </a:spcBef>
              <a:buSzPct val="50000"/>
            </a:pPr>
            <a:r>
              <a:rPr lang="en-US" sz="1100" b="1" kern="0">
                <a:solidFill>
                  <a:schemeClr val="bg1"/>
                </a:solidFill>
              </a:rPr>
              <a:t>Stadium Operations</a:t>
            </a:r>
          </a:p>
        </p:txBody>
      </p:sp>
      <p:sp>
        <p:nvSpPr>
          <p:cNvPr id="24" name="Freeform: Shape 12">
            <a:extLst>
              <a:ext uri="{FF2B5EF4-FFF2-40B4-BE49-F238E27FC236}">
                <a16:creationId xmlns:a16="http://schemas.microsoft.com/office/drawing/2014/main" id="{03F5266D-6F66-F875-919E-A45419686817}"/>
              </a:ext>
            </a:extLst>
          </p:cNvPr>
          <p:cNvSpPr/>
          <p:nvPr/>
        </p:nvSpPr>
        <p:spPr>
          <a:xfrm>
            <a:off x="530843" y="4932029"/>
            <a:ext cx="1795549" cy="384048"/>
          </a:xfrm>
          <a:custGeom>
            <a:avLst/>
            <a:gdLst>
              <a:gd name="connsiteX0" fmla="*/ 0 w 1591406"/>
              <a:gd name="connsiteY0" fmla="*/ 0 h 823959"/>
              <a:gd name="connsiteX1" fmla="*/ 1591406 w 1591406"/>
              <a:gd name="connsiteY1" fmla="*/ 0 h 823959"/>
              <a:gd name="connsiteX2" fmla="*/ 1591406 w 1591406"/>
              <a:gd name="connsiteY2" fmla="*/ 823959 h 823959"/>
              <a:gd name="connsiteX3" fmla="*/ 0 w 1591406"/>
              <a:gd name="connsiteY3" fmla="*/ 823959 h 823959"/>
              <a:gd name="connsiteX4" fmla="*/ 0 w 1591406"/>
              <a:gd name="connsiteY4" fmla="*/ 0 h 823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1406" h="823959">
                <a:moveTo>
                  <a:pt x="0" y="0"/>
                </a:moveTo>
                <a:lnTo>
                  <a:pt x="1591406" y="0"/>
                </a:lnTo>
                <a:lnTo>
                  <a:pt x="1591406" y="823959"/>
                </a:lnTo>
                <a:lnTo>
                  <a:pt x="0" y="82395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71981" tIns="71981" rIns="71981" bIns="71981" anchor="ctr" anchorCtr="0">
            <a:noAutofit/>
          </a:bodyPr>
          <a:lstStyle/>
          <a:p>
            <a:pPr algn="ctr" eaLnBrk="0" hangingPunct="0">
              <a:spcBef>
                <a:spcPts val="300"/>
              </a:spcBef>
              <a:buSzPct val="50000"/>
            </a:pPr>
            <a:r>
              <a:rPr lang="en-US" sz="1100" b="1" kern="0">
                <a:solidFill>
                  <a:schemeClr val="bg1"/>
                </a:solidFill>
              </a:rPr>
              <a:t>Fan Experience</a:t>
            </a:r>
          </a:p>
        </p:txBody>
      </p:sp>
      <p:sp>
        <p:nvSpPr>
          <p:cNvPr id="25" name="Freeform: Shape 12">
            <a:extLst>
              <a:ext uri="{FF2B5EF4-FFF2-40B4-BE49-F238E27FC236}">
                <a16:creationId xmlns:a16="http://schemas.microsoft.com/office/drawing/2014/main" id="{C3CAAA09-DC01-B78F-2703-5BC76D690912}"/>
              </a:ext>
            </a:extLst>
          </p:cNvPr>
          <p:cNvSpPr/>
          <p:nvPr/>
        </p:nvSpPr>
        <p:spPr>
          <a:xfrm>
            <a:off x="3070682" y="4954830"/>
            <a:ext cx="1795549" cy="384048"/>
          </a:xfrm>
          <a:custGeom>
            <a:avLst/>
            <a:gdLst>
              <a:gd name="connsiteX0" fmla="*/ 0 w 1591406"/>
              <a:gd name="connsiteY0" fmla="*/ 0 h 823959"/>
              <a:gd name="connsiteX1" fmla="*/ 1591406 w 1591406"/>
              <a:gd name="connsiteY1" fmla="*/ 0 h 823959"/>
              <a:gd name="connsiteX2" fmla="*/ 1591406 w 1591406"/>
              <a:gd name="connsiteY2" fmla="*/ 823959 h 823959"/>
              <a:gd name="connsiteX3" fmla="*/ 0 w 1591406"/>
              <a:gd name="connsiteY3" fmla="*/ 823959 h 823959"/>
              <a:gd name="connsiteX4" fmla="*/ 0 w 1591406"/>
              <a:gd name="connsiteY4" fmla="*/ 0 h 823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1406" h="823959">
                <a:moveTo>
                  <a:pt x="0" y="0"/>
                </a:moveTo>
                <a:lnTo>
                  <a:pt x="1591406" y="0"/>
                </a:lnTo>
                <a:lnTo>
                  <a:pt x="1591406" y="823959"/>
                </a:lnTo>
                <a:lnTo>
                  <a:pt x="0" y="82395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71981" tIns="71981" rIns="71981" bIns="71981" anchor="ctr" anchorCtr="0">
            <a:noAutofit/>
          </a:bodyPr>
          <a:lstStyle/>
          <a:p>
            <a:pPr algn="ctr" eaLnBrk="0" hangingPunct="0">
              <a:spcBef>
                <a:spcPts val="300"/>
              </a:spcBef>
              <a:buSzPct val="50000"/>
            </a:pPr>
            <a:r>
              <a:rPr lang="en-US" sz="1100" b="1" kern="0">
                <a:solidFill>
                  <a:schemeClr val="bg1"/>
                </a:solidFill>
              </a:rPr>
              <a:t>SMAs</a:t>
            </a:r>
          </a:p>
        </p:txBody>
      </p:sp>
      <p:sp>
        <p:nvSpPr>
          <p:cNvPr id="26" name="Freeform: Shape 12">
            <a:extLst>
              <a:ext uri="{FF2B5EF4-FFF2-40B4-BE49-F238E27FC236}">
                <a16:creationId xmlns:a16="http://schemas.microsoft.com/office/drawing/2014/main" id="{B22F8CB4-BD11-506B-FDE6-D4EE3561F8DC}"/>
              </a:ext>
            </a:extLst>
          </p:cNvPr>
          <p:cNvSpPr/>
          <p:nvPr/>
        </p:nvSpPr>
        <p:spPr>
          <a:xfrm>
            <a:off x="3070681" y="4126571"/>
            <a:ext cx="1795549" cy="384048"/>
          </a:xfrm>
          <a:custGeom>
            <a:avLst/>
            <a:gdLst>
              <a:gd name="connsiteX0" fmla="*/ 0 w 1591406"/>
              <a:gd name="connsiteY0" fmla="*/ 0 h 823959"/>
              <a:gd name="connsiteX1" fmla="*/ 1591406 w 1591406"/>
              <a:gd name="connsiteY1" fmla="*/ 0 h 823959"/>
              <a:gd name="connsiteX2" fmla="*/ 1591406 w 1591406"/>
              <a:gd name="connsiteY2" fmla="*/ 823959 h 823959"/>
              <a:gd name="connsiteX3" fmla="*/ 0 w 1591406"/>
              <a:gd name="connsiteY3" fmla="*/ 823959 h 823959"/>
              <a:gd name="connsiteX4" fmla="*/ 0 w 1591406"/>
              <a:gd name="connsiteY4" fmla="*/ 0 h 823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1406" h="823959">
                <a:moveTo>
                  <a:pt x="0" y="0"/>
                </a:moveTo>
                <a:lnTo>
                  <a:pt x="1591406" y="0"/>
                </a:lnTo>
                <a:lnTo>
                  <a:pt x="1591406" y="823959"/>
                </a:lnTo>
                <a:lnTo>
                  <a:pt x="0" y="82395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71981" tIns="71981" rIns="71981" bIns="71981" anchor="ctr" anchorCtr="0">
            <a:noAutofit/>
          </a:bodyPr>
          <a:lstStyle/>
          <a:p>
            <a:pPr algn="ctr" eaLnBrk="0" hangingPunct="0">
              <a:spcBef>
                <a:spcPts val="300"/>
              </a:spcBef>
              <a:buSzPct val="50000"/>
            </a:pPr>
            <a:r>
              <a:rPr lang="en-US" sz="1100" b="1" kern="0">
                <a:solidFill>
                  <a:schemeClr val="bg1"/>
                </a:solidFill>
              </a:rPr>
              <a:t>Dashboard Engineer</a:t>
            </a:r>
          </a:p>
        </p:txBody>
      </p:sp>
    </p:spTree>
    <p:extLst>
      <p:ext uri="{BB962C8B-B14F-4D97-AF65-F5344CB8AC3E}">
        <p14:creationId xmlns:p14="http://schemas.microsoft.com/office/powerpoint/2010/main" val="902920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009FF-D39D-2A3E-335E-83491E091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Pricing and Assumptions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513448-0A66-A4AC-45B2-1728357CF005}"/>
              </a:ext>
            </a:extLst>
          </p:cNvPr>
          <p:cNvSpPr/>
          <p:nvPr/>
        </p:nvSpPr>
        <p:spPr>
          <a:xfrm>
            <a:off x="6067473" y="1119157"/>
            <a:ext cx="5998836" cy="49652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700" b="1">
              <a:solidFill>
                <a:schemeClr val="tx1"/>
              </a:solidFill>
            </a:endParaRPr>
          </a:p>
          <a:p>
            <a:pPr algn="ctr"/>
            <a:endParaRPr lang="en-US" sz="1631" i="1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E153AD-CCE6-97A7-9C60-EDE1CBD0535A}"/>
              </a:ext>
            </a:extLst>
          </p:cNvPr>
          <p:cNvSpPr/>
          <p:nvPr/>
        </p:nvSpPr>
        <p:spPr>
          <a:xfrm>
            <a:off x="298607" y="1119157"/>
            <a:ext cx="5410192" cy="49652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700" b="1">
              <a:solidFill>
                <a:schemeClr val="tx1"/>
              </a:solidFill>
            </a:endParaRPr>
          </a:p>
          <a:p>
            <a:pPr algn="ctr"/>
            <a:r>
              <a:rPr lang="en-US" sz="1631" b="1">
                <a:solidFill>
                  <a:schemeClr val="tx1"/>
                </a:solidFill>
              </a:rPr>
              <a:t>Survey Phase 2 Scope / Pricing</a:t>
            </a:r>
          </a:p>
          <a:p>
            <a:pPr algn="ctr"/>
            <a:r>
              <a:rPr lang="en-US" sz="3200" b="1">
                <a:solidFill>
                  <a:schemeClr val="tx1"/>
                </a:solidFill>
              </a:rPr>
              <a:t>USD $395k / 8 weeks</a:t>
            </a:r>
          </a:p>
          <a:p>
            <a:pPr algn="ctr"/>
            <a:endParaRPr lang="en-US" sz="300" b="1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7A5C8F-FE16-B1AD-A3A7-2EC68D1C3D6C}"/>
              </a:ext>
            </a:extLst>
          </p:cNvPr>
          <p:cNvSpPr txBox="1"/>
          <p:nvPr/>
        </p:nvSpPr>
        <p:spPr>
          <a:xfrm>
            <a:off x="485556" y="2052680"/>
            <a:ext cx="503629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/>
              <a:t>Scope:</a:t>
            </a:r>
          </a:p>
          <a:p>
            <a:pPr marL="228600" indent="-228600">
              <a:buFont typeface="Wingdings" panose="05000000000000000000" pitchFamily="2" charset="2"/>
              <a:buChar char="ü"/>
            </a:pPr>
            <a:r>
              <a:rPr lang="en-US" sz="1400"/>
              <a:t>Update strategic vision and guiding principles for benchmarking</a:t>
            </a:r>
          </a:p>
          <a:p>
            <a:pPr marL="228600" indent="-228600">
              <a:buFont typeface="Wingdings" panose="05000000000000000000" pitchFamily="2" charset="2"/>
              <a:buChar char="ü"/>
            </a:pPr>
            <a:r>
              <a:rPr lang="en-US" sz="1400"/>
              <a:t>Develop single technology layer survey (e.g. Infrastructure) – maximum 15 questions</a:t>
            </a:r>
          </a:p>
          <a:p>
            <a:pPr marL="228600" indent="-228600">
              <a:buFont typeface="Wingdings" panose="05000000000000000000" pitchFamily="2" charset="2"/>
              <a:buChar char="ü"/>
            </a:pPr>
            <a:r>
              <a:rPr lang="en-US" sz="1400"/>
              <a:t>Refine methodology and survey by iterating with 3 NFL teams</a:t>
            </a:r>
          </a:p>
          <a:p>
            <a:pPr marL="228600" indent="-228600">
              <a:buFont typeface="Wingdings" panose="05000000000000000000" pitchFamily="2" charset="2"/>
              <a:buChar char="ü"/>
            </a:pPr>
            <a:r>
              <a:rPr lang="en-US" sz="1400"/>
              <a:t>Build and launch a scoring dashboard and send out survey for all 32 teams</a:t>
            </a:r>
          </a:p>
          <a:p>
            <a:endParaRPr lang="en-US" sz="1400"/>
          </a:p>
          <a:p>
            <a:r>
              <a:rPr lang="en-US" sz="1400" b="1"/>
              <a:t>Not in scope: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International team benchmarks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Internal NFL integrations (e.g. fan experience)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Additional technology layers (e.g. Tech services, Innovation, </a:t>
            </a:r>
            <a:r>
              <a:rPr lang="en-US" sz="1400" err="1"/>
              <a:t>etc</a:t>
            </a:r>
            <a:r>
              <a:rPr lang="en-US" sz="1400"/>
              <a:t>) will be excluded and proposed as future phases of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Detailed business cases are not in scope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Support/Run/Maintain is not in scope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993B62-CF42-376E-CD7F-19B61650AD69}"/>
              </a:ext>
            </a:extLst>
          </p:cNvPr>
          <p:cNvSpPr/>
          <p:nvPr/>
        </p:nvSpPr>
        <p:spPr>
          <a:xfrm>
            <a:off x="6067472" y="1148087"/>
            <a:ext cx="5998836" cy="4436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31" b="1"/>
              <a:t>Key Assumptions</a:t>
            </a:r>
          </a:p>
          <a:p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Data is readily available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Data does not need to be rationalized and fits into scoring survey/methodology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Available data is easily correlated to outcomes (no rationalization required)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No additional legal or privacy concerns from teams or required agreements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NFL team’s key personnel are available to provide data and support correlations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Data sufficient to infer directional investment decisions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Accenture provided platforms will be used for development, build, hosting of survey data and dashboard (e.g. Tableau, Alteryx)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If required migration of platform (e.g. dashboard, tools, </a:t>
            </a:r>
            <a:r>
              <a:rPr lang="en-US" sz="1400" err="1"/>
              <a:t>etc</a:t>
            </a:r>
            <a:r>
              <a:rPr lang="en-US" sz="1400"/>
              <a:t>) to NFL systems will be in a future phase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NFL will support gathering of survey data as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Once survey is “Live” Accenture is not responsible to collect data</a:t>
            </a:r>
          </a:p>
        </p:txBody>
      </p:sp>
    </p:spTree>
    <p:extLst>
      <p:ext uri="{BB962C8B-B14F-4D97-AF65-F5344CB8AC3E}">
        <p14:creationId xmlns:p14="http://schemas.microsoft.com/office/powerpoint/2010/main" val="3759908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DE3ED-2C05-E841-0AAD-FF6AF2C4A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to scope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7447FE-ADF5-7671-F607-6A83E906ACAB}"/>
              </a:ext>
            </a:extLst>
          </p:cNvPr>
          <p:cNvSpPr/>
          <p:nvPr/>
        </p:nvSpPr>
        <p:spPr>
          <a:xfrm>
            <a:off x="222316" y="1312655"/>
            <a:ext cx="3586113" cy="4232690"/>
          </a:xfrm>
          <a:prstGeom prst="rect">
            <a:avLst/>
          </a:prstGeom>
          <a:solidFill>
            <a:schemeClr val="bg1"/>
          </a:solidFill>
          <a:ln>
            <a:solidFill>
              <a:srgbClr val="374D8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91440" rIns="182880" bIns="91440" rtlCol="0" anchor="t"/>
          <a:lstStyle/>
          <a:p>
            <a:r>
              <a:rPr lang="en-US" sz="1600" b="1" dirty="0">
                <a:solidFill>
                  <a:schemeClr val="tx1"/>
                </a:solidFill>
              </a:rPr>
              <a:t>Phase 2 Scope: </a:t>
            </a:r>
            <a:endParaRPr lang="en-US" dirty="0">
              <a:solidFill>
                <a:schemeClr val="tx1"/>
              </a:solidFill>
            </a:endParaRPr>
          </a:p>
          <a:p>
            <a:pPr marL="228600" indent="-22860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tx1"/>
                </a:solidFill>
              </a:rPr>
              <a:t>Update strategic vision and guiding principles for benchmarking</a:t>
            </a:r>
            <a:endParaRPr lang="en-US" dirty="0">
              <a:solidFill>
                <a:schemeClr val="tx1"/>
              </a:solidFill>
            </a:endParaRPr>
          </a:p>
          <a:p>
            <a:pPr marL="228600" indent="-22860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tx1"/>
                </a:solidFill>
              </a:rPr>
              <a:t>Develop single technology layer survey (e.g. Infrastructure)</a:t>
            </a:r>
          </a:p>
          <a:p>
            <a:pPr marL="228600" indent="-22860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tx1"/>
                </a:solidFill>
              </a:rPr>
              <a:t>Refine methodology and survey by iterating with 3 NFL teams</a:t>
            </a:r>
          </a:p>
          <a:p>
            <a:pPr marL="228600" indent="-22860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tx1"/>
                </a:solidFill>
              </a:rPr>
              <a:t>Build and launch a scoring dashboard and send out for all 32 teams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97F4BC-F23E-70A2-9DD0-7BAE6DCBD988}"/>
              </a:ext>
            </a:extLst>
          </p:cNvPr>
          <p:cNvSpPr/>
          <p:nvPr/>
        </p:nvSpPr>
        <p:spPr>
          <a:xfrm>
            <a:off x="8224887" y="1312655"/>
            <a:ext cx="3586113" cy="4232690"/>
          </a:xfrm>
          <a:prstGeom prst="rect">
            <a:avLst/>
          </a:prstGeom>
          <a:solidFill>
            <a:schemeClr val="bg1"/>
          </a:solidFill>
          <a:ln>
            <a:solidFill>
              <a:srgbClr val="374D8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91440" rIns="182880" bIns="91440" rtlCol="0" anchor="t"/>
          <a:lstStyle/>
          <a:p>
            <a:r>
              <a:rPr lang="en-US" sz="1600" b="1" dirty="0">
                <a:solidFill>
                  <a:schemeClr val="tx1"/>
                </a:solidFill>
              </a:rPr>
              <a:t>Updated Scope: </a:t>
            </a:r>
            <a:endParaRPr lang="en-US" dirty="0">
              <a:solidFill>
                <a:schemeClr val="tx1"/>
              </a:solidFill>
            </a:endParaRPr>
          </a:p>
          <a:p>
            <a:pPr marL="228600" indent="-22860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tx1"/>
                </a:solidFill>
              </a:rPr>
              <a:t>Update strategic vision and guiding principles for benchmarking</a:t>
            </a:r>
            <a:endParaRPr lang="en-US" dirty="0">
              <a:solidFill>
                <a:schemeClr val="tx1"/>
              </a:solidFill>
            </a:endParaRPr>
          </a:p>
          <a:p>
            <a:pPr marL="228600" indent="-22860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tx1"/>
                </a:solidFill>
              </a:rPr>
              <a:t>Develop four technology layer surveys (e.g. Infrastructure)</a:t>
            </a:r>
          </a:p>
          <a:p>
            <a:pPr marL="228600" indent="-22860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tx1"/>
                </a:solidFill>
              </a:rPr>
              <a:t>Integrate with voice of the fan</a:t>
            </a:r>
          </a:p>
          <a:p>
            <a:pPr marL="228600" indent="-22860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tx1"/>
                </a:solidFill>
              </a:rPr>
              <a:t>Benchmark against 3 international teams</a:t>
            </a:r>
          </a:p>
          <a:p>
            <a:pPr marL="228600" indent="-22860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tx1"/>
                </a:solidFill>
              </a:rPr>
              <a:t>Refine methodology and survey by iterating with 3 NFL teams</a:t>
            </a:r>
          </a:p>
          <a:p>
            <a:pPr marL="228600" indent="-22860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tx1"/>
                </a:solidFill>
              </a:rPr>
              <a:t>Build and launch a scoring dashboard and send out for all 32 teams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C3930B-5511-4924-3C4B-FF32D2F38319}"/>
              </a:ext>
            </a:extLst>
          </p:cNvPr>
          <p:cNvSpPr/>
          <p:nvPr/>
        </p:nvSpPr>
        <p:spPr>
          <a:xfrm>
            <a:off x="4067666" y="1312655"/>
            <a:ext cx="3897983" cy="3648173"/>
          </a:xfrm>
          <a:prstGeom prst="rect">
            <a:avLst/>
          </a:prstGeom>
          <a:solidFill>
            <a:schemeClr val="bg1"/>
          </a:solidFill>
          <a:ln>
            <a:solidFill>
              <a:srgbClr val="374D8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91440" rIns="182880" bIns="91440" rtlCol="0" anchor="t"/>
          <a:lstStyle/>
          <a:p>
            <a:r>
              <a:rPr lang="en-US" sz="1600" b="1" dirty="0">
                <a:solidFill>
                  <a:schemeClr val="tx1"/>
                </a:solidFill>
              </a:rPr>
              <a:t>New Additional Scope: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Graphik" panose="020B0503030202060203" pitchFamily="34" charset="0"/>
              <a:buChar char="+"/>
            </a:pPr>
            <a:r>
              <a:rPr lang="en-US" sz="1600" dirty="0">
                <a:solidFill>
                  <a:srgbClr val="FF0000"/>
                </a:solidFill>
              </a:rPr>
              <a:t>Develop </a:t>
            </a:r>
            <a:r>
              <a:rPr lang="en-US" sz="1600" b="1" dirty="0">
                <a:solidFill>
                  <a:srgbClr val="FF0000"/>
                </a:solidFill>
              </a:rPr>
              <a:t>four</a:t>
            </a:r>
            <a:r>
              <a:rPr lang="en-US" sz="1600" dirty="0">
                <a:solidFill>
                  <a:srgbClr val="FF0000"/>
                </a:solidFill>
              </a:rPr>
              <a:t> technology layer surveys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rgbClr val="FF0000"/>
                </a:solidFill>
              </a:rPr>
              <a:t>AI Innovation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rgbClr val="FF0000"/>
                </a:solidFill>
              </a:rPr>
              <a:t>Digital Services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rgbClr val="FF0000"/>
                </a:solidFill>
              </a:rPr>
              <a:t>Technology Services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rgbClr val="FF0000"/>
                </a:solidFill>
              </a:rPr>
              <a:t>Technology Infrastructure (</a:t>
            </a:r>
            <a:r>
              <a:rPr lang="en-US" sz="1600" dirty="0" err="1">
                <a:solidFill>
                  <a:srgbClr val="FF0000"/>
                </a:solidFill>
              </a:rPr>
              <a:t>Physical+Digital</a:t>
            </a:r>
            <a:r>
              <a:rPr lang="en-US" sz="1600" dirty="0">
                <a:solidFill>
                  <a:srgbClr val="FF0000"/>
                </a:solidFill>
              </a:rPr>
              <a:t>)</a:t>
            </a:r>
          </a:p>
          <a:p>
            <a:pPr marL="285750" indent="-285750">
              <a:buFont typeface="Graphik" panose="020B0503030202060203" pitchFamily="34" charset="0"/>
              <a:buChar char="+"/>
            </a:pPr>
            <a:r>
              <a:rPr lang="en-US" sz="1600" b="1" dirty="0">
                <a:solidFill>
                  <a:srgbClr val="FF0000"/>
                </a:solidFill>
              </a:rPr>
              <a:t>Max </a:t>
            </a:r>
            <a:r>
              <a:rPr lang="en-US" sz="1600" dirty="0">
                <a:solidFill>
                  <a:srgbClr val="FF0000"/>
                </a:solidFill>
              </a:rPr>
              <a:t>100 survey questions* (increase from 20 in single layer)</a:t>
            </a:r>
          </a:p>
          <a:p>
            <a:pPr marL="285750" indent="-285750">
              <a:buFont typeface="Graphik" panose="020B0503030202060203" pitchFamily="34" charset="0"/>
              <a:buChar char="+"/>
            </a:pPr>
            <a:r>
              <a:rPr lang="en-US" sz="1600" dirty="0">
                <a:solidFill>
                  <a:srgbClr val="FF0000"/>
                </a:solidFill>
              </a:rPr>
              <a:t>Integrate with voice of the fan</a:t>
            </a:r>
          </a:p>
          <a:p>
            <a:pPr marL="285750" indent="-285750">
              <a:buFont typeface="Graphik" panose="020B0503030202060203" pitchFamily="34" charset="0"/>
              <a:buChar char="+"/>
            </a:pPr>
            <a:r>
              <a:rPr lang="en-US" sz="1600" dirty="0">
                <a:solidFill>
                  <a:srgbClr val="FF0000"/>
                </a:solidFill>
              </a:rPr>
              <a:t>Benchmark against </a:t>
            </a:r>
            <a:r>
              <a:rPr lang="en-US" sz="1600" b="1" dirty="0">
                <a:solidFill>
                  <a:srgbClr val="FF0000"/>
                </a:solidFill>
              </a:rPr>
              <a:t>3</a:t>
            </a:r>
            <a:r>
              <a:rPr lang="en-US" sz="1600" dirty="0">
                <a:solidFill>
                  <a:srgbClr val="FF0000"/>
                </a:solidFill>
              </a:rPr>
              <a:t> international teams**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A5A089F-BE96-74F9-4183-42657F3DDB22}"/>
              </a:ext>
            </a:extLst>
          </p:cNvPr>
          <p:cNvSpPr/>
          <p:nvPr/>
        </p:nvSpPr>
        <p:spPr>
          <a:xfrm>
            <a:off x="5187098" y="5106943"/>
            <a:ext cx="1659118" cy="523188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B9FBEA-DDF9-185A-0DA0-1E2818022192}"/>
              </a:ext>
            </a:extLst>
          </p:cNvPr>
          <p:cNvSpPr txBox="1"/>
          <p:nvPr/>
        </p:nvSpPr>
        <p:spPr>
          <a:xfrm>
            <a:off x="4067665" y="5723206"/>
            <a:ext cx="38979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i="1" u="none" strike="noStrike" dirty="0">
                <a:solidFill>
                  <a:srgbClr val="000000"/>
                </a:solidFill>
                <a:effectLst/>
                <a:latin typeface="+mj-lt"/>
              </a:rPr>
              <a:t>*Survey questions increase in complexity and risk of response delay to gather information</a:t>
            </a:r>
            <a:br>
              <a:rPr lang="en-US" sz="800" b="1" i="1" u="none" strike="noStrike" dirty="0">
                <a:solidFill>
                  <a:srgbClr val="000000"/>
                </a:solidFill>
                <a:effectLst/>
                <a:latin typeface="+mj-lt"/>
              </a:rPr>
            </a:br>
            <a:r>
              <a:rPr lang="en-US" sz="800" b="1" i="1" u="none" strike="noStrike" dirty="0">
                <a:solidFill>
                  <a:srgbClr val="000000"/>
                </a:solidFill>
                <a:effectLst/>
                <a:latin typeface="+mj-lt"/>
              </a:rPr>
              <a:t>**NFL must provide data.  If no available data then benchmark will be subjective based on research</a:t>
            </a:r>
            <a:endParaRPr lang="en-US" sz="800" i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7610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6021FC6-85A8-5721-D6B4-847BE3E33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E66A6-766B-33F0-CA1A-554982962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Pricing and Assumptions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5443E0-32B6-560A-9BDE-964C77FEA887}"/>
              </a:ext>
            </a:extLst>
          </p:cNvPr>
          <p:cNvSpPr/>
          <p:nvPr/>
        </p:nvSpPr>
        <p:spPr>
          <a:xfrm>
            <a:off x="6067473" y="1119157"/>
            <a:ext cx="5998836" cy="49652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700" b="1">
              <a:solidFill>
                <a:schemeClr val="tx1"/>
              </a:solidFill>
            </a:endParaRPr>
          </a:p>
          <a:p>
            <a:pPr algn="ctr"/>
            <a:endParaRPr lang="en-US" sz="1631" i="1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51990C-F3E9-73F2-1506-9134A059395A}"/>
              </a:ext>
            </a:extLst>
          </p:cNvPr>
          <p:cNvSpPr/>
          <p:nvPr/>
        </p:nvSpPr>
        <p:spPr>
          <a:xfrm>
            <a:off x="298607" y="1119157"/>
            <a:ext cx="5410192" cy="49652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700" b="1" dirty="0">
              <a:solidFill>
                <a:schemeClr val="tx1"/>
              </a:solidFill>
            </a:endParaRPr>
          </a:p>
          <a:p>
            <a:pPr algn="ctr"/>
            <a:r>
              <a:rPr lang="en-US" sz="1631" b="1" dirty="0">
                <a:solidFill>
                  <a:schemeClr val="tx1"/>
                </a:solidFill>
              </a:rPr>
              <a:t>Survey Phase 2 Scope / Pricing</a:t>
            </a:r>
          </a:p>
          <a:p>
            <a:pPr algn="ctr"/>
            <a:r>
              <a:rPr lang="en-US" sz="3200" b="1" dirty="0">
                <a:solidFill>
                  <a:schemeClr val="tx1"/>
                </a:solidFill>
              </a:rPr>
              <a:t>USD $470k / 8 weeks</a:t>
            </a:r>
          </a:p>
          <a:p>
            <a:pPr algn="ctr"/>
            <a:endParaRPr lang="en-US" sz="3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51F3D5-1E69-3152-3ECC-391E86888A55}"/>
              </a:ext>
            </a:extLst>
          </p:cNvPr>
          <p:cNvSpPr txBox="1"/>
          <p:nvPr/>
        </p:nvSpPr>
        <p:spPr>
          <a:xfrm>
            <a:off x="485556" y="2052680"/>
            <a:ext cx="503629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Scope:</a:t>
            </a:r>
          </a:p>
          <a:p>
            <a:pPr marL="228600" indent="-228600">
              <a:buFont typeface="Wingdings" panose="05000000000000000000" pitchFamily="2" charset="2"/>
              <a:buChar char="ü"/>
            </a:pPr>
            <a:r>
              <a:rPr lang="en-US" sz="1400" dirty="0"/>
              <a:t>Update strategic vision and guiding principles for benchmarking</a:t>
            </a:r>
          </a:p>
          <a:p>
            <a:pPr marL="228600" indent="-228600">
              <a:buFont typeface="Wingdings" panose="05000000000000000000" pitchFamily="2" charset="2"/>
              <a:buChar char="ü"/>
            </a:pPr>
            <a:r>
              <a:rPr lang="en-US" sz="1400" dirty="0"/>
              <a:t>Develop four technology layer surveys (e.g. Infrastructure)</a:t>
            </a:r>
          </a:p>
          <a:p>
            <a:pPr marL="228600" indent="-228600">
              <a:buFont typeface="Wingdings" panose="05000000000000000000" pitchFamily="2" charset="2"/>
              <a:buChar char="ü"/>
            </a:pPr>
            <a:r>
              <a:rPr lang="en-US" sz="1400" dirty="0"/>
              <a:t>Integrate with voice of the fan</a:t>
            </a:r>
          </a:p>
          <a:p>
            <a:pPr marL="228600" indent="-228600">
              <a:buFont typeface="Wingdings" panose="05000000000000000000" pitchFamily="2" charset="2"/>
              <a:buChar char="ü"/>
            </a:pPr>
            <a:r>
              <a:rPr lang="en-US" sz="1400" dirty="0"/>
              <a:t>Benchmark against 3 international teams</a:t>
            </a:r>
          </a:p>
          <a:p>
            <a:pPr marL="228600" indent="-228600">
              <a:buFont typeface="Wingdings" panose="05000000000000000000" pitchFamily="2" charset="2"/>
              <a:buChar char="ü"/>
            </a:pPr>
            <a:r>
              <a:rPr lang="en-US" sz="1400" dirty="0"/>
              <a:t>Refine methodology and survey by iterating with 3 NFL teams</a:t>
            </a:r>
          </a:p>
          <a:p>
            <a:pPr marL="228600" indent="-228600">
              <a:buFont typeface="Wingdings" panose="05000000000000000000" pitchFamily="2" charset="2"/>
              <a:buChar char="ü"/>
            </a:pPr>
            <a:r>
              <a:rPr lang="en-US" sz="1400" dirty="0"/>
              <a:t>Build and launch a scoring dashboard and send out for all 32 teams</a:t>
            </a:r>
          </a:p>
          <a:p>
            <a:endParaRPr lang="en-US" sz="1400" dirty="0"/>
          </a:p>
          <a:p>
            <a:r>
              <a:rPr lang="en-US" sz="1400" b="1" dirty="0"/>
              <a:t>Not in scope: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Detailed business cases are not in scope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Self service</a:t>
            </a:r>
            <a:r>
              <a:rPr lang="en-US" sz="1400" dirty="0"/>
              <a:t> to Support/Run/Maintain is not in scope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18D622-FD43-5069-F7E2-32E02FE1FF2D}"/>
              </a:ext>
            </a:extLst>
          </p:cNvPr>
          <p:cNvSpPr/>
          <p:nvPr/>
        </p:nvSpPr>
        <p:spPr>
          <a:xfrm>
            <a:off x="6067472" y="1148087"/>
            <a:ext cx="5998836" cy="4436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31" b="1"/>
              <a:t>Key Assumptions</a:t>
            </a:r>
          </a:p>
          <a:p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Data is readily available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Data does not need to be rationalized and fits into scoring survey/methodology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Available data is easily correlated to outcomes (no rationalization required)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No additional legal or privacy concerns from teams or required agreements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NFL team’s key personnel are available to provide data and support correlations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Data sufficient to infer directional investment decisions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Accenture provided platforms will be used for development, build, hosting of survey data and dashboard (e.g. Tableau, Alteryx)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If required migration of platform (e.g. dashboard, tools, </a:t>
            </a:r>
            <a:r>
              <a:rPr lang="en-US" sz="1400" err="1"/>
              <a:t>etc</a:t>
            </a:r>
            <a:r>
              <a:rPr lang="en-US" sz="1400"/>
              <a:t>) to NFL systems will be in a future phase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NFL will support gathering of survey data as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Once survey is “Live” Accenture is not responsible to collect data</a:t>
            </a:r>
          </a:p>
        </p:txBody>
      </p:sp>
    </p:spTree>
    <p:extLst>
      <p:ext uri="{BB962C8B-B14F-4D97-AF65-F5344CB8AC3E}">
        <p14:creationId xmlns:p14="http://schemas.microsoft.com/office/powerpoint/2010/main" val="3964061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77E22-E6D6-0AC8-ADF8-1C2F6E2D8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A9A985-480A-55D4-3D64-281660E79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1967" y="163127"/>
            <a:ext cx="2991109" cy="624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6182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BOX" val="Text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heme/theme1.xml><?xml version="1.0" encoding="utf-8"?>
<a:theme xmlns:a="http://schemas.openxmlformats.org/drawingml/2006/main" name="5_Accenture 2020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9B8442824B424A9DF648E29676EC02" ma:contentTypeVersion="16" ma:contentTypeDescription="Create a new document." ma:contentTypeScope="" ma:versionID="7d99888dc72d541bc4efb721fd352536">
  <xsd:schema xmlns:xsd="http://www.w3.org/2001/XMLSchema" xmlns:xs="http://www.w3.org/2001/XMLSchema" xmlns:p="http://schemas.microsoft.com/office/2006/metadata/properties" xmlns:ns2="1efb543d-0e33-4cec-ae43-f5c3c5f80729" xmlns:ns3="9bbbbca1-e3e9-4b01-9899-80411ef6c58b" targetNamespace="http://schemas.microsoft.com/office/2006/metadata/properties" ma:root="true" ma:fieldsID="7c2a0f5e7615d6f8c61a1b23625ae1c3" ns2:_="" ns3:_="">
    <xsd:import namespace="1efb543d-0e33-4cec-ae43-f5c3c5f80729"/>
    <xsd:import namespace="9bbbbca1-e3e9-4b01-9899-80411ef6c5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fb543d-0e33-4cec-ae43-f5c3c5f807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bbbca1-e3e9-4b01-9899-80411ef6c58b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70B13DC-5797-40C7-981F-A19B4640857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E791636-971F-40F5-8968-DB320BDF448B}">
  <ds:schemaRefs>
    <ds:schemaRef ds:uri="1efb543d-0e33-4cec-ae43-f5c3c5f80729"/>
    <ds:schemaRef ds:uri="9bbbbca1-e3e9-4b01-9899-80411ef6c58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C92F3DD-890D-4CBC-810B-6C703B1913EE}">
  <ds:schemaRefs>
    <ds:schemaRef ds:uri="http://www.w3.org/XML/1998/namespace"/>
    <ds:schemaRef ds:uri="http://schemas.microsoft.com/office/2006/documentManagement/types"/>
    <ds:schemaRef ds:uri="1efb543d-0e33-4cec-ae43-f5c3c5f80729"/>
    <ds:schemaRef ds:uri="http://purl.org/dc/dcmitype/"/>
    <ds:schemaRef ds:uri="http://schemas.microsoft.com/office/2006/metadata/properties"/>
    <ds:schemaRef ds:uri="http://purl.org/dc/terms/"/>
    <ds:schemaRef ds:uri="http://purl.org/dc/elements/1.1/"/>
    <ds:schemaRef ds:uri="9bbbbca1-e3e9-4b01-9899-80411ef6c58b"/>
    <ds:schemaRef ds:uri="http://schemas.microsoft.com/office/infopath/2007/PartnerControls"/>
    <ds:schemaRef ds:uri="http://schemas.openxmlformats.org/package/2006/metadata/core-propertie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1635</Words>
  <Application>Microsoft Office PowerPoint</Application>
  <PresentationFormat>Widescreen</PresentationFormat>
  <Paragraphs>267</Paragraphs>
  <Slides>11</Slides>
  <Notes>4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5_Accenture 2020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Phase 2 Scope Overview</vt:lpstr>
      <vt:lpstr>Team Structure</vt:lpstr>
      <vt:lpstr>Pricing and Assumptions</vt:lpstr>
      <vt:lpstr>Changes to scope</vt:lpstr>
      <vt:lpstr>Pricing and Assumptions</vt:lpstr>
      <vt:lpstr>Metrics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Arya, Vik</cp:lastModifiedBy>
  <cp:revision>2</cp:revision>
  <dcterms:created xsi:type="dcterms:W3CDTF">2025-09-02T08:12:13Z</dcterms:created>
  <dcterms:modified xsi:type="dcterms:W3CDTF">2026-01-27T15:59:37Z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0x010100109B8442824B424A9DF648E29676EC02</vt:lpwstr>
  </property>
</Properties>
</file>