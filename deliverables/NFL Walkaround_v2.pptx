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60" r:id="rId5"/>
    <p:sldId id="2147483641" r:id="rId6"/>
    <p:sldId id="257" r:id="rId7"/>
    <p:sldId id="270" r:id="rId8"/>
    <p:sldId id="2147483568" r:id="rId9"/>
    <p:sldId id="256" r:id="rId10"/>
    <p:sldId id="2147483624" r:id="rId11"/>
    <p:sldId id="2147483635" r:id="rId12"/>
    <p:sldId id="2147483633" r:id="rId13"/>
    <p:sldId id="2147483639" r:id="rId14"/>
    <p:sldId id="262" r:id="rId15"/>
    <p:sldId id="2147483637" r:id="rId16"/>
    <p:sldId id="2147483643" r:id="rId17"/>
    <p:sldId id="264" r:id="rId18"/>
    <p:sldId id="263" r:id="rId19"/>
    <p:sldId id="2147483631" r:id="rId20"/>
    <p:sldId id="2147483646" r:id="rId21"/>
    <p:sldId id="2147483634" r:id="rId22"/>
    <p:sldId id="2147483619" r:id="rId23"/>
    <p:sldId id="2147483647" r:id="rId24"/>
    <p:sldId id="2147483644" r:id="rId25"/>
    <p:sldId id="2147483645" r:id="rId26"/>
    <p:sldId id="214748364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5F9D55-D1EA-46F9-8AE5-03E7F1A7E055}">
          <p14:sldIdLst>
            <p14:sldId id="260"/>
            <p14:sldId id="2147483641"/>
            <p14:sldId id="257"/>
            <p14:sldId id="270"/>
            <p14:sldId id="2147483568"/>
            <p14:sldId id="256"/>
          </p14:sldIdLst>
        </p14:section>
        <p14:section name="Appendix" id="{2A583EA7-5A39-414D-B549-1A5061A08EE1}">
          <p14:sldIdLst>
            <p14:sldId id="2147483624"/>
            <p14:sldId id="2147483635"/>
            <p14:sldId id="2147483633"/>
            <p14:sldId id="2147483639"/>
            <p14:sldId id="262"/>
            <p14:sldId id="2147483637"/>
            <p14:sldId id="2147483643"/>
            <p14:sldId id="264"/>
            <p14:sldId id="263"/>
            <p14:sldId id="2147483631"/>
            <p14:sldId id="2147483646"/>
            <p14:sldId id="2147483634"/>
            <p14:sldId id="2147483619"/>
          </p14:sldIdLst>
        </p14:section>
        <p14:section name="WIP" id="{F293D917-6084-5A49-B46D-8A0FBCEBFBD9}">
          <p14:sldIdLst>
            <p14:sldId id="2147483647"/>
            <p14:sldId id="2147483644"/>
            <p14:sldId id="2147483645"/>
          </p14:sldIdLst>
        </p14:section>
        <p14:section name="Archive" id="{8411A799-778F-4B35-9DE1-387571F2153B}">
          <p14:sldIdLst>
            <p14:sldId id="21474836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C62"/>
    <a:srgbClr val="C00000"/>
    <a:srgbClr val="FD1922"/>
    <a:srgbClr val="629DD1"/>
    <a:srgbClr val="297FD5"/>
    <a:srgbClr val="E1E6EA"/>
    <a:srgbClr val="4A66AC"/>
    <a:srgbClr val="336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22BCC6-9C00-B04C-9F62-8F627E7AB875}" v="11" dt="2026-03-25T17:59:07.603"/>
    <p1510:client id="{CD034A80-3BED-B34D-8DCA-3B29BCDB9F8F}" v="69" dt="2026-03-25T17:20:05.630"/>
    <p1510:client id="{CFF25377-DFA0-4BE1-BCF5-D93944C4A298}" v="1540" dt="2026-03-25T16:13:04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4" autoAdjust="0"/>
    <p:restoredTop sz="93306"/>
  </p:normalViewPr>
  <p:slideViewPr>
    <p:cSldViewPr snapToGrid="0">
      <p:cViewPr varScale="1">
        <p:scale>
          <a:sx n="100" d="100"/>
          <a:sy n="100" d="100"/>
        </p:scale>
        <p:origin x="6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eiber III, Robert" userId="b641c099-ee49-4da9-a9ae-b69828e66be4" providerId="ADAL" clId="{EC69B142-EC56-58D4-80B6-4DAF0D735E31}"/>
    <pc:docChg chg="undo redo custSel addSld delSld modSld modSection">
      <pc:chgData name="Treiber III, Robert" userId="b641c099-ee49-4da9-a9ae-b69828e66be4" providerId="ADAL" clId="{EC69B142-EC56-58D4-80B6-4DAF0D735E31}" dt="2026-03-25T17:59:16.186" v="115" actId="14100"/>
      <pc:docMkLst>
        <pc:docMk/>
      </pc:docMkLst>
      <pc:sldChg chg="addSp delSp modSp mod">
        <pc:chgData name="Treiber III, Robert" userId="b641c099-ee49-4da9-a9ae-b69828e66be4" providerId="ADAL" clId="{EC69B142-EC56-58D4-80B6-4DAF0D735E31}" dt="2026-03-25T17:57:05.768" v="45"/>
        <pc:sldMkLst>
          <pc:docMk/>
          <pc:sldMk cId="2015565098" sldId="256"/>
        </pc:sldMkLst>
        <pc:spChg chg="add mod">
          <ac:chgData name="Treiber III, Robert" userId="b641c099-ee49-4da9-a9ae-b69828e66be4" providerId="ADAL" clId="{EC69B142-EC56-58D4-80B6-4DAF0D735E31}" dt="2026-03-25T17:57:05.768" v="45"/>
          <ac:spMkLst>
            <pc:docMk/>
            <pc:sldMk cId="2015565098" sldId="256"/>
            <ac:spMk id="5" creationId="{8DF19704-50D5-5A22-66A6-738047CDF01A}"/>
          </ac:spMkLst>
        </pc:spChg>
        <pc:spChg chg="del mod">
          <ac:chgData name="Treiber III, Robert" userId="b641c099-ee49-4da9-a9ae-b69828e66be4" providerId="ADAL" clId="{EC69B142-EC56-58D4-80B6-4DAF0D735E31}" dt="2026-03-25T17:57:03.291" v="44" actId="21"/>
          <ac:spMkLst>
            <pc:docMk/>
            <pc:sldMk cId="2015565098" sldId="256"/>
            <ac:spMk id="14" creationId="{09BA870E-D897-832A-44CB-7E6A5778E921}"/>
          </ac:spMkLst>
        </pc:spChg>
      </pc:sldChg>
      <pc:sldChg chg="addSp delSp modSp add mod">
        <pc:chgData name="Treiber III, Robert" userId="b641c099-ee49-4da9-a9ae-b69828e66be4" providerId="ADAL" clId="{EC69B142-EC56-58D4-80B6-4DAF0D735E31}" dt="2026-03-25T17:59:16.186" v="115" actId="14100"/>
        <pc:sldMkLst>
          <pc:docMk/>
          <pc:sldMk cId="1618650192" sldId="2147483568"/>
        </pc:sldMkLst>
        <pc:spChg chg="del mod">
          <ac:chgData name="Treiber III, Robert" userId="b641c099-ee49-4da9-a9ae-b69828e66be4" providerId="ADAL" clId="{EC69B142-EC56-58D4-80B6-4DAF0D735E31}" dt="2026-03-25T17:57:10.096" v="46" actId="478"/>
          <ac:spMkLst>
            <pc:docMk/>
            <pc:sldMk cId="1618650192" sldId="2147483568"/>
            <ac:spMk id="3" creationId="{B3A9944D-7811-4FC2-1BA9-23C9D73E4AB0}"/>
          </ac:spMkLst>
        </pc:spChg>
        <pc:spChg chg="add del mod">
          <ac:chgData name="Treiber III, Robert" userId="b641c099-ee49-4da9-a9ae-b69828e66be4" providerId="ADAL" clId="{EC69B142-EC56-58D4-80B6-4DAF0D735E31}" dt="2026-03-25T17:56:59.296" v="42" actId="22"/>
          <ac:spMkLst>
            <pc:docMk/>
            <pc:sldMk cId="1618650192" sldId="2147483568"/>
            <ac:spMk id="4" creationId="{C5869FB2-CFDF-1D40-959F-648677878FBD}"/>
          </ac:spMkLst>
        </pc:spChg>
        <pc:spChg chg="add del mod">
          <ac:chgData name="Treiber III, Robert" userId="b641c099-ee49-4da9-a9ae-b69828e66be4" providerId="ADAL" clId="{EC69B142-EC56-58D4-80B6-4DAF0D735E31}" dt="2026-03-25T17:57:13.560" v="48" actId="478"/>
          <ac:spMkLst>
            <pc:docMk/>
            <pc:sldMk cId="1618650192" sldId="2147483568"/>
            <ac:spMk id="6" creationId="{A33C35DD-F093-70DF-72B2-D230A9F7A8A6}"/>
          </ac:spMkLst>
        </pc:spChg>
        <pc:spChg chg="add mod">
          <ac:chgData name="Treiber III, Robert" userId="b641c099-ee49-4da9-a9ae-b69828e66be4" providerId="ADAL" clId="{EC69B142-EC56-58D4-80B6-4DAF0D735E31}" dt="2026-03-25T17:58:47.071" v="112" actId="14100"/>
          <ac:spMkLst>
            <pc:docMk/>
            <pc:sldMk cId="1618650192" sldId="2147483568"/>
            <ac:spMk id="7" creationId="{997883E0-3536-CA42-EC4E-B40618749235}"/>
          </ac:spMkLst>
        </pc:spChg>
        <pc:spChg chg="add mod">
          <ac:chgData name="Treiber III, Robert" userId="b641c099-ee49-4da9-a9ae-b69828e66be4" providerId="ADAL" clId="{EC69B142-EC56-58D4-80B6-4DAF0D735E31}" dt="2026-03-25T17:59:16.186" v="115" actId="14100"/>
          <ac:spMkLst>
            <pc:docMk/>
            <pc:sldMk cId="1618650192" sldId="2147483568"/>
            <ac:spMk id="9" creationId="{69D33445-9472-CD7F-BEA3-212BAA5F3595}"/>
          </ac:spMkLst>
        </pc:spChg>
        <pc:spChg chg="mod">
          <ac:chgData name="Treiber III, Robert" userId="b641c099-ee49-4da9-a9ae-b69828e66be4" providerId="ADAL" clId="{EC69B142-EC56-58D4-80B6-4DAF0D735E31}" dt="2026-03-25T17:52:59.359" v="24" actId="1035"/>
          <ac:spMkLst>
            <pc:docMk/>
            <pc:sldMk cId="1618650192" sldId="2147483568"/>
            <ac:spMk id="681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59.359" v="24" actId="1035"/>
          <ac:spMkLst>
            <pc:docMk/>
            <pc:sldMk cId="1618650192" sldId="2147483568"/>
            <ac:spMk id="747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59.359" v="24" actId="1035"/>
          <ac:spMkLst>
            <pc:docMk/>
            <pc:sldMk cId="1618650192" sldId="2147483568"/>
            <ac:spMk id="958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59.359" v="24" actId="1035"/>
          <ac:spMkLst>
            <pc:docMk/>
            <pc:sldMk cId="1618650192" sldId="2147483568"/>
            <ac:spMk id="1358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59.359" v="24" actId="1035"/>
          <ac:spMkLst>
            <pc:docMk/>
            <pc:sldMk cId="1618650192" sldId="2147483568"/>
            <ac:spMk id="1481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59.359" v="24" actId="1035"/>
          <ac:spMkLst>
            <pc:docMk/>
            <pc:sldMk cId="1618650192" sldId="2147483568"/>
            <ac:spMk id="2347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59.359" v="24" actId="1035"/>
          <ac:spMkLst>
            <pc:docMk/>
            <pc:sldMk cId="1618650192" sldId="2147483568"/>
            <ac:spMk id="2369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59.359" v="24" actId="1035"/>
          <ac:spMkLst>
            <pc:docMk/>
            <pc:sldMk cId="1618650192" sldId="2147483568"/>
            <ac:spMk id="2536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59.359" v="24" actId="1035"/>
          <ac:spMkLst>
            <pc:docMk/>
            <pc:sldMk cId="1618650192" sldId="2147483568"/>
            <ac:spMk id="2714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59.359" v="24" actId="1035"/>
          <ac:spMkLst>
            <pc:docMk/>
            <pc:sldMk cId="1618650192" sldId="2147483568"/>
            <ac:spMk id="2736" creationId="{00000000-0000-0000-0000-000000000000}"/>
          </ac:spMkLst>
        </pc:spChg>
        <pc:spChg chg="del">
          <ac:chgData name="Treiber III, Robert" userId="b641c099-ee49-4da9-a9ae-b69828e66be4" providerId="ADAL" clId="{EC69B142-EC56-58D4-80B6-4DAF0D735E31}" dt="2026-03-25T17:53:07.253" v="25" actId="478"/>
          <ac:spMkLst>
            <pc:docMk/>
            <pc:sldMk cId="1618650192" sldId="2147483568"/>
            <ac:spMk id="2903" creationId="{00000000-0000-0000-0000-000000000000}"/>
          </ac:spMkLst>
        </pc:spChg>
        <pc:spChg chg="del">
          <ac:chgData name="Treiber III, Robert" userId="b641c099-ee49-4da9-a9ae-b69828e66be4" providerId="ADAL" clId="{EC69B142-EC56-58D4-80B6-4DAF0D735E31}" dt="2026-03-25T17:53:13.688" v="26" actId="478"/>
          <ac:spMkLst>
            <pc:docMk/>
            <pc:sldMk cId="1618650192" sldId="2147483568"/>
            <ac:spMk id="2914" creationId="{00000000-0000-0000-0000-000000000000}"/>
          </ac:spMkLst>
        </pc:spChg>
        <pc:spChg chg="del">
          <ac:chgData name="Treiber III, Robert" userId="b641c099-ee49-4da9-a9ae-b69828e66be4" providerId="ADAL" clId="{EC69B142-EC56-58D4-80B6-4DAF0D735E31}" dt="2026-03-25T17:53:07.253" v="25" actId="478"/>
          <ac:spMkLst>
            <pc:docMk/>
            <pc:sldMk cId="1618650192" sldId="2147483568"/>
            <ac:spMk id="2925" creationId="{00000000-0000-0000-0000-000000000000}"/>
          </ac:spMkLst>
        </pc:spChg>
        <pc:spChg chg="del">
          <ac:chgData name="Treiber III, Robert" userId="b641c099-ee49-4da9-a9ae-b69828e66be4" providerId="ADAL" clId="{EC69B142-EC56-58D4-80B6-4DAF0D735E31}" dt="2026-03-25T17:53:13.688" v="26" actId="478"/>
          <ac:spMkLst>
            <pc:docMk/>
            <pc:sldMk cId="1618650192" sldId="2147483568"/>
            <ac:spMk id="2936" creationId="{00000000-0000-0000-0000-000000000000}"/>
          </ac:spMkLst>
        </pc:spChg>
        <pc:picChg chg="add mod">
          <ac:chgData name="Treiber III, Robert" userId="b641c099-ee49-4da9-a9ae-b69828e66be4" providerId="ADAL" clId="{EC69B142-EC56-58D4-80B6-4DAF0D735E31}" dt="2026-03-25T17:59:07.603" v="114" actId="167"/>
          <ac:picMkLst>
            <pc:docMk/>
            <pc:sldMk cId="1618650192" sldId="2147483568"/>
            <ac:picMk id="10" creationId="{576D9C92-7485-0528-E91F-0F809EBD86E5}"/>
          </ac:picMkLst>
        </pc:picChg>
      </pc:sldChg>
      <pc:sldChg chg="delSp modSp del mod modShow">
        <pc:chgData name="Treiber III, Robert" userId="b641c099-ee49-4da9-a9ae-b69828e66be4" providerId="ADAL" clId="{EC69B142-EC56-58D4-80B6-4DAF0D735E31}" dt="2026-03-25T17:52:33.069" v="9" actId="2696"/>
        <pc:sldMkLst>
          <pc:docMk/>
          <pc:sldMk cId="2010146018" sldId="2147483568"/>
        </pc:sldMkLst>
        <pc:spChg chg="del">
          <ac:chgData name="Treiber III, Robert" userId="b641c099-ee49-4da9-a9ae-b69828e66be4" providerId="ADAL" clId="{EC69B142-EC56-58D4-80B6-4DAF0D735E31}" dt="2026-03-25T17:51:04.977" v="0" actId="478"/>
          <ac:spMkLst>
            <pc:docMk/>
            <pc:sldMk cId="2010146018" sldId="2147483568"/>
            <ac:spMk id="38" creationId="{4938E91E-59BC-A515-A5AE-D01284DEA148}"/>
          </ac:spMkLst>
        </pc:spChg>
        <pc:spChg chg="mod">
          <ac:chgData name="Treiber III, Robert" userId="b641c099-ee49-4da9-a9ae-b69828e66be4" providerId="ADAL" clId="{EC69B142-EC56-58D4-80B6-4DAF0D735E31}" dt="2026-03-25T17:52:03.651" v="7" actId="782"/>
          <ac:spMkLst>
            <pc:docMk/>
            <pc:sldMk cId="2010146018" sldId="2147483568"/>
            <ac:spMk id="358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03.651" v="7" actId="782"/>
          <ac:spMkLst>
            <pc:docMk/>
            <pc:sldMk cId="2010146018" sldId="2147483568"/>
            <ac:spMk id="1114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03.651" v="7" actId="782"/>
          <ac:spMkLst>
            <pc:docMk/>
            <pc:sldMk cId="2010146018" sldId="2147483568"/>
            <ac:spMk id="1469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03.651" v="7" actId="782"/>
          <ac:spMkLst>
            <pc:docMk/>
            <pc:sldMk cId="2010146018" sldId="2147483568"/>
            <ac:spMk id="1470" creationId="{00000000-0000-0000-0000-000000000000}"/>
          </ac:spMkLst>
        </pc:spChg>
        <pc:spChg chg="mod">
          <ac:chgData name="Treiber III, Robert" userId="b641c099-ee49-4da9-a9ae-b69828e66be4" providerId="ADAL" clId="{EC69B142-EC56-58D4-80B6-4DAF0D735E31}" dt="2026-03-25T17:52:03.651" v="7" actId="782"/>
          <ac:spMkLst>
            <pc:docMk/>
            <pc:sldMk cId="2010146018" sldId="2147483568"/>
            <ac:spMk id="237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41300-29E0-4859-8CCB-1C06080EA2B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75EF0-D204-4290-A039-AA42DF899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18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57A70-0B65-0243-95A8-A131372B93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20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A5D37-A29F-47E4-AB83-97426F98E3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87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F3F82-D786-DA9C-F9AA-0D8D25C11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6C353-4432-C4EE-8DB1-03410129D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B6D5A-8A9D-9569-FF0C-3459C84EC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E61DE-2052-34F0-22C2-AA988A9AD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57A70-0B65-0243-95A8-A131372B93A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096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AED6F-98EE-05DF-D655-028CDD073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40CCC-32EF-1FE8-D4FD-65D3CEEEC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5079A-98FC-FAA4-F73F-CE98CBACD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4A50C-05F7-CE09-544F-44CA41238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57A70-0B65-0243-95A8-A131372B93A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056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9C2CE-9CA4-41FF-C4A1-8917DF8B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91788-CA66-5652-2812-D89389781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2866E-E921-646F-A353-69BE478DD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8FAF4-192A-4FF8-4BA9-5AA5DF0E4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57A70-0B65-0243-95A8-A131372B93A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9351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AB099-0EF7-97AB-CDB7-1483717E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22171-C619-036B-3FCE-96E2C8ABB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9D8B0-B142-B1F1-BCB6-6F3A72220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9D8AA-2194-5A62-D737-A7A508C8C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57A70-0B65-0243-95A8-A131372B93A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0460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AED6F-98EE-05DF-D655-028CDD073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40CCC-32EF-1FE8-D4FD-65D3CEEEC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5079A-98FC-FAA4-F73F-CE98CBACD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4A50C-05F7-CE09-544F-44CA41238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57A70-0B65-0243-95A8-A131372B93A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056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BBA23-A558-AB1A-10F9-750B18B42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BAFCB-2795-2FEA-4842-8809972EC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29C0F-5E7A-48D7-3259-0D03E22FD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D87EF-71B5-F383-AC00-991E69F3C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57A70-0B65-0243-95A8-A131372B93A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3018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4F39A-8B1C-D092-B095-DD3E17BE6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0A280-CD5E-7C6F-92BD-F6DC655A6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CF1C9-AF29-5DA5-CB5C-0A76203DB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86741-FFC1-E1F8-8062-A6D5030B7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857A70-0B65-0243-95A8-A131372B93A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112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9C359-0860-8025-6BF0-7FE6C72B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15ACC-6831-6A47-9F64-92F109020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0A7AA-EA22-07D8-3555-DDD6637A4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779B7-23C6-CD2E-150A-8B3A0B322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57A70-0B65-0243-95A8-A131372B93A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27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75EF0-D204-4290-A039-AA42DF89902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64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29ABF54-5751-76A0-98D2-2FA3699F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528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uide - Icon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ECD371-7C06-488E-AA23-EB47BBF733D9}"/>
              </a:ext>
            </a:extLst>
          </p:cNvPr>
          <p:cNvSpPr txBox="1">
            <a:spLocks/>
          </p:cNvSpPr>
          <p:nvPr userDrawn="1"/>
        </p:nvSpPr>
        <p:spPr>
          <a:xfrm>
            <a:off x="381000" y="381000"/>
            <a:ext cx="114300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33E58D9-1063-D569-06F6-7A4C8E2D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872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B1AC-3D0C-D3E8-2C9E-7B0AA87D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3812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–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999-EAA8-4CA8-A67B-BC7BA786A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789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E911D4-BD1A-E642-9734-28693D202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7ED84-B3C4-4DA6-821A-23CF3B26A06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AE2BD0-B069-2657-490A-51FBAE49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8679C-CEA5-0A1B-617D-F039C4D28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662E4-D240-4655-B42A-327610A5A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6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BDF845-9486-118F-44BA-ECCCB7F083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37779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16" imgH="416" progId="TCLayout.ActiveDocument.1">
                  <p:embed/>
                </p:oleObj>
              </mc:Choice>
              <mc:Fallback>
                <p:oleObj name="think-cell Slide" r:id="rId8" imgW="416" imgH="41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BDF845-9486-118F-44BA-ECCCB7F083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1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F1B88C-5A43-DDE4-8534-A153D4698142}"/>
              </a:ext>
            </a:extLst>
          </p:cNvPr>
          <p:cNvSpPr/>
          <p:nvPr userDrawn="1"/>
        </p:nvSpPr>
        <p:spPr bwMode="auto">
          <a:xfrm>
            <a:off x="11568678" y="6338381"/>
            <a:ext cx="584367" cy="350621"/>
          </a:xfrm>
          <a:prstGeom prst="rect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91430" tIns="45715" rIns="91430" bIns="45715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cxnSp>
        <p:nvCxnSpPr>
          <p:cNvPr id="8" name="Google Shape;425;p64">
            <a:extLst>
              <a:ext uri="{FF2B5EF4-FFF2-40B4-BE49-F238E27FC236}">
                <a16:creationId xmlns:a16="http://schemas.microsoft.com/office/drawing/2014/main" id="{2145CA3C-A906-3AE5-4D84-136A50A8B5A7}"/>
              </a:ext>
            </a:extLst>
          </p:cNvPr>
          <p:cNvCxnSpPr/>
          <p:nvPr userDrawn="1"/>
        </p:nvCxnSpPr>
        <p:spPr>
          <a:xfrm>
            <a:off x="1086263" y="6436129"/>
            <a:ext cx="0" cy="12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" name="Picture 11" descr="NFL Logo (National Football League) and symbol, meaning, history, PNG, brand">
            <a:extLst>
              <a:ext uri="{FF2B5EF4-FFF2-40B4-BE49-F238E27FC236}">
                <a16:creationId xmlns:a16="http://schemas.microsoft.com/office/drawing/2014/main" id="{DB1C2BAC-E9A9-2549-CED2-A330A25CB12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4" r="25471"/>
          <a:stretch/>
        </p:blipFill>
        <p:spPr bwMode="auto">
          <a:xfrm>
            <a:off x="1177499" y="6301271"/>
            <a:ext cx="272013" cy="37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Number">
            <a:extLst>
              <a:ext uri="{FF2B5EF4-FFF2-40B4-BE49-F238E27FC236}">
                <a16:creationId xmlns:a16="http://schemas.microsoft.com/office/drawing/2014/main" id="{AA24A62A-DEE6-E008-F910-BC2D1D1B577A}"/>
              </a:ext>
            </a:extLst>
          </p:cNvPr>
          <p:cNvSpPr/>
          <p:nvPr userDrawn="1"/>
        </p:nvSpPr>
        <p:spPr>
          <a:xfrm>
            <a:off x="9425424" y="6369695"/>
            <a:ext cx="2539999" cy="457200"/>
          </a:xfrm>
          <a:prstGeom prst="roundRect">
            <a:avLst/>
          </a:prstGeom>
          <a:noFill/>
          <a:ln w="19050" cap="flat" cmpd="sng" algn="ctr">
            <a:noFill/>
            <a:prstDash val="solid"/>
          </a:ln>
          <a:effectLst/>
        </p:spPr>
        <p:txBody>
          <a:bodyPr wrap="none" lIns="91440" tIns="45720" rIns="91440" bIns="45720" rtlCol="0" anchor="t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69BBE8-4DB2-4642-B003-B220ACD5A2FD}" type="slidenum">
              <a:rPr kumimoji="0" lang="en-US" sz="800" b="0" i="0" u="none" strike="noStrike" kern="0" cap="none" spc="0" normalizeH="0" baseline="0" noProof="0" smtClean="0">
                <a:ln>
                  <a:noFill/>
                </a:ln>
                <a:solidFill>
                  <a:srgbClr val="013269"/>
                </a:solidFill>
                <a:effectLst/>
                <a:uLnTx/>
                <a:uFillTx/>
                <a:latin typeface="Graphik-Light" panose="020B0403030202060203" pitchFamily="34" charset="0"/>
                <a:ea typeface="+mn-ea"/>
                <a:cs typeface="+mn-cs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fr-FR" sz="1100" b="0" i="0" u="none" strike="noStrike" kern="0" cap="none" spc="0" normalizeH="0" baseline="0" noProof="0">
              <a:ln>
                <a:noFill/>
              </a:ln>
              <a:solidFill>
                <a:srgbClr val="013269"/>
              </a:solidFill>
              <a:effectLst/>
              <a:uLnTx/>
              <a:uFillTx/>
              <a:latin typeface="Graphik-Light" panose="020B0403030202060203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90551C-BA8C-ED6E-4E92-CF2F9FF67A77}"/>
              </a:ext>
            </a:extLst>
          </p:cNvPr>
          <p:cNvSpPr txBox="1"/>
          <p:nvPr userDrawn="1"/>
        </p:nvSpPr>
        <p:spPr>
          <a:xfrm>
            <a:off x="6946099" y="6379120"/>
            <a:ext cx="4318719" cy="25603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algn="r">
              <a:lnSpc>
                <a:spcPct val="90000"/>
              </a:lnSpc>
              <a:defRPr sz="800"/>
            </a:lvl1pPr>
            <a:lvl2pPr marL="0" indent="0" algn="r">
              <a:defRPr sz="800"/>
            </a:lvl2pPr>
            <a:lvl3pPr marL="0" algn="r">
              <a:defRPr sz="800"/>
            </a:lvl3pPr>
            <a:lvl4pPr marL="0" algn="r">
              <a:defRPr sz="800"/>
            </a:lvl4pPr>
            <a:lvl5pPr marL="0" algn="r">
              <a:defRPr sz="800"/>
            </a:lvl5pPr>
            <a:lvl6pPr marL="0" indent="0" algn="r">
              <a:defRPr sz="800"/>
            </a:lvl6pPr>
            <a:lvl7pPr marL="0" algn="r">
              <a:defRPr sz="800"/>
            </a:lvl7pPr>
            <a:lvl8pPr marL="0" indent="0" algn="r">
              <a:defRPr sz="800"/>
            </a:lvl8pPr>
            <a:lvl9pPr marL="0" algn="r">
              <a:spcBef>
                <a:spcPts val="0"/>
              </a:spcBef>
              <a:defRPr sz="800"/>
            </a:lvl9pPr>
          </a:lstStyle>
          <a:p>
            <a:pPr defTabSz="228600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>
                <a:solidFill>
                  <a:srgbClr val="013269"/>
                </a:solidFill>
                <a:latin typeface="Graphik Light" panose="020B0403030202060203" pitchFamily="34" charset="77"/>
              </a:rPr>
              <a:t>Copyright © 2026 Accenture. All rights reserved.</a:t>
            </a:r>
          </a:p>
        </p:txBody>
      </p:sp>
      <p:pic>
        <p:nvPicPr>
          <p:cNvPr id="3074" name="Picture 2" descr="Logo Accenture">
            <a:extLst>
              <a:ext uri="{FF2B5EF4-FFF2-40B4-BE49-F238E27FC236}">
                <a16:creationId xmlns:a16="http://schemas.microsoft.com/office/drawing/2014/main" id="{AC342B82-5250-1706-4254-B234FD63C8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70" y="6402121"/>
            <a:ext cx="744747" cy="19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693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 algn="l" defTabSz="914363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1" indent="-228591" algn="l" defTabSz="22859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indent="-228591" algn="l" defTabSz="22859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3" indent="-228591" algn="l" defTabSz="22859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63" indent="-228591" algn="l" defTabSz="22859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54" indent="-228591" algn="l" defTabSz="228591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1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1.sv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10" Type="http://schemas.openxmlformats.org/officeDocument/2006/relationships/image" Target="../media/image37.png"/><Relationship Id="rId4" Type="http://schemas.openxmlformats.org/officeDocument/2006/relationships/image" Target="../media/image42.svg"/><Relationship Id="rId9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svg"/><Relationship Id="rId5" Type="http://schemas.microsoft.com/office/2007/relationships/hdphoto" Target="../media/hdphoto2.wdp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8311CE-185E-CC11-C97E-96FF2F3A5D2F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84C5A8D-BBDB-F1FE-E2D8-87DD96EB09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1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F2F0C-52C8-3A45-9E13-0F419FA0F2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F8EB60C-7CC2-49F0-B2EE-C81F067DE041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696831-DD38-5813-14DC-C10146F13D0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6488113"/>
            <a:ext cx="4114800" cy="198437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2025 Accenture. All rights reserved.</a:t>
            </a:r>
          </a:p>
        </p:txBody>
      </p:sp>
      <p:sp>
        <p:nvSpPr>
          <p:cNvPr id="5" name="Accenture GTS" descr="Accenture GTS">
            <a:extLst>
              <a:ext uri="{FF2B5EF4-FFF2-40B4-BE49-F238E27FC236}">
                <a16:creationId xmlns:a16="http://schemas.microsoft.com/office/drawing/2014/main" id="{2173EB24-B56D-522F-85F9-818BC6E824CF}"/>
              </a:ext>
            </a:extLst>
          </p:cNvPr>
          <p:cNvSpPr/>
          <p:nvPr/>
        </p:nvSpPr>
        <p:spPr>
          <a:xfrm>
            <a:off x="702000" y="381160"/>
            <a:ext cx="487848" cy="535593"/>
          </a:xfrm>
          <a:custGeom>
            <a:avLst/>
            <a:gdLst/>
            <a:ahLst/>
            <a:cxnLst/>
            <a:rect l="l" t="t" r="r" b="b"/>
            <a:pathLst>
              <a:path w="804544" h="883285">
                <a:moveTo>
                  <a:pt x="0" y="0"/>
                </a:moveTo>
                <a:lnTo>
                  <a:pt x="0" y="230485"/>
                </a:lnTo>
                <a:lnTo>
                  <a:pt x="520130" y="441368"/>
                </a:lnTo>
                <a:lnTo>
                  <a:pt x="0" y="652252"/>
                </a:lnTo>
                <a:lnTo>
                  <a:pt x="0" y="882737"/>
                </a:lnTo>
                <a:lnTo>
                  <a:pt x="804373" y="556611"/>
                </a:lnTo>
                <a:lnTo>
                  <a:pt x="804373" y="32612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marL="0" marR="0" lvl="0" indent="0" algn="l" defTabSz="55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9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A12DE4-C518-25E2-8C4F-44EB4CFA64F7}"/>
              </a:ext>
            </a:extLst>
          </p:cNvPr>
          <p:cNvSpPr txBox="1">
            <a:spLocks/>
          </p:cNvSpPr>
          <p:nvPr/>
        </p:nvSpPr>
        <p:spPr>
          <a:xfrm>
            <a:off x="539558" y="2943915"/>
            <a:ext cx="7040753" cy="39140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03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8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703030202060203" pitchFamily="34" charset="0"/>
                <a:ea typeface="Open Sans"/>
                <a:cs typeface="Open Sans"/>
              </a:rPr>
              <a:t>NFL</a:t>
            </a:r>
          </a:p>
          <a:p>
            <a:pPr marL="0" marR="0" lvl="0" indent="0" algn="l" defTabSz="121903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0" spc="80">
                <a:solidFill>
                  <a:srgbClr val="FFFFFF"/>
                </a:solidFill>
                <a:latin typeface="Graphik Semibold" panose="020B0703030202060203" pitchFamily="34" charset="0"/>
                <a:ea typeface="Open Sans"/>
                <a:cs typeface="Open Sans"/>
              </a:rPr>
              <a:t>Scorecard Overview</a:t>
            </a:r>
            <a:br>
              <a:rPr kumimoji="0" lang="en-US" sz="4800" b="1" i="0" u="none" strike="noStrike" kern="1200" cap="none" spc="8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703030202060203" pitchFamily="34" charset="0"/>
                <a:ea typeface="Open Sans"/>
                <a:cs typeface="Open Sans"/>
              </a:rPr>
            </a:br>
            <a:br>
              <a:rPr kumimoji="0" lang="en-US" sz="2400" b="0" i="0" u="none" strike="noStrike" kern="1200" cap="none" spc="8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Open Sans"/>
                <a:cs typeface="Open Sans"/>
              </a:rPr>
            </a:br>
            <a:r>
              <a:rPr lang="en-US" sz="2400" b="0" spc="80">
                <a:solidFill>
                  <a:srgbClr val="FFFFFF"/>
                </a:solidFill>
                <a:latin typeface="Graphik Light" panose="020B0403030202060203" pitchFamily="34" charset="0"/>
                <a:ea typeface="Open Sans"/>
                <a:cs typeface="Open Sans"/>
              </a:rPr>
              <a:t>February</a:t>
            </a:r>
            <a:r>
              <a:rPr kumimoji="0" lang="en-US" sz="2400" b="0" i="0" u="none" strike="noStrike" kern="1200" cap="none" spc="8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Light" panose="020B0403030202060203" pitchFamily="34" charset="0"/>
                <a:ea typeface="Open Sans"/>
                <a:cs typeface="Open Sans"/>
              </a:rPr>
              <a:t> 2026</a:t>
            </a:r>
            <a:br>
              <a:rPr kumimoji="0" lang="en-US" sz="2400" b="1" i="0" u="none" strike="noStrike" kern="1200" cap="none" spc="8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Open Sans"/>
                <a:cs typeface="Open Sans"/>
              </a:rPr>
            </a:br>
            <a:endParaRPr kumimoji="0" lang="en-US" sz="7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j-ea"/>
              <a:cs typeface="+mj-cs"/>
            </a:endParaRPr>
          </a:p>
        </p:txBody>
      </p:sp>
      <p:pic>
        <p:nvPicPr>
          <p:cNvPr id="7" name="Picture 6" descr="NFL_Shield_web.png">
            <a:extLst>
              <a:ext uri="{FF2B5EF4-FFF2-40B4-BE49-F238E27FC236}">
                <a16:creationId xmlns:a16="http://schemas.microsoft.com/office/drawing/2014/main" id="{07D359F8-820E-FE5F-6777-4B464095BF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8" y="1216818"/>
            <a:ext cx="1361456" cy="187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3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0CEDD-9CEB-6D4B-2408-908C3848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2014-8B6B-EDA1-47CE-48C2D3A7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Introducing the Team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16A8597-374B-CD9E-AB8E-703FACC0D52B}"/>
              </a:ext>
            </a:extLst>
          </p:cNvPr>
          <p:cNvCxnSpPr>
            <a:cxnSpLocks/>
          </p:cNvCxnSpPr>
          <p:nvPr/>
        </p:nvCxnSpPr>
        <p:spPr>
          <a:xfrm>
            <a:off x="4238723" y="1728884"/>
            <a:ext cx="0" cy="4317272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C6F2D18A-3852-6590-41CF-251FDD9F05DA}"/>
              </a:ext>
            </a:extLst>
          </p:cNvPr>
          <p:cNvGrpSpPr/>
          <p:nvPr/>
        </p:nvGrpSpPr>
        <p:grpSpPr>
          <a:xfrm>
            <a:off x="4603441" y="1026011"/>
            <a:ext cx="6533390" cy="4805978"/>
            <a:chOff x="461768" y="936449"/>
            <a:chExt cx="6533390" cy="480597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8920046-B8B7-D604-A664-FF1A0C520672}"/>
                </a:ext>
              </a:extLst>
            </p:cNvPr>
            <p:cNvGrpSpPr/>
            <p:nvPr/>
          </p:nvGrpSpPr>
          <p:grpSpPr>
            <a:xfrm>
              <a:off x="1636774" y="3539406"/>
              <a:ext cx="1947670" cy="475486"/>
              <a:chOff x="1609342" y="1645919"/>
              <a:chExt cx="2446022" cy="47548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83585C-C647-9EBE-C845-5C06C689A867}"/>
                  </a:ext>
                </a:extLst>
              </p:cNvPr>
              <p:cNvSpPr txBox="1"/>
              <p:nvPr/>
            </p:nvSpPr>
            <p:spPr>
              <a:xfrm>
                <a:off x="1609342" y="1645919"/>
                <a:ext cx="2446018" cy="2011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 defTabSz="228600">
                  <a:spcAft>
                    <a:spcPts val="1200"/>
                  </a:spcAft>
                </a:pPr>
                <a:r>
                  <a:rPr lang="en-US" sz="1600" b="1" noProof="0"/>
                  <a:t>Vik Arya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18A1BD-399D-49D6-BCB7-40716E9F070F}"/>
                  </a:ext>
                </a:extLst>
              </p:cNvPr>
              <p:cNvSpPr txBox="1"/>
              <p:nvPr/>
            </p:nvSpPr>
            <p:spPr>
              <a:xfrm>
                <a:off x="1609344" y="1920237"/>
                <a:ext cx="2446020" cy="2011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 defTabSz="228600">
                  <a:spcAft>
                    <a:spcPts val="1200"/>
                  </a:spcAft>
                </a:pPr>
                <a:r>
                  <a:rPr lang="en-US" sz="1200" noProof="0"/>
                  <a:t>Delivery Lead</a:t>
                </a:r>
              </a:p>
            </p:txBody>
          </p:sp>
        </p:grp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4C8869A-F9F4-4EFC-F6FD-1484B80A0021}"/>
                </a:ext>
              </a:extLst>
            </p:cNvPr>
            <p:cNvSpPr/>
            <p:nvPr/>
          </p:nvSpPr>
          <p:spPr>
            <a:xfrm>
              <a:off x="461768" y="3241942"/>
              <a:ext cx="1024124" cy="1013748"/>
            </a:xfrm>
            <a:prstGeom prst="ellipse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7272A2C-088B-4C78-F0AA-B7970CB6698D}"/>
                </a:ext>
              </a:extLst>
            </p:cNvPr>
            <p:cNvGrpSpPr/>
            <p:nvPr/>
          </p:nvGrpSpPr>
          <p:grpSpPr>
            <a:xfrm>
              <a:off x="3800854" y="4728679"/>
              <a:ext cx="3194304" cy="1013748"/>
              <a:chOff x="3800854" y="3021807"/>
              <a:chExt cx="3194304" cy="1013748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40AD937-E78F-3A81-CE30-3AA71B4CA0EF}"/>
                  </a:ext>
                </a:extLst>
              </p:cNvPr>
              <p:cNvGrpSpPr/>
              <p:nvPr/>
            </p:nvGrpSpPr>
            <p:grpSpPr>
              <a:xfrm>
                <a:off x="5029197" y="3319271"/>
                <a:ext cx="1965961" cy="475486"/>
                <a:chOff x="1609342" y="1645919"/>
                <a:chExt cx="2446022" cy="475486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0B113F9-EE50-5AE4-DDCA-9A3EAC6A5AA8}"/>
                    </a:ext>
                  </a:extLst>
                </p:cNvPr>
                <p:cNvSpPr txBox="1"/>
                <p:nvPr/>
              </p:nvSpPr>
              <p:spPr>
                <a:xfrm>
                  <a:off x="1609342" y="1645919"/>
                  <a:ext cx="2446018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600" b="1"/>
                    <a:t>Robert Treiber III</a:t>
                  </a:r>
                  <a:endParaRPr lang="en-US" sz="1600" b="1" noProof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009CAB1-537C-44B3-A58C-9CA7A6EF988A}"/>
                    </a:ext>
                  </a:extLst>
                </p:cNvPr>
                <p:cNvSpPr txBox="1"/>
                <p:nvPr/>
              </p:nvSpPr>
              <p:spPr>
                <a:xfrm>
                  <a:off x="1609344" y="1920237"/>
                  <a:ext cx="2446020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200"/>
                    <a:t>Survey Design Lead</a:t>
                  </a:r>
                  <a:endParaRPr lang="en-US" sz="1200" noProof="0"/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32CECC8-9E75-CA0F-16B4-D0560FC1E3B4}"/>
                  </a:ext>
                </a:extLst>
              </p:cNvPr>
              <p:cNvSpPr/>
              <p:nvPr/>
            </p:nvSpPr>
            <p:spPr>
              <a:xfrm>
                <a:off x="3800854" y="3021807"/>
                <a:ext cx="1024124" cy="1013748"/>
              </a:xfrm>
              <a:prstGeom prst="ellipse">
                <a:avLst/>
              </a:prstGeom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err="1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EF6031A-3BD0-7F45-FC7C-8BA56E6DB9B1}"/>
                </a:ext>
              </a:extLst>
            </p:cNvPr>
            <p:cNvGrpSpPr/>
            <p:nvPr/>
          </p:nvGrpSpPr>
          <p:grpSpPr>
            <a:xfrm>
              <a:off x="461768" y="1763488"/>
              <a:ext cx="3122680" cy="1013748"/>
              <a:chOff x="461768" y="1331688"/>
              <a:chExt cx="3122680" cy="101374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A8A5C67-1EBC-2464-EFF8-5349035E513E}"/>
                  </a:ext>
                </a:extLst>
              </p:cNvPr>
              <p:cNvGrpSpPr/>
              <p:nvPr/>
            </p:nvGrpSpPr>
            <p:grpSpPr>
              <a:xfrm>
                <a:off x="1636774" y="1645919"/>
                <a:ext cx="1947674" cy="475486"/>
                <a:chOff x="1609342" y="1645919"/>
                <a:chExt cx="2446022" cy="475486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26E1EFB-1971-99BD-686A-BEC97A7F35DB}"/>
                    </a:ext>
                  </a:extLst>
                </p:cNvPr>
                <p:cNvSpPr txBox="1"/>
                <p:nvPr/>
              </p:nvSpPr>
              <p:spPr>
                <a:xfrm>
                  <a:off x="1609342" y="1645919"/>
                  <a:ext cx="2446018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600" b="1"/>
                    <a:t>Jefferson Wang</a:t>
                  </a:r>
                  <a:endParaRPr lang="en-US" sz="1600" b="1" noProof="0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C803925-698A-C1DB-4B03-E2DA3E8C3DA7}"/>
                    </a:ext>
                  </a:extLst>
                </p:cNvPr>
                <p:cNvSpPr txBox="1"/>
                <p:nvPr/>
              </p:nvSpPr>
              <p:spPr>
                <a:xfrm>
                  <a:off x="1609344" y="1920237"/>
                  <a:ext cx="2446020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200"/>
                    <a:t>Cloud First Chief Strategy Officer</a:t>
                  </a:r>
                  <a:endParaRPr lang="en-US" sz="1200" noProof="0"/>
                </a:p>
              </p:txBody>
            </p:sp>
          </p:grp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3EB187C8-27C5-2487-6A40-D76D79D7C3CD}"/>
                  </a:ext>
                </a:extLst>
              </p:cNvPr>
              <p:cNvSpPr/>
              <p:nvPr/>
            </p:nvSpPr>
            <p:spPr>
              <a:xfrm>
                <a:off x="461768" y="1331688"/>
                <a:ext cx="1024124" cy="1013748"/>
              </a:xfrm>
              <a:prstGeom prst="ellipse">
                <a:avLst/>
              </a:prstGeom>
              <a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err="1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552C848-CDBF-F037-C96C-04BD6BF47BD5}"/>
                </a:ext>
              </a:extLst>
            </p:cNvPr>
            <p:cNvGrpSpPr/>
            <p:nvPr/>
          </p:nvGrpSpPr>
          <p:grpSpPr>
            <a:xfrm>
              <a:off x="3800854" y="3241942"/>
              <a:ext cx="2965706" cy="1013748"/>
              <a:chOff x="3800854" y="1331688"/>
              <a:chExt cx="2965706" cy="101374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66CB797-C1AA-6A5F-77DA-6EFF8E539A37}"/>
                  </a:ext>
                </a:extLst>
              </p:cNvPr>
              <p:cNvGrpSpPr/>
              <p:nvPr/>
            </p:nvGrpSpPr>
            <p:grpSpPr>
              <a:xfrm>
                <a:off x="5029198" y="1645919"/>
                <a:ext cx="1737362" cy="475486"/>
                <a:chOff x="1609342" y="1645919"/>
                <a:chExt cx="2446022" cy="475486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1D3F114-F0C4-56B9-19D8-15287EFB8F07}"/>
                    </a:ext>
                  </a:extLst>
                </p:cNvPr>
                <p:cNvSpPr txBox="1"/>
                <p:nvPr/>
              </p:nvSpPr>
              <p:spPr>
                <a:xfrm>
                  <a:off x="1609342" y="1645919"/>
                  <a:ext cx="2446018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600" b="1"/>
                    <a:t>John Shearin</a:t>
                  </a:r>
                  <a:endParaRPr lang="en-US" sz="1600" b="1" noProof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4612B56-7601-6DFC-2707-732E5BF0BAFE}"/>
                    </a:ext>
                  </a:extLst>
                </p:cNvPr>
                <p:cNvSpPr txBox="1"/>
                <p:nvPr/>
              </p:nvSpPr>
              <p:spPr>
                <a:xfrm>
                  <a:off x="1609344" y="1920237"/>
                  <a:ext cx="2446020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200" noProof="0"/>
                    <a:t>Project Exec &amp; SMA</a:t>
                  </a:r>
                </a:p>
              </p:txBody>
            </p:sp>
          </p:grp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7A7D5DB3-182E-920B-1264-E1DAAF92F815}"/>
                  </a:ext>
                </a:extLst>
              </p:cNvPr>
              <p:cNvSpPr/>
              <p:nvPr/>
            </p:nvSpPr>
            <p:spPr>
              <a:xfrm>
                <a:off x="3800854" y="1331688"/>
                <a:ext cx="1024124" cy="1013748"/>
              </a:xfrm>
              <a:prstGeom prst="ellipse">
                <a:avLst/>
              </a:prstGeom>
              <a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err="1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54D85B64-C27D-4356-9145-6659D094F644}"/>
                </a:ext>
              </a:extLst>
            </p:cNvPr>
            <p:cNvGrpSpPr/>
            <p:nvPr/>
          </p:nvGrpSpPr>
          <p:grpSpPr>
            <a:xfrm>
              <a:off x="3800854" y="1763488"/>
              <a:ext cx="3194296" cy="1013748"/>
              <a:chOff x="3800854" y="4728679"/>
              <a:chExt cx="3194296" cy="1013748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A05E757-8F56-E14D-5644-D92E76E0064D}"/>
                  </a:ext>
                </a:extLst>
              </p:cNvPr>
              <p:cNvGrpSpPr/>
              <p:nvPr/>
            </p:nvGrpSpPr>
            <p:grpSpPr>
              <a:xfrm>
                <a:off x="5029197" y="4992623"/>
                <a:ext cx="1965953" cy="475486"/>
                <a:chOff x="1609342" y="1645919"/>
                <a:chExt cx="2446022" cy="475486"/>
              </a:xfrm>
            </p:grpSpPr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38E06A4-3020-EBB8-E1A8-2E7DF195E220}"/>
                    </a:ext>
                  </a:extLst>
                </p:cNvPr>
                <p:cNvSpPr txBox="1"/>
                <p:nvPr/>
              </p:nvSpPr>
              <p:spPr>
                <a:xfrm>
                  <a:off x="1609342" y="1645919"/>
                  <a:ext cx="2446018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600" b="1"/>
                    <a:t>Elizabeth Keating</a:t>
                  </a:r>
                  <a:endParaRPr lang="en-US" sz="1600" b="1" noProof="0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A4D719A-337E-9AF3-6642-7A6D60403B11}"/>
                    </a:ext>
                  </a:extLst>
                </p:cNvPr>
                <p:cNvSpPr txBox="1"/>
                <p:nvPr/>
              </p:nvSpPr>
              <p:spPr>
                <a:xfrm>
                  <a:off x="1609344" y="1920237"/>
                  <a:ext cx="2446020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200"/>
                    <a:t>Client Account Lead</a:t>
                  </a:r>
                  <a:endParaRPr lang="en-US" sz="1200" noProof="0"/>
                </a:p>
              </p:txBody>
            </p:sp>
          </p:grp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95A141E-447F-841A-EDAB-19C213254025}"/>
                  </a:ext>
                </a:extLst>
              </p:cNvPr>
              <p:cNvSpPr/>
              <p:nvPr/>
            </p:nvSpPr>
            <p:spPr>
              <a:xfrm>
                <a:off x="3800854" y="4728679"/>
                <a:ext cx="1024124" cy="1013748"/>
              </a:xfrm>
              <a:prstGeom prst="ellipse">
                <a:avLst/>
              </a:prstGeom>
              <a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err="1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1847B26-FB3A-B69D-E448-9669FCAFAEF3}"/>
                </a:ext>
              </a:extLst>
            </p:cNvPr>
            <p:cNvGrpSpPr/>
            <p:nvPr/>
          </p:nvGrpSpPr>
          <p:grpSpPr>
            <a:xfrm>
              <a:off x="461768" y="4728679"/>
              <a:ext cx="3043428" cy="1013748"/>
              <a:chOff x="461768" y="4728679"/>
              <a:chExt cx="3043428" cy="1013748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6273AB4-369C-D42C-D402-494E2DF491CE}"/>
                  </a:ext>
                </a:extLst>
              </p:cNvPr>
              <p:cNvGrpSpPr/>
              <p:nvPr/>
            </p:nvGrpSpPr>
            <p:grpSpPr>
              <a:xfrm>
                <a:off x="1636773" y="4992623"/>
                <a:ext cx="1868423" cy="475486"/>
                <a:chOff x="1609342" y="1645919"/>
                <a:chExt cx="2446022" cy="475486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579461A-429A-06E1-5AF5-ACD70A5FA299}"/>
                    </a:ext>
                  </a:extLst>
                </p:cNvPr>
                <p:cNvSpPr txBox="1"/>
                <p:nvPr/>
              </p:nvSpPr>
              <p:spPr>
                <a:xfrm>
                  <a:off x="1609342" y="1645919"/>
                  <a:ext cx="2446018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600" b="1"/>
                    <a:t>Kieran McConnell</a:t>
                  </a:r>
                  <a:endParaRPr lang="en-US" sz="1600" b="1" noProof="0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E89F386-B368-0F14-1385-C3C1F1A568D5}"/>
                    </a:ext>
                  </a:extLst>
                </p:cNvPr>
                <p:cNvSpPr txBox="1"/>
                <p:nvPr/>
              </p:nvSpPr>
              <p:spPr>
                <a:xfrm>
                  <a:off x="1609344" y="1920237"/>
                  <a:ext cx="2446020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200" noProof="0"/>
                    <a:t>Business Value Lead</a:t>
                  </a:r>
                </a:p>
              </p:txBody>
            </p:sp>
          </p:grp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CDEC7DF-6FCB-3697-8CA5-8C8B2F0FD068}"/>
                  </a:ext>
                </a:extLst>
              </p:cNvPr>
              <p:cNvSpPr/>
              <p:nvPr/>
            </p:nvSpPr>
            <p:spPr>
              <a:xfrm>
                <a:off x="461768" y="4728679"/>
                <a:ext cx="1024124" cy="1013748"/>
              </a:xfrm>
              <a:prstGeom prst="ellipse">
                <a:avLst/>
              </a:prstGeom>
              <a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err="1"/>
              </a:p>
            </p:txBody>
          </p:sp>
        </p:grpSp>
        <p:pic>
          <p:nvPicPr>
            <p:cNvPr id="2050" name="Picture 2" descr="Accenture - Secure Access Service Edge (SASE) - Palo Alto Networks">
              <a:extLst>
                <a:ext uri="{FF2B5EF4-FFF2-40B4-BE49-F238E27FC236}">
                  <a16:creationId xmlns:a16="http://schemas.microsoft.com/office/drawing/2014/main" id="{699B60ED-D8F1-8274-5E80-649DB4C8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9066" y="936449"/>
              <a:ext cx="1550749" cy="4086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C6D3A2-1D3D-BD37-C71B-5B5B621DA81C}"/>
              </a:ext>
            </a:extLst>
          </p:cNvPr>
          <p:cNvGrpSpPr/>
          <p:nvPr/>
        </p:nvGrpSpPr>
        <p:grpSpPr>
          <a:xfrm>
            <a:off x="381000" y="956542"/>
            <a:ext cx="3694170" cy="4924589"/>
            <a:chOff x="7909561" y="817838"/>
            <a:chExt cx="3694170" cy="4924589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606F3E0-5C1B-F282-D1DD-8F25E57C25FC}"/>
                </a:ext>
              </a:extLst>
            </p:cNvPr>
            <p:cNvGrpSpPr/>
            <p:nvPr/>
          </p:nvGrpSpPr>
          <p:grpSpPr>
            <a:xfrm>
              <a:off x="7909561" y="1763488"/>
              <a:ext cx="3355846" cy="1013748"/>
              <a:chOff x="7909561" y="3021807"/>
              <a:chExt cx="3355846" cy="1013748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758621F-C468-E976-0DB7-640B60E32E22}"/>
                  </a:ext>
                </a:extLst>
              </p:cNvPr>
              <p:cNvSpPr/>
              <p:nvPr/>
            </p:nvSpPr>
            <p:spPr>
              <a:xfrm>
                <a:off x="7909561" y="3021807"/>
                <a:ext cx="1024124" cy="101374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err="1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37B9DEC-7A2D-A41F-71B8-C9FAE9F9F6DB}"/>
                  </a:ext>
                </a:extLst>
              </p:cNvPr>
              <p:cNvGrpSpPr/>
              <p:nvPr/>
            </p:nvGrpSpPr>
            <p:grpSpPr>
              <a:xfrm>
                <a:off x="9137902" y="3319271"/>
                <a:ext cx="2127505" cy="475486"/>
                <a:chOff x="1609342" y="1645919"/>
                <a:chExt cx="2446022" cy="475486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A1E8F37-235F-DC69-DCB1-B14BFC5E9BBD}"/>
                    </a:ext>
                  </a:extLst>
                </p:cNvPr>
                <p:cNvSpPr txBox="1"/>
                <p:nvPr/>
              </p:nvSpPr>
              <p:spPr>
                <a:xfrm>
                  <a:off x="1609342" y="1645919"/>
                  <a:ext cx="2446018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600" b="1"/>
                    <a:t>Aaron Amendolia</a:t>
                  </a:r>
                  <a:endParaRPr lang="en-US" sz="1600" b="1" noProof="0"/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56467FD-BC44-AA5E-75B3-7217F25BDE90}"/>
                    </a:ext>
                  </a:extLst>
                </p:cNvPr>
                <p:cNvSpPr txBox="1"/>
                <p:nvPr/>
              </p:nvSpPr>
              <p:spPr>
                <a:xfrm>
                  <a:off x="1609344" y="1920237"/>
                  <a:ext cx="2446020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200"/>
                    <a:t>Deputy CIO</a:t>
                  </a:r>
                  <a:endParaRPr lang="en-US" sz="1200" noProof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75A5EE5-1E87-6E11-A95C-173037345FB6}"/>
                </a:ext>
              </a:extLst>
            </p:cNvPr>
            <p:cNvGrpSpPr/>
            <p:nvPr/>
          </p:nvGrpSpPr>
          <p:grpSpPr>
            <a:xfrm>
              <a:off x="7909561" y="4728679"/>
              <a:ext cx="3493006" cy="1013748"/>
              <a:chOff x="7909561" y="1331688"/>
              <a:chExt cx="3493006" cy="1013748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BCD0160-B3E7-8A07-2E7B-DF82AF5F11B3}"/>
                  </a:ext>
                </a:extLst>
              </p:cNvPr>
              <p:cNvGrpSpPr/>
              <p:nvPr/>
            </p:nvGrpSpPr>
            <p:grpSpPr>
              <a:xfrm>
                <a:off x="9137902" y="1645919"/>
                <a:ext cx="2264665" cy="475486"/>
                <a:chOff x="1609342" y="1645919"/>
                <a:chExt cx="2446022" cy="475486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0B048E8-7E19-8775-59A0-B1AE8730EDF9}"/>
                    </a:ext>
                  </a:extLst>
                </p:cNvPr>
                <p:cNvSpPr txBox="1"/>
                <p:nvPr/>
              </p:nvSpPr>
              <p:spPr>
                <a:xfrm>
                  <a:off x="1609342" y="1645919"/>
                  <a:ext cx="2446018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600" b="1"/>
                    <a:t>John Noble</a:t>
                  </a:r>
                  <a:endParaRPr lang="en-US" sz="1600" b="1" noProof="0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99979EF-F857-16F3-C3F2-A04E3E5D6433}"/>
                    </a:ext>
                  </a:extLst>
                </p:cNvPr>
                <p:cNvSpPr txBox="1"/>
                <p:nvPr/>
              </p:nvSpPr>
              <p:spPr>
                <a:xfrm>
                  <a:off x="1609344" y="1920237"/>
                  <a:ext cx="2446020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200"/>
                    <a:t>Director, Club &amp; Stadium IT</a:t>
                  </a:r>
                  <a:endParaRPr lang="en-US" sz="1200" noProof="0"/>
                </a:p>
              </p:txBody>
            </p:sp>
          </p:grp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CE8CE9DA-20D2-4F79-0FC9-02C74DB24556}"/>
                  </a:ext>
                </a:extLst>
              </p:cNvPr>
              <p:cNvSpPr/>
              <p:nvPr/>
            </p:nvSpPr>
            <p:spPr>
              <a:xfrm>
                <a:off x="7909561" y="1331688"/>
                <a:ext cx="1024124" cy="1013748"/>
              </a:xfrm>
              <a:prstGeom prst="ellipse">
                <a:avLst/>
              </a:prstGeom>
              <a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err="1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44C3EE8-5333-85E6-9195-B7F796778BAE}"/>
                </a:ext>
              </a:extLst>
            </p:cNvPr>
            <p:cNvGrpSpPr/>
            <p:nvPr/>
          </p:nvGrpSpPr>
          <p:grpSpPr>
            <a:xfrm>
              <a:off x="7909561" y="3241942"/>
              <a:ext cx="3694170" cy="1013748"/>
              <a:chOff x="7909561" y="4728679"/>
              <a:chExt cx="3694170" cy="1013748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3238C434-A634-26F2-AB20-E868F9C47712}"/>
                  </a:ext>
                </a:extLst>
              </p:cNvPr>
              <p:cNvGrpSpPr/>
              <p:nvPr/>
            </p:nvGrpSpPr>
            <p:grpSpPr>
              <a:xfrm>
                <a:off x="9137902" y="4991098"/>
                <a:ext cx="2465829" cy="475486"/>
                <a:chOff x="1609342" y="1645919"/>
                <a:chExt cx="2446022" cy="475486"/>
              </a:xfrm>
            </p:grpSpPr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7120C2A-03A2-3155-0403-BC6B5CDDBF6A}"/>
                    </a:ext>
                  </a:extLst>
                </p:cNvPr>
                <p:cNvSpPr txBox="1"/>
                <p:nvPr/>
              </p:nvSpPr>
              <p:spPr>
                <a:xfrm>
                  <a:off x="1609342" y="1645919"/>
                  <a:ext cx="2446018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600" b="1"/>
                    <a:t>Sandra Manigault</a:t>
                  </a:r>
                  <a:endParaRPr lang="en-US" sz="1600" b="1" noProof="0"/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7028A17-8339-52D5-44C2-D7440DA9F5F2}"/>
                    </a:ext>
                  </a:extLst>
                </p:cNvPr>
                <p:cNvSpPr txBox="1"/>
                <p:nvPr/>
              </p:nvSpPr>
              <p:spPr>
                <a:xfrm>
                  <a:off x="1609344" y="1920237"/>
                  <a:ext cx="2446020" cy="2011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l" defTabSz="228600">
                    <a:spcAft>
                      <a:spcPts val="1200"/>
                    </a:spcAft>
                  </a:pPr>
                  <a:r>
                    <a:rPr lang="en-US" sz="1200"/>
                    <a:t>VP, IT Strategy &amp; Business Ops</a:t>
                  </a:r>
                  <a:endParaRPr lang="en-US" sz="1200" noProof="0"/>
                </a:p>
              </p:txBody>
            </p:sp>
          </p:grp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630B594-91ED-3C57-2406-FFC795FC3F54}"/>
                  </a:ext>
                </a:extLst>
              </p:cNvPr>
              <p:cNvSpPr/>
              <p:nvPr/>
            </p:nvSpPr>
            <p:spPr>
              <a:xfrm>
                <a:off x="7909561" y="4728679"/>
                <a:ext cx="1024124" cy="1013748"/>
              </a:xfrm>
              <a:prstGeom prst="ellipse">
                <a:avLst/>
              </a:prstGeom>
              <a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err="1"/>
              </a:p>
            </p:txBody>
          </p:sp>
        </p:grpSp>
        <p:pic>
          <p:nvPicPr>
            <p:cNvPr id="2052" name="Picture 4" descr="NFL Logo (National Football League), symbol, meaning, history, PNG, brand">
              <a:extLst>
                <a:ext uri="{FF2B5EF4-FFF2-40B4-BE49-F238E27FC236}">
                  <a16:creationId xmlns:a16="http://schemas.microsoft.com/office/drawing/2014/main" id="{7A301F1C-5564-EC59-2977-2F0C3E4130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69" r="26492"/>
            <a:stretch>
              <a:fillRect/>
            </a:stretch>
          </p:blipFill>
          <p:spPr bwMode="auto">
            <a:xfrm>
              <a:off x="9624330" y="817838"/>
              <a:ext cx="558331" cy="679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5709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4D0726C-77EC-B5CD-5672-FB34F5D2B6F5}"/>
              </a:ext>
            </a:extLst>
          </p:cNvPr>
          <p:cNvSpPr/>
          <p:nvPr/>
        </p:nvSpPr>
        <p:spPr>
          <a:xfrm>
            <a:off x="0" y="0"/>
            <a:ext cx="12192000" cy="92354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A897E-84E4-CD8A-598E-FB763204A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236220"/>
            <a:ext cx="11430000" cy="469392"/>
          </a:xfrm>
        </p:spPr>
        <p:txBody>
          <a:bodyPr/>
          <a:lstStyle/>
          <a:p>
            <a:r>
              <a:rPr lang="en-US" sz="2400">
                <a:solidFill>
                  <a:schemeClr val="bg1"/>
                </a:solidFill>
              </a:rPr>
              <a:t>Stadium Technology Scorecard | Phase 2</a:t>
            </a:r>
            <a:br>
              <a:rPr lang="en-US" sz="2400">
                <a:solidFill>
                  <a:schemeClr val="bg1"/>
                </a:solidFill>
              </a:rPr>
            </a:br>
            <a:r>
              <a:rPr lang="en-US" sz="1200" b="0">
                <a:solidFill>
                  <a:schemeClr val="bg1">
                    <a:lumMod val="85000"/>
                  </a:schemeClr>
                </a:solidFill>
              </a:rPr>
              <a:t>Project Scope &amp; Opportunity Areas</a:t>
            </a: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4" name="Picture 4" descr="NFL Logo (National Football League), symbol, meaning, history, PNG, brand">
            <a:extLst>
              <a:ext uri="{FF2B5EF4-FFF2-40B4-BE49-F238E27FC236}">
                <a16:creationId xmlns:a16="http://schemas.microsoft.com/office/drawing/2014/main" id="{2EFE7ADE-4827-8EE2-2303-501291FED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9" r="26492"/>
          <a:stretch>
            <a:fillRect/>
          </a:stretch>
        </p:blipFill>
        <p:spPr bwMode="auto">
          <a:xfrm>
            <a:off x="11334965" y="131303"/>
            <a:ext cx="558331" cy="67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8E0E51-7DFC-BEF7-5663-2B47085ABCA8}"/>
              </a:ext>
            </a:extLst>
          </p:cNvPr>
          <p:cNvCxnSpPr>
            <a:cxnSpLocks/>
          </p:cNvCxnSpPr>
          <p:nvPr/>
        </p:nvCxnSpPr>
        <p:spPr>
          <a:xfrm>
            <a:off x="298704" y="1335024"/>
            <a:ext cx="593750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65E09C9-1B7E-A064-28BE-8A61EA323138}"/>
              </a:ext>
            </a:extLst>
          </p:cNvPr>
          <p:cNvCxnSpPr>
            <a:cxnSpLocks/>
          </p:cNvCxnSpPr>
          <p:nvPr/>
        </p:nvCxnSpPr>
        <p:spPr>
          <a:xfrm>
            <a:off x="6611112" y="923544"/>
            <a:ext cx="0" cy="5934456"/>
          </a:xfrm>
          <a:prstGeom prst="line">
            <a:avLst/>
          </a:prstGeom>
          <a:ln w="28575">
            <a:solidFill>
              <a:srgbClr val="07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15DCA1-1259-5554-3A41-405825814554}"/>
              </a:ext>
            </a:extLst>
          </p:cNvPr>
          <p:cNvCxnSpPr>
            <a:cxnSpLocks/>
          </p:cNvCxnSpPr>
          <p:nvPr/>
        </p:nvCxnSpPr>
        <p:spPr>
          <a:xfrm>
            <a:off x="6848856" y="1335024"/>
            <a:ext cx="504444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0111600-C9D4-A8C1-3820-86A370CD3DB7}"/>
              </a:ext>
            </a:extLst>
          </p:cNvPr>
          <p:cNvSpPr txBox="1"/>
          <p:nvPr/>
        </p:nvSpPr>
        <p:spPr>
          <a:xfrm>
            <a:off x="298704" y="1072896"/>
            <a:ext cx="3913632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 b="1" noProof="0">
                <a:solidFill>
                  <a:srgbClr val="072C62"/>
                </a:solidFill>
              </a:rPr>
              <a:t>PROJECT OVERVIEW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7C433F-80ED-D2F0-3836-12FAC77C8B14}"/>
              </a:ext>
            </a:extLst>
          </p:cNvPr>
          <p:cNvSpPr txBox="1"/>
          <p:nvPr/>
        </p:nvSpPr>
        <p:spPr>
          <a:xfrm>
            <a:off x="6848855" y="1072896"/>
            <a:ext cx="4879845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 b="1">
                <a:solidFill>
                  <a:srgbClr val="072C62"/>
                </a:solidFill>
              </a:rPr>
              <a:t>OPPORTUNITY AREAS THROUGH BENCHMARKING</a:t>
            </a:r>
            <a:endParaRPr lang="en-US" sz="1200" b="1" noProof="0">
              <a:solidFill>
                <a:srgbClr val="072C6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4D909C-ED1F-3B8E-4D6A-963E499EE345}"/>
              </a:ext>
            </a:extLst>
          </p:cNvPr>
          <p:cNvSpPr txBox="1"/>
          <p:nvPr/>
        </p:nvSpPr>
        <p:spPr>
          <a:xfrm>
            <a:off x="298704" y="1414273"/>
            <a:ext cx="6001511" cy="1237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1200"/>
              <a:t>Accenture will assist the NFL in </a:t>
            </a:r>
            <a:r>
              <a:rPr lang="en-US" sz="1200" b="1"/>
              <a:t>designing, building, and launching</a:t>
            </a:r>
            <a:r>
              <a:rPr lang="en-US" sz="1200"/>
              <a:t> a Stadium Technology Scorecard Dashboard — a Tableau-based visualization that CAN scores and rank all </a:t>
            </a:r>
            <a:r>
              <a:rPr lang="en-US" sz="1200" b="1"/>
              <a:t>32 NFL clubs and 3 international teams</a:t>
            </a:r>
            <a:r>
              <a:rPr lang="en-US" sz="1200"/>
              <a:t> across fan experience and venue technology dimensions. The dashboard will surface performance gaps and support data-driven investment decisions across stadium operations and technology infrastructure.</a:t>
            </a:r>
            <a:endParaRPr lang="en-US" sz="1200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B773A9-D622-EF5F-E39B-E826AA37E2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8704" y="2651757"/>
            <a:ext cx="6074660" cy="3453769"/>
          </a:xfrm>
          <a:prstGeom prst="rect">
            <a:avLst/>
          </a:prstGeom>
          <a:solidFill>
            <a:srgbClr val="07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C1696E-3B01-4AA8-ED54-480B0C33BD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1853" y="2651758"/>
            <a:ext cx="6001511" cy="34537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CE9358-009F-5510-439F-152F967DE9F5}"/>
              </a:ext>
            </a:extLst>
          </p:cNvPr>
          <p:cNvSpPr txBox="1"/>
          <p:nvPr/>
        </p:nvSpPr>
        <p:spPr>
          <a:xfrm>
            <a:off x="470154" y="2731005"/>
            <a:ext cx="3913632" cy="228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200" b="1" noProof="0">
                <a:solidFill>
                  <a:srgbClr val="072C62"/>
                </a:solidFill>
              </a:rPr>
              <a:t>IN-SCOPE ACTIVITIES</a:t>
            </a:r>
          </a:p>
        </p:txBody>
      </p:sp>
      <p:pic>
        <p:nvPicPr>
          <p:cNvPr id="32" name="Graphic 31" descr="Checkbox Checked with solid fill">
            <a:extLst>
              <a:ext uri="{FF2B5EF4-FFF2-40B4-BE49-F238E27FC236}">
                <a16:creationId xmlns:a16="http://schemas.microsoft.com/office/drawing/2014/main" id="{DA236CCE-ECFC-C5E0-3763-4BC8087C3A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104" y="3070476"/>
            <a:ext cx="323850" cy="323850"/>
          </a:xfrm>
          <a:prstGeom prst="rect">
            <a:avLst/>
          </a:prstGeom>
        </p:spPr>
      </p:pic>
      <p:pic>
        <p:nvPicPr>
          <p:cNvPr id="33" name="Graphic 32" descr="Checkbox Checked with solid fill">
            <a:extLst>
              <a:ext uri="{FF2B5EF4-FFF2-40B4-BE49-F238E27FC236}">
                <a16:creationId xmlns:a16="http://schemas.microsoft.com/office/drawing/2014/main" id="{4C8A8316-4D72-1FFA-2028-CB4465F841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104" y="3552822"/>
            <a:ext cx="323850" cy="3238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714092D-BC51-3B77-D2A6-3F828C1FF679}"/>
              </a:ext>
            </a:extLst>
          </p:cNvPr>
          <p:cNvSpPr txBox="1"/>
          <p:nvPr/>
        </p:nvSpPr>
        <p:spPr>
          <a:xfrm>
            <a:off x="774954" y="3105150"/>
            <a:ext cx="5044821" cy="3585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 b="1"/>
              <a:t>Framework refinement</a:t>
            </a:r>
            <a:r>
              <a:rPr lang="en-US" sz="1200"/>
              <a:t> — align existing data to fan experience journey points and key technology enablers</a:t>
            </a:r>
          </a:p>
          <a:p>
            <a:endParaRPr lang="en-US" sz="800"/>
          </a:p>
          <a:p>
            <a:r>
              <a:rPr lang="en-US" sz="1200" b="1"/>
              <a:t>Survey design &amp; validation</a:t>
            </a:r>
            <a:r>
              <a:rPr lang="en-US" sz="1200"/>
              <a:t> — develop survey catalog and validate with 3 NFL clubs via working sessions</a:t>
            </a:r>
          </a:p>
          <a:p>
            <a:endParaRPr lang="en-US" sz="800"/>
          </a:p>
          <a:p>
            <a:r>
              <a:rPr lang="en-US" sz="1200" b="1"/>
              <a:t>Dashboard build &amp; test</a:t>
            </a:r>
            <a:r>
              <a:rPr lang="en-US" sz="1200"/>
              <a:t> — develop backend logic, Tableau visualization, and functional testing for all 35 teams</a:t>
            </a:r>
          </a:p>
          <a:p>
            <a:endParaRPr lang="en-US" sz="800"/>
          </a:p>
          <a:p>
            <a:r>
              <a:rPr lang="en-US" sz="1200" b="1"/>
              <a:t>Voice of the Fan integration</a:t>
            </a:r>
            <a:r>
              <a:rPr lang="en-US" sz="1200"/>
              <a:t> — incorporate 2 survey questions to correlate fan sentiment with infrastructure data</a:t>
            </a:r>
          </a:p>
          <a:p>
            <a:endParaRPr lang="en-US" sz="800"/>
          </a:p>
          <a:p>
            <a:r>
              <a:rPr lang="en-US" sz="1200" b="1"/>
              <a:t>Production release</a:t>
            </a:r>
            <a:r>
              <a:rPr lang="en-US" sz="1200"/>
              <a:t> — finalize survey &amp; dashboard; provide NFL access to share with all clubs</a:t>
            </a:r>
          </a:p>
          <a:p>
            <a:endParaRPr lang="en-US" sz="800"/>
          </a:p>
          <a:p>
            <a:r>
              <a:rPr lang="en-US" sz="1200" b="1"/>
              <a:t>User guides</a:t>
            </a:r>
            <a:r>
              <a:rPr lang="en-US" sz="1200"/>
              <a:t> — survey and dashboard guides for end-user consumption</a:t>
            </a:r>
          </a:p>
        </p:txBody>
      </p:sp>
      <p:pic>
        <p:nvPicPr>
          <p:cNvPr id="35" name="Graphic 34" descr="Checkbox Checked with solid fill">
            <a:extLst>
              <a:ext uri="{FF2B5EF4-FFF2-40B4-BE49-F238E27FC236}">
                <a16:creationId xmlns:a16="http://schemas.microsoft.com/office/drawing/2014/main" id="{49F177C9-181C-9BEC-07BF-947A3B76D8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104" y="4039547"/>
            <a:ext cx="323850" cy="323850"/>
          </a:xfrm>
          <a:prstGeom prst="rect">
            <a:avLst/>
          </a:prstGeom>
        </p:spPr>
      </p:pic>
      <p:pic>
        <p:nvPicPr>
          <p:cNvPr id="36" name="Graphic 35" descr="Checkbox Checked with solid fill">
            <a:extLst>
              <a:ext uri="{FF2B5EF4-FFF2-40B4-BE49-F238E27FC236}">
                <a16:creationId xmlns:a16="http://schemas.microsoft.com/office/drawing/2014/main" id="{0FF99C10-CC0B-3488-D342-17A041589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104" y="4528478"/>
            <a:ext cx="323850" cy="323850"/>
          </a:xfrm>
          <a:prstGeom prst="rect">
            <a:avLst/>
          </a:prstGeom>
        </p:spPr>
      </p:pic>
      <p:pic>
        <p:nvPicPr>
          <p:cNvPr id="37" name="Graphic 36" descr="Checkbox Checked with solid fill">
            <a:extLst>
              <a:ext uri="{FF2B5EF4-FFF2-40B4-BE49-F238E27FC236}">
                <a16:creationId xmlns:a16="http://schemas.microsoft.com/office/drawing/2014/main" id="{24DE98C2-B8B8-2CFE-3AAB-2C944AB6F6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104" y="5010824"/>
            <a:ext cx="323850" cy="323850"/>
          </a:xfrm>
          <a:prstGeom prst="rect">
            <a:avLst/>
          </a:prstGeom>
        </p:spPr>
      </p:pic>
      <p:pic>
        <p:nvPicPr>
          <p:cNvPr id="38" name="Graphic 37" descr="Checkbox Checked with solid fill">
            <a:extLst>
              <a:ext uri="{FF2B5EF4-FFF2-40B4-BE49-F238E27FC236}">
                <a16:creationId xmlns:a16="http://schemas.microsoft.com/office/drawing/2014/main" id="{CF87460E-9B6C-21D7-E6E2-0BF56129F8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104" y="5507074"/>
            <a:ext cx="323850" cy="323850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BEFD8B1C-513D-F4AE-7E32-739FE6D55C1C}"/>
              </a:ext>
            </a:extLst>
          </p:cNvPr>
          <p:cNvGrpSpPr/>
          <p:nvPr/>
        </p:nvGrpSpPr>
        <p:grpSpPr>
          <a:xfrm>
            <a:off x="6848855" y="1504949"/>
            <a:ext cx="2447544" cy="1619927"/>
            <a:chOff x="6848855" y="1504949"/>
            <a:chExt cx="2447544" cy="161992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4FDC1C1-2F2C-8923-1CB4-95349CB4EA0F}"/>
                </a:ext>
              </a:extLst>
            </p:cNvPr>
            <p:cNvSpPr/>
            <p:nvPr/>
          </p:nvSpPr>
          <p:spPr>
            <a:xfrm>
              <a:off x="6848855" y="1504949"/>
              <a:ext cx="2447544" cy="1619927"/>
            </a:xfrm>
            <a:prstGeom prst="roundRect">
              <a:avLst>
                <a:gd name="adj" fmla="val 6322"/>
              </a:avLst>
            </a:prstGeom>
            <a:solidFill>
              <a:srgbClr val="072C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03FC944-7234-4AE1-92D1-F97B8ECE439F}"/>
                </a:ext>
              </a:extLst>
            </p:cNvPr>
            <p:cNvSpPr txBox="1"/>
            <p:nvPr/>
          </p:nvSpPr>
          <p:spPr>
            <a:xfrm>
              <a:off x="6986017" y="1609536"/>
              <a:ext cx="1891283" cy="2068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000" noProof="0">
                  <a:solidFill>
                    <a:schemeClr val="bg1">
                      <a:lumMod val="85000"/>
                    </a:schemeClr>
                  </a:solidFill>
                </a:rPr>
                <a:t>01</a:t>
              </a:r>
            </a:p>
            <a:p>
              <a:pPr algn="l" defTabSz="228600">
                <a:spcAft>
                  <a:spcPts val="1200"/>
                </a:spcAft>
              </a:pPr>
              <a:r>
                <a:rPr lang="en-US" sz="1000" b="1" noProof="0">
                  <a:solidFill>
                    <a:schemeClr val="bg1"/>
                  </a:solidFill>
                </a:rPr>
                <a:t>Fan Journey Experience</a:t>
              </a:r>
            </a:p>
            <a:p>
              <a:pPr defTabSz="228600">
                <a:spcAft>
                  <a:spcPts val="1200"/>
                </a:spcAft>
              </a:pPr>
              <a:r>
                <a:rPr lang="en-US" sz="800">
                  <a:solidFill>
                    <a:schemeClr val="bg1"/>
                  </a:solidFill>
                </a:rPr>
                <a:t>Ticketing, gate entry, wayfinding, concessions, merchandise &amp; in-game social touchpoints</a:t>
              </a:r>
              <a:endParaRPr lang="en-US" sz="800" noProof="0">
                <a:solidFill>
                  <a:schemeClr val="bg1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9519745-ACB2-C28D-03C8-539EBE4AE58F}"/>
              </a:ext>
            </a:extLst>
          </p:cNvPr>
          <p:cNvGrpSpPr/>
          <p:nvPr/>
        </p:nvGrpSpPr>
        <p:grpSpPr>
          <a:xfrm>
            <a:off x="9445752" y="1504949"/>
            <a:ext cx="2447544" cy="1619927"/>
            <a:chOff x="9445752" y="1504949"/>
            <a:chExt cx="2447544" cy="161992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43C938F-6C2B-E347-1DBB-3D888B08D8F8}"/>
                </a:ext>
              </a:extLst>
            </p:cNvPr>
            <p:cNvSpPr/>
            <p:nvPr/>
          </p:nvSpPr>
          <p:spPr>
            <a:xfrm>
              <a:off x="9445752" y="1504949"/>
              <a:ext cx="2447544" cy="1619927"/>
            </a:xfrm>
            <a:prstGeom prst="roundRect">
              <a:avLst>
                <a:gd name="adj" fmla="val 6322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E29E580-116D-8828-6672-9E029804609C}"/>
                </a:ext>
              </a:extLst>
            </p:cNvPr>
            <p:cNvSpPr txBox="1"/>
            <p:nvPr/>
          </p:nvSpPr>
          <p:spPr>
            <a:xfrm>
              <a:off x="9534141" y="1609536"/>
              <a:ext cx="2194559" cy="38118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000" noProof="0">
                  <a:solidFill>
                    <a:schemeClr val="bg1">
                      <a:lumMod val="85000"/>
                    </a:schemeClr>
                  </a:solidFill>
                </a:rPr>
                <a:t>02</a:t>
              </a:r>
            </a:p>
            <a:p>
              <a:pPr algn="l" defTabSz="228600">
                <a:spcAft>
                  <a:spcPts val="1200"/>
                </a:spcAft>
              </a:pPr>
              <a:r>
                <a:rPr lang="en-US" sz="1000" b="1">
                  <a:solidFill>
                    <a:schemeClr val="bg1"/>
                  </a:solidFill>
                </a:rPr>
                <a:t>Connectivity &amp; Infrastructure</a:t>
              </a:r>
            </a:p>
            <a:p>
              <a:pPr defTabSz="228600">
                <a:spcAft>
                  <a:spcPts val="1200"/>
                </a:spcAft>
              </a:pPr>
              <a:r>
                <a:rPr lang="en-US" sz="800">
                  <a:solidFill>
                    <a:schemeClr val="bg1"/>
                  </a:solidFill>
                </a:rPr>
                <a:t>Network, Wi-Fi, DAS, ISP circuits, edge/cloud, and digital services backbone</a:t>
              </a:r>
            </a:p>
            <a:p>
              <a:pPr algn="l" defTabSz="228600">
                <a:spcAft>
                  <a:spcPts val="1200"/>
                </a:spcAft>
              </a:pPr>
              <a:endParaRPr lang="en-US" sz="1000" b="1" noProof="0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844BBDB-25A8-A507-39DD-9E89861E1E72}"/>
              </a:ext>
            </a:extLst>
          </p:cNvPr>
          <p:cNvGrpSpPr/>
          <p:nvPr/>
        </p:nvGrpSpPr>
        <p:grpSpPr>
          <a:xfrm>
            <a:off x="6848855" y="3286124"/>
            <a:ext cx="2447544" cy="1619927"/>
            <a:chOff x="6848855" y="1504949"/>
            <a:chExt cx="2447544" cy="1619927"/>
          </a:xfrm>
          <a:solidFill>
            <a:srgbClr val="C00000"/>
          </a:solidFill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955BBFA5-45BC-FDE1-6227-3439B2D770C8}"/>
                </a:ext>
              </a:extLst>
            </p:cNvPr>
            <p:cNvSpPr/>
            <p:nvPr/>
          </p:nvSpPr>
          <p:spPr>
            <a:xfrm>
              <a:off x="6848855" y="1504949"/>
              <a:ext cx="2447544" cy="1619927"/>
            </a:xfrm>
            <a:prstGeom prst="roundRect">
              <a:avLst>
                <a:gd name="adj" fmla="val 63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2454D45-6563-88EE-3058-E01EF8A42A7A}"/>
                </a:ext>
              </a:extLst>
            </p:cNvPr>
            <p:cNvSpPr txBox="1"/>
            <p:nvPr/>
          </p:nvSpPr>
          <p:spPr>
            <a:xfrm>
              <a:off x="6986017" y="1609536"/>
              <a:ext cx="1891283" cy="206879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000" noProof="0">
                  <a:solidFill>
                    <a:schemeClr val="bg1">
                      <a:lumMod val="85000"/>
                    </a:schemeClr>
                  </a:solidFill>
                </a:rPr>
                <a:t>03</a:t>
              </a:r>
            </a:p>
            <a:p>
              <a:pPr algn="l" defTabSz="228600">
                <a:spcAft>
                  <a:spcPts val="1200"/>
                </a:spcAft>
              </a:pPr>
              <a:r>
                <a:rPr lang="en-US" sz="1000" b="1">
                  <a:solidFill>
                    <a:schemeClr val="bg1"/>
                  </a:solidFill>
                </a:rPr>
                <a:t>Stadium Operations</a:t>
              </a:r>
              <a:endParaRPr lang="en-US" sz="1000" b="1" noProof="0">
                <a:solidFill>
                  <a:schemeClr val="bg1"/>
                </a:solidFill>
              </a:endParaRPr>
            </a:p>
            <a:p>
              <a:pPr algn="l" defTabSz="228600">
                <a:spcAft>
                  <a:spcPts val="1200"/>
                </a:spcAft>
              </a:pPr>
              <a:r>
                <a:rPr lang="en-US" sz="800">
                  <a:solidFill>
                    <a:schemeClr val="bg1"/>
                  </a:solidFill>
                </a:rPr>
                <a:t>Safety &amp; security, crowd control, food &amp; beverage, VIP suite analytics, ticket </a:t>
              </a:r>
              <a:r>
                <a:rPr lang="en-US" sz="800" err="1">
                  <a:solidFill>
                    <a:schemeClr val="bg1"/>
                  </a:solidFill>
                </a:rPr>
                <a:t>acceptatnce</a:t>
              </a:r>
              <a:endParaRPr lang="en-US" sz="800" noProof="0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451DBFD-934B-05E4-EBFB-E491638EECA3}"/>
              </a:ext>
            </a:extLst>
          </p:cNvPr>
          <p:cNvGrpSpPr/>
          <p:nvPr/>
        </p:nvGrpSpPr>
        <p:grpSpPr>
          <a:xfrm>
            <a:off x="9445752" y="3286124"/>
            <a:ext cx="2447544" cy="1619927"/>
            <a:chOff x="9445752" y="1504949"/>
            <a:chExt cx="2447544" cy="1619927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886434F0-A8BF-382D-7955-2F7A9564F625}"/>
                </a:ext>
              </a:extLst>
            </p:cNvPr>
            <p:cNvSpPr/>
            <p:nvPr/>
          </p:nvSpPr>
          <p:spPr>
            <a:xfrm>
              <a:off x="9445752" y="1504949"/>
              <a:ext cx="2447544" cy="1619927"/>
            </a:xfrm>
            <a:prstGeom prst="roundRect">
              <a:avLst>
                <a:gd name="adj" fmla="val 6322"/>
              </a:avLst>
            </a:prstGeom>
            <a:solidFill>
              <a:srgbClr val="072C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816E0CD-D323-C19D-F499-AF4FCFB6947C}"/>
                </a:ext>
              </a:extLst>
            </p:cNvPr>
            <p:cNvSpPr txBox="1"/>
            <p:nvPr/>
          </p:nvSpPr>
          <p:spPr>
            <a:xfrm>
              <a:off x="9534141" y="1609536"/>
              <a:ext cx="2194559" cy="48596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000" noProof="0">
                  <a:solidFill>
                    <a:schemeClr val="bg1">
                      <a:lumMod val="85000"/>
                    </a:schemeClr>
                  </a:solidFill>
                </a:rPr>
                <a:t>04</a:t>
              </a:r>
            </a:p>
            <a:p>
              <a:pPr algn="l" defTabSz="228600">
                <a:spcAft>
                  <a:spcPts val="1200"/>
                </a:spcAft>
              </a:pPr>
              <a:r>
                <a:rPr lang="en-US" sz="1000" b="1">
                  <a:solidFill>
                    <a:schemeClr val="bg1"/>
                  </a:solidFill>
                </a:rPr>
                <a:t>Data &amp; AI Enablement</a:t>
              </a:r>
            </a:p>
            <a:p>
              <a:pPr defTabSz="228600">
                <a:spcAft>
                  <a:spcPts val="1200"/>
                </a:spcAft>
              </a:pPr>
              <a:r>
                <a:rPr lang="en-US" sz="800">
                  <a:solidFill>
                    <a:schemeClr val="bg1"/>
                  </a:solidFill>
                </a:rPr>
                <a:t>Application intelligence, data capture </a:t>
              </a:r>
              <a:r>
                <a:rPr lang="en-US" sz="800" err="1">
                  <a:solidFill>
                    <a:schemeClr val="bg1"/>
                  </a:solidFill>
                </a:rPr>
                <a:t>maturirt</a:t>
              </a:r>
              <a:r>
                <a:rPr lang="en-US" sz="800">
                  <a:solidFill>
                    <a:schemeClr val="bg1"/>
                  </a:solidFill>
                </a:rPr>
                <a:t>, scoring logic &amp; AI-driven logistics</a:t>
              </a:r>
            </a:p>
            <a:p>
              <a:pPr algn="l" defTabSz="228600">
                <a:spcAft>
                  <a:spcPts val="1200"/>
                </a:spcAft>
              </a:pPr>
              <a:endParaRPr lang="en-US" sz="1000" b="1" noProof="0">
                <a:solidFill>
                  <a:schemeClr val="bg1"/>
                </a:solidFill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9FBDFA6-8F1A-10A5-F306-F18B1D94A8E9}"/>
              </a:ext>
            </a:extLst>
          </p:cNvPr>
          <p:cNvGrpSpPr/>
          <p:nvPr/>
        </p:nvGrpSpPr>
        <p:grpSpPr>
          <a:xfrm>
            <a:off x="6848855" y="5068670"/>
            <a:ext cx="2447544" cy="1619927"/>
            <a:chOff x="6848855" y="1504949"/>
            <a:chExt cx="2447544" cy="1619927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8FC618A-50C3-1876-4D7D-52CA4E8659E8}"/>
                </a:ext>
              </a:extLst>
            </p:cNvPr>
            <p:cNvSpPr/>
            <p:nvPr/>
          </p:nvSpPr>
          <p:spPr>
            <a:xfrm>
              <a:off x="6848855" y="1504949"/>
              <a:ext cx="2447544" cy="1619927"/>
            </a:xfrm>
            <a:prstGeom prst="roundRect">
              <a:avLst>
                <a:gd name="adj" fmla="val 6322"/>
              </a:avLst>
            </a:prstGeom>
            <a:solidFill>
              <a:srgbClr val="072C6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8C215B3-399B-D334-2D80-299E4BAB294B}"/>
                </a:ext>
              </a:extLst>
            </p:cNvPr>
            <p:cNvSpPr txBox="1"/>
            <p:nvPr/>
          </p:nvSpPr>
          <p:spPr>
            <a:xfrm>
              <a:off x="6986017" y="1609536"/>
              <a:ext cx="1891283" cy="2068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000" noProof="0">
                  <a:solidFill>
                    <a:schemeClr val="bg1">
                      <a:lumMod val="85000"/>
                    </a:schemeClr>
                  </a:solidFill>
                </a:rPr>
                <a:t>05</a:t>
              </a:r>
            </a:p>
            <a:p>
              <a:pPr algn="l" defTabSz="228600">
                <a:spcAft>
                  <a:spcPts val="1200"/>
                </a:spcAft>
              </a:pPr>
              <a:r>
                <a:rPr lang="en-US" sz="1000" b="1">
                  <a:solidFill>
                    <a:schemeClr val="bg1"/>
                  </a:solidFill>
                </a:rPr>
                <a:t>Transaction &amp; Commerce</a:t>
              </a:r>
              <a:endParaRPr lang="en-US" sz="1000" b="1" noProof="0">
                <a:solidFill>
                  <a:schemeClr val="bg1"/>
                </a:solidFill>
              </a:endParaRPr>
            </a:p>
            <a:p>
              <a:pPr algn="l" defTabSz="228600">
                <a:spcAft>
                  <a:spcPts val="1200"/>
                </a:spcAft>
              </a:pPr>
              <a:r>
                <a:rPr lang="en-US" sz="800">
                  <a:solidFill>
                    <a:schemeClr val="bg1"/>
                  </a:solidFill>
                </a:rPr>
                <a:t>Cashless payments, merchandise tech, concession throughput &amp; revenue optimization</a:t>
              </a:r>
              <a:endParaRPr lang="en-US" sz="800" noProof="0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BFD415A-7BFD-03D2-16A3-A79BC06C56CC}"/>
              </a:ext>
            </a:extLst>
          </p:cNvPr>
          <p:cNvGrpSpPr/>
          <p:nvPr/>
        </p:nvGrpSpPr>
        <p:grpSpPr>
          <a:xfrm>
            <a:off x="9445752" y="5068670"/>
            <a:ext cx="2447544" cy="1619927"/>
            <a:chOff x="9445752" y="1504949"/>
            <a:chExt cx="2447544" cy="1619927"/>
          </a:xfrm>
          <a:solidFill>
            <a:srgbClr val="C00000"/>
          </a:solidFill>
        </p:grpSpPr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FEB1F559-A3CE-9EA7-97B6-F2C89EED12C3}"/>
                </a:ext>
              </a:extLst>
            </p:cNvPr>
            <p:cNvSpPr/>
            <p:nvPr/>
          </p:nvSpPr>
          <p:spPr>
            <a:xfrm>
              <a:off x="9445752" y="1504949"/>
              <a:ext cx="2447544" cy="1619927"/>
            </a:xfrm>
            <a:prstGeom prst="roundRect">
              <a:avLst>
                <a:gd name="adj" fmla="val 632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2CFC92D-1BC6-ED79-5A0D-F498AF6682F5}"/>
                </a:ext>
              </a:extLst>
            </p:cNvPr>
            <p:cNvSpPr txBox="1"/>
            <p:nvPr/>
          </p:nvSpPr>
          <p:spPr>
            <a:xfrm>
              <a:off x="9534141" y="1609536"/>
              <a:ext cx="2194559" cy="381189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US" sz="1000" noProof="0">
                  <a:solidFill>
                    <a:schemeClr val="bg1">
                      <a:lumMod val="85000"/>
                    </a:schemeClr>
                  </a:solidFill>
                </a:rPr>
                <a:t>06</a:t>
              </a:r>
            </a:p>
            <a:p>
              <a:pPr algn="l" defTabSz="228600">
                <a:spcAft>
                  <a:spcPts val="1200"/>
                </a:spcAft>
              </a:pPr>
              <a:r>
                <a:rPr lang="en-US" sz="1000" b="1">
                  <a:solidFill>
                    <a:schemeClr val="bg1"/>
                  </a:solidFill>
                </a:rPr>
                <a:t>Immersive &amp; Future Tech</a:t>
              </a:r>
            </a:p>
            <a:p>
              <a:pPr defTabSz="228600">
                <a:spcAft>
                  <a:spcPts val="1200"/>
                </a:spcAft>
              </a:pPr>
              <a:r>
                <a:rPr lang="en-US" sz="800">
                  <a:solidFill>
                    <a:schemeClr val="bg1"/>
                  </a:solidFill>
                </a:rPr>
                <a:t>Innovation gaps, next-gen fan engagement, global stadium benchmarking trends</a:t>
              </a:r>
            </a:p>
            <a:p>
              <a:pPr algn="l" defTabSz="228600">
                <a:spcAft>
                  <a:spcPts val="1200"/>
                </a:spcAft>
              </a:pPr>
              <a:endParaRPr lang="en-US" sz="1000" b="1" noProof="0">
                <a:solidFill>
                  <a:schemeClr val="bg1"/>
                </a:solidFill>
              </a:endParaRPr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5C054AA-E5FB-10ED-A7D6-39AC848DEC12}"/>
              </a:ext>
            </a:extLst>
          </p:cNvPr>
          <p:cNvSpPr/>
          <p:nvPr/>
        </p:nvSpPr>
        <p:spPr>
          <a:xfrm>
            <a:off x="298704" y="6229350"/>
            <a:ext cx="6074659" cy="459247"/>
          </a:xfrm>
          <a:prstGeom prst="roundRect">
            <a:avLst/>
          </a:prstGeom>
          <a:solidFill>
            <a:srgbClr val="07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6FF1832-916A-FFE1-CB6A-20720E861326}"/>
              </a:ext>
            </a:extLst>
          </p:cNvPr>
          <p:cNvSpPr/>
          <p:nvPr/>
        </p:nvSpPr>
        <p:spPr>
          <a:xfrm>
            <a:off x="5105401" y="6229350"/>
            <a:ext cx="1267962" cy="4592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98853C-B1CB-D0CE-FDA4-6961E4F58272}"/>
              </a:ext>
            </a:extLst>
          </p:cNvPr>
          <p:cNvSpPr txBox="1"/>
          <p:nvPr/>
        </p:nvSpPr>
        <p:spPr>
          <a:xfrm>
            <a:off x="547890" y="6273167"/>
            <a:ext cx="653785" cy="2286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b="1" noProof="0">
                <a:solidFill>
                  <a:schemeClr val="bg1">
                    <a:lumMod val="75000"/>
                  </a:schemeClr>
                </a:solidFill>
              </a:rPr>
              <a:t>START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C148E2B-B7CE-79A0-C681-48AA74011024}"/>
              </a:ext>
            </a:extLst>
          </p:cNvPr>
          <p:cNvSpPr txBox="1"/>
          <p:nvPr/>
        </p:nvSpPr>
        <p:spPr>
          <a:xfrm>
            <a:off x="347865" y="6480882"/>
            <a:ext cx="1099934" cy="2286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800" b="1">
                <a:solidFill>
                  <a:schemeClr val="bg1"/>
                </a:solidFill>
              </a:rPr>
              <a:t>March 25, 2026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D104966-D4C3-6440-E779-791D45F9D5C6}"/>
              </a:ext>
            </a:extLst>
          </p:cNvPr>
          <p:cNvSpPr txBox="1"/>
          <p:nvPr/>
        </p:nvSpPr>
        <p:spPr>
          <a:xfrm>
            <a:off x="1641828" y="6273167"/>
            <a:ext cx="918959" cy="2286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b="1">
                <a:solidFill>
                  <a:schemeClr val="bg1">
                    <a:lumMod val="75000"/>
                  </a:schemeClr>
                </a:solidFill>
              </a:rPr>
              <a:t>FRAMEWORK</a:t>
            </a:r>
            <a:endParaRPr lang="en-US" sz="1000" b="1" noProof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1CD244-8889-50BB-3EB3-0D1733E1FB2E}"/>
              </a:ext>
            </a:extLst>
          </p:cNvPr>
          <p:cNvSpPr txBox="1"/>
          <p:nvPr/>
        </p:nvSpPr>
        <p:spPr>
          <a:xfrm>
            <a:off x="1518003" y="6480882"/>
            <a:ext cx="1099934" cy="2286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800" b="1">
                <a:solidFill>
                  <a:schemeClr val="bg1"/>
                </a:solidFill>
              </a:rPr>
              <a:t>WK - #-#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B53C0D-F15D-ADA4-7B39-73BF93C3AC13}"/>
              </a:ext>
            </a:extLst>
          </p:cNvPr>
          <p:cNvSpPr txBox="1"/>
          <p:nvPr/>
        </p:nvSpPr>
        <p:spPr>
          <a:xfrm>
            <a:off x="2836955" y="6273167"/>
            <a:ext cx="918959" cy="2286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b="1" noProof="0">
                <a:solidFill>
                  <a:schemeClr val="bg1">
                    <a:lumMod val="75000"/>
                  </a:schemeClr>
                </a:solidFill>
              </a:rPr>
              <a:t>SURVEY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525610-034E-D549-4DD7-79FB1A65825A}"/>
              </a:ext>
            </a:extLst>
          </p:cNvPr>
          <p:cNvSpPr txBox="1"/>
          <p:nvPr/>
        </p:nvSpPr>
        <p:spPr>
          <a:xfrm>
            <a:off x="2713130" y="6480882"/>
            <a:ext cx="1099934" cy="2286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800" b="1">
                <a:solidFill>
                  <a:schemeClr val="bg1"/>
                </a:solidFill>
              </a:rPr>
              <a:t>WK - #-#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3C19E8-EBDF-7302-C44F-8AA000654C20}"/>
              </a:ext>
            </a:extLst>
          </p:cNvPr>
          <p:cNvSpPr txBox="1"/>
          <p:nvPr/>
        </p:nvSpPr>
        <p:spPr>
          <a:xfrm>
            <a:off x="3994990" y="6273167"/>
            <a:ext cx="918959" cy="2286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b="1" noProof="0">
                <a:solidFill>
                  <a:schemeClr val="bg1">
                    <a:lumMod val="75000"/>
                  </a:schemeClr>
                </a:solidFill>
              </a:rPr>
              <a:t>DASHBOARD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84D790A-B752-1405-7C42-C3FBACFEB7B7}"/>
              </a:ext>
            </a:extLst>
          </p:cNvPr>
          <p:cNvSpPr txBox="1"/>
          <p:nvPr/>
        </p:nvSpPr>
        <p:spPr>
          <a:xfrm>
            <a:off x="3871165" y="6480882"/>
            <a:ext cx="1099934" cy="2286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800" b="1">
                <a:solidFill>
                  <a:schemeClr val="bg1"/>
                </a:solidFill>
              </a:rPr>
              <a:t>WK - #-#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FD3883C-40DB-5D70-F0B4-5A47A0046992}"/>
              </a:ext>
            </a:extLst>
          </p:cNvPr>
          <p:cNvSpPr txBox="1"/>
          <p:nvPr/>
        </p:nvSpPr>
        <p:spPr>
          <a:xfrm>
            <a:off x="5289613" y="6273167"/>
            <a:ext cx="918959" cy="2286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000" b="1">
                <a:solidFill>
                  <a:schemeClr val="bg1">
                    <a:lumMod val="75000"/>
                  </a:schemeClr>
                </a:solidFill>
              </a:rPr>
              <a:t>GO-LIVE</a:t>
            </a:r>
            <a:endParaRPr lang="en-US" sz="1000" b="1" noProof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E215DFB-F0B1-312F-2849-A0509198B65C}"/>
              </a:ext>
            </a:extLst>
          </p:cNvPr>
          <p:cNvSpPr txBox="1"/>
          <p:nvPr/>
        </p:nvSpPr>
        <p:spPr>
          <a:xfrm>
            <a:off x="5165788" y="6480882"/>
            <a:ext cx="1099934" cy="2286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800" b="1">
                <a:solidFill>
                  <a:schemeClr val="bg1"/>
                </a:solidFill>
              </a:rPr>
              <a:t>MAY 6, 2025</a:t>
            </a:r>
          </a:p>
        </p:txBody>
      </p:sp>
    </p:spTree>
    <p:extLst>
      <p:ext uri="{BB962C8B-B14F-4D97-AF65-F5344CB8AC3E}">
        <p14:creationId xmlns:p14="http://schemas.microsoft.com/office/powerpoint/2010/main" val="1715871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413B8-620B-FB4F-7421-50552A1DE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CEC6660-ACD4-6C7A-48C9-FAC4F8092A28}"/>
              </a:ext>
            </a:extLst>
          </p:cNvPr>
          <p:cNvSpPr/>
          <p:nvPr/>
        </p:nvSpPr>
        <p:spPr>
          <a:xfrm>
            <a:off x="1002191" y="2144282"/>
            <a:ext cx="5543403" cy="143395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493166" sx="101000" sy="101000" algn="ctr" rotWithShape="0">
              <a:prstClr val="black">
                <a:alpha val="15223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37" name="Table 4">
            <a:extLst>
              <a:ext uri="{FF2B5EF4-FFF2-40B4-BE49-F238E27FC236}">
                <a16:creationId xmlns:a16="http://schemas.microsoft.com/office/drawing/2014/main" id="{91E57964-DA1F-DF9C-5F55-150B0B263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515259"/>
              </p:ext>
            </p:extLst>
          </p:nvPr>
        </p:nvGraphicFramePr>
        <p:xfrm>
          <a:off x="307031" y="5515452"/>
          <a:ext cx="969587" cy="757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9587">
                  <a:extLst>
                    <a:ext uri="{9D8B030D-6E8A-4147-A177-3AD203B41FA5}">
                      <a16:colId xmlns:a16="http://schemas.microsoft.com/office/drawing/2014/main" val="2020053135"/>
                    </a:ext>
                  </a:extLst>
                </a:gridCol>
              </a:tblGrid>
              <a:tr h="189385"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chemeClr val="bg1"/>
                          </a:solidFill>
                        </a:rPr>
                        <a:t>Major issues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457814"/>
                  </a:ext>
                </a:extLst>
              </a:tr>
              <a:tr h="189385"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Minor risk</a:t>
                      </a:r>
                    </a:p>
                  </a:txBody>
                  <a:tcPr marT="27432" marB="27432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84206"/>
                  </a:ext>
                </a:extLst>
              </a:tr>
              <a:tr h="189385"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chemeClr val="bg1"/>
                          </a:solidFill>
                        </a:rPr>
                        <a:t>On track</a:t>
                      </a:r>
                    </a:p>
                  </a:txBody>
                  <a:tcPr marT="27432" marB="27432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567603"/>
                  </a:ext>
                </a:extLst>
              </a:tr>
              <a:tr h="189385">
                <a:tc>
                  <a:txBody>
                    <a:bodyPr/>
                    <a:lstStyle/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Not started</a:t>
                      </a:r>
                    </a:p>
                  </a:txBody>
                  <a:tcPr marT="27432" marB="27432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446339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CFFC2C64-DF0C-2D99-0823-A38467CA4B7C}"/>
              </a:ext>
            </a:extLst>
          </p:cNvPr>
          <p:cNvSpPr/>
          <p:nvPr/>
        </p:nvSpPr>
        <p:spPr>
          <a:xfrm>
            <a:off x="297201" y="3631564"/>
            <a:ext cx="981035" cy="580669"/>
          </a:xfrm>
          <a:prstGeom prst="rect">
            <a:avLst/>
          </a:prstGeom>
          <a:solidFill>
            <a:srgbClr val="07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24C1B5-8417-5C72-E7E6-FAACEC2E0937}"/>
              </a:ext>
            </a:extLst>
          </p:cNvPr>
          <p:cNvSpPr/>
          <p:nvPr/>
        </p:nvSpPr>
        <p:spPr>
          <a:xfrm>
            <a:off x="286618" y="4212231"/>
            <a:ext cx="991617" cy="121962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493166" sx="101000" sy="101000" algn="ctr" rotWithShape="0">
              <a:prstClr val="black">
                <a:alpha val="15223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50DB5D-EAA8-AF24-8B4D-6C654CBCA428}"/>
              </a:ext>
            </a:extLst>
          </p:cNvPr>
          <p:cNvSpPr txBox="1"/>
          <p:nvPr/>
        </p:nvSpPr>
        <p:spPr>
          <a:xfrm>
            <a:off x="389817" y="3707745"/>
            <a:ext cx="840827" cy="4283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200" b="1" noProof="0">
                <a:solidFill>
                  <a:schemeClr val="bg1"/>
                </a:solidFill>
              </a:rPr>
              <a:t>Project Health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5BC3BA2-0260-7843-6C6F-75A20246B673}"/>
              </a:ext>
            </a:extLst>
          </p:cNvPr>
          <p:cNvSpPr/>
          <p:nvPr/>
        </p:nvSpPr>
        <p:spPr>
          <a:xfrm>
            <a:off x="486072" y="4485921"/>
            <a:ext cx="603294" cy="603982"/>
          </a:xfrm>
          <a:prstGeom prst="ellipse">
            <a:avLst/>
          </a:prstGeom>
          <a:solidFill>
            <a:srgbClr val="00AD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436D452-6D0A-ACAD-2A9E-B2184AC9C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66117"/>
              </p:ext>
            </p:extLst>
          </p:nvPr>
        </p:nvGraphicFramePr>
        <p:xfrm>
          <a:off x="307032" y="1175393"/>
          <a:ext cx="11641504" cy="868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400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307"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Scope/Objective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Owners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698">
                <a:tc>
                  <a:txBody>
                    <a:bodyPr/>
                    <a:lstStyle/>
                    <a:p>
                      <a:pPr marL="0" marR="0" lvl="0" indent="-228600" algn="l" defTabSz="10972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{scope objective statement}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Kieran McConnell</a:t>
                      </a:r>
                    </a:p>
                    <a:p>
                      <a:r>
                        <a:rPr lang="en-US" sz="1100">
                          <a:latin typeface="+mn-lt"/>
                        </a:rPr>
                        <a:t>Robert Treiber III</a:t>
                      </a:r>
                    </a:p>
                    <a:p>
                      <a:r>
                        <a:rPr lang="en-US" sz="1100">
                          <a:latin typeface="+mn-lt"/>
                        </a:rPr>
                        <a:t>Vikram Arya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2C15DE8F-46F8-542F-5E04-EC60A2F9BF44}"/>
              </a:ext>
            </a:extLst>
          </p:cNvPr>
          <p:cNvSpPr/>
          <p:nvPr/>
        </p:nvSpPr>
        <p:spPr>
          <a:xfrm rot="16200000">
            <a:off x="90917" y="2345914"/>
            <a:ext cx="1438827" cy="1035564"/>
          </a:xfrm>
          <a:prstGeom prst="rect">
            <a:avLst/>
          </a:prstGeom>
          <a:solidFill>
            <a:srgbClr val="07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Near-Term Objectives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38F49408-853F-CA61-C6AD-1B037A49C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643247"/>
              </p:ext>
            </p:extLst>
          </p:nvPr>
        </p:nvGraphicFramePr>
        <p:xfrm>
          <a:off x="1370851" y="3625537"/>
          <a:ext cx="5174743" cy="26474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18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2780"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Risk / Issue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j-lt"/>
                        </a:rPr>
                        <a:t>Status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169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900" b="0" i="0">
                          <a:effectLst/>
                          <a:latin typeface="Segoe UI" panose="020B0502040204020203" pitchFamily="34" charset="0"/>
                        </a:rPr>
                        <a:t>{single sentence risk or issue statement}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853672"/>
                  </a:ext>
                </a:extLst>
              </a:tr>
              <a:tr h="506169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900" b="0" i="0">
                          <a:effectLst/>
                          <a:latin typeface="Segoe UI" panose="020B0502040204020203" pitchFamily="34" charset="0"/>
                        </a:rPr>
                        <a:t>{single sentence risk or issue statement}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422402"/>
                  </a:ext>
                </a:extLst>
              </a:tr>
              <a:tr h="506169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900" b="0" i="0">
                          <a:effectLst/>
                          <a:latin typeface="Segoe UI" panose="020B0502040204020203" pitchFamily="34" charset="0"/>
                        </a:rPr>
                        <a:t>{single sentence risk or issue statement}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352867"/>
                  </a:ext>
                </a:extLst>
              </a:tr>
              <a:tr h="506169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900" b="0" i="0">
                          <a:effectLst/>
                          <a:latin typeface="Segoe UI" panose="020B0502040204020203" pitchFamily="34" charset="0"/>
                        </a:rPr>
                        <a:t>{single sentence risk or issue statement}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522148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0D7E5BB8-9FD3-3EE6-3876-F2E89BB99AF6}"/>
              </a:ext>
            </a:extLst>
          </p:cNvPr>
          <p:cNvSpPr txBox="1"/>
          <p:nvPr/>
        </p:nvSpPr>
        <p:spPr>
          <a:xfrm>
            <a:off x="1485026" y="2247941"/>
            <a:ext cx="4893135" cy="121069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900"/>
              <a:t>{short listing of near-term objectives}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/>
              <a:t>{short listing of near-term objectives}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/>
              <a:t>{short listing of near-term objectives}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/>
              <a:t>{short listing of near-term objectives}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900"/>
              <a:t>{short listing of near-term objectives}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1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DB9B17-84EA-5DCC-F576-08BFD54EA50B}"/>
              </a:ext>
            </a:extLst>
          </p:cNvPr>
          <p:cNvSpPr/>
          <p:nvPr/>
        </p:nvSpPr>
        <p:spPr>
          <a:xfrm>
            <a:off x="6783563" y="5262809"/>
            <a:ext cx="5174744" cy="1010183"/>
          </a:xfrm>
          <a:prstGeom prst="rect">
            <a:avLst/>
          </a:prstGeom>
          <a:solidFill>
            <a:srgbClr val="F3F3F3"/>
          </a:solidFill>
          <a:ln w="3175">
            <a:solidFill>
              <a:schemeClr val="bg1">
                <a:lumMod val="65000"/>
              </a:schemeClr>
            </a:solidFill>
          </a:ln>
          <a:effectLst>
            <a:outerShdw blurRad="493166" sx="101000" sy="101000" algn="ctr" rotWithShape="0">
              <a:prstClr val="black">
                <a:alpha val="15223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5B745B-0AF6-542A-BA2D-05B911416C19}"/>
              </a:ext>
            </a:extLst>
          </p:cNvPr>
          <p:cNvSpPr/>
          <p:nvPr/>
        </p:nvSpPr>
        <p:spPr>
          <a:xfrm>
            <a:off x="6783562" y="5155026"/>
            <a:ext cx="5174743" cy="276833"/>
          </a:xfrm>
          <a:prstGeom prst="rect">
            <a:avLst/>
          </a:prstGeom>
          <a:solidFill>
            <a:srgbClr val="07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200" b="1">
                <a:latin typeface="Graphik (Headings)"/>
              </a:rPr>
              <a:t>Next Steps &amp; Notes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4470E-A15E-21E4-D511-97B8B1784972}"/>
              </a:ext>
            </a:extLst>
          </p:cNvPr>
          <p:cNvSpPr txBox="1"/>
          <p:nvPr/>
        </p:nvSpPr>
        <p:spPr>
          <a:xfrm>
            <a:off x="6964736" y="5433395"/>
            <a:ext cx="4968633" cy="88568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rtl="0" fontAlgn="base"/>
            <a:endParaRPr lang="en-US" sz="500" i="1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000" i="1"/>
              <a:t>{single sentence of next step / upcoming activity}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000" i="1"/>
              <a:t>-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000" i="1"/>
              <a:t>-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000" i="1"/>
              <a:t>-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64D74B-1D36-F7ED-75AC-97C0BE8CE12D}"/>
              </a:ext>
            </a:extLst>
          </p:cNvPr>
          <p:cNvSpPr>
            <a:spLocks noChangeAspect="1"/>
          </p:cNvSpPr>
          <p:nvPr/>
        </p:nvSpPr>
        <p:spPr>
          <a:xfrm>
            <a:off x="5974206" y="4854039"/>
            <a:ext cx="210930" cy="21117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D1CC419-69C5-DE6F-52C9-5E77ED999169}"/>
              </a:ext>
            </a:extLst>
          </p:cNvPr>
          <p:cNvSpPr>
            <a:spLocks noChangeAspect="1"/>
          </p:cNvSpPr>
          <p:nvPr/>
        </p:nvSpPr>
        <p:spPr>
          <a:xfrm>
            <a:off x="5974206" y="4366063"/>
            <a:ext cx="210930" cy="211170"/>
          </a:xfrm>
          <a:prstGeom prst="ellipse">
            <a:avLst/>
          </a:prstGeom>
          <a:solidFill>
            <a:srgbClr val="00AD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FB379F-6F3B-27FD-E243-4D579DF7493C}"/>
              </a:ext>
            </a:extLst>
          </p:cNvPr>
          <p:cNvSpPr txBox="1">
            <a:spLocks/>
          </p:cNvSpPr>
          <p:nvPr/>
        </p:nvSpPr>
        <p:spPr>
          <a:xfrm>
            <a:off x="296450" y="412098"/>
            <a:ext cx="11536661" cy="62171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/>
              <a:t>Status | </a:t>
            </a:r>
            <a:r>
              <a:rPr lang="en-US" sz="3000">
                <a:solidFill>
                  <a:srgbClr val="112A45"/>
                </a:solidFill>
              </a:rPr>
              <a:t>{Day}, {Month} {Day}, 2026</a:t>
            </a:r>
            <a:br>
              <a:rPr lang="en-US"/>
            </a:br>
            <a:r>
              <a:rPr lang="en-US" sz="2000">
                <a:solidFill>
                  <a:srgbClr val="112A45"/>
                </a:solidFill>
              </a:rPr>
              <a:t>{Month} – {Date} to {Date}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177D8E-6CD4-9574-4CFE-3AF2E14754BD}"/>
              </a:ext>
            </a:extLst>
          </p:cNvPr>
          <p:cNvSpPr>
            <a:spLocks noChangeAspect="1"/>
          </p:cNvSpPr>
          <p:nvPr/>
        </p:nvSpPr>
        <p:spPr>
          <a:xfrm>
            <a:off x="5974206" y="5380108"/>
            <a:ext cx="210930" cy="21117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A4AA645-4B8A-E76F-E346-9227A8566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097685"/>
              </p:ext>
            </p:extLst>
          </p:nvPr>
        </p:nvGraphicFramePr>
        <p:xfrm>
          <a:off x="6783564" y="2139202"/>
          <a:ext cx="5174744" cy="11678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13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159"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Accomplishments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j-lt"/>
                        </a:rPr>
                        <a:t>Completed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18">
                <a:tc>
                  <a:txBody>
                    <a:bodyPr/>
                    <a:lstStyle/>
                    <a:p>
                      <a:pPr marL="0" marR="0" lvl="0" indent="-228600" algn="l" defTabSz="10972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{single sentence accomplishment since last week}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n-lt"/>
                        </a:rPr>
                        <a:t>{month}/{day}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817415"/>
                  </a:ext>
                </a:extLst>
              </a:tr>
              <a:tr h="277130">
                <a:tc>
                  <a:txBody>
                    <a:bodyPr/>
                    <a:lstStyle/>
                    <a:p>
                      <a:pPr marL="0" marR="0" lvl="0" indent="-228600" algn="l" defTabSz="10972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{single sentence accomplishment since last week}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n-lt"/>
                        </a:rPr>
                        <a:t>{month}/{day}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551935"/>
                  </a:ext>
                </a:extLst>
              </a:tr>
              <a:tr h="277130">
                <a:tc>
                  <a:txBody>
                    <a:bodyPr/>
                    <a:lstStyle/>
                    <a:p>
                      <a:pPr marL="0" marR="0" lvl="0" indent="-228600" algn="l" defTabSz="10972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{single sentence accomplishment since last week}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n-lt"/>
                        </a:rPr>
                        <a:t>{month}/{day}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8704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F9ED840-752E-6F60-8EFD-42B7BDE04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690519"/>
              </p:ext>
            </p:extLst>
          </p:nvPr>
        </p:nvGraphicFramePr>
        <p:xfrm>
          <a:off x="6783562" y="3597479"/>
          <a:ext cx="5174743" cy="1310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05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5675">
                <a:tc>
                  <a:txBody>
                    <a:bodyPr/>
                    <a:lstStyle/>
                    <a:p>
                      <a:r>
                        <a:rPr lang="en-US" sz="1200">
                          <a:latin typeface="+mj-lt"/>
                        </a:rPr>
                        <a:t>Upcoming Milestone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C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581">
                <a:tc>
                  <a:txBody>
                    <a:bodyPr/>
                    <a:lstStyle/>
                    <a:p>
                      <a:pPr marL="0" marR="0" lvl="0" indent="-228600" algn="l" defTabSz="10972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{brief listing of nearest milestone}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n-lt"/>
                        </a:rPr>
                        <a:t>{month}/{day}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813346"/>
                  </a:ext>
                </a:extLst>
              </a:tr>
              <a:tr h="222581">
                <a:tc>
                  <a:txBody>
                    <a:bodyPr/>
                    <a:lstStyle/>
                    <a:p>
                      <a:pPr marL="0" marR="0" lvl="0" indent="-228600" algn="l" defTabSz="10972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{brief listing of next nearest milestone}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n-lt"/>
                        </a:rPr>
                        <a:t>{month}/{day}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896266"/>
                  </a:ext>
                </a:extLst>
              </a:tr>
              <a:tr h="222581">
                <a:tc>
                  <a:txBody>
                    <a:bodyPr/>
                    <a:lstStyle/>
                    <a:p>
                      <a:pPr marL="0" marR="0" lvl="0" indent="-228600" algn="l" defTabSz="10972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{brief listing of next nearest milestone}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n-lt"/>
                        </a:rPr>
                        <a:t>{month}/{day}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203240"/>
                  </a:ext>
                </a:extLst>
              </a:tr>
              <a:tr h="222581">
                <a:tc>
                  <a:txBody>
                    <a:bodyPr/>
                    <a:lstStyle/>
                    <a:p>
                      <a:pPr marL="0" marR="0" lvl="0" indent="-228600" algn="l" defTabSz="10972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{brief listing of next nearest milestone}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latin typeface="+mn-lt"/>
                        </a:rPr>
                        <a:t>{month}/{day}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68322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B3FAE234-A285-1F49-D38A-C15FEC074B44}"/>
              </a:ext>
            </a:extLst>
          </p:cNvPr>
          <p:cNvSpPr>
            <a:spLocks noChangeAspect="1"/>
          </p:cNvSpPr>
          <p:nvPr/>
        </p:nvSpPr>
        <p:spPr>
          <a:xfrm>
            <a:off x="5974206" y="5857012"/>
            <a:ext cx="210930" cy="21117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/>
          </a:p>
        </p:txBody>
      </p:sp>
      <p:pic>
        <p:nvPicPr>
          <p:cNvPr id="1028" name="Picture 4" descr="NFL PNG Transparent Images">
            <a:extLst>
              <a:ext uri="{FF2B5EF4-FFF2-40B4-BE49-F238E27FC236}">
                <a16:creationId xmlns:a16="http://schemas.microsoft.com/office/drawing/2014/main" id="{341407F4-63E5-65B4-5F8C-B60A641DE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218" y="128054"/>
            <a:ext cx="947130" cy="947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008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DEDA-93BA-0387-9E99-2C50733B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NFL PNG Transparent Images">
            <a:extLst>
              <a:ext uri="{FF2B5EF4-FFF2-40B4-BE49-F238E27FC236}">
                <a16:creationId xmlns:a16="http://schemas.microsoft.com/office/drawing/2014/main" id="{576D9C92-7485-0528-E91F-0F809EBD8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218" y="128054"/>
            <a:ext cx="947130" cy="947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Text Placeholder 9">
            <a:extLst>
              <a:ext uri="{FF2B5EF4-FFF2-40B4-BE49-F238E27FC236}">
                <a16:creationId xmlns:a16="http://schemas.microsoft.com/office/drawing/2014/main" id="{2492C12B-C1D9-A50C-3C07-9EC953D123EA}"/>
              </a:ext>
            </a:extLst>
          </p:cNvPr>
          <p:cNvSpPr txBox="1">
            <a:spLocks/>
          </p:cNvSpPr>
          <p:nvPr/>
        </p:nvSpPr>
        <p:spPr>
          <a:xfrm>
            <a:off x="626299" y="796843"/>
            <a:ext cx="10960866" cy="360345"/>
          </a:xfrm>
          <a:prstGeom prst="rect">
            <a:avLst/>
          </a:prstGeom>
        </p:spPr>
        <p:txBody>
          <a:bodyPr lIns="0" rIns="0"/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charset="0"/>
              <a:buNone/>
              <a:defRPr sz="2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3393" indent="-188837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charset="0"/>
              <a:buChar char="–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7948" indent="-174555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2503" indent="-174555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339" indent="-188837" algn="l" rtl="0" eaLnBrk="1" fontAlgn="base" hangingPunct="1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1800" b="1" i="1" u="none" strike="noStrike" kern="1200" cap="none" spc="0" normalizeH="0" baseline="0" noProof="0">
              <a:ln>
                <a:noFill/>
              </a:ln>
              <a:solidFill>
                <a:srgbClr val="B455AA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92" name="Shape 0"/>
          <p:cNvSpPr/>
          <p:nvPr/>
        </p:nvSpPr>
        <p:spPr>
          <a:xfrm>
            <a:off x="320040" y="901192"/>
            <a:ext cx="11548872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"/>
          <p:cNvSpPr/>
          <p:nvPr/>
        </p:nvSpPr>
        <p:spPr>
          <a:xfrm>
            <a:off x="320040" y="901192"/>
            <a:ext cx="731520" cy="2468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2"/>
          <p:cNvSpPr/>
          <p:nvPr/>
        </p:nvSpPr>
        <p:spPr>
          <a:xfrm>
            <a:off x="1051560" y="901192"/>
            <a:ext cx="1737360" cy="2468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3"/>
          <p:cNvSpPr/>
          <p:nvPr/>
        </p:nvSpPr>
        <p:spPr>
          <a:xfrm>
            <a:off x="1051560" y="901192"/>
            <a:ext cx="1737360" cy="24688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94A3B8"/>
                </a:solidFill>
              </a:rPr>
              <a:t>KEY ACTIVITIES</a:t>
            </a:r>
            <a:endParaRPr lang="en-US" sz="700" dirty="0"/>
          </a:p>
        </p:txBody>
      </p:sp>
      <p:sp>
        <p:nvSpPr>
          <p:cNvPr id="136" name="Shape 4"/>
          <p:cNvSpPr/>
          <p:nvPr/>
        </p:nvSpPr>
        <p:spPr>
          <a:xfrm>
            <a:off x="2788920" y="901192"/>
            <a:ext cx="1513332" cy="2468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5"/>
          <p:cNvSpPr/>
          <p:nvPr/>
        </p:nvSpPr>
        <p:spPr>
          <a:xfrm>
            <a:off x="2788920" y="901192"/>
            <a:ext cx="15133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</a:rPr>
              <a:t>W1</a:t>
            </a:r>
            <a:endParaRPr lang="en-US" sz="800" dirty="0"/>
          </a:p>
        </p:txBody>
      </p:sp>
      <p:sp>
        <p:nvSpPr>
          <p:cNvPr id="158" name="Shape 6"/>
          <p:cNvSpPr/>
          <p:nvPr/>
        </p:nvSpPr>
        <p:spPr>
          <a:xfrm>
            <a:off x="4302252" y="901192"/>
            <a:ext cx="1513332" cy="2468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7"/>
          <p:cNvSpPr/>
          <p:nvPr/>
        </p:nvSpPr>
        <p:spPr>
          <a:xfrm>
            <a:off x="4302252" y="901192"/>
            <a:ext cx="15133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</a:rPr>
              <a:t>W2</a:t>
            </a:r>
            <a:endParaRPr lang="en-US" sz="800" dirty="0"/>
          </a:p>
        </p:txBody>
      </p:sp>
      <p:sp>
        <p:nvSpPr>
          <p:cNvPr id="170" name="Shape 8"/>
          <p:cNvSpPr/>
          <p:nvPr/>
        </p:nvSpPr>
        <p:spPr>
          <a:xfrm>
            <a:off x="5815584" y="901192"/>
            <a:ext cx="1513332" cy="2468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 9"/>
          <p:cNvSpPr/>
          <p:nvPr/>
        </p:nvSpPr>
        <p:spPr>
          <a:xfrm>
            <a:off x="5815584" y="901192"/>
            <a:ext cx="15133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</a:rPr>
              <a:t>W3</a:t>
            </a:r>
            <a:endParaRPr lang="en-US" sz="800" dirty="0"/>
          </a:p>
        </p:txBody>
      </p:sp>
      <p:sp>
        <p:nvSpPr>
          <p:cNvPr id="192" name="Shape 10"/>
          <p:cNvSpPr/>
          <p:nvPr/>
        </p:nvSpPr>
        <p:spPr>
          <a:xfrm>
            <a:off x="7328916" y="901192"/>
            <a:ext cx="1513332" cy="2468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Text 11"/>
          <p:cNvSpPr/>
          <p:nvPr/>
        </p:nvSpPr>
        <p:spPr>
          <a:xfrm>
            <a:off x="7328916" y="901192"/>
            <a:ext cx="15133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</a:rPr>
              <a:t>W4</a:t>
            </a:r>
            <a:endParaRPr lang="en-US" sz="800" dirty="0"/>
          </a:p>
        </p:txBody>
      </p:sp>
      <p:sp>
        <p:nvSpPr>
          <p:cNvPr id="214" name="Shape 12"/>
          <p:cNvSpPr/>
          <p:nvPr/>
        </p:nvSpPr>
        <p:spPr>
          <a:xfrm>
            <a:off x="8842248" y="901192"/>
            <a:ext cx="1513332" cy="2468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Text 13"/>
          <p:cNvSpPr/>
          <p:nvPr/>
        </p:nvSpPr>
        <p:spPr>
          <a:xfrm>
            <a:off x="8842248" y="901192"/>
            <a:ext cx="15133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</a:rPr>
              <a:t>W5</a:t>
            </a:r>
            <a:endParaRPr lang="en-US" sz="800" dirty="0"/>
          </a:p>
        </p:txBody>
      </p:sp>
      <p:sp>
        <p:nvSpPr>
          <p:cNvPr id="236" name="Shape 14"/>
          <p:cNvSpPr/>
          <p:nvPr/>
        </p:nvSpPr>
        <p:spPr>
          <a:xfrm>
            <a:off x="10355580" y="901192"/>
            <a:ext cx="1513332" cy="24688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Text 15"/>
          <p:cNvSpPr/>
          <p:nvPr/>
        </p:nvSpPr>
        <p:spPr>
          <a:xfrm>
            <a:off x="10355580" y="901192"/>
            <a:ext cx="15133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4A3B8"/>
                </a:solidFill>
              </a:rPr>
              <a:t>W6</a:t>
            </a:r>
            <a:endParaRPr lang="en-US" sz="800" dirty="0"/>
          </a:p>
        </p:txBody>
      </p:sp>
      <p:sp>
        <p:nvSpPr>
          <p:cNvPr id="258" name="Shape 16"/>
          <p:cNvSpPr/>
          <p:nvPr/>
        </p:nvSpPr>
        <p:spPr>
          <a:xfrm>
            <a:off x="320040" y="1148080"/>
            <a:ext cx="11548872" cy="192024"/>
          </a:xfrm>
          <a:prstGeom prst="rect">
            <a:avLst/>
          </a:prstGeom>
          <a:solidFill>
            <a:srgbClr val="131B2E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17"/>
          <p:cNvSpPr/>
          <p:nvPr/>
        </p:nvSpPr>
        <p:spPr>
          <a:xfrm rot="2700000">
            <a:off x="2807208" y="1198372"/>
            <a:ext cx="91440" cy="91440"/>
          </a:xfrm>
          <a:prstGeom prst="rect">
            <a:avLst/>
          </a:prstGeom>
          <a:solidFill>
            <a:srgbClr val="F8FAFC"/>
          </a:solidFill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Text 18"/>
          <p:cNvSpPr/>
          <p:nvPr/>
        </p:nvSpPr>
        <p:spPr>
          <a:xfrm>
            <a:off x="2935224" y="1148080"/>
            <a:ext cx="208711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A: Del. A: Stadium Technology Framework (PPT)</a:t>
            </a:r>
            <a:endParaRPr lang="en-US" sz="650" dirty="0"/>
          </a:p>
        </p:txBody>
      </p:sp>
      <p:sp>
        <p:nvSpPr>
          <p:cNvPr id="281" name="Shape 19"/>
          <p:cNvSpPr/>
          <p:nvPr/>
        </p:nvSpPr>
        <p:spPr>
          <a:xfrm rot="2700000">
            <a:off x="5077206" y="1198372"/>
            <a:ext cx="91440" cy="9144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Text 20"/>
          <p:cNvSpPr/>
          <p:nvPr/>
        </p:nvSpPr>
        <p:spPr>
          <a:xfrm>
            <a:off x="5205222" y="1148080"/>
            <a:ext cx="208711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B: Del. B: Club Technology Survey (Google Survey)</a:t>
            </a:r>
            <a:endParaRPr lang="en-US" sz="650" dirty="0"/>
          </a:p>
        </p:txBody>
      </p:sp>
      <p:sp>
        <p:nvSpPr>
          <p:cNvPr id="303" name="Shape 21"/>
          <p:cNvSpPr/>
          <p:nvPr/>
        </p:nvSpPr>
        <p:spPr>
          <a:xfrm rot="2700000">
            <a:off x="7347204" y="1198372"/>
            <a:ext cx="91440" cy="91440"/>
          </a:xfrm>
          <a:prstGeom prst="rect">
            <a:avLst/>
          </a:prstGeom>
          <a:solidFill>
            <a:srgbClr val="F8FAFC"/>
          </a:solidFill>
          <a:ln w="190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Text 22"/>
          <p:cNvSpPr/>
          <p:nvPr/>
        </p:nvSpPr>
        <p:spPr>
          <a:xfrm>
            <a:off x="7475220" y="1148080"/>
            <a:ext cx="208711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C: Del. C: Visualization Dashboard (Tableau)</a:t>
            </a:r>
            <a:endParaRPr lang="en-US" sz="650" dirty="0"/>
          </a:p>
        </p:txBody>
      </p:sp>
      <p:sp>
        <p:nvSpPr>
          <p:cNvPr id="325" name="Shape 23"/>
          <p:cNvSpPr/>
          <p:nvPr/>
        </p:nvSpPr>
        <p:spPr>
          <a:xfrm rot="2700000">
            <a:off x="9617202" y="1198372"/>
            <a:ext cx="91440" cy="91440"/>
          </a:xfrm>
          <a:prstGeom prst="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Text 24"/>
          <p:cNvSpPr/>
          <p:nvPr/>
        </p:nvSpPr>
        <p:spPr>
          <a:xfrm>
            <a:off x="9745218" y="1148080"/>
            <a:ext cx="208711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D: Del. D: Guides (PDF)</a:t>
            </a:r>
            <a:endParaRPr lang="en-US" sz="650" dirty="0"/>
          </a:p>
        </p:txBody>
      </p:sp>
      <p:sp>
        <p:nvSpPr>
          <p:cNvPr id="347" name="Shape 25"/>
          <p:cNvSpPr/>
          <p:nvPr/>
        </p:nvSpPr>
        <p:spPr>
          <a:xfrm>
            <a:off x="320040" y="1340104"/>
            <a:ext cx="731520" cy="1467612"/>
          </a:xfrm>
          <a:prstGeom prst="rect">
            <a:avLst/>
          </a:prstGeom>
          <a:solidFill>
            <a:srgbClr val="1A3460"/>
          </a:solidFill>
          <a:ln w="6350">
            <a:solidFill>
              <a:srgbClr val="253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Text 26"/>
          <p:cNvSpPr/>
          <p:nvPr/>
        </p:nvSpPr>
        <p:spPr>
          <a:xfrm>
            <a:off x="320040" y="1340104"/>
            <a:ext cx="731520" cy="1467612"/>
          </a:xfrm>
          <a:prstGeom prst="rect">
            <a:avLst/>
          </a:prstGeom>
          <a:noFill/>
          <a:ln/>
        </p:spPr>
        <p:txBody>
          <a:bodyPr vert="vert270" wrap="square" rtlCol="0" anchor="ctr"/>
          <a:lstStyle/>
          <a:p>
            <a:pPr marL="0" indent="0" algn="ctr">
              <a:buNone/>
            </a:pPr>
            <a:r>
              <a:rPr lang="en-US" sz="700" b="1" kern="0" spc="30" dirty="0">
                <a:solidFill>
                  <a:srgbClr val="FFFFFF"/>
                </a:solidFill>
              </a:rPr>
              <a:t>Framework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kern="0" spc="30" dirty="0">
                <a:solidFill>
                  <a:srgbClr val="FFFFFF"/>
                </a:solidFill>
              </a:rPr>
              <a:t>Development</a:t>
            </a:r>
            <a:endParaRPr lang="en-US" sz="700" dirty="0"/>
          </a:p>
        </p:txBody>
      </p:sp>
      <p:sp>
        <p:nvSpPr>
          <p:cNvPr id="369" name="Shape 27"/>
          <p:cNvSpPr/>
          <p:nvPr/>
        </p:nvSpPr>
        <p:spPr>
          <a:xfrm>
            <a:off x="1051560" y="1340104"/>
            <a:ext cx="10817352" cy="205740"/>
          </a:xfrm>
          <a:prstGeom prst="rect">
            <a:avLst/>
          </a:prstGeom>
          <a:solidFill>
            <a:srgbClr val="131B2E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28"/>
          <p:cNvSpPr/>
          <p:nvPr/>
        </p:nvSpPr>
        <p:spPr>
          <a:xfrm>
            <a:off x="4299509" y="134010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29"/>
          <p:cNvSpPr/>
          <p:nvPr/>
        </p:nvSpPr>
        <p:spPr>
          <a:xfrm>
            <a:off x="5812841" y="134010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0"/>
          <p:cNvSpPr/>
          <p:nvPr/>
        </p:nvSpPr>
        <p:spPr>
          <a:xfrm>
            <a:off x="7326173" y="134010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31"/>
          <p:cNvSpPr/>
          <p:nvPr/>
        </p:nvSpPr>
        <p:spPr>
          <a:xfrm>
            <a:off x="8839505" y="134010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32"/>
          <p:cNvSpPr/>
          <p:nvPr/>
        </p:nvSpPr>
        <p:spPr>
          <a:xfrm>
            <a:off x="10352837" y="134010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Text 33"/>
          <p:cNvSpPr/>
          <p:nvPr/>
        </p:nvSpPr>
        <p:spPr>
          <a:xfrm>
            <a:off x="1097280" y="1340104"/>
            <a:ext cx="16459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2E8F0"/>
                </a:solidFill>
              </a:rPr>
              <a:t>Project Kickoff</a:t>
            </a:r>
            <a:endParaRPr lang="en-US" sz="750" dirty="0"/>
          </a:p>
        </p:txBody>
      </p:sp>
      <p:sp>
        <p:nvSpPr>
          <p:cNvPr id="436" name="Shape 34"/>
          <p:cNvSpPr/>
          <p:nvPr/>
        </p:nvSpPr>
        <p:spPr>
          <a:xfrm>
            <a:off x="2864587" y="1401826"/>
            <a:ext cx="1361999" cy="82296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35"/>
          <p:cNvSpPr/>
          <p:nvPr/>
        </p:nvSpPr>
        <p:spPr>
          <a:xfrm>
            <a:off x="1051560" y="1545844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36"/>
          <p:cNvSpPr/>
          <p:nvPr/>
        </p:nvSpPr>
        <p:spPr>
          <a:xfrm>
            <a:off x="4299509" y="15458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9" name="Shape 37"/>
          <p:cNvSpPr/>
          <p:nvPr/>
        </p:nvSpPr>
        <p:spPr>
          <a:xfrm>
            <a:off x="5812841" y="15458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0" name="Shape 38"/>
          <p:cNvSpPr/>
          <p:nvPr/>
        </p:nvSpPr>
        <p:spPr>
          <a:xfrm>
            <a:off x="7326173" y="15458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Shape 39"/>
          <p:cNvSpPr/>
          <p:nvPr/>
        </p:nvSpPr>
        <p:spPr>
          <a:xfrm>
            <a:off x="8839505" y="15458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2" name="Shape 40"/>
          <p:cNvSpPr/>
          <p:nvPr/>
        </p:nvSpPr>
        <p:spPr>
          <a:xfrm>
            <a:off x="10352837" y="15458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3" name="Text 41"/>
          <p:cNvSpPr/>
          <p:nvPr/>
        </p:nvSpPr>
        <p:spPr>
          <a:xfrm>
            <a:off x="1143000" y="1545844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Stakeholder alignment meetings</a:t>
            </a:r>
            <a:endParaRPr lang="en-US" sz="650" dirty="0"/>
          </a:p>
        </p:txBody>
      </p:sp>
      <p:sp>
        <p:nvSpPr>
          <p:cNvPr id="514" name="Shape 42"/>
          <p:cNvSpPr/>
          <p:nvPr/>
        </p:nvSpPr>
        <p:spPr>
          <a:xfrm>
            <a:off x="2909987" y="1596136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93C5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5" name="Shape 43"/>
          <p:cNvSpPr/>
          <p:nvPr/>
        </p:nvSpPr>
        <p:spPr>
          <a:xfrm>
            <a:off x="1051560" y="1696720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6" name="Shape 44"/>
          <p:cNvSpPr/>
          <p:nvPr/>
        </p:nvSpPr>
        <p:spPr>
          <a:xfrm>
            <a:off x="4299509" y="169672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7" name="Shape 45"/>
          <p:cNvSpPr/>
          <p:nvPr/>
        </p:nvSpPr>
        <p:spPr>
          <a:xfrm>
            <a:off x="5812841" y="169672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8" name="Shape 46"/>
          <p:cNvSpPr/>
          <p:nvPr/>
        </p:nvSpPr>
        <p:spPr>
          <a:xfrm>
            <a:off x="7326173" y="169672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9" name="Shape 47"/>
          <p:cNvSpPr/>
          <p:nvPr/>
        </p:nvSpPr>
        <p:spPr>
          <a:xfrm>
            <a:off x="8839505" y="169672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0" name="Shape 48"/>
          <p:cNvSpPr/>
          <p:nvPr/>
        </p:nvSpPr>
        <p:spPr>
          <a:xfrm>
            <a:off x="10352837" y="169672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1" name="Text 49"/>
          <p:cNvSpPr/>
          <p:nvPr/>
        </p:nvSpPr>
        <p:spPr>
          <a:xfrm>
            <a:off x="1143000" y="1696720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Finalize vision &amp; guiding principles</a:t>
            </a:r>
            <a:endParaRPr lang="en-US" sz="650" dirty="0"/>
          </a:p>
        </p:txBody>
      </p:sp>
      <p:sp>
        <p:nvSpPr>
          <p:cNvPr id="592" name="Shape 50"/>
          <p:cNvSpPr/>
          <p:nvPr/>
        </p:nvSpPr>
        <p:spPr>
          <a:xfrm>
            <a:off x="2909987" y="1747012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93C5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3" name="Shape 51"/>
          <p:cNvSpPr/>
          <p:nvPr/>
        </p:nvSpPr>
        <p:spPr>
          <a:xfrm>
            <a:off x="1051560" y="1847596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4" name="Shape 52"/>
          <p:cNvSpPr/>
          <p:nvPr/>
        </p:nvSpPr>
        <p:spPr>
          <a:xfrm>
            <a:off x="4299509" y="184759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5" name="Shape 53"/>
          <p:cNvSpPr/>
          <p:nvPr/>
        </p:nvSpPr>
        <p:spPr>
          <a:xfrm>
            <a:off x="5812841" y="184759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6" name="Shape 54"/>
          <p:cNvSpPr/>
          <p:nvPr/>
        </p:nvSpPr>
        <p:spPr>
          <a:xfrm>
            <a:off x="7326173" y="184759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7" name="Shape 55"/>
          <p:cNvSpPr/>
          <p:nvPr/>
        </p:nvSpPr>
        <p:spPr>
          <a:xfrm>
            <a:off x="8839505" y="184759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8" name="Shape 56"/>
          <p:cNvSpPr/>
          <p:nvPr/>
        </p:nvSpPr>
        <p:spPr>
          <a:xfrm>
            <a:off x="10352837" y="184759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9" name="Text 57"/>
          <p:cNvSpPr/>
          <p:nvPr/>
        </p:nvSpPr>
        <p:spPr>
          <a:xfrm>
            <a:off x="1143000" y="1847596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Schedule workshops &amp; reviews</a:t>
            </a:r>
            <a:endParaRPr lang="en-US" sz="650" dirty="0"/>
          </a:p>
        </p:txBody>
      </p:sp>
      <p:sp>
        <p:nvSpPr>
          <p:cNvPr id="670" name="Shape 58"/>
          <p:cNvSpPr/>
          <p:nvPr/>
        </p:nvSpPr>
        <p:spPr>
          <a:xfrm>
            <a:off x="2909987" y="1897888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93C5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1" name="Shape 59"/>
          <p:cNvSpPr/>
          <p:nvPr/>
        </p:nvSpPr>
        <p:spPr>
          <a:xfrm>
            <a:off x="1051560" y="1998472"/>
            <a:ext cx="10817352" cy="205740"/>
          </a:xfrm>
          <a:prstGeom prst="rect">
            <a:avLst/>
          </a:prstGeom>
          <a:solidFill>
            <a:srgbClr val="131B2E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2" name="Shape 60"/>
          <p:cNvSpPr/>
          <p:nvPr/>
        </p:nvSpPr>
        <p:spPr>
          <a:xfrm>
            <a:off x="4299509" y="199847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3" name="Shape 61"/>
          <p:cNvSpPr/>
          <p:nvPr/>
        </p:nvSpPr>
        <p:spPr>
          <a:xfrm>
            <a:off x="5812841" y="199847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4" name="Shape 62"/>
          <p:cNvSpPr/>
          <p:nvPr/>
        </p:nvSpPr>
        <p:spPr>
          <a:xfrm>
            <a:off x="7326173" y="199847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5" name="Shape 63"/>
          <p:cNvSpPr/>
          <p:nvPr/>
        </p:nvSpPr>
        <p:spPr>
          <a:xfrm>
            <a:off x="8839505" y="199847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6" name="Shape 64"/>
          <p:cNvSpPr/>
          <p:nvPr/>
        </p:nvSpPr>
        <p:spPr>
          <a:xfrm>
            <a:off x="10352837" y="199847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7" name="Text 65"/>
          <p:cNvSpPr/>
          <p:nvPr/>
        </p:nvSpPr>
        <p:spPr>
          <a:xfrm>
            <a:off x="1097280" y="1998472"/>
            <a:ext cx="16459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2E8F0"/>
                </a:solidFill>
              </a:rPr>
              <a:t>Framework Development</a:t>
            </a:r>
            <a:endParaRPr lang="en-US" sz="750" dirty="0"/>
          </a:p>
        </p:txBody>
      </p:sp>
      <p:sp>
        <p:nvSpPr>
          <p:cNvPr id="758" name="Shape 66"/>
          <p:cNvSpPr/>
          <p:nvPr/>
        </p:nvSpPr>
        <p:spPr>
          <a:xfrm>
            <a:off x="4377919" y="2060194"/>
            <a:ext cx="4085996" cy="82296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9" name="Shape 67"/>
          <p:cNvSpPr/>
          <p:nvPr/>
        </p:nvSpPr>
        <p:spPr>
          <a:xfrm rot="2700000">
            <a:off x="8399907" y="2041906"/>
            <a:ext cx="118872" cy="118872"/>
          </a:xfrm>
          <a:prstGeom prst="rect">
            <a:avLst/>
          </a:prstGeom>
          <a:solidFill>
            <a:srgbClr val="F8FAFC"/>
          </a:solidFill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0" name="Text 68"/>
          <p:cNvSpPr/>
          <p:nvPr/>
        </p:nvSpPr>
        <p:spPr>
          <a:xfrm>
            <a:off x="8399907" y="2041906"/>
            <a:ext cx="1188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A3460"/>
                </a:solidFill>
              </a:rPr>
              <a:t>A</a:t>
            </a:r>
            <a:endParaRPr lang="en-US" sz="550" dirty="0"/>
          </a:p>
        </p:txBody>
      </p:sp>
      <p:sp>
        <p:nvSpPr>
          <p:cNvPr id="781" name="Shape 69"/>
          <p:cNvSpPr/>
          <p:nvPr/>
        </p:nvSpPr>
        <p:spPr>
          <a:xfrm>
            <a:off x="1051560" y="2204212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2" name="Shape 70"/>
          <p:cNvSpPr/>
          <p:nvPr/>
        </p:nvSpPr>
        <p:spPr>
          <a:xfrm>
            <a:off x="4299509" y="220421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3" name="Shape 71"/>
          <p:cNvSpPr/>
          <p:nvPr/>
        </p:nvSpPr>
        <p:spPr>
          <a:xfrm>
            <a:off x="5812841" y="220421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4" name="Shape 72"/>
          <p:cNvSpPr/>
          <p:nvPr/>
        </p:nvSpPr>
        <p:spPr>
          <a:xfrm>
            <a:off x="7326173" y="220421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5" name="Shape 73"/>
          <p:cNvSpPr/>
          <p:nvPr/>
        </p:nvSpPr>
        <p:spPr>
          <a:xfrm>
            <a:off x="8839505" y="220421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6" name="Shape 74"/>
          <p:cNvSpPr/>
          <p:nvPr/>
        </p:nvSpPr>
        <p:spPr>
          <a:xfrm>
            <a:off x="10352837" y="220421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7" name="Text 75"/>
          <p:cNvSpPr/>
          <p:nvPr/>
        </p:nvSpPr>
        <p:spPr>
          <a:xfrm>
            <a:off x="1143000" y="2204212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Finalize assessment criteria &amp; scorecard</a:t>
            </a:r>
            <a:endParaRPr lang="en-US" sz="650" dirty="0"/>
          </a:p>
        </p:txBody>
      </p:sp>
      <p:sp>
        <p:nvSpPr>
          <p:cNvPr id="858" name="Shape 76"/>
          <p:cNvSpPr/>
          <p:nvPr/>
        </p:nvSpPr>
        <p:spPr>
          <a:xfrm>
            <a:off x="4423319" y="2254504"/>
            <a:ext cx="2542398" cy="50292"/>
          </a:xfrm>
          <a:prstGeom prst="roundRect">
            <a:avLst>
              <a:gd name="adj" fmla="val 36364"/>
            </a:avLst>
          </a:prstGeom>
          <a:solidFill>
            <a:srgbClr val="93C5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9" name="Shape 77"/>
          <p:cNvSpPr/>
          <p:nvPr/>
        </p:nvSpPr>
        <p:spPr>
          <a:xfrm>
            <a:off x="1051560" y="2355088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0" name="Shape 78"/>
          <p:cNvSpPr/>
          <p:nvPr/>
        </p:nvSpPr>
        <p:spPr>
          <a:xfrm>
            <a:off x="4299509" y="235508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1" name="Shape 79"/>
          <p:cNvSpPr/>
          <p:nvPr/>
        </p:nvSpPr>
        <p:spPr>
          <a:xfrm>
            <a:off x="5812841" y="235508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2" name="Shape 80"/>
          <p:cNvSpPr/>
          <p:nvPr/>
        </p:nvSpPr>
        <p:spPr>
          <a:xfrm>
            <a:off x="7326173" y="235508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3" name="Shape 81"/>
          <p:cNvSpPr/>
          <p:nvPr/>
        </p:nvSpPr>
        <p:spPr>
          <a:xfrm>
            <a:off x="8839505" y="235508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4" name="Shape 82"/>
          <p:cNvSpPr/>
          <p:nvPr/>
        </p:nvSpPr>
        <p:spPr>
          <a:xfrm>
            <a:off x="10352837" y="235508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5" name="Text 83"/>
          <p:cNvSpPr/>
          <p:nvPr/>
        </p:nvSpPr>
        <p:spPr>
          <a:xfrm>
            <a:off x="1143000" y="2355088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Ingest Voice of Fan (2 questions)</a:t>
            </a:r>
            <a:endParaRPr lang="en-US" sz="650" dirty="0"/>
          </a:p>
        </p:txBody>
      </p:sp>
      <p:sp>
        <p:nvSpPr>
          <p:cNvPr id="936" name="Shape 84"/>
          <p:cNvSpPr/>
          <p:nvPr/>
        </p:nvSpPr>
        <p:spPr>
          <a:xfrm>
            <a:off x="4423319" y="2405380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93C5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7" name="Shape 85"/>
          <p:cNvSpPr/>
          <p:nvPr/>
        </p:nvSpPr>
        <p:spPr>
          <a:xfrm>
            <a:off x="1051560" y="2505964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8" name="Shape 86"/>
          <p:cNvSpPr/>
          <p:nvPr/>
        </p:nvSpPr>
        <p:spPr>
          <a:xfrm>
            <a:off x="4299509" y="250596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9" name="Shape 87"/>
          <p:cNvSpPr/>
          <p:nvPr/>
        </p:nvSpPr>
        <p:spPr>
          <a:xfrm>
            <a:off x="5812841" y="250596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0" name="Shape 88"/>
          <p:cNvSpPr/>
          <p:nvPr/>
        </p:nvSpPr>
        <p:spPr>
          <a:xfrm>
            <a:off x="7326173" y="250596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1" name="Shape 89"/>
          <p:cNvSpPr/>
          <p:nvPr/>
        </p:nvSpPr>
        <p:spPr>
          <a:xfrm>
            <a:off x="8839505" y="250596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2" name="Shape 90"/>
          <p:cNvSpPr/>
          <p:nvPr/>
        </p:nvSpPr>
        <p:spPr>
          <a:xfrm>
            <a:off x="10352837" y="250596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Text 91"/>
          <p:cNvSpPr/>
          <p:nvPr/>
        </p:nvSpPr>
        <p:spPr>
          <a:xfrm>
            <a:off x="1143000" y="2505964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Finalize &amp; test methodology + scoring logic</a:t>
            </a:r>
            <a:endParaRPr lang="en-US" sz="650" dirty="0"/>
          </a:p>
        </p:txBody>
      </p:sp>
      <p:sp>
        <p:nvSpPr>
          <p:cNvPr id="1014" name="Shape 92"/>
          <p:cNvSpPr/>
          <p:nvPr/>
        </p:nvSpPr>
        <p:spPr>
          <a:xfrm>
            <a:off x="5936651" y="2556256"/>
            <a:ext cx="2542398" cy="50292"/>
          </a:xfrm>
          <a:prstGeom prst="roundRect">
            <a:avLst>
              <a:gd name="adj" fmla="val 36364"/>
            </a:avLst>
          </a:prstGeom>
          <a:solidFill>
            <a:srgbClr val="93C5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5" name="Shape 93"/>
          <p:cNvSpPr/>
          <p:nvPr/>
        </p:nvSpPr>
        <p:spPr>
          <a:xfrm>
            <a:off x="1051560" y="2656840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6" name="Shape 94"/>
          <p:cNvSpPr/>
          <p:nvPr/>
        </p:nvSpPr>
        <p:spPr>
          <a:xfrm>
            <a:off x="4299509" y="265684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7" name="Shape 95"/>
          <p:cNvSpPr/>
          <p:nvPr/>
        </p:nvSpPr>
        <p:spPr>
          <a:xfrm>
            <a:off x="5812841" y="265684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8" name="Shape 96"/>
          <p:cNvSpPr/>
          <p:nvPr/>
        </p:nvSpPr>
        <p:spPr>
          <a:xfrm>
            <a:off x="7326173" y="265684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9" name="Shape 97"/>
          <p:cNvSpPr/>
          <p:nvPr/>
        </p:nvSpPr>
        <p:spPr>
          <a:xfrm>
            <a:off x="8839505" y="265684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0" name="Shape 98"/>
          <p:cNvSpPr/>
          <p:nvPr/>
        </p:nvSpPr>
        <p:spPr>
          <a:xfrm>
            <a:off x="10352837" y="265684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1" name="Text 99"/>
          <p:cNvSpPr/>
          <p:nvPr/>
        </p:nvSpPr>
        <p:spPr>
          <a:xfrm>
            <a:off x="1143000" y="2656840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Refinement based on validations</a:t>
            </a:r>
            <a:endParaRPr lang="en-US" sz="650" dirty="0"/>
          </a:p>
        </p:txBody>
      </p:sp>
      <p:sp>
        <p:nvSpPr>
          <p:cNvPr id="1092" name="Shape 100"/>
          <p:cNvSpPr/>
          <p:nvPr/>
        </p:nvSpPr>
        <p:spPr>
          <a:xfrm>
            <a:off x="7449983" y="2707132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93C5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3" name="Shape 101"/>
          <p:cNvSpPr/>
          <p:nvPr/>
        </p:nvSpPr>
        <p:spPr>
          <a:xfrm>
            <a:off x="320040" y="2807716"/>
            <a:ext cx="731520" cy="658368"/>
          </a:xfrm>
          <a:prstGeom prst="rect">
            <a:avLst/>
          </a:prstGeom>
          <a:solidFill>
            <a:srgbClr val="1E40AF"/>
          </a:solidFill>
          <a:ln w="6350">
            <a:solidFill>
              <a:srgbClr val="2955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4" name="Text 102"/>
          <p:cNvSpPr/>
          <p:nvPr/>
        </p:nvSpPr>
        <p:spPr>
          <a:xfrm>
            <a:off x="320040" y="2807716"/>
            <a:ext cx="731520" cy="658368"/>
          </a:xfrm>
          <a:prstGeom prst="rect">
            <a:avLst/>
          </a:prstGeom>
          <a:noFill/>
          <a:ln/>
        </p:spPr>
        <p:txBody>
          <a:bodyPr vert="vert270" wrap="square" rtlCol="0" anchor="ctr"/>
          <a:lstStyle/>
          <a:p>
            <a:pPr marL="0" indent="0" algn="ctr">
              <a:buNone/>
            </a:pPr>
            <a:r>
              <a:rPr lang="en-US" sz="700" b="1" kern="0" spc="30" dirty="0">
                <a:solidFill>
                  <a:srgbClr val="FFFFFF"/>
                </a:solidFill>
              </a:rPr>
              <a:t>Framework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kern="0" spc="30" dirty="0">
                <a:solidFill>
                  <a:srgbClr val="FFFFFF"/>
                </a:solidFill>
              </a:rPr>
              <a:t>Validations</a:t>
            </a:r>
            <a:endParaRPr lang="en-US" sz="700" dirty="0"/>
          </a:p>
        </p:txBody>
      </p:sp>
      <p:sp>
        <p:nvSpPr>
          <p:cNvPr id="1125" name="Shape 103"/>
          <p:cNvSpPr/>
          <p:nvPr/>
        </p:nvSpPr>
        <p:spPr>
          <a:xfrm>
            <a:off x="1051560" y="2807716"/>
            <a:ext cx="10817352" cy="205740"/>
          </a:xfrm>
          <a:prstGeom prst="rect">
            <a:avLst/>
          </a:prstGeom>
          <a:solidFill>
            <a:srgbClr val="131B2E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6" name="Shape 104"/>
          <p:cNvSpPr/>
          <p:nvPr/>
        </p:nvSpPr>
        <p:spPr>
          <a:xfrm>
            <a:off x="4299509" y="2807716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7" name="Shape 105"/>
          <p:cNvSpPr/>
          <p:nvPr/>
        </p:nvSpPr>
        <p:spPr>
          <a:xfrm>
            <a:off x="5812841" y="2807716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8" name="Shape 106"/>
          <p:cNvSpPr/>
          <p:nvPr/>
        </p:nvSpPr>
        <p:spPr>
          <a:xfrm>
            <a:off x="7326173" y="2807716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9" name="Shape 107"/>
          <p:cNvSpPr/>
          <p:nvPr/>
        </p:nvSpPr>
        <p:spPr>
          <a:xfrm>
            <a:off x="8839505" y="2807716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0" name="Shape 108"/>
          <p:cNvSpPr/>
          <p:nvPr/>
        </p:nvSpPr>
        <p:spPr>
          <a:xfrm>
            <a:off x="10352837" y="2807716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1" name="Text 109"/>
          <p:cNvSpPr/>
          <p:nvPr/>
        </p:nvSpPr>
        <p:spPr>
          <a:xfrm>
            <a:off x="1097280" y="2807716"/>
            <a:ext cx="16459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2E8F0"/>
                </a:solidFill>
              </a:rPr>
              <a:t>Team Validations (3 clubs)</a:t>
            </a:r>
            <a:endParaRPr lang="en-US" sz="750" dirty="0"/>
          </a:p>
        </p:txBody>
      </p:sp>
      <p:sp>
        <p:nvSpPr>
          <p:cNvPr id="1192" name="Shape 110"/>
          <p:cNvSpPr/>
          <p:nvPr/>
        </p:nvSpPr>
        <p:spPr>
          <a:xfrm>
            <a:off x="5891251" y="2869438"/>
            <a:ext cx="2723998" cy="82296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3" name="Shape 111"/>
          <p:cNvSpPr/>
          <p:nvPr/>
        </p:nvSpPr>
        <p:spPr>
          <a:xfrm rot="2700000">
            <a:off x="8551240" y="2851150"/>
            <a:ext cx="118872" cy="118872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4" name="Text 112"/>
          <p:cNvSpPr/>
          <p:nvPr/>
        </p:nvSpPr>
        <p:spPr>
          <a:xfrm>
            <a:off x="8551240" y="2851150"/>
            <a:ext cx="1188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E40AF"/>
                </a:solidFill>
              </a:rPr>
              <a:t>B</a:t>
            </a:r>
            <a:endParaRPr lang="en-US" sz="550" dirty="0"/>
          </a:p>
        </p:txBody>
      </p:sp>
      <p:sp>
        <p:nvSpPr>
          <p:cNvPr id="1225" name="Shape 113"/>
          <p:cNvSpPr/>
          <p:nvPr/>
        </p:nvSpPr>
        <p:spPr>
          <a:xfrm>
            <a:off x="1051560" y="3013456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6" name="Shape 114"/>
          <p:cNvSpPr/>
          <p:nvPr/>
        </p:nvSpPr>
        <p:spPr>
          <a:xfrm>
            <a:off x="4299509" y="301345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7" name="Shape 115"/>
          <p:cNvSpPr/>
          <p:nvPr/>
        </p:nvSpPr>
        <p:spPr>
          <a:xfrm>
            <a:off x="5812841" y="301345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8" name="Shape 116"/>
          <p:cNvSpPr/>
          <p:nvPr/>
        </p:nvSpPr>
        <p:spPr>
          <a:xfrm>
            <a:off x="7326173" y="301345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9" name="Shape 117"/>
          <p:cNvSpPr/>
          <p:nvPr/>
        </p:nvSpPr>
        <p:spPr>
          <a:xfrm>
            <a:off x="8839505" y="301345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0" name="Shape 118"/>
          <p:cNvSpPr/>
          <p:nvPr/>
        </p:nvSpPr>
        <p:spPr>
          <a:xfrm>
            <a:off x="10352837" y="301345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1" name="Text 119"/>
          <p:cNvSpPr/>
          <p:nvPr/>
        </p:nvSpPr>
        <p:spPr>
          <a:xfrm>
            <a:off x="1143000" y="3013456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Workshops with 3 clubs</a:t>
            </a:r>
            <a:endParaRPr lang="en-US" sz="650" dirty="0"/>
          </a:p>
        </p:txBody>
      </p:sp>
      <p:sp>
        <p:nvSpPr>
          <p:cNvPr id="1292" name="Shape 120"/>
          <p:cNvSpPr/>
          <p:nvPr/>
        </p:nvSpPr>
        <p:spPr>
          <a:xfrm>
            <a:off x="5936651" y="3063748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BFDBF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3" name="Shape 121"/>
          <p:cNvSpPr/>
          <p:nvPr/>
        </p:nvSpPr>
        <p:spPr>
          <a:xfrm>
            <a:off x="1051560" y="3164332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4" name="Shape 122"/>
          <p:cNvSpPr/>
          <p:nvPr/>
        </p:nvSpPr>
        <p:spPr>
          <a:xfrm>
            <a:off x="4299509" y="316433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5" name="Shape 123"/>
          <p:cNvSpPr/>
          <p:nvPr/>
        </p:nvSpPr>
        <p:spPr>
          <a:xfrm>
            <a:off x="5812841" y="316433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6" name="Shape 124"/>
          <p:cNvSpPr/>
          <p:nvPr/>
        </p:nvSpPr>
        <p:spPr>
          <a:xfrm>
            <a:off x="7326173" y="316433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7" name="Shape 125"/>
          <p:cNvSpPr/>
          <p:nvPr/>
        </p:nvSpPr>
        <p:spPr>
          <a:xfrm>
            <a:off x="8839505" y="316433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8" name="Shape 126"/>
          <p:cNvSpPr/>
          <p:nvPr/>
        </p:nvSpPr>
        <p:spPr>
          <a:xfrm>
            <a:off x="10352837" y="316433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9" name="Text 127"/>
          <p:cNvSpPr/>
          <p:nvPr/>
        </p:nvSpPr>
        <p:spPr>
          <a:xfrm>
            <a:off x="1143000" y="3164332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Gather framework &amp; survey feedback</a:t>
            </a:r>
            <a:endParaRPr lang="en-US" sz="650" dirty="0"/>
          </a:p>
        </p:txBody>
      </p:sp>
      <p:sp>
        <p:nvSpPr>
          <p:cNvPr id="1370" name="Shape 128"/>
          <p:cNvSpPr/>
          <p:nvPr/>
        </p:nvSpPr>
        <p:spPr>
          <a:xfrm>
            <a:off x="5936651" y="3214624"/>
            <a:ext cx="2542398" cy="50292"/>
          </a:xfrm>
          <a:prstGeom prst="roundRect">
            <a:avLst>
              <a:gd name="adj" fmla="val 36364"/>
            </a:avLst>
          </a:prstGeom>
          <a:solidFill>
            <a:srgbClr val="BFDBF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1" name="Shape 129"/>
          <p:cNvSpPr/>
          <p:nvPr/>
        </p:nvSpPr>
        <p:spPr>
          <a:xfrm>
            <a:off x="1051560" y="3315208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2" name="Shape 130"/>
          <p:cNvSpPr/>
          <p:nvPr/>
        </p:nvSpPr>
        <p:spPr>
          <a:xfrm>
            <a:off x="4299509" y="331520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3" name="Shape 131"/>
          <p:cNvSpPr/>
          <p:nvPr/>
        </p:nvSpPr>
        <p:spPr>
          <a:xfrm>
            <a:off x="5812841" y="331520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4" name="Shape 132"/>
          <p:cNvSpPr/>
          <p:nvPr/>
        </p:nvSpPr>
        <p:spPr>
          <a:xfrm>
            <a:off x="7326173" y="331520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5" name="Shape 133"/>
          <p:cNvSpPr/>
          <p:nvPr/>
        </p:nvSpPr>
        <p:spPr>
          <a:xfrm>
            <a:off x="8839505" y="331520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6" name="Shape 134"/>
          <p:cNvSpPr/>
          <p:nvPr/>
        </p:nvSpPr>
        <p:spPr>
          <a:xfrm>
            <a:off x="10352837" y="331520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7" name="Text 135"/>
          <p:cNvSpPr/>
          <p:nvPr/>
        </p:nvSpPr>
        <p:spPr>
          <a:xfrm>
            <a:off x="1143000" y="3315208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Update survey based on insights</a:t>
            </a:r>
            <a:endParaRPr lang="en-US" sz="650" dirty="0"/>
          </a:p>
        </p:txBody>
      </p:sp>
      <p:sp>
        <p:nvSpPr>
          <p:cNvPr id="1458" name="Shape 136"/>
          <p:cNvSpPr/>
          <p:nvPr/>
        </p:nvSpPr>
        <p:spPr>
          <a:xfrm>
            <a:off x="7449983" y="3365500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BFDBFE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9" name="Shape 137"/>
          <p:cNvSpPr/>
          <p:nvPr/>
        </p:nvSpPr>
        <p:spPr>
          <a:xfrm>
            <a:off x="320040" y="3466084"/>
            <a:ext cx="731520" cy="1824228"/>
          </a:xfrm>
          <a:prstGeom prst="rect">
            <a:avLst/>
          </a:prstGeom>
          <a:solidFill>
            <a:srgbClr val="1E3A5F"/>
          </a:solidFill>
          <a:ln w="6350">
            <a:solidFill>
              <a:srgbClr val="2A5090"/>
            </a:solidFill>
            <a:prstDash val="solid"/>
          </a:ln>
        </p:spPr>
        <p:txBody>
          <a:bodyPr vert="vert270"/>
          <a:lstStyle/>
          <a:p>
            <a:endParaRPr lang="en-US" sz="700"/>
          </a:p>
        </p:txBody>
      </p:sp>
      <p:sp>
        <p:nvSpPr>
          <p:cNvPr id="1470" name="Text 138"/>
          <p:cNvSpPr/>
          <p:nvPr/>
        </p:nvSpPr>
        <p:spPr>
          <a:xfrm>
            <a:off x="320040" y="3466084"/>
            <a:ext cx="731520" cy="1824228"/>
          </a:xfrm>
          <a:prstGeom prst="rect">
            <a:avLst/>
          </a:prstGeom>
          <a:noFill/>
          <a:ln/>
        </p:spPr>
        <p:txBody>
          <a:bodyPr vert="vert270" wrap="square" rtlCol="0" anchor="ctr"/>
          <a:lstStyle/>
          <a:p>
            <a:pPr marL="0" indent="0" algn="ctr">
              <a:buNone/>
            </a:pPr>
            <a:r>
              <a:rPr lang="en-US" sz="700" b="1" kern="0" spc="30" dirty="0">
                <a:solidFill>
                  <a:srgbClr val="FFFFFF"/>
                </a:solidFill>
              </a:rPr>
              <a:t>Dashboard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kern="0" spc="30" dirty="0">
                <a:solidFill>
                  <a:srgbClr val="FFFFFF"/>
                </a:solidFill>
              </a:rPr>
              <a:t>Development</a:t>
            </a:r>
            <a:endParaRPr lang="en-US" sz="700" dirty="0"/>
          </a:p>
        </p:txBody>
      </p:sp>
      <p:sp>
        <p:nvSpPr>
          <p:cNvPr id="1481" name="Shape 139"/>
          <p:cNvSpPr/>
          <p:nvPr/>
        </p:nvSpPr>
        <p:spPr>
          <a:xfrm>
            <a:off x="1051560" y="3466084"/>
            <a:ext cx="10817352" cy="205740"/>
          </a:xfrm>
          <a:prstGeom prst="rect">
            <a:avLst/>
          </a:prstGeom>
          <a:solidFill>
            <a:srgbClr val="131B2E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2" name="Shape 140"/>
          <p:cNvSpPr/>
          <p:nvPr/>
        </p:nvSpPr>
        <p:spPr>
          <a:xfrm>
            <a:off x="4299509" y="346608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3" name="Shape 141"/>
          <p:cNvSpPr/>
          <p:nvPr/>
        </p:nvSpPr>
        <p:spPr>
          <a:xfrm>
            <a:off x="5812841" y="346608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4" name="Shape 142"/>
          <p:cNvSpPr/>
          <p:nvPr/>
        </p:nvSpPr>
        <p:spPr>
          <a:xfrm>
            <a:off x="7326173" y="346608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5" name="Shape 143"/>
          <p:cNvSpPr/>
          <p:nvPr/>
        </p:nvSpPr>
        <p:spPr>
          <a:xfrm>
            <a:off x="8839505" y="346608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6" name="Shape 144"/>
          <p:cNvSpPr/>
          <p:nvPr/>
        </p:nvSpPr>
        <p:spPr>
          <a:xfrm>
            <a:off x="10352837" y="346608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7" name="Text 145"/>
          <p:cNvSpPr/>
          <p:nvPr/>
        </p:nvSpPr>
        <p:spPr>
          <a:xfrm>
            <a:off x="1097280" y="3466084"/>
            <a:ext cx="16459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2E8F0"/>
                </a:solidFill>
              </a:rPr>
              <a:t>Survey Tooling &amp; Dashboard Dev</a:t>
            </a:r>
            <a:endParaRPr lang="en-US" sz="750" dirty="0"/>
          </a:p>
        </p:txBody>
      </p:sp>
      <p:sp>
        <p:nvSpPr>
          <p:cNvPr id="1558" name="Shape 146"/>
          <p:cNvSpPr/>
          <p:nvPr/>
        </p:nvSpPr>
        <p:spPr>
          <a:xfrm>
            <a:off x="5891251" y="3527806"/>
            <a:ext cx="4085996" cy="82296"/>
          </a:xfrm>
          <a:prstGeom prst="roundRect">
            <a:avLst>
              <a:gd name="adj" fmla="val 33333"/>
            </a:avLst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9" name="Shape 147"/>
          <p:cNvSpPr/>
          <p:nvPr/>
        </p:nvSpPr>
        <p:spPr>
          <a:xfrm>
            <a:off x="1051560" y="3671824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0" name="Shape 148"/>
          <p:cNvSpPr/>
          <p:nvPr/>
        </p:nvSpPr>
        <p:spPr>
          <a:xfrm>
            <a:off x="4299509" y="367182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1" name="Shape 149"/>
          <p:cNvSpPr/>
          <p:nvPr/>
        </p:nvSpPr>
        <p:spPr>
          <a:xfrm>
            <a:off x="5812841" y="367182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2" name="Shape 150"/>
          <p:cNvSpPr/>
          <p:nvPr/>
        </p:nvSpPr>
        <p:spPr>
          <a:xfrm>
            <a:off x="7326173" y="367182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3" name="Shape 151"/>
          <p:cNvSpPr/>
          <p:nvPr/>
        </p:nvSpPr>
        <p:spPr>
          <a:xfrm>
            <a:off x="8839505" y="367182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4" name="Shape 152"/>
          <p:cNvSpPr/>
          <p:nvPr/>
        </p:nvSpPr>
        <p:spPr>
          <a:xfrm>
            <a:off x="10352837" y="367182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5" name="Text 153"/>
          <p:cNvSpPr/>
          <p:nvPr/>
        </p:nvSpPr>
        <p:spPr>
          <a:xfrm>
            <a:off x="1143000" y="3671824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Finalize survey on updated framework</a:t>
            </a:r>
            <a:endParaRPr lang="en-US" sz="650" dirty="0"/>
          </a:p>
        </p:txBody>
      </p:sp>
      <p:sp>
        <p:nvSpPr>
          <p:cNvPr id="1636" name="Shape 154"/>
          <p:cNvSpPr/>
          <p:nvPr/>
        </p:nvSpPr>
        <p:spPr>
          <a:xfrm>
            <a:off x="5936651" y="3722116"/>
            <a:ext cx="2542398" cy="50292"/>
          </a:xfrm>
          <a:prstGeom prst="roundRect">
            <a:avLst>
              <a:gd name="adj" fmla="val 36364"/>
            </a:avLst>
          </a:prstGeom>
          <a:solidFill>
            <a:srgbClr val="BAE6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7" name="Shape 155"/>
          <p:cNvSpPr/>
          <p:nvPr/>
        </p:nvSpPr>
        <p:spPr>
          <a:xfrm>
            <a:off x="1051560" y="3822700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8" name="Shape 156"/>
          <p:cNvSpPr/>
          <p:nvPr/>
        </p:nvSpPr>
        <p:spPr>
          <a:xfrm>
            <a:off x="4299509" y="382270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9" name="Shape 157"/>
          <p:cNvSpPr/>
          <p:nvPr/>
        </p:nvSpPr>
        <p:spPr>
          <a:xfrm>
            <a:off x="5812841" y="382270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0" name="Shape 158"/>
          <p:cNvSpPr/>
          <p:nvPr/>
        </p:nvSpPr>
        <p:spPr>
          <a:xfrm>
            <a:off x="7326173" y="382270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1" name="Shape 159"/>
          <p:cNvSpPr/>
          <p:nvPr/>
        </p:nvSpPr>
        <p:spPr>
          <a:xfrm>
            <a:off x="8839505" y="382270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2" name="Shape 160"/>
          <p:cNvSpPr/>
          <p:nvPr/>
        </p:nvSpPr>
        <p:spPr>
          <a:xfrm>
            <a:off x="10352837" y="382270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3" name="Text 161"/>
          <p:cNvSpPr/>
          <p:nvPr/>
        </p:nvSpPr>
        <p:spPr>
          <a:xfrm>
            <a:off x="1143000" y="3822700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Tableau visualization based on methodology</a:t>
            </a:r>
            <a:endParaRPr lang="en-US" sz="650" dirty="0"/>
          </a:p>
        </p:txBody>
      </p:sp>
      <p:sp>
        <p:nvSpPr>
          <p:cNvPr id="1714" name="Shape 162"/>
          <p:cNvSpPr/>
          <p:nvPr/>
        </p:nvSpPr>
        <p:spPr>
          <a:xfrm>
            <a:off x="5936651" y="3872992"/>
            <a:ext cx="3813597" cy="50292"/>
          </a:xfrm>
          <a:prstGeom prst="roundRect">
            <a:avLst>
              <a:gd name="adj" fmla="val 36364"/>
            </a:avLst>
          </a:prstGeom>
          <a:solidFill>
            <a:srgbClr val="BAE6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5" name="Shape 163"/>
          <p:cNvSpPr/>
          <p:nvPr/>
        </p:nvSpPr>
        <p:spPr>
          <a:xfrm>
            <a:off x="1051560" y="3973576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6" name="Shape 164"/>
          <p:cNvSpPr/>
          <p:nvPr/>
        </p:nvSpPr>
        <p:spPr>
          <a:xfrm>
            <a:off x="4299509" y="397357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7" name="Shape 165"/>
          <p:cNvSpPr/>
          <p:nvPr/>
        </p:nvSpPr>
        <p:spPr>
          <a:xfrm>
            <a:off x="5812841" y="397357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8" name="Shape 166"/>
          <p:cNvSpPr/>
          <p:nvPr/>
        </p:nvSpPr>
        <p:spPr>
          <a:xfrm>
            <a:off x="7326173" y="397357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9" name="Shape 167"/>
          <p:cNvSpPr/>
          <p:nvPr/>
        </p:nvSpPr>
        <p:spPr>
          <a:xfrm>
            <a:off x="8839505" y="397357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0" name="Shape 168"/>
          <p:cNvSpPr/>
          <p:nvPr/>
        </p:nvSpPr>
        <p:spPr>
          <a:xfrm>
            <a:off x="10352837" y="397357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1" name="Text 169"/>
          <p:cNvSpPr/>
          <p:nvPr/>
        </p:nvSpPr>
        <p:spPr>
          <a:xfrm>
            <a:off x="1143000" y="3973576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Connect survey data to dashboard</a:t>
            </a:r>
            <a:endParaRPr lang="en-US" sz="650" dirty="0"/>
          </a:p>
        </p:txBody>
      </p:sp>
      <p:sp>
        <p:nvSpPr>
          <p:cNvPr id="1792" name="Shape 170"/>
          <p:cNvSpPr/>
          <p:nvPr/>
        </p:nvSpPr>
        <p:spPr>
          <a:xfrm>
            <a:off x="7449983" y="4023868"/>
            <a:ext cx="2542398" cy="50292"/>
          </a:xfrm>
          <a:prstGeom prst="roundRect">
            <a:avLst>
              <a:gd name="adj" fmla="val 36364"/>
            </a:avLst>
          </a:prstGeom>
          <a:solidFill>
            <a:srgbClr val="BAE6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3" name="Shape 171"/>
          <p:cNvSpPr/>
          <p:nvPr/>
        </p:nvSpPr>
        <p:spPr>
          <a:xfrm>
            <a:off x="1051560" y="4124452"/>
            <a:ext cx="10817352" cy="205740"/>
          </a:xfrm>
          <a:prstGeom prst="rect">
            <a:avLst/>
          </a:prstGeom>
          <a:solidFill>
            <a:srgbClr val="131B2E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4" name="Shape 172"/>
          <p:cNvSpPr/>
          <p:nvPr/>
        </p:nvSpPr>
        <p:spPr>
          <a:xfrm>
            <a:off x="4299509" y="412445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5" name="Shape 173"/>
          <p:cNvSpPr/>
          <p:nvPr/>
        </p:nvSpPr>
        <p:spPr>
          <a:xfrm>
            <a:off x="5812841" y="412445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6" name="Shape 174"/>
          <p:cNvSpPr/>
          <p:nvPr/>
        </p:nvSpPr>
        <p:spPr>
          <a:xfrm>
            <a:off x="7326173" y="412445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7" name="Shape 175"/>
          <p:cNvSpPr/>
          <p:nvPr/>
        </p:nvSpPr>
        <p:spPr>
          <a:xfrm>
            <a:off x="8839505" y="412445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8" name="Shape 176"/>
          <p:cNvSpPr/>
          <p:nvPr/>
        </p:nvSpPr>
        <p:spPr>
          <a:xfrm>
            <a:off x="10352837" y="412445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9" name="Text 177"/>
          <p:cNvSpPr/>
          <p:nvPr/>
        </p:nvSpPr>
        <p:spPr>
          <a:xfrm>
            <a:off x="1097280" y="4124452"/>
            <a:ext cx="16459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2E8F0"/>
                </a:solidFill>
              </a:rPr>
              <a:t>Data Transformation</a:t>
            </a:r>
            <a:endParaRPr lang="en-US" sz="750" dirty="0"/>
          </a:p>
        </p:txBody>
      </p:sp>
      <p:sp>
        <p:nvSpPr>
          <p:cNvPr id="1870" name="Shape 178"/>
          <p:cNvSpPr/>
          <p:nvPr/>
        </p:nvSpPr>
        <p:spPr>
          <a:xfrm>
            <a:off x="7404583" y="4186174"/>
            <a:ext cx="2723998" cy="82296"/>
          </a:xfrm>
          <a:prstGeom prst="roundRect">
            <a:avLst>
              <a:gd name="adj" fmla="val 33333"/>
            </a:avLst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1" name="Shape 179"/>
          <p:cNvSpPr/>
          <p:nvPr/>
        </p:nvSpPr>
        <p:spPr>
          <a:xfrm>
            <a:off x="1051560" y="4330192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2" name="Shape 180"/>
          <p:cNvSpPr/>
          <p:nvPr/>
        </p:nvSpPr>
        <p:spPr>
          <a:xfrm>
            <a:off x="4299509" y="433019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3" name="Shape 181"/>
          <p:cNvSpPr/>
          <p:nvPr/>
        </p:nvSpPr>
        <p:spPr>
          <a:xfrm>
            <a:off x="5812841" y="433019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4" name="Shape 182"/>
          <p:cNvSpPr/>
          <p:nvPr/>
        </p:nvSpPr>
        <p:spPr>
          <a:xfrm>
            <a:off x="7326173" y="433019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5" name="Shape 183"/>
          <p:cNvSpPr/>
          <p:nvPr/>
        </p:nvSpPr>
        <p:spPr>
          <a:xfrm>
            <a:off x="8839505" y="433019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6" name="Shape 184"/>
          <p:cNvSpPr/>
          <p:nvPr/>
        </p:nvSpPr>
        <p:spPr>
          <a:xfrm>
            <a:off x="10352837" y="433019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7" name="Text 185"/>
          <p:cNvSpPr/>
          <p:nvPr/>
        </p:nvSpPr>
        <p:spPr>
          <a:xfrm>
            <a:off x="1143000" y="4330192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Develop survey system logic</a:t>
            </a:r>
            <a:endParaRPr lang="en-US" sz="650" dirty="0"/>
          </a:p>
        </p:txBody>
      </p:sp>
      <p:sp>
        <p:nvSpPr>
          <p:cNvPr id="1958" name="Shape 186"/>
          <p:cNvSpPr/>
          <p:nvPr/>
        </p:nvSpPr>
        <p:spPr>
          <a:xfrm>
            <a:off x="7449983" y="4380484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BAE6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9" name="Shape 187"/>
          <p:cNvSpPr/>
          <p:nvPr/>
        </p:nvSpPr>
        <p:spPr>
          <a:xfrm>
            <a:off x="1051560" y="4481068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0" name="Shape 188"/>
          <p:cNvSpPr/>
          <p:nvPr/>
        </p:nvSpPr>
        <p:spPr>
          <a:xfrm>
            <a:off x="4299509" y="448106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1" name="Shape 189"/>
          <p:cNvSpPr/>
          <p:nvPr/>
        </p:nvSpPr>
        <p:spPr>
          <a:xfrm>
            <a:off x="5812841" y="448106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2" name="Shape 190"/>
          <p:cNvSpPr/>
          <p:nvPr/>
        </p:nvSpPr>
        <p:spPr>
          <a:xfrm>
            <a:off x="7326173" y="448106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3" name="Shape 191"/>
          <p:cNvSpPr/>
          <p:nvPr/>
        </p:nvSpPr>
        <p:spPr>
          <a:xfrm>
            <a:off x="8839505" y="448106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4" name="Shape 192"/>
          <p:cNvSpPr/>
          <p:nvPr/>
        </p:nvSpPr>
        <p:spPr>
          <a:xfrm>
            <a:off x="10352837" y="448106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5" name="Text 193"/>
          <p:cNvSpPr/>
          <p:nvPr/>
        </p:nvSpPr>
        <p:spPr>
          <a:xfrm>
            <a:off x="1143000" y="4481068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Develop data cleanse logic</a:t>
            </a:r>
            <a:endParaRPr lang="en-US" sz="650" dirty="0"/>
          </a:p>
        </p:txBody>
      </p:sp>
      <p:sp>
        <p:nvSpPr>
          <p:cNvPr id="2036" name="Shape 194"/>
          <p:cNvSpPr/>
          <p:nvPr/>
        </p:nvSpPr>
        <p:spPr>
          <a:xfrm>
            <a:off x="7449983" y="4531360"/>
            <a:ext cx="2542398" cy="50292"/>
          </a:xfrm>
          <a:prstGeom prst="roundRect">
            <a:avLst>
              <a:gd name="adj" fmla="val 36364"/>
            </a:avLst>
          </a:prstGeom>
          <a:solidFill>
            <a:srgbClr val="BAE6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7" name="Shape 195"/>
          <p:cNvSpPr/>
          <p:nvPr/>
        </p:nvSpPr>
        <p:spPr>
          <a:xfrm>
            <a:off x="1051560" y="4631944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8" name="Shape 196"/>
          <p:cNvSpPr/>
          <p:nvPr/>
        </p:nvSpPr>
        <p:spPr>
          <a:xfrm>
            <a:off x="4299509" y="46319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9" name="Shape 197"/>
          <p:cNvSpPr/>
          <p:nvPr/>
        </p:nvSpPr>
        <p:spPr>
          <a:xfrm>
            <a:off x="5812841" y="46319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0" name="Shape 198"/>
          <p:cNvSpPr/>
          <p:nvPr/>
        </p:nvSpPr>
        <p:spPr>
          <a:xfrm>
            <a:off x="7326173" y="46319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1" name="Shape 199"/>
          <p:cNvSpPr/>
          <p:nvPr/>
        </p:nvSpPr>
        <p:spPr>
          <a:xfrm>
            <a:off x="8839505" y="46319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2" name="Shape 200"/>
          <p:cNvSpPr/>
          <p:nvPr/>
        </p:nvSpPr>
        <p:spPr>
          <a:xfrm>
            <a:off x="10352837" y="46319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3" name="Text 201"/>
          <p:cNvSpPr/>
          <p:nvPr/>
        </p:nvSpPr>
        <p:spPr>
          <a:xfrm>
            <a:off x="1143000" y="4631944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Dashboard creation</a:t>
            </a:r>
            <a:endParaRPr lang="en-US" sz="650" dirty="0"/>
          </a:p>
        </p:txBody>
      </p:sp>
      <p:sp>
        <p:nvSpPr>
          <p:cNvPr id="2114" name="Shape 202"/>
          <p:cNvSpPr/>
          <p:nvPr/>
        </p:nvSpPr>
        <p:spPr>
          <a:xfrm>
            <a:off x="8963315" y="4682236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BAE6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5" name="Shape 203"/>
          <p:cNvSpPr/>
          <p:nvPr/>
        </p:nvSpPr>
        <p:spPr>
          <a:xfrm>
            <a:off x="1051560" y="4782820"/>
            <a:ext cx="10817352" cy="205740"/>
          </a:xfrm>
          <a:prstGeom prst="rect">
            <a:avLst/>
          </a:prstGeom>
          <a:solidFill>
            <a:srgbClr val="131B2E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6" name="Shape 204"/>
          <p:cNvSpPr/>
          <p:nvPr/>
        </p:nvSpPr>
        <p:spPr>
          <a:xfrm>
            <a:off x="4299509" y="4782820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7" name="Shape 205"/>
          <p:cNvSpPr/>
          <p:nvPr/>
        </p:nvSpPr>
        <p:spPr>
          <a:xfrm>
            <a:off x="5812841" y="4782820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8" name="Shape 206"/>
          <p:cNvSpPr/>
          <p:nvPr/>
        </p:nvSpPr>
        <p:spPr>
          <a:xfrm>
            <a:off x="7326173" y="4782820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9" name="Shape 207"/>
          <p:cNvSpPr/>
          <p:nvPr/>
        </p:nvSpPr>
        <p:spPr>
          <a:xfrm>
            <a:off x="8839505" y="4782820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0" name="Shape 208"/>
          <p:cNvSpPr/>
          <p:nvPr/>
        </p:nvSpPr>
        <p:spPr>
          <a:xfrm>
            <a:off x="10352837" y="4782820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1" name="Text 209"/>
          <p:cNvSpPr/>
          <p:nvPr/>
        </p:nvSpPr>
        <p:spPr>
          <a:xfrm>
            <a:off x="1097280" y="4782820"/>
            <a:ext cx="16459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2E8F0"/>
                </a:solidFill>
              </a:rPr>
              <a:t>Testing &amp; Refinements</a:t>
            </a:r>
            <a:endParaRPr lang="en-US" sz="750" dirty="0"/>
          </a:p>
        </p:txBody>
      </p:sp>
      <p:sp>
        <p:nvSpPr>
          <p:cNvPr id="2192" name="Shape 210"/>
          <p:cNvSpPr/>
          <p:nvPr/>
        </p:nvSpPr>
        <p:spPr>
          <a:xfrm>
            <a:off x="8917915" y="4844542"/>
            <a:ext cx="1361999" cy="82296"/>
          </a:xfrm>
          <a:prstGeom prst="roundRect">
            <a:avLst>
              <a:gd name="adj" fmla="val 33333"/>
            </a:avLst>
          </a:prstGeom>
          <a:solidFill>
            <a:srgbClr val="60A5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3" name="Shape 211"/>
          <p:cNvSpPr/>
          <p:nvPr/>
        </p:nvSpPr>
        <p:spPr>
          <a:xfrm>
            <a:off x="1051560" y="4988560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4" name="Shape 212"/>
          <p:cNvSpPr/>
          <p:nvPr/>
        </p:nvSpPr>
        <p:spPr>
          <a:xfrm>
            <a:off x="4299509" y="498856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5" name="Shape 213"/>
          <p:cNvSpPr/>
          <p:nvPr/>
        </p:nvSpPr>
        <p:spPr>
          <a:xfrm>
            <a:off x="5812841" y="498856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6" name="Shape 214"/>
          <p:cNvSpPr/>
          <p:nvPr/>
        </p:nvSpPr>
        <p:spPr>
          <a:xfrm>
            <a:off x="7326173" y="498856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7" name="Shape 215"/>
          <p:cNvSpPr/>
          <p:nvPr/>
        </p:nvSpPr>
        <p:spPr>
          <a:xfrm>
            <a:off x="8839505" y="498856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8" name="Shape 216"/>
          <p:cNvSpPr/>
          <p:nvPr/>
        </p:nvSpPr>
        <p:spPr>
          <a:xfrm>
            <a:off x="10352837" y="498856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9" name="Text 217"/>
          <p:cNvSpPr/>
          <p:nvPr/>
        </p:nvSpPr>
        <p:spPr>
          <a:xfrm>
            <a:off x="1143000" y="4988560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Solution testing</a:t>
            </a:r>
            <a:endParaRPr lang="en-US" sz="650" dirty="0"/>
          </a:p>
        </p:txBody>
      </p:sp>
      <p:sp>
        <p:nvSpPr>
          <p:cNvPr id="2270" name="Shape 218"/>
          <p:cNvSpPr/>
          <p:nvPr/>
        </p:nvSpPr>
        <p:spPr>
          <a:xfrm>
            <a:off x="8963315" y="5038852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BAE6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1" name="Shape 219"/>
          <p:cNvSpPr/>
          <p:nvPr/>
        </p:nvSpPr>
        <p:spPr>
          <a:xfrm>
            <a:off x="1051560" y="5139436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2" name="Shape 220"/>
          <p:cNvSpPr/>
          <p:nvPr/>
        </p:nvSpPr>
        <p:spPr>
          <a:xfrm>
            <a:off x="4299509" y="513943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3" name="Shape 221"/>
          <p:cNvSpPr/>
          <p:nvPr/>
        </p:nvSpPr>
        <p:spPr>
          <a:xfrm>
            <a:off x="5812841" y="513943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4" name="Shape 222"/>
          <p:cNvSpPr/>
          <p:nvPr/>
        </p:nvSpPr>
        <p:spPr>
          <a:xfrm>
            <a:off x="7326173" y="513943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5" name="Shape 223"/>
          <p:cNvSpPr/>
          <p:nvPr/>
        </p:nvSpPr>
        <p:spPr>
          <a:xfrm>
            <a:off x="8839505" y="513943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6" name="Shape 224"/>
          <p:cNvSpPr/>
          <p:nvPr/>
        </p:nvSpPr>
        <p:spPr>
          <a:xfrm>
            <a:off x="10352837" y="5139436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7" name="Text 225"/>
          <p:cNvSpPr/>
          <p:nvPr/>
        </p:nvSpPr>
        <p:spPr>
          <a:xfrm>
            <a:off x="1143000" y="5139436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Visualization refinements based on feedback</a:t>
            </a:r>
            <a:endParaRPr lang="en-US" sz="650" dirty="0"/>
          </a:p>
        </p:txBody>
      </p:sp>
      <p:sp>
        <p:nvSpPr>
          <p:cNvPr id="2358" name="Shape 226"/>
          <p:cNvSpPr/>
          <p:nvPr/>
        </p:nvSpPr>
        <p:spPr>
          <a:xfrm>
            <a:off x="8963315" y="5189728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BAE6F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9" name="Shape 227"/>
          <p:cNvSpPr/>
          <p:nvPr/>
        </p:nvSpPr>
        <p:spPr>
          <a:xfrm>
            <a:off x="320040" y="5290312"/>
            <a:ext cx="731520" cy="1014984"/>
          </a:xfrm>
          <a:prstGeom prst="rect">
            <a:avLst/>
          </a:prstGeom>
          <a:solidFill>
            <a:srgbClr val="374151"/>
          </a:solidFill>
          <a:ln w="635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0" name="Text 228"/>
          <p:cNvSpPr/>
          <p:nvPr/>
        </p:nvSpPr>
        <p:spPr>
          <a:xfrm>
            <a:off x="320040" y="5290312"/>
            <a:ext cx="731520" cy="1014984"/>
          </a:xfrm>
          <a:prstGeom prst="rect">
            <a:avLst/>
          </a:prstGeom>
          <a:noFill/>
          <a:ln/>
        </p:spPr>
        <p:txBody>
          <a:bodyPr vert="vert270" wrap="square" rtlCol="0" anchor="ctr"/>
          <a:lstStyle/>
          <a:p>
            <a:pPr marL="0" indent="0" algn="ctr">
              <a:buNone/>
            </a:pPr>
            <a:r>
              <a:rPr lang="en-US" sz="700" b="1" kern="0" spc="30" dirty="0">
                <a:solidFill>
                  <a:srgbClr val="FFFFFF"/>
                </a:solidFill>
              </a:rPr>
              <a:t>Survey &amp;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kern="0" spc="30" dirty="0">
                <a:solidFill>
                  <a:srgbClr val="FFFFFF"/>
                </a:solidFill>
              </a:rPr>
              <a:t>Dashboard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kern="0" spc="30" dirty="0">
                <a:solidFill>
                  <a:srgbClr val="FFFFFF"/>
                </a:solidFill>
              </a:rPr>
              <a:t>Finalization</a:t>
            </a:r>
            <a:endParaRPr lang="en-US" sz="700" dirty="0"/>
          </a:p>
        </p:txBody>
      </p:sp>
      <p:sp>
        <p:nvSpPr>
          <p:cNvPr id="2381" name="Shape 229"/>
          <p:cNvSpPr/>
          <p:nvPr/>
        </p:nvSpPr>
        <p:spPr>
          <a:xfrm>
            <a:off x="1051560" y="5290312"/>
            <a:ext cx="10817352" cy="205740"/>
          </a:xfrm>
          <a:prstGeom prst="rect">
            <a:avLst/>
          </a:prstGeom>
          <a:solidFill>
            <a:srgbClr val="131B2E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2" name="Shape 230"/>
          <p:cNvSpPr/>
          <p:nvPr/>
        </p:nvSpPr>
        <p:spPr>
          <a:xfrm>
            <a:off x="4299509" y="529031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3" name="Shape 231"/>
          <p:cNvSpPr/>
          <p:nvPr/>
        </p:nvSpPr>
        <p:spPr>
          <a:xfrm>
            <a:off x="5812841" y="529031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4" name="Shape 232"/>
          <p:cNvSpPr/>
          <p:nvPr/>
        </p:nvSpPr>
        <p:spPr>
          <a:xfrm>
            <a:off x="7326173" y="529031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5" name="Shape 233"/>
          <p:cNvSpPr/>
          <p:nvPr/>
        </p:nvSpPr>
        <p:spPr>
          <a:xfrm>
            <a:off x="8839505" y="529031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6" name="Shape 234"/>
          <p:cNvSpPr/>
          <p:nvPr/>
        </p:nvSpPr>
        <p:spPr>
          <a:xfrm>
            <a:off x="10352837" y="5290312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7" name="Text 235"/>
          <p:cNvSpPr/>
          <p:nvPr/>
        </p:nvSpPr>
        <p:spPr>
          <a:xfrm>
            <a:off x="1097280" y="5290312"/>
            <a:ext cx="16459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2E8F0"/>
                </a:solidFill>
              </a:rPr>
              <a:t>Survey Release</a:t>
            </a:r>
            <a:endParaRPr lang="en-US" sz="750" dirty="0"/>
          </a:p>
        </p:txBody>
      </p:sp>
      <p:sp>
        <p:nvSpPr>
          <p:cNvPr id="2458" name="Shape 236"/>
          <p:cNvSpPr/>
          <p:nvPr/>
        </p:nvSpPr>
        <p:spPr>
          <a:xfrm>
            <a:off x="8917915" y="5352034"/>
            <a:ext cx="2723998" cy="82296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9" name="Shape 237"/>
          <p:cNvSpPr/>
          <p:nvPr/>
        </p:nvSpPr>
        <p:spPr>
          <a:xfrm rot="2700000">
            <a:off x="11577904" y="5333746"/>
            <a:ext cx="118872" cy="118872"/>
          </a:xfrm>
          <a:prstGeom prst="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0" name="Text 238"/>
          <p:cNvSpPr/>
          <p:nvPr/>
        </p:nvSpPr>
        <p:spPr>
          <a:xfrm>
            <a:off x="11577904" y="5333746"/>
            <a:ext cx="1188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74151"/>
                </a:solidFill>
              </a:rPr>
              <a:t>C</a:t>
            </a:r>
            <a:endParaRPr lang="en-US" sz="550" dirty="0"/>
          </a:p>
        </p:txBody>
      </p:sp>
      <p:sp>
        <p:nvSpPr>
          <p:cNvPr id="2481" name="Shape 239"/>
          <p:cNvSpPr/>
          <p:nvPr/>
        </p:nvSpPr>
        <p:spPr>
          <a:xfrm>
            <a:off x="1051560" y="5496052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2" name="Shape 240"/>
          <p:cNvSpPr/>
          <p:nvPr/>
        </p:nvSpPr>
        <p:spPr>
          <a:xfrm>
            <a:off x="4299509" y="549605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3" name="Shape 241"/>
          <p:cNvSpPr/>
          <p:nvPr/>
        </p:nvSpPr>
        <p:spPr>
          <a:xfrm>
            <a:off x="5812841" y="549605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4" name="Shape 242"/>
          <p:cNvSpPr/>
          <p:nvPr/>
        </p:nvSpPr>
        <p:spPr>
          <a:xfrm>
            <a:off x="7326173" y="549605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5" name="Shape 243"/>
          <p:cNvSpPr/>
          <p:nvPr/>
        </p:nvSpPr>
        <p:spPr>
          <a:xfrm>
            <a:off x="8839505" y="549605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6" name="Shape 244"/>
          <p:cNvSpPr/>
          <p:nvPr/>
        </p:nvSpPr>
        <p:spPr>
          <a:xfrm>
            <a:off x="10352837" y="5496052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7" name="Text 245"/>
          <p:cNvSpPr/>
          <p:nvPr/>
        </p:nvSpPr>
        <p:spPr>
          <a:xfrm>
            <a:off x="1143000" y="5496052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Send out surveys to all clubs</a:t>
            </a:r>
            <a:endParaRPr lang="en-US" sz="650" dirty="0"/>
          </a:p>
        </p:txBody>
      </p:sp>
      <p:sp>
        <p:nvSpPr>
          <p:cNvPr id="2558" name="Shape 246"/>
          <p:cNvSpPr/>
          <p:nvPr/>
        </p:nvSpPr>
        <p:spPr>
          <a:xfrm>
            <a:off x="8963315" y="5546344"/>
            <a:ext cx="2542398" cy="50292"/>
          </a:xfrm>
          <a:prstGeom prst="roundRect">
            <a:avLst>
              <a:gd name="adj" fmla="val 36364"/>
            </a:avLst>
          </a:prstGeom>
          <a:solidFill>
            <a:srgbClr val="D1D5DB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9" name="Shape 247"/>
          <p:cNvSpPr/>
          <p:nvPr/>
        </p:nvSpPr>
        <p:spPr>
          <a:xfrm>
            <a:off x="1051560" y="5646928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0" name="Shape 248"/>
          <p:cNvSpPr/>
          <p:nvPr/>
        </p:nvSpPr>
        <p:spPr>
          <a:xfrm>
            <a:off x="4299509" y="564692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1" name="Shape 249"/>
          <p:cNvSpPr/>
          <p:nvPr/>
        </p:nvSpPr>
        <p:spPr>
          <a:xfrm>
            <a:off x="5812841" y="564692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2" name="Shape 250"/>
          <p:cNvSpPr/>
          <p:nvPr/>
        </p:nvSpPr>
        <p:spPr>
          <a:xfrm>
            <a:off x="7326173" y="564692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3" name="Shape 251"/>
          <p:cNvSpPr/>
          <p:nvPr/>
        </p:nvSpPr>
        <p:spPr>
          <a:xfrm>
            <a:off x="8839505" y="564692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4" name="Shape 252"/>
          <p:cNvSpPr/>
          <p:nvPr/>
        </p:nvSpPr>
        <p:spPr>
          <a:xfrm>
            <a:off x="10352837" y="5646928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5" name="Text 253"/>
          <p:cNvSpPr/>
          <p:nvPr/>
        </p:nvSpPr>
        <p:spPr>
          <a:xfrm>
            <a:off x="1143000" y="5646928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Communication to all 35 teams</a:t>
            </a:r>
            <a:endParaRPr lang="en-US" sz="650" dirty="0"/>
          </a:p>
        </p:txBody>
      </p:sp>
      <p:sp>
        <p:nvSpPr>
          <p:cNvPr id="2636" name="Shape 254"/>
          <p:cNvSpPr/>
          <p:nvPr/>
        </p:nvSpPr>
        <p:spPr>
          <a:xfrm>
            <a:off x="8963315" y="5697220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D1D5DB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7" name="Shape 255"/>
          <p:cNvSpPr/>
          <p:nvPr/>
        </p:nvSpPr>
        <p:spPr>
          <a:xfrm>
            <a:off x="1051560" y="5797804"/>
            <a:ext cx="10817352" cy="205740"/>
          </a:xfrm>
          <a:prstGeom prst="rect">
            <a:avLst/>
          </a:prstGeom>
          <a:solidFill>
            <a:srgbClr val="131B2E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8" name="Shape 256"/>
          <p:cNvSpPr/>
          <p:nvPr/>
        </p:nvSpPr>
        <p:spPr>
          <a:xfrm>
            <a:off x="4299509" y="579780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9" name="Shape 257"/>
          <p:cNvSpPr/>
          <p:nvPr/>
        </p:nvSpPr>
        <p:spPr>
          <a:xfrm>
            <a:off x="5812841" y="579780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0" name="Shape 258"/>
          <p:cNvSpPr/>
          <p:nvPr/>
        </p:nvSpPr>
        <p:spPr>
          <a:xfrm>
            <a:off x="7326173" y="579780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1" name="Shape 259"/>
          <p:cNvSpPr/>
          <p:nvPr/>
        </p:nvSpPr>
        <p:spPr>
          <a:xfrm>
            <a:off x="8839505" y="579780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2" name="Shape 260"/>
          <p:cNvSpPr/>
          <p:nvPr/>
        </p:nvSpPr>
        <p:spPr>
          <a:xfrm>
            <a:off x="10352837" y="5797804"/>
            <a:ext cx="5486" cy="2057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3" name="Text 261"/>
          <p:cNvSpPr/>
          <p:nvPr/>
        </p:nvSpPr>
        <p:spPr>
          <a:xfrm>
            <a:off x="1097280" y="5797804"/>
            <a:ext cx="16459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2E8F0"/>
                </a:solidFill>
              </a:rPr>
              <a:t>Dashboard Release</a:t>
            </a:r>
            <a:endParaRPr lang="en-US" sz="750" dirty="0"/>
          </a:p>
        </p:txBody>
      </p:sp>
      <p:sp>
        <p:nvSpPr>
          <p:cNvPr id="2714" name="Shape 262"/>
          <p:cNvSpPr/>
          <p:nvPr/>
        </p:nvSpPr>
        <p:spPr>
          <a:xfrm>
            <a:off x="10431247" y="5859526"/>
            <a:ext cx="1361999" cy="82296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5" name="Shape 263"/>
          <p:cNvSpPr/>
          <p:nvPr/>
        </p:nvSpPr>
        <p:spPr>
          <a:xfrm rot="2700000">
            <a:off x="11729237" y="5841238"/>
            <a:ext cx="118872" cy="118872"/>
          </a:xfrm>
          <a:prstGeom prst="rect">
            <a:avLst/>
          </a:prstGeom>
          <a:solidFill>
            <a:srgbClr val="F8FAFC"/>
          </a:solidFill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6" name="Text 264"/>
          <p:cNvSpPr/>
          <p:nvPr/>
        </p:nvSpPr>
        <p:spPr>
          <a:xfrm>
            <a:off x="11729237" y="5841238"/>
            <a:ext cx="11887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74151"/>
                </a:solidFill>
              </a:rPr>
              <a:t>D</a:t>
            </a:r>
            <a:endParaRPr lang="en-US" sz="550" dirty="0"/>
          </a:p>
        </p:txBody>
      </p:sp>
      <p:sp>
        <p:nvSpPr>
          <p:cNvPr id="2747" name="Shape 265"/>
          <p:cNvSpPr/>
          <p:nvPr/>
        </p:nvSpPr>
        <p:spPr>
          <a:xfrm>
            <a:off x="1051560" y="6003544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8" name="Shape 266"/>
          <p:cNvSpPr/>
          <p:nvPr/>
        </p:nvSpPr>
        <p:spPr>
          <a:xfrm>
            <a:off x="4299509" y="60035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9" name="Shape 267"/>
          <p:cNvSpPr/>
          <p:nvPr/>
        </p:nvSpPr>
        <p:spPr>
          <a:xfrm>
            <a:off x="5812841" y="60035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0" name="Shape 268"/>
          <p:cNvSpPr/>
          <p:nvPr/>
        </p:nvSpPr>
        <p:spPr>
          <a:xfrm>
            <a:off x="7326173" y="60035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1" name="Shape 269"/>
          <p:cNvSpPr/>
          <p:nvPr/>
        </p:nvSpPr>
        <p:spPr>
          <a:xfrm>
            <a:off x="8839505" y="60035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2" name="Shape 270"/>
          <p:cNvSpPr/>
          <p:nvPr/>
        </p:nvSpPr>
        <p:spPr>
          <a:xfrm>
            <a:off x="10352837" y="6003544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3" name="Text 271"/>
          <p:cNvSpPr/>
          <p:nvPr/>
        </p:nvSpPr>
        <p:spPr>
          <a:xfrm>
            <a:off x="1143000" y="6003544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Dashboard go-live</a:t>
            </a:r>
            <a:endParaRPr lang="en-US" sz="650" dirty="0"/>
          </a:p>
        </p:txBody>
      </p:sp>
      <p:sp>
        <p:nvSpPr>
          <p:cNvPr id="2814" name="Shape 272"/>
          <p:cNvSpPr/>
          <p:nvPr/>
        </p:nvSpPr>
        <p:spPr>
          <a:xfrm>
            <a:off x="10476647" y="6053836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D1D5DB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5" name="Shape 273"/>
          <p:cNvSpPr/>
          <p:nvPr/>
        </p:nvSpPr>
        <p:spPr>
          <a:xfrm>
            <a:off x="1051560" y="6154420"/>
            <a:ext cx="10817352" cy="150876"/>
          </a:xfrm>
          <a:prstGeom prst="rect">
            <a:avLst/>
          </a:prstGeom>
          <a:solidFill>
            <a:srgbClr val="0F172A"/>
          </a:solidFill>
          <a:ln w="6350">
            <a:solidFill>
              <a:srgbClr val="1E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6" name="Shape 274"/>
          <p:cNvSpPr/>
          <p:nvPr/>
        </p:nvSpPr>
        <p:spPr>
          <a:xfrm>
            <a:off x="4299509" y="615442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7" name="Shape 275"/>
          <p:cNvSpPr/>
          <p:nvPr/>
        </p:nvSpPr>
        <p:spPr>
          <a:xfrm>
            <a:off x="5812841" y="615442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8" name="Shape 276"/>
          <p:cNvSpPr/>
          <p:nvPr/>
        </p:nvSpPr>
        <p:spPr>
          <a:xfrm>
            <a:off x="7326173" y="615442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9" name="Shape 277"/>
          <p:cNvSpPr/>
          <p:nvPr/>
        </p:nvSpPr>
        <p:spPr>
          <a:xfrm>
            <a:off x="8839505" y="615442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0" name="Shape 278"/>
          <p:cNvSpPr/>
          <p:nvPr/>
        </p:nvSpPr>
        <p:spPr>
          <a:xfrm>
            <a:off x="10352837" y="6154420"/>
            <a:ext cx="5486" cy="150876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1" name="Text 279"/>
          <p:cNvSpPr/>
          <p:nvPr/>
        </p:nvSpPr>
        <p:spPr>
          <a:xfrm>
            <a:off x="1143000" y="6154420"/>
            <a:ext cx="1609344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94A3B8"/>
                </a:solidFill>
              </a:rPr>
              <a:t>›  Post-release monitoring</a:t>
            </a:r>
            <a:endParaRPr lang="en-US" sz="650" dirty="0"/>
          </a:p>
        </p:txBody>
      </p:sp>
      <p:sp>
        <p:nvSpPr>
          <p:cNvPr id="2892" name="Shape 280"/>
          <p:cNvSpPr/>
          <p:nvPr/>
        </p:nvSpPr>
        <p:spPr>
          <a:xfrm>
            <a:off x="10476647" y="6204712"/>
            <a:ext cx="1271199" cy="50292"/>
          </a:xfrm>
          <a:prstGeom prst="roundRect">
            <a:avLst>
              <a:gd name="adj" fmla="val 36364"/>
            </a:avLst>
          </a:prstGeom>
          <a:solidFill>
            <a:srgbClr val="D1D5DB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97883E0-3536-CA42-EC4E-B40618749235}"/>
              </a:ext>
            </a:extLst>
          </p:cNvPr>
          <p:cNvSpPr txBox="1">
            <a:spLocks/>
          </p:cNvSpPr>
          <p:nvPr/>
        </p:nvSpPr>
        <p:spPr>
          <a:xfrm>
            <a:off x="296451" y="412098"/>
            <a:ext cx="5672549" cy="6217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/>
              <a:t>Phase 2 Assessment Timeline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D33445-9472-CD7F-BEA3-212BAA5F3595}"/>
              </a:ext>
            </a:extLst>
          </p:cNvPr>
          <p:cNvSpPr txBox="1"/>
          <p:nvPr/>
        </p:nvSpPr>
        <p:spPr>
          <a:xfrm>
            <a:off x="6095999" y="427511"/>
            <a:ext cx="5812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112A45"/>
                </a:solidFill>
              </a:rPr>
              <a:t>Last Updated | {Month, Day, Year}</a:t>
            </a:r>
          </a:p>
        </p:txBody>
      </p:sp>
    </p:spTree>
    <p:extLst>
      <p:ext uri="{BB962C8B-B14F-4D97-AF65-F5344CB8AC3E}">
        <p14:creationId xmlns:p14="http://schemas.microsoft.com/office/powerpoint/2010/main" val="1618650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357FC-990C-CEB4-BB8C-1D82094C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49F5DA2F-65C1-859A-29CD-B5016A9E18ED}"/>
              </a:ext>
            </a:extLst>
          </p:cNvPr>
          <p:cNvGraphicFramePr>
            <a:graphicFrameLocks noGrp="1"/>
          </p:cNvGraphicFramePr>
          <p:nvPr/>
        </p:nvGraphicFramePr>
        <p:xfrm>
          <a:off x="345611" y="1559519"/>
          <a:ext cx="11500777" cy="4197939"/>
        </p:xfrm>
        <a:graphic>
          <a:graphicData uri="http://schemas.openxmlformats.org/drawingml/2006/table">
            <a:tbl>
              <a:tblPr/>
              <a:tblGrid>
                <a:gridCol w="1264600">
                  <a:extLst>
                    <a:ext uri="{9D8B030D-6E8A-4147-A177-3AD203B41FA5}">
                      <a16:colId xmlns:a16="http://schemas.microsoft.com/office/drawing/2014/main" val="1555126430"/>
                    </a:ext>
                  </a:extLst>
                </a:gridCol>
                <a:gridCol w="2880001">
                  <a:extLst>
                    <a:ext uri="{9D8B030D-6E8A-4147-A177-3AD203B41FA5}">
                      <a16:colId xmlns:a16="http://schemas.microsoft.com/office/drawing/2014/main" val="932316482"/>
                    </a:ext>
                  </a:extLst>
                </a:gridCol>
                <a:gridCol w="919522">
                  <a:extLst>
                    <a:ext uri="{9D8B030D-6E8A-4147-A177-3AD203B41FA5}">
                      <a16:colId xmlns:a16="http://schemas.microsoft.com/office/drawing/2014/main" val="3232448746"/>
                    </a:ext>
                  </a:extLst>
                </a:gridCol>
                <a:gridCol w="919522">
                  <a:extLst>
                    <a:ext uri="{9D8B030D-6E8A-4147-A177-3AD203B41FA5}">
                      <a16:colId xmlns:a16="http://schemas.microsoft.com/office/drawing/2014/main" val="427752208"/>
                    </a:ext>
                  </a:extLst>
                </a:gridCol>
                <a:gridCol w="919522">
                  <a:extLst>
                    <a:ext uri="{9D8B030D-6E8A-4147-A177-3AD203B41FA5}">
                      <a16:colId xmlns:a16="http://schemas.microsoft.com/office/drawing/2014/main" val="1791391184"/>
                    </a:ext>
                  </a:extLst>
                </a:gridCol>
                <a:gridCol w="919522">
                  <a:extLst>
                    <a:ext uri="{9D8B030D-6E8A-4147-A177-3AD203B41FA5}">
                      <a16:colId xmlns:a16="http://schemas.microsoft.com/office/drawing/2014/main" val="1120792838"/>
                    </a:ext>
                  </a:extLst>
                </a:gridCol>
                <a:gridCol w="919522">
                  <a:extLst>
                    <a:ext uri="{9D8B030D-6E8A-4147-A177-3AD203B41FA5}">
                      <a16:colId xmlns:a16="http://schemas.microsoft.com/office/drawing/2014/main" val="2654117451"/>
                    </a:ext>
                  </a:extLst>
                </a:gridCol>
                <a:gridCol w="919522">
                  <a:extLst>
                    <a:ext uri="{9D8B030D-6E8A-4147-A177-3AD203B41FA5}">
                      <a16:colId xmlns:a16="http://schemas.microsoft.com/office/drawing/2014/main" val="1450391902"/>
                    </a:ext>
                  </a:extLst>
                </a:gridCol>
                <a:gridCol w="919522">
                  <a:extLst>
                    <a:ext uri="{9D8B030D-6E8A-4147-A177-3AD203B41FA5}">
                      <a16:colId xmlns:a16="http://schemas.microsoft.com/office/drawing/2014/main" val="2014172531"/>
                    </a:ext>
                  </a:extLst>
                </a:gridCol>
                <a:gridCol w="919522">
                  <a:extLst>
                    <a:ext uri="{9D8B030D-6E8A-4147-A177-3AD203B41FA5}">
                      <a16:colId xmlns:a16="http://schemas.microsoft.com/office/drawing/2014/main" val="3834128794"/>
                    </a:ext>
                  </a:extLst>
                </a:gridCol>
              </a:tblGrid>
              <a:tr h="143028"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solidFill>
                          <a:schemeClr val="bg1"/>
                        </a:solidFill>
                        <a:latin typeface="Graphik Semibold" panose="020B0703030202060203" pitchFamily="34" charset="0"/>
                      </a:endParaRPr>
                    </a:p>
                  </a:txBody>
                  <a:tcPr marL="91419" marR="91419" marT="45709" marB="4570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800" b="1">
                          <a:solidFill>
                            <a:schemeClr val="tx1"/>
                          </a:solidFill>
                          <a:latin typeface="Graphik Semibold" panose="020B0703030202060203" pitchFamily="34" charset="0"/>
                        </a:rPr>
                        <a:t>Key Activities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Graphik Semibold" panose="020B0703030202060203" pitchFamily="34" charset="0"/>
                          <a:ea typeface="+mn-ea"/>
                          <a:cs typeface="+mn-cs"/>
                        </a:rPr>
                        <a:t>W1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800" b="0">
                          <a:solidFill>
                            <a:schemeClr val="bg1"/>
                          </a:solidFill>
                          <a:latin typeface="Graphik Semibold" panose="020B0703030202060203" pitchFamily="34" charset="0"/>
                        </a:rPr>
                        <a:t>W2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Graphik Semibold" panose="020B0703030202060203" pitchFamily="34" charset="0"/>
                          <a:ea typeface="+mn-ea"/>
                          <a:cs typeface="+mn-cs"/>
                        </a:rPr>
                        <a:t>W3</a:t>
                      </a:r>
                      <a:endParaRPr lang="en-US" sz="800" b="0">
                        <a:solidFill>
                          <a:schemeClr val="bg1"/>
                        </a:solidFill>
                        <a:latin typeface="Graphik Semibold" panose="020B07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Graphik Semibold" panose="020B0703030202060203" pitchFamily="34" charset="0"/>
                          <a:ea typeface="+mn-ea"/>
                          <a:cs typeface="+mn-cs"/>
                        </a:rPr>
                        <a:t>W4</a:t>
                      </a:r>
                      <a:endParaRPr lang="en-US" sz="800" b="0">
                        <a:solidFill>
                          <a:schemeClr val="bg1"/>
                        </a:solidFill>
                        <a:latin typeface="Graphik Semibold" panose="020B07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chemeClr val="bg1"/>
                          </a:solidFill>
                          <a:latin typeface="Graphik Semibold" panose="020B0703030202060203" pitchFamily="34" charset="0"/>
                        </a:rPr>
                        <a:t>W5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>
                          <a:solidFill>
                            <a:schemeClr val="bg1"/>
                          </a:solidFill>
                          <a:latin typeface="Graphik Semibold" panose="020B0703030202060203" pitchFamily="34" charset="0"/>
                        </a:rPr>
                        <a:t>W6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Graphik Semibold" panose="020B0703030202060203" pitchFamily="34" charset="0"/>
                          <a:ea typeface="+mn-ea"/>
                          <a:cs typeface="+mn-cs"/>
                        </a:rPr>
                        <a:t>W7</a:t>
                      </a:r>
                      <a:endParaRPr lang="en-US" sz="800" b="0">
                        <a:solidFill>
                          <a:schemeClr val="bg1"/>
                        </a:solidFill>
                        <a:latin typeface="Graphik Semibold" panose="020B07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800" b="0">
                          <a:solidFill>
                            <a:schemeClr val="bg1"/>
                          </a:solidFill>
                          <a:latin typeface="Graphik Semibold" panose="020B0703030202060203" pitchFamily="34" charset="0"/>
                        </a:rPr>
                        <a:t>W8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580525"/>
                  </a:ext>
                </a:extLst>
              </a:tr>
              <a:tr h="388243">
                <a:tc rowSpan="2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Framework Development	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Project Kickoff: 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Stakeholder alignment meetings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Finalize vision and guiding principles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Scheduling workshops and reviews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34846"/>
                  </a:ext>
                </a:extLst>
              </a:tr>
              <a:tr h="469982">
                <a:tc vMerge="1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raphik Light" panose="020B040303020206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Framework Development: 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Finalize detailed assessment criteria and scorecard.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Arial" panose="020B0604020202020204" pitchFamily="34" charset="0"/>
                        </a:rPr>
                        <a:t>Ingest Voice of Fan survey</a:t>
                      </a:r>
                      <a:endParaRPr kumimoji="0" 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Finalize &amp; Test methodology and scoring logic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Refinement based on validations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700386"/>
                  </a:ext>
                </a:extLst>
              </a:tr>
              <a:tr h="306505"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Framework Validations	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latin typeface="+mn-lt"/>
                        </a:rPr>
                        <a:t>Team validations (3 clubs)</a:t>
                      </a:r>
                      <a:endParaRPr lang="en-US" sz="800">
                        <a:latin typeface="+mn-lt"/>
                      </a:endParaRP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Workshops with 3 clubs to refine survey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833261"/>
                  </a:ext>
                </a:extLst>
              </a:tr>
              <a:tr h="380358">
                <a:tc rowSpan="3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Dashboard Development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CC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latin typeface="+mn-lt"/>
                        </a:rPr>
                        <a:t>Survey Tooling &amp; Dashboard Development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Finalize survey on updated framework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Tableau visualization based on methodology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21511"/>
                  </a:ext>
                </a:extLst>
              </a:tr>
              <a:tr h="4699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latin typeface="+mn-lt"/>
                        </a:rPr>
                        <a:t>Data Transformation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Develop survey system logic 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Develop data cleanse logic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Source data preparation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Dashboard creation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5140"/>
                  </a:ext>
                </a:extLst>
              </a:tr>
              <a:tr h="540515">
                <a:tc vMerge="1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raphik Light" panose="020B040303020206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CC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latin typeface="+mn-lt"/>
                        </a:rPr>
                        <a:t>Testing &amp; Refinements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Solution testing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Visualizations refinements based on feedback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508338"/>
                  </a:ext>
                </a:extLst>
              </a:tr>
              <a:tr h="306505">
                <a:tc rowSpan="2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Survey &amp; Dashboard  Finalization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chemeClr val="tx1"/>
                          </a:solidFill>
                          <a:latin typeface="Graphik"/>
                          <a:ea typeface="+mn-ea"/>
                          <a:cs typeface="+mn-cs"/>
                        </a:rPr>
                        <a:t>Survey Release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tx1"/>
                          </a:solidFill>
                          <a:latin typeface="Graphik"/>
                          <a:ea typeface="+mn-ea"/>
                          <a:cs typeface="+mn-cs"/>
                        </a:rPr>
                        <a:t>Send out surveys</a:t>
                      </a:r>
                      <a:endParaRPr lang="en-US" sz="800" kern="1200" noProof="0">
                        <a:solidFill>
                          <a:schemeClr val="tx1"/>
                        </a:solidFill>
                        <a:latin typeface="Graphik"/>
                        <a:ea typeface="+mn-ea"/>
                        <a:cs typeface="+mn-cs"/>
                      </a:endParaRP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778520"/>
                  </a:ext>
                </a:extLst>
              </a:tr>
              <a:tr h="224766">
                <a:tc vMerge="1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raphik Light" panose="020B040303020206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Dashboard Release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Dashboard go-live post survey results</a:t>
                      </a:r>
                      <a:endParaRPr lang="en-US" sz="800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983791"/>
                  </a:ext>
                </a:extLst>
              </a:tr>
            </a:tbl>
          </a:graphicData>
        </a:graphic>
      </p:graphicFrame>
      <p:sp>
        <p:nvSpPr>
          <p:cNvPr id="94" name="Pentagon 39">
            <a:extLst>
              <a:ext uri="{FF2B5EF4-FFF2-40B4-BE49-F238E27FC236}">
                <a16:creationId xmlns:a16="http://schemas.microsoft.com/office/drawing/2014/main" id="{8E31027B-71AF-2D22-6D51-19F32C85647E}"/>
              </a:ext>
            </a:extLst>
          </p:cNvPr>
          <p:cNvSpPr/>
          <p:nvPr/>
        </p:nvSpPr>
        <p:spPr bwMode="gray">
          <a:xfrm>
            <a:off x="4495510" y="1995336"/>
            <a:ext cx="1839200" cy="192533"/>
          </a:xfrm>
          <a:prstGeom prst="homePlate">
            <a:avLst>
              <a:gd name="adj" fmla="val 28868"/>
            </a:avLst>
          </a:prstGeom>
          <a:solidFill>
            <a:srgbClr val="013369"/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2" name="Pentagon 39">
            <a:extLst>
              <a:ext uri="{FF2B5EF4-FFF2-40B4-BE49-F238E27FC236}">
                <a16:creationId xmlns:a16="http://schemas.microsoft.com/office/drawing/2014/main" id="{73B5EBE6-B727-6C0A-7ED7-D235AF058609}"/>
              </a:ext>
            </a:extLst>
          </p:cNvPr>
          <p:cNvSpPr/>
          <p:nvPr/>
        </p:nvSpPr>
        <p:spPr bwMode="gray">
          <a:xfrm>
            <a:off x="5408164" y="2626069"/>
            <a:ext cx="3673016" cy="192533"/>
          </a:xfrm>
          <a:prstGeom prst="homePlate">
            <a:avLst>
              <a:gd name="adj" fmla="val 28868"/>
            </a:avLst>
          </a:prstGeom>
          <a:solidFill>
            <a:srgbClr val="013369"/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4" name="Pentagon 39">
            <a:extLst>
              <a:ext uri="{FF2B5EF4-FFF2-40B4-BE49-F238E27FC236}">
                <a16:creationId xmlns:a16="http://schemas.microsoft.com/office/drawing/2014/main" id="{2FB7BF81-FAF4-C622-847B-DAD253B13982}"/>
              </a:ext>
            </a:extLst>
          </p:cNvPr>
          <p:cNvSpPr/>
          <p:nvPr/>
        </p:nvSpPr>
        <p:spPr bwMode="gray">
          <a:xfrm>
            <a:off x="7252519" y="3136046"/>
            <a:ext cx="1875342" cy="192533"/>
          </a:xfrm>
          <a:prstGeom prst="homePlate">
            <a:avLst>
              <a:gd name="adj" fmla="val 28868"/>
            </a:avLst>
          </a:prstGeom>
          <a:solidFill>
            <a:srgbClr val="0070C0"/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7" name="Pentagon 39">
            <a:extLst>
              <a:ext uri="{FF2B5EF4-FFF2-40B4-BE49-F238E27FC236}">
                <a16:creationId xmlns:a16="http://schemas.microsoft.com/office/drawing/2014/main" id="{B86800D5-70E5-B847-07A8-A4B6328714C4}"/>
              </a:ext>
            </a:extLst>
          </p:cNvPr>
          <p:cNvSpPr/>
          <p:nvPr/>
        </p:nvSpPr>
        <p:spPr bwMode="gray">
          <a:xfrm>
            <a:off x="6334710" y="3529756"/>
            <a:ext cx="4251599" cy="192533"/>
          </a:xfrm>
          <a:prstGeom prst="homePlate">
            <a:avLst>
              <a:gd name="adj" fmla="val 28868"/>
            </a:avLst>
          </a:prstGeom>
          <a:solidFill>
            <a:srgbClr val="A9CCEE"/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8" name="Pentagon 39">
            <a:extLst>
              <a:ext uri="{FF2B5EF4-FFF2-40B4-BE49-F238E27FC236}">
                <a16:creationId xmlns:a16="http://schemas.microsoft.com/office/drawing/2014/main" id="{87ED9C16-9202-16AA-DB6C-C8B14219A8BD}"/>
              </a:ext>
            </a:extLst>
          </p:cNvPr>
          <p:cNvSpPr/>
          <p:nvPr/>
        </p:nvSpPr>
        <p:spPr bwMode="gray">
          <a:xfrm>
            <a:off x="7295241" y="4106283"/>
            <a:ext cx="2195530" cy="192533"/>
          </a:xfrm>
          <a:prstGeom prst="homePlate">
            <a:avLst>
              <a:gd name="adj" fmla="val 28868"/>
            </a:avLst>
          </a:prstGeom>
          <a:solidFill>
            <a:srgbClr val="A9CCEE"/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9" name="Pentagon 39">
            <a:extLst>
              <a:ext uri="{FF2B5EF4-FFF2-40B4-BE49-F238E27FC236}">
                <a16:creationId xmlns:a16="http://schemas.microsoft.com/office/drawing/2014/main" id="{9CBF9FD1-2B85-7303-C423-06BDA61228CD}"/>
              </a:ext>
            </a:extLst>
          </p:cNvPr>
          <p:cNvSpPr/>
          <p:nvPr/>
        </p:nvSpPr>
        <p:spPr bwMode="gray">
          <a:xfrm>
            <a:off x="10586309" y="5157704"/>
            <a:ext cx="1260079" cy="192533"/>
          </a:xfrm>
          <a:prstGeom prst="homePlate">
            <a:avLst>
              <a:gd name="adj" fmla="val 28868"/>
            </a:avLst>
          </a:prstGeom>
          <a:solidFill>
            <a:schemeClr val="bg1">
              <a:lumMod val="8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10" name="Pentagon 39">
            <a:extLst>
              <a:ext uri="{FF2B5EF4-FFF2-40B4-BE49-F238E27FC236}">
                <a16:creationId xmlns:a16="http://schemas.microsoft.com/office/drawing/2014/main" id="{3965A490-BF30-6CEE-0786-DB7F925BBA82}"/>
              </a:ext>
            </a:extLst>
          </p:cNvPr>
          <p:cNvSpPr/>
          <p:nvPr/>
        </p:nvSpPr>
        <p:spPr bwMode="gray">
          <a:xfrm>
            <a:off x="10586309" y="5457581"/>
            <a:ext cx="1246802" cy="192533"/>
          </a:xfrm>
          <a:prstGeom prst="homePlate">
            <a:avLst>
              <a:gd name="adj" fmla="val 28868"/>
            </a:avLst>
          </a:prstGeom>
          <a:solidFill>
            <a:schemeClr val="bg1">
              <a:lumMod val="8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65" name="Pentagon 39">
            <a:extLst>
              <a:ext uri="{FF2B5EF4-FFF2-40B4-BE49-F238E27FC236}">
                <a16:creationId xmlns:a16="http://schemas.microsoft.com/office/drawing/2014/main" id="{9D89FCFE-99D8-D480-B55C-246255CBBE85}"/>
              </a:ext>
            </a:extLst>
          </p:cNvPr>
          <p:cNvSpPr/>
          <p:nvPr/>
        </p:nvSpPr>
        <p:spPr bwMode="gray">
          <a:xfrm>
            <a:off x="9082815" y="4728260"/>
            <a:ext cx="1503494" cy="192533"/>
          </a:xfrm>
          <a:prstGeom prst="homePlate">
            <a:avLst>
              <a:gd name="adj" fmla="val 28868"/>
            </a:avLst>
          </a:prstGeom>
          <a:solidFill>
            <a:srgbClr val="A9CCEE"/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pic>
        <p:nvPicPr>
          <p:cNvPr id="19" name="Picture 4" descr="NFL PNG Transparent Images">
            <a:extLst>
              <a:ext uri="{FF2B5EF4-FFF2-40B4-BE49-F238E27FC236}">
                <a16:creationId xmlns:a16="http://schemas.microsoft.com/office/drawing/2014/main" id="{0B2DD391-83ED-054A-56A6-5193A19A5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7218" y="128054"/>
            <a:ext cx="947130" cy="947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Diamond 14">
            <a:extLst>
              <a:ext uri="{FF2B5EF4-FFF2-40B4-BE49-F238E27FC236}">
                <a16:creationId xmlns:a16="http://schemas.microsoft.com/office/drawing/2014/main" id="{8CD9A8E6-023F-1C09-4723-BD269CB0EA2F}"/>
              </a:ext>
            </a:extLst>
          </p:cNvPr>
          <p:cNvSpPr/>
          <p:nvPr/>
        </p:nvSpPr>
        <p:spPr>
          <a:xfrm>
            <a:off x="8874500" y="2513271"/>
            <a:ext cx="413360" cy="413360"/>
          </a:xfrm>
          <a:prstGeom prst="diamond">
            <a:avLst/>
          </a:prstGeom>
          <a:solidFill>
            <a:schemeClr val="bg1"/>
          </a:solidFill>
          <a:ln>
            <a:solidFill>
              <a:srgbClr val="CC22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>
                <a:solidFill>
                  <a:srgbClr val="0C4C7D"/>
                </a:solidFill>
              </a:rPr>
              <a:t>A</a:t>
            </a: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6107FC2D-ED54-11E5-C655-FF3B35FCC3C9}"/>
              </a:ext>
            </a:extLst>
          </p:cNvPr>
          <p:cNvSpPr/>
          <p:nvPr/>
        </p:nvSpPr>
        <p:spPr>
          <a:xfrm>
            <a:off x="8876135" y="3025632"/>
            <a:ext cx="413360" cy="413360"/>
          </a:xfrm>
          <a:prstGeom prst="diamond">
            <a:avLst/>
          </a:prstGeom>
          <a:solidFill>
            <a:schemeClr val="bg1"/>
          </a:solidFill>
          <a:ln>
            <a:solidFill>
              <a:srgbClr val="CC22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>
                <a:solidFill>
                  <a:srgbClr val="0C4C7D"/>
                </a:solidFill>
              </a:rPr>
              <a:t>B</a:t>
            </a: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8F085DCE-B6DD-B4A9-8D29-8B7E072BF6E8}"/>
              </a:ext>
            </a:extLst>
          </p:cNvPr>
          <p:cNvSpPr/>
          <p:nvPr/>
        </p:nvSpPr>
        <p:spPr>
          <a:xfrm>
            <a:off x="10802988" y="5042622"/>
            <a:ext cx="413360" cy="413360"/>
          </a:xfrm>
          <a:prstGeom prst="diamond">
            <a:avLst/>
          </a:prstGeom>
          <a:solidFill>
            <a:schemeClr val="bg1"/>
          </a:solidFill>
          <a:ln>
            <a:solidFill>
              <a:srgbClr val="CC22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>
                <a:solidFill>
                  <a:srgbClr val="0C4C7D"/>
                </a:solidFill>
              </a:rPr>
              <a:t>C</a:t>
            </a: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655ADDB7-33E7-7EFF-8EDA-0CF6A30DA224}"/>
              </a:ext>
            </a:extLst>
          </p:cNvPr>
          <p:cNvSpPr/>
          <p:nvPr/>
        </p:nvSpPr>
        <p:spPr>
          <a:xfrm>
            <a:off x="11626130" y="5359509"/>
            <a:ext cx="413360" cy="413360"/>
          </a:xfrm>
          <a:prstGeom prst="diamond">
            <a:avLst/>
          </a:prstGeom>
          <a:solidFill>
            <a:schemeClr val="bg1"/>
          </a:solidFill>
          <a:ln>
            <a:solidFill>
              <a:srgbClr val="CC22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>
                <a:solidFill>
                  <a:srgbClr val="0C4C7D"/>
                </a:solidFill>
              </a:rPr>
              <a:t>D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06156D6-0C76-F9BA-1268-D1A447175B8F}"/>
              </a:ext>
            </a:extLst>
          </p:cNvPr>
          <p:cNvGrpSpPr/>
          <p:nvPr/>
        </p:nvGrpSpPr>
        <p:grpSpPr>
          <a:xfrm>
            <a:off x="9127861" y="313097"/>
            <a:ext cx="1776087" cy="415484"/>
            <a:chOff x="9026900" y="175187"/>
            <a:chExt cx="1776087" cy="415484"/>
          </a:xfrm>
        </p:grpSpPr>
        <p:sp>
          <p:nvSpPr>
            <p:cNvPr id="23" name="Diamond 22">
              <a:extLst>
                <a:ext uri="{FF2B5EF4-FFF2-40B4-BE49-F238E27FC236}">
                  <a16:creationId xmlns:a16="http://schemas.microsoft.com/office/drawing/2014/main" id="{50E7DD97-2AC9-5480-4534-0175628041B6}"/>
                </a:ext>
              </a:extLst>
            </p:cNvPr>
            <p:cNvSpPr/>
            <p:nvPr/>
          </p:nvSpPr>
          <p:spPr>
            <a:xfrm>
              <a:off x="9026900" y="177311"/>
              <a:ext cx="413360" cy="413360"/>
            </a:xfrm>
            <a:prstGeom prst="diamond">
              <a:avLst/>
            </a:prstGeom>
            <a:solidFill>
              <a:schemeClr val="bg1"/>
            </a:solidFill>
            <a:ln>
              <a:solidFill>
                <a:srgbClr val="CC222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>
                <a:solidFill>
                  <a:srgbClr val="0C4C7D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FEF9F05-2DF5-0F77-F9B8-2D0D5EB3F352}"/>
                </a:ext>
              </a:extLst>
            </p:cNvPr>
            <p:cNvSpPr/>
            <p:nvPr/>
          </p:nvSpPr>
          <p:spPr>
            <a:xfrm>
              <a:off x="9440260" y="175187"/>
              <a:ext cx="1362727" cy="413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en-US" sz="1600">
                  <a:solidFill>
                    <a:srgbClr val="0C4C7D"/>
                  </a:solidFill>
                </a:rPr>
                <a:t>Milestone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90A6BC6-2A5A-F332-4664-932EE4C22DCE}"/>
              </a:ext>
            </a:extLst>
          </p:cNvPr>
          <p:cNvSpPr/>
          <p:nvPr/>
        </p:nvSpPr>
        <p:spPr>
          <a:xfrm>
            <a:off x="9287860" y="0"/>
            <a:ext cx="2904140" cy="6217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WIP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DF19704-50D5-5A22-66A6-738047CDF01A}"/>
              </a:ext>
            </a:extLst>
          </p:cNvPr>
          <p:cNvSpPr txBox="1">
            <a:spLocks/>
          </p:cNvSpPr>
          <p:nvPr/>
        </p:nvSpPr>
        <p:spPr>
          <a:xfrm>
            <a:off x="296450" y="412098"/>
            <a:ext cx="11536661" cy="62171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/>
              <a:t>Phase 2 Assessment Timeline </a:t>
            </a:r>
            <a:br>
              <a:rPr lang="en-US" dirty="0"/>
            </a:br>
            <a:r>
              <a:rPr lang="en-US" sz="2000" dirty="0">
                <a:solidFill>
                  <a:srgbClr val="112A45"/>
                </a:solidFill>
              </a:rPr>
              <a:t>Last Updated | {Month, Day, Year}</a:t>
            </a:r>
          </a:p>
        </p:txBody>
      </p:sp>
    </p:spTree>
    <p:extLst>
      <p:ext uri="{BB962C8B-B14F-4D97-AF65-F5344CB8AC3E}">
        <p14:creationId xmlns:p14="http://schemas.microsoft.com/office/powerpoint/2010/main" val="2015565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6265A1-2326-A79B-48F7-D0353A6FF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31BC64-0187-A160-FCAC-7D5F093C80DB}"/>
              </a:ext>
            </a:extLst>
          </p:cNvPr>
          <p:cNvSpPr/>
          <p:nvPr/>
        </p:nvSpPr>
        <p:spPr>
          <a:xfrm>
            <a:off x="3630758" y="1156447"/>
            <a:ext cx="4893482" cy="50208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AE5F4D-2D7C-6BEC-24A4-9395F1C1586E}"/>
              </a:ext>
            </a:extLst>
          </p:cNvPr>
          <p:cNvSpPr txBox="1"/>
          <p:nvPr/>
        </p:nvSpPr>
        <p:spPr>
          <a:xfrm>
            <a:off x="382772" y="644092"/>
            <a:ext cx="112332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Exploring experience and technology to create a frictionless physical + digital journey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9080F3A-E36E-8E6C-E2B9-80D7E56FD7AC}"/>
              </a:ext>
            </a:extLst>
          </p:cNvPr>
          <p:cNvSpPr txBox="1">
            <a:spLocks/>
          </p:cNvSpPr>
          <p:nvPr/>
        </p:nvSpPr>
        <p:spPr bwMode="auto">
          <a:xfrm>
            <a:off x="382772" y="116551"/>
            <a:ext cx="10944224" cy="720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Graphik-Semibold" panose="020B0703030202060203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99"/>
                </a:solidFill>
                <a:latin typeface="Arial" charset="0"/>
              </a:defRPr>
            </a:lvl9pPr>
          </a:lstStyle>
          <a:p>
            <a:pPr marL="0" marR="0" lvl="0" indent="0" algn="l" defTabSz="914363" fontAlgn="base">
              <a:lnSpc>
                <a:spcPct val="80000"/>
              </a:lnSpc>
              <a:spcAft>
                <a:spcPct val="0"/>
              </a:spcAft>
              <a:buClrTx/>
              <a:buSzTx/>
              <a:tabLst/>
              <a:defRPr/>
            </a:pPr>
            <a:r>
              <a:rPr lang="en-US" sz="3200">
                <a:solidFill>
                  <a:schemeClr val="tx1"/>
                </a:solidFill>
                <a:latin typeface="+mj-lt"/>
              </a:rPr>
              <a:t>Enabling The Digital Fan &amp; Operations Experience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FCAA50-7AAE-A4B8-54BA-746629022021}"/>
              </a:ext>
            </a:extLst>
          </p:cNvPr>
          <p:cNvSpPr/>
          <p:nvPr/>
        </p:nvSpPr>
        <p:spPr>
          <a:xfrm>
            <a:off x="2149490" y="1971173"/>
            <a:ext cx="2578521" cy="60413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8F8625-7765-B1AE-A08C-EB755B2D8248}"/>
              </a:ext>
            </a:extLst>
          </p:cNvPr>
          <p:cNvSpPr/>
          <p:nvPr/>
        </p:nvSpPr>
        <p:spPr>
          <a:xfrm>
            <a:off x="7745804" y="1971173"/>
            <a:ext cx="2578521" cy="60413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0824D8-80DB-F641-C1E5-C52B872E4331}"/>
              </a:ext>
            </a:extLst>
          </p:cNvPr>
          <p:cNvSpPr/>
          <p:nvPr/>
        </p:nvSpPr>
        <p:spPr>
          <a:xfrm>
            <a:off x="8651461" y="1173953"/>
            <a:ext cx="2361738" cy="2409978"/>
          </a:xfrm>
          <a:prstGeom prst="rect">
            <a:avLst/>
          </a:prstGeom>
          <a:solidFill>
            <a:schemeClr val="bg1"/>
          </a:solidFill>
          <a:ln w="19050">
            <a:gradFill flip="none" rotWithShape="1">
              <a:gsLst>
                <a:gs pos="48000">
                  <a:srgbClr val="002F8E"/>
                </a:gs>
                <a:gs pos="53000">
                  <a:srgbClr val="D50707"/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sz="1600" b="1" kern="0">
              <a:solidFill>
                <a:srgbClr val="297FD5"/>
              </a:solidFill>
              <a:latin typeface="Graphik" panose="020B050303020206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B5770B-2C1D-7D47-99FE-E279DB129223}"/>
              </a:ext>
            </a:extLst>
          </p:cNvPr>
          <p:cNvSpPr/>
          <p:nvPr/>
        </p:nvSpPr>
        <p:spPr>
          <a:xfrm>
            <a:off x="6933839" y="4207770"/>
            <a:ext cx="2974331" cy="60413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2" name="Rectangle: Rounded Corners 11">
            <a:extLst>
              <a:ext uri="{FF2B5EF4-FFF2-40B4-BE49-F238E27FC236}">
                <a16:creationId xmlns:a16="http://schemas.microsoft.com/office/drawing/2014/main" id="{CB3A0C7B-C794-1F10-6F4F-88A40A4E9861}"/>
              </a:ext>
            </a:extLst>
          </p:cNvPr>
          <p:cNvSpPr/>
          <p:nvPr/>
        </p:nvSpPr>
        <p:spPr>
          <a:xfrm rot="5400000">
            <a:off x="4934062" y="2551056"/>
            <a:ext cx="2272553" cy="402844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20" name="Rectangle: Rounded Corners 11">
            <a:extLst>
              <a:ext uri="{FF2B5EF4-FFF2-40B4-BE49-F238E27FC236}">
                <a16:creationId xmlns:a16="http://schemas.microsoft.com/office/drawing/2014/main" id="{DFD41F31-C8F7-6250-DBA4-EA42697E1EE2}"/>
              </a:ext>
            </a:extLst>
          </p:cNvPr>
          <p:cNvSpPr/>
          <p:nvPr/>
        </p:nvSpPr>
        <p:spPr>
          <a:xfrm rot="5400000">
            <a:off x="5515430" y="443013"/>
            <a:ext cx="1109817" cy="4028440"/>
          </a:xfrm>
          <a:prstGeom prst="homePlate">
            <a:avLst>
              <a:gd name="adj" fmla="val 39044"/>
            </a:avLst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224EA5-968B-4075-8E56-EFEA6D9437C7}"/>
              </a:ext>
            </a:extLst>
          </p:cNvPr>
          <p:cNvSpPr/>
          <p:nvPr/>
        </p:nvSpPr>
        <p:spPr>
          <a:xfrm>
            <a:off x="2149490" y="4207770"/>
            <a:ext cx="2812538" cy="60413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7B3E72-E044-89FD-6DC8-EF015FBACBA6}"/>
              </a:ext>
            </a:extLst>
          </p:cNvPr>
          <p:cNvSpPr/>
          <p:nvPr/>
        </p:nvSpPr>
        <p:spPr>
          <a:xfrm flipH="1">
            <a:off x="3801758" y="4586210"/>
            <a:ext cx="4512355" cy="64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Network and Connectivity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Wired/wireless communications connecting </a:t>
            </a:r>
            <a:b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</a:b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platforms, devices, and users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D6CBE7-CF28-04C7-F1DE-4E81ED2381DF}"/>
              </a:ext>
            </a:extLst>
          </p:cNvPr>
          <p:cNvSpPr/>
          <p:nvPr/>
        </p:nvSpPr>
        <p:spPr>
          <a:xfrm>
            <a:off x="3801759" y="3846500"/>
            <a:ext cx="4512356" cy="64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Cloud and Edge Platform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Remote and scaled management of devices </a:t>
            </a:r>
            <a:b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</a:b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and experiences plus Edge compute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7E61D-E9AC-D15E-5C30-76041A9B2308}"/>
              </a:ext>
            </a:extLst>
          </p:cNvPr>
          <p:cNvSpPr/>
          <p:nvPr/>
        </p:nvSpPr>
        <p:spPr>
          <a:xfrm>
            <a:off x="3801759" y="3106790"/>
            <a:ext cx="4512356" cy="640080"/>
          </a:xfrm>
          <a:prstGeom prst="rect">
            <a:avLst/>
          </a:prstGeom>
          <a:solidFill>
            <a:schemeClr val="bg1"/>
          </a:solidFill>
          <a:ln>
            <a:solidFill>
              <a:srgbClr val="06192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Graphik" panose="020B0503030202060203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AI &amp; Innovation Services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Agentic AI and next generation Innovation enabling the Fan Experience and Team Operations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B9C18D-A329-C072-25B2-176AB04DCB17}"/>
              </a:ext>
            </a:extLst>
          </p:cNvPr>
          <p:cNvSpPr/>
          <p:nvPr/>
        </p:nvSpPr>
        <p:spPr>
          <a:xfrm>
            <a:off x="3801759" y="2118160"/>
            <a:ext cx="4512356" cy="640080"/>
          </a:xfrm>
          <a:prstGeom prst="rect">
            <a:avLst/>
          </a:prstGeom>
          <a:solidFill>
            <a:srgbClr val="003399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Operations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Capabilities that facilitate venue and team staff to </a:t>
            </a:r>
            <a:b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</a:b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optimize operations and support the fan, team and event experience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0ED60F-C3CE-408C-1B85-7393032F5CC0}"/>
              </a:ext>
            </a:extLst>
          </p:cNvPr>
          <p:cNvSpPr/>
          <p:nvPr/>
        </p:nvSpPr>
        <p:spPr>
          <a:xfrm>
            <a:off x="3801757" y="1378450"/>
            <a:ext cx="4512356" cy="640080"/>
          </a:xfrm>
          <a:prstGeom prst="rect">
            <a:avLst/>
          </a:prstGeom>
          <a:solidFill>
            <a:srgbClr val="D50707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Helvetica Neue" panose="02000503000000020004" pitchFamily="2" charset="0"/>
                <a:cs typeface="Helvetica Neue" panose="02000503000000020004" pitchFamily="2" charset="0"/>
              </a:rPr>
              <a:t>Fan Experience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Physical and digital interactions experienced </a:t>
            </a:r>
            <a:b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</a:b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by fans / visitors throughout their journey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A102E8-EF2D-2DDC-38B0-93E950CB672A}"/>
              </a:ext>
            </a:extLst>
          </p:cNvPr>
          <p:cNvSpPr/>
          <p:nvPr/>
        </p:nvSpPr>
        <p:spPr>
          <a:xfrm>
            <a:off x="3801757" y="5325920"/>
            <a:ext cx="4512356" cy="640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Physical Infrastructure and Devices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Devices and sensors collecting interaction and source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1D93F7-20DA-D7EE-89BB-84364C7F59D1}"/>
              </a:ext>
            </a:extLst>
          </p:cNvPr>
          <p:cNvSpPr/>
          <p:nvPr/>
        </p:nvSpPr>
        <p:spPr>
          <a:xfrm>
            <a:off x="1101380" y="1707694"/>
            <a:ext cx="2361738" cy="1097570"/>
          </a:xfrm>
          <a:prstGeom prst="rect">
            <a:avLst/>
          </a:prstGeom>
          <a:solidFill>
            <a:schemeClr val="bg1"/>
          </a:solidFill>
          <a:ln w="19050">
            <a:gradFill flip="none" rotWithShape="1">
              <a:gsLst>
                <a:gs pos="49000">
                  <a:srgbClr val="D50707"/>
                </a:gs>
                <a:gs pos="59000">
                  <a:srgbClr val="002F8E"/>
                </a:gs>
              </a:gsLst>
              <a:lin ang="270000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DIFFERENTIATED  </a:t>
            </a:r>
          </a:p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EXPERIENCE AND CAPABILITIES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8A7D1-EA96-B7BE-48F7-C278C01EC116}"/>
              </a:ext>
            </a:extLst>
          </p:cNvPr>
          <p:cNvSpPr/>
          <p:nvPr/>
        </p:nvSpPr>
        <p:spPr>
          <a:xfrm>
            <a:off x="1101380" y="3886235"/>
            <a:ext cx="2361738" cy="10975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TECHNOLOGY </a:t>
            </a:r>
            <a:b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</a:br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VISION AND </a:t>
            </a:r>
          </a:p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PLATFORM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18EB32-9BDB-92AA-CBD2-ED9F2D8B469D}"/>
              </a:ext>
            </a:extLst>
          </p:cNvPr>
          <p:cNvSpPr/>
          <p:nvPr/>
        </p:nvSpPr>
        <p:spPr>
          <a:xfrm>
            <a:off x="8651461" y="3886235"/>
            <a:ext cx="2361738" cy="10975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PHYSICAL + DIGITAL</a:t>
            </a:r>
          </a:p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ENABLEMENT</a:t>
            </a:r>
          </a:p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AND EXECUTION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81141A-8B93-8DA2-2A0A-B4A1609CAB69}"/>
              </a:ext>
            </a:extLst>
          </p:cNvPr>
          <p:cNvGrpSpPr/>
          <p:nvPr/>
        </p:nvGrpSpPr>
        <p:grpSpPr>
          <a:xfrm>
            <a:off x="8771828" y="1332628"/>
            <a:ext cx="2102541" cy="2050189"/>
            <a:chOff x="9079519" y="1332628"/>
            <a:chExt cx="2102541" cy="2050189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2FD2471-554F-0132-3D11-BB992AF629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3968" y="1663151"/>
              <a:ext cx="1554480" cy="1554480"/>
            </a:xfrm>
            <a:prstGeom prst="ellipse">
              <a:avLst/>
            </a:prstGeom>
            <a:solidFill>
              <a:schemeClr val="bg1"/>
            </a:solidFill>
            <a:ln>
              <a:gradFill flip="none" rotWithShape="1">
                <a:gsLst>
                  <a:gs pos="0">
                    <a:srgbClr val="D50707"/>
                  </a:gs>
                  <a:gs pos="100000">
                    <a:srgbClr val="002F8E"/>
                  </a:gs>
                </a:gsLst>
                <a:path path="circle">
                  <a:fillToRect l="100000" b="100000"/>
                </a:path>
                <a:tileRect t="-100000" r="-10000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0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F474577-BA11-7BBA-89E6-BE7496B651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541980" y="1950979"/>
              <a:ext cx="640080" cy="6400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F8E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0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2FAC50A-EFB2-5326-2DBC-0F824E0D31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96485" y="2742737"/>
              <a:ext cx="640080" cy="6400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F8E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0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2F5BCFB-B1A0-9725-F564-703035F3CE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33968" y="2742737"/>
              <a:ext cx="640080" cy="6400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F8E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0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73E0916-9A78-C038-473D-D6FE178F47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9519" y="1950979"/>
              <a:ext cx="640080" cy="6400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F8E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0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C852A28-30AB-7C28-B9C1-CFAB5F39AC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0749" y="1332628"/>
              <a:ext cx="640080" cy="64008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F8E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sz="2000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pic>
          <p:nvPicPr>
            <p:cNvPr id="26" name="Graphic 25" descr="Wi-Fi with solid fill">
              <a:extLst>
                <a:ext uri="{FF2B5EF4-FFF2-40B4-BE49-F238E27FC236}">
                  <a16:creationId xmlns:a16="http://schemas.microsoft.com/office/drawing/2014/main" id="{03A27EF5-E8F8-7DED-6329-14A0CC7C88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365370" y="2810113"/>
              <a:ext cx="533292" cy="533292"/>
            </a:xfrm>
            <a:prstGeom prst="rect">
              <a:avLst/>
            </a:prstGeom>
          </p:spPr>
        </p:pic>
        <p:pic>
          <p:nvPicPr>
            <p:cNvPr id="27" name="Graphic 26" descr="Stadium with solid fill">
              <a:extLst>
                <a:ext uri="{FF2B5EF4-FFF2-40B4-BE49-F238E27FC236}">
                  <a16:creationId xmlns:a16="http://schemas.microsoft.com/office/drawing/2014/main" id="{B275DA38-AE98-E435-D647-D6CF13EA13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33420" y="2029288"/>
              <a:ext cx="457200" cy="457200"/>
            </a:xfrm>
            <a:prstGeom prst="rect">
              <a:avLst/>
            </a:prstGeom>
          </p:spPr>
        </p:pic>
        <p:pic>
          <p:nvPicPr>
            <p:cNvPr id="28" name="Graphic 27" descr="Football with solid fill">
              <a:extLst>
                <a:ext uri="{FF2B5EF4-FFF2-40B4-BE49-F238E27FC236}">
                  <a16:creationId xmlns:a16="http://schemas.microsoft.com/office/drawing/2014/main" id="{08A06ED2-626D-15A2-BADA-D27C895811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61202" y="2051110"/>
              <a:ext cx="457200" cy="457200"/>
            </a:xfrm>
            <a:prstGeom prst="rect">
              <a:avLst/>
            </a:prstGeom>
          </p:spPr>
        </p:pic>
        <p:pic>
          <p:nvPicPr>
            <p:cNvPr id="30" name="Graphic 29" descr="Group of men with solid fill">
              <a:extLst>
                <a:ext uri="{FF2B5EF4-FFF2-40B4-BE49-F238E27FC236}">
                  <a16:creationId xmlns:a16="http://schemas.microsoft.com/office/drawing/2014/main" id="{AEC69BA6-3B55-E3BF-C4BB-C7D87AE2A4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08170" y="1419517"/>
              <a:ext cx="457200" cy="457200"/>
            </a:xfrm>
            <a:prstGeom prst="rect">
              <a:avLst/>
            </a:prstGeom>
          </p:spPr>
        </p:pic>
        <p:pic>
          <p:nvPicPr>
            <p:cNvPr id="32" name="Graphic 31" descr="Head with gears with solid fill">
              <a:extLst>
                <a:ext uri="{FF2B5EF4-FFF2-40B4-BE49-F238E27FC236}">
                  <a16:creationId xmlns:a16="http://schemas.microsoft.com/office/drawing/2014/main" id="{810A5AEC-F7E4-3402-47CB-AF3A5264B1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425408" y="2843024"/>
              <a:ext cx="457200" cy="457200"/>
            </a:xfrm>
            <a:prstGeom prst="rect">
              <a:avLst/>
            </a:prstGeom>
          </p:spPr>
        </p:pic>
        <p:pic>
          <p:nvPicPr>
            <p:cNvPr id="34" name="Picture 33" descr="NFL Logo (National Football League) and symbol, meaning, history, PNG, brand">
              <a:extLst>
                <a:ext uri="{FF2B5EF4-FFF2-40B4-BE49-F238E27FC236}">
                  <a16:creationId xmlns:a16="http://schemas.microsoft.com/office/drawing/2014/main" id="{E2AFB55F-B1D5-A5A4-4F1F-E5979DA10B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494" r="25471"/>
            <a:stretch/>
          </p:blipFill>
          <p:spPr bwMode="auto">
            <a:xfrm>
              <a:off x="9852402" y="2042642"/>
              <a:ext cx="559915" cy="770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1431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A9E52E-3DBF-A4C8-7A16-3691DD84C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8">
            <a:extLst>
              <a:ext uri="{FF2B5EF4-FFF2-40B4-BE49-F238E27FC236}">
                <a16:creationId xmlns:a16="http://schemas.microsoft.com/office/drawing/2014/main" id="{9DC395AF-34CA-AA40-F34F-D8D5E6171F00}"/>
              </a:ext>
            </a:extLst>
          </p:cNvPr>
          <p:cNvSpPr txBox="1">
            <a:spLocks/>
          </p:cNvSpPr>
          <p:nvPr/>
        </p:nvSpPr>
        <p:spPr>
          <a:xfrm>
            <a:off x="220579" y="161336"/>
            <a:ext cx="11430000" cy="990600"/>
          </a:xfrm>
          <a:prstGeom prst="rect">
            <a:avLst/>
          </a:prstGeom>
        </p:spPr>
        <p:txBody>
          <a:bodyPr/>
          <a:lstStyle>
            <a:lvl1pPr algn="l" defTabSz="91436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Phase 1 Methodology Overview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16311D-5652-3FB0-4FA1-C6E7A6B103DC}"/>
              </a:ext>
            </a:extLst>
          </p:cNvPr>
          <p:cNvSpPr txBox="1"/>
          <p:nvPr/>
        </p:nvSpPr>
        <p:spPr>
          <a:xfrm>
            <a:off x="360471" y="703861"/>
            <a:ext cx="8070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Graphik" panose="020B0503030202060203" pitchFamily="34" charset="0"/>
              </a:rPr>
              <a:t>From Input to Impact: Scoring Simplified</a:t>
            </a:r>
          </a:p>
        </p:txBody>
      </p:sp>
      <p:sp>
        <p:nvSpPr>
          <p:cNvPr id="3" name="Rounded Rectangle 39">
            <a:extLst>
              <a:ext uri="{FF2B5EF4-FFF2-40B4-BE49-F238E27FC236}">
                <a16:creationId xmlns:a16="http://schemas.microsoft.com/office/drawing/2014/main" id="{42D64ED0-6C4E-9D4E-E12D-2AF653021530}"/>
              </a:ext>
            </a:extLst>
          </p:cNvPr>
          <p:cNvSpPr/>
          <p:nvPr/>
        </p:nvSpPr>
        <p:spPr>
          <a:xfrm>
            <a:off x="7206712" y="633913"/>
            <a:ext cx="4406685" cy="922010"/>
          </a:xfrm>
          <a:prstGeom prst="roundRect">
            <a:avLst>
              <a:gd name="adj" fmla="val 55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/>
          <a:lstStyle/>
          <a:p>
            <a:pPr algn="ctr" fontAlgn="ctr">
              <a:spcAft>
                <a:spcPts val="600"/>
              </a:spcAft>
            </a:pPr>
            <a:r>
              <a:rPr lang="en-US" sz="1400" b="1">
                <a:solidFill>
                  <a:schemeClr val="tx1"/>
                </a:solidFill>
              </a:rPr>
              <a:t>Rationalized Data:</a:t>
            </a:r>
          </a:p>
          <a:p>
            <a:pPr fontAlgn="ctr">
              <a:spcAft>
                <a:spcPts val="1200"/>
              </a:spcAft>
            </a:pPr>
            <a:r>
              <a:rPr lang="en-US" sz="1100">
                <a:solidFill>
                  <a:schemeClr val="tx1"/>
                </a:solidFill>
                <a:latin typeface="Graphik" panose="020B0503030202060203" pitchFamily="34" charset="77"/>
              </a:rPr>
              <a:t>Responses were rationalized to data points where necessary (e.g. total bandwidth across all circuits, AP per user against stadium capacity) using industry knowledge + best practices</a:t>
            </a:r>
          </a:p>
        </p:txBody>
      </p:sp>
      <p:sp>
        <p:nvSpPr>
          <p:cNvPr id="4" name="Triangle 64">
            <a:extLst>
              <a:ext uri="{FF2B5EF4-FFF2-40B4-BE49-F238E27FC236}">
                <a16:creationId xmlns:a16="http://schemas.microsoft.com/office/drawing/2014/main" id="{54218686-EA69-55E7-A57D-3D3BFEF2E9B1}"/>
              </a:ext>
            </a:extLst>
          </p:cNvPr>
          <p:cNvSpPr/>
          <p:nvPr/>
        </p:nvSpPr>
        <p:spPr>
          <a:xfrm rot="5400000">
            <a:off x="1509886" y="3609113"/>
            <a:ext cx="3149533" cy="50612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FD26E-A258-7B2A-FA7D-4581CFD862C6}"/>
              </a:ext>
            </a:extLst>
          </p:cNvPr>
          <p:cNvSpPr txBox="1"/>
          <p:nvPr/>
        </p:nvSpPr>
        <p:spPr>
          <a:xfrm>
            <a:off x="7168010" y="5636118"/>
            <a:ext cx="44825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i="1" u="none" strike="noStrike">
                <a:solidFill>
                  <a:srgbClr val="000000"/>
                </a:solidFill>
                <a:effectLst/>
                <a:latin typeface="+mj-lt"/>
              </a:rPr>
              <a:t>For each topic scoring methodology includes:</a:t>
            </a:r>
            <a:endParaRPr lang="en-US" sz="800" i="1">
              <a:solidFill>
                <a:srgbClr val="000000"/>
              </a:solidFill>
              <a:latin typeface="+mj-lt"/>
            </a:endParaRP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If data can't be rationalized or is incomplete, then a score of 0 will be assigned</a:t>
            </a: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With partial data a value of 5 can be assigned</a:t>
            </a: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Score range is 1-10</a:t>
            </a:r>
            <a:b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</a:br>
            <a:endParaRPr lang="en-US" sz="800" i="1">
              <a:latin typeface="+mj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C6405A-E61F-3D22-91B4-8FA2D70CDC84}"/>
              </a:ext>
            </a:extLst>
          </p:cNvPr>
          <p:cNvGrpSpPr/>
          <p:nvPr/>
        </p:nvGrpSpPr>
        <p:grpSpPr>
          <a:xfrm>
            <a:off x="202767" y="2090728"/>
            <a:ext cx="2584862" cy="3417726"/>
            <a:chOff x="785337" y="1519308"/>
            <a:chExt cx="3114675" cy="3417726"/>
          </a:xfrm>
        </p:grpSpPr>
        <p:sp>
          <p:nvSpPr>
            <p:cNvPr id="7" name="Rounded Rectangle 35">
              <a:extLst>
                <a:ext uri="{FF2B5EF4-FFF2-40B4-BE49-F238E27FC236}">
                  <a16:creationId xmlns:a16="http://schemas.microsoft.com/office/drawing/2014/main" id="{65289314-0ED6-CC06-5501-9AA1155D1E5C}"/>
                </a:ext>
              </a:extLst>
            </p:cNvPr>
            <p:cNvSpPr/>
            <p:nvPr/>
          </p:nvSpPr>
          <p:spPr>
            <a:xfrm>
              <a:off x="967783" y="1519308"/>
              <a:ext cx="2767244" cy="3417726"/>
            </a:xfrm>
            <a:prstGeom prst="roundRect">
              <a:avLst>
                <a:gd name="adj" fmla="val 515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9" name="Rounded Rectangle 36">
              <a:extLst>
                <a:ext uri="{FF2B5EF4-FFF2-40B4-BE49-F238E27FC236}">
                  <a16:creationId xmlns:a16="http://schemas.microsoft.com/office/drawing/2014/main" id="{2B2AC5FA-7577-00F1-4063-EC4F5376B40D}"/>
                </a:ext>
              </a:extLst>
            </p:cNvPr>
            <p:cNvSpPr/>
            <p:nvPr/>
          </p:nvSpPr>
          <p:spPr>
            <a:xfrm>
              <a:off x="1225329" y="2180778"/>
              <a:ext cx="2252153" cy="718844"/>
            </a:xfrm>
            <a:prstGeom prst="roundRect">
              <a:avLst>
                <a:gd name="adj" fmla="val 5583"/>
              </a:avLst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t"/>
            <a:lstStyle/>
            <a:p>
              <a:pPr algn="ctr" fontAlgn="ctr"/>
              <a:r>
                <a:rPr lang="en-US" sz="1600">
                  <a:solidFill>
                    <a:schemeClr val="bg1"/>
                  </a:solidFill>
                </a:rPr>
                <a:t>Survey question by the NFL</a:t>
              </a:r>
            </a:p>
          </p:txBody>
        </p:sp>
        <p:sp>
          <p:nvSpPr>
            <p:cNvPr id="11" name="Rounded Rectangle 37">
              <a:extLst>
                <a:ext uri="{FF2B5EF4-FFF2-40B4-BE49-F238E27FC236}">
                  <a16:creationId xmlns:a16="http://schemas.microsoft.com/office/drawing/2014/main" id="{790F45BB-6B65-AAE8-71AB-C0894F4E567D}"/>
                </a:ext>
              </a:extLst>
            </p:cNvPr>
            <p:cNvSpPr/>
            <p:nvPr/>
          </p:nvSpPr>
          <p:spPr>
            <a:xfrm>
              <a:off x="1225329" y="3912001"/>
              <a:ext cx="2252153" cy="726255"/>
            </a:xfrm>
            <a:prstGeom prst="roundRect">
              <a:avLst>
                <a:gd name="adj" fmla="val 5583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t"/>
            <a:lstStyle/>
            <a:p>
              <a:pPr algn="ctr" fontAlgn="ctr"/>
              <a:r>
                <a:rPr lang="en-US" sz="1600">
                  <a:solidFill>
                    <a:schemeClr val="bg1"/>
                  </a:solidFill>
                </a:rPr>
                <a:t>Responses by NFL teams</a:t>
              </a:r>
            </a:p>
          </p:txBody>
        </p:sp>
        <p:sp>
          <p:nvSpPr>
            <p:cNvPr id="12" name="Plus 21">
              <a:extLst>
                <a:ext uri="{FF2B5EF4-FFF2-40B4-BE49-F238E27FC236}">
                  <a16:creationId xmlns:a16="http://schemas.microsoft.com/office/drawing/2014/main" id="{05B6D131-0E0E-04C0-DE6E-06580E003F04}"/>
                </a:ext>
              </a:extLst>
            </p:cNvPr>
            <p:cNvSpPr/>
            <p:nvPr/>
          </p:nvSpPr>
          <p:spPr>
            <a:xfrm>
              <a:off x="2082716" y="3143306"/>
              <a:ext cx="511278" cy="462116"/>
            </a:xfrm>
            <a:prstGeom prst="mathPlus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F91BDF-57BB-E861-CEE4-3C76406E10F1}"/>
                </a:ext>
              </a:extLst>
            </p:cNvPr>
            <p:cNvSpPr txBox="1"/>
            <p:nvPr/>
          </p:nvSpPr>
          <p:spPr>
            <a:xfrm>
              <a:off x="785337" y="1610618"/>
              <a:ext cx="3114675" cy="5001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b="1" noProof="0">
                  <a:solidFill>
                    <a:srgbClr val="193369"/>
                  </a:solidFill>
                </a:rPr>
                <a:t>Input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700FFB0-B53D-371B-A354-D26CD9FA8943}"/>
                </a:ext>
              </a:extLst>
            </p:cNvPr>
            <p:cNvGrpSpPr/>
            <p:nvPr/>
          </p:nvGrpSpPr>
          <p:grpSpPr>
            <a:xfrm>
              <a:off x="1086263" y="3708900"/>
              <a:ext cx="440729" cy="365760"/>
              <a:chOff x="1164901" y="3362064"/>
              <a:chExt cx="528249" cy="428405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8E4E618-B69A-910B-5BDC-1BA2FBDFE6A8}"/>
                  </a:ext>
                </a:extLst>
              </p:cNvPr>
              <p:cNvSpPr/>
              <p:nvPr/>
            </p:nvSpPr>
            <p:spPr>
              <a:xfrm>
                <a:off x="1164901" y="3362064"/>
                <a:ext cx="528249" cy="4284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err="1"/>
              </a:p>
            </p:txBody>
          </p:sp>
          <p:pic>
            <p:nvPicPr>
              <p:cNvPr id="19" name="Graphic 18" descr="Customer review outline">
                <a:extLst>
                  <a:ext uri="{FF2B5EF4-FFF2-40B4-BE49-F238E27FC236}">
                    <a16:creationId xmlns:a16="http://schemas.microsoft.com/office/drawing/2014/main" id="{E40A0D44-3BBD-F1D7-19BF-F76ED4B0C1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36461" y="3404410"/>
                <a:ext cx="363001" cy="363001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1739F4-8BB6-9531-87F6-BA5567D6300A}"/>
                </a:ext>
              </a:extLst>
            </p:cNvPr>
            <p:cNvGrpSpPr/>
            <p:nvPr/>
          </p:nvGrpSpPr>
          <p:grpSpPr>
            <a:xfrm>
              <a:off x="1086263" y="1945390"/>
              <a:ext cx="440729" cy="365760"/>
              <a:chOff x="1164901" y="3362064"/>
              <a:chExt cx="528249" cy="428405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7C7A4DA-852D-31C5-D9A6-B36F397630B3}"/>
                  </a:ext>
                </a:extLst>
              </p:cNvPr>
              <p:cNvSpPr/>
              <p:nvPr/>
            </p:nvSpPr>
            <p:spPr>
              <a:xfrm>
                <a:off x="1164901" y="3362064"/>
                <a:ext cx="528249" cy="42840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en-US" err="1"/>
              </a:p>
            </p:txBody>
          </p:sp>
          <p:pic>
            <p:nvPicPr>
              <p:cNvPr id="17" name="Graphic 16" descr="Question mark outline">
                <a:extLst>
                  <a:ext uri="{FF2B5EF4-FFF2-40B4-BE49-F238E27FC236}">
                    <a16:creationId xmlns:a16="http://schemas.microsoft.com/office/drawing/2014/main" id="{B5E89A25-A48D-E9AB-D2C6-B1D6620FAB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1251134" y="3390695"/>
                <a:ext cx="363001" cy="354731"/>
              </a:xfrm>
              <a:prstGeom prst="rect">
                <a:avLst/>
              </a:prstGeom>
            </p:spPr>
          </p:pic>
        </p:grpSp>
      </p:grpSp>
      <p:sp>
        <p:nvSpPr>
          <p:cNvPr id="21" name="Rounded Rectangle 62">
            <a:extLst>
              <a:ext uri="{FF2B5EF4-FFF2-40B4-BE49-F238E27FC236}">
                <a16:creationId xmlns:a16="http://schemas.microsoft.com/office/drawing/2014/main" id="{35684FA2-4CAA-2CFE-074F-6C5E260067A7}"/>
              </a:ext>
            </a:extLst>
          </p:cNvPr>
          <p:cNvSpPr/>
          <p:nvPr/>
        </p:nvSpPr>
        <p:spPr>
          <a:xfrm>
            <a:off x="3481443" y="1665742"/>
            <a:ext cx="2767244" cy="4154349"/>
          </a:xfrm>
          <a:prstGeom prst="roundRect">
            <a:avLst>
              <a:gd name="adj" fmla="val 5152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DA4E53-C552-9EEC-D2CF-BF2EABC21E99}"/>
              </a:ext>
            </a:extLst>
          </p:cNvPr>
          <p:cNvSpPr txBox="1"/>
          <p:nvPr/>
        </p:nvSpPr>
        <p:spPr>
          <a:xfrm>
            <a:off x="3481442" y="1707357"/>
            <a:ext cx="2767245" cy="5001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 noProof="0">
                <a:solidFill>
                  <a:srgbClr val="193369"/>
                </a:solidFill>
              </a:rPr>
              <a:t>Technology Areas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804571-BDF3-99C1-51C7-3031B1EA2191}"/>
              </a:ext>
            </a:extLst>
          </p:cNvPr>
          <p:cNvGrpSpPr/>
          <p:nvPr/>
        </p:nvGrpSpPr>
        <p:grpSpPr>
          <a:xfrm>
            <a:off x="3641356" y="2222732"/>
            <a:ext cx="2465331" cy="697977"/>
            <a:chOff x="917343" y="1874726"/>
            <a:chExt cx="2465331" cy="69797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9021556-9C70-8357-7195-E18F3208DA41}"/>
                </a:ext>
              </a:extLst>
            </p:cNvPr>
            <p:cNvSpPr txBox="1"/>
            <p:nvPr/>
          </p:nvSpPr>
          <p:spPr>
            <a:xfrm>
              <a:off x="1738860" y="1974164"/>
              <a:ext cx="1643814" cy="5985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spcAft>
                  <a:spcPts val="5400"/>
                </a:spcAft>
              </a:pPr>
              <a:r>
                <a:rPr lang="en-US" sz="1600">
                  <a:solidFill>
                    <a:schemeClr val="tx1"/>
                  </a:solidFill>
                </a:rPr>
                <a:t>Technology Infrastructure</a:t>
              </a:r>
            </a:p>
          </p:txBody>
        </p:sp>
        <p:pic>
          <p:nvPicPr>
            <p:cNvPr id="42" name="Graphic 41" descr="Server outline">
              <a:extLst>
                <a:ext uri="{FF2B5EF4-FFF2-40B4-BE49-F238E27FC236}">
                  <a16:creationId xmlns:a16="http://schemas.microsoft.com/office/drawing/2014/main" id="{B35ED5B1-1957-7941-7FC2-6BAAD07A6D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7343" y="1874726"/>
              <a:ext cx="697977" cy="697977"/>
            </a:xfrm>
            <a:prstGeom prst="rect">
              <a:avLst/>
            </a:prstGeom>
          </p:spPr>
        </p:pic>
      </p:grpSp>
      <p:pic>
        <p:nvPicPr>
          <p:cNvPr id="39" name="Graphic 38" descr="Check In outline">
            <a:extLst>
              <a:ext uri="{FF2B5EF4-FFF2-40B4-BE49-F238E27FC236}">
                <a16:creationId xmlns:a16="http://schemas.microsoft.com/office/drawing/2014/main" id="{9EEFD74B-FEB5-B505-5B3C-5564D783D1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74421" y="3635954"/>
            <a:ext cx="633201" cy="6332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5279243-1FF3-358F-9DBF-FD34E13B9BC0}"/>
              </a:ext>
            </a:extLst>
          </p:cNvPr>
          <p:cNvSpPr txBox="1"/>
          <p:nvPr/>
        </p:nvSpPr>
        <p:spPr>
          <a:xfrm>
            <a:off x="4503226" y="3755131"/>
            <a:ext cx="1603460" cy="5861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5400"/>
              </a:spcAft>
            </a:pPr>
            <a:r>
              <a:rPr lang="en-US" sz="1600">
                <a:solidFill>
                  <a:schemeClr val="tx1"/>
                </a:solidFill>
              </a:rPr>
              <a:t>Digital Infrastructure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AD8A38-D0AA-1A52-E807-F0170BEED24B}"/>
              </a:ext>
            </a:extLst>
          </p:cNvPr>
          <p:cNvGrpSpPr/>
          <p:nvPr/>
        </p:nvGrpSpPr>
        <p:grpSpPr>
          <a:xfrm>
            <a:off x="3693086" y="2920709"/>
            <a:ext cx="2385166" cy="732149"/>
            <a:chOff x="957153" y="2866668"/>
            <a:chExt cx="2385166" cy="732149"/>
          </a:xfrm>
        </p:grpSpPr>
        <p:pic>
          <p:nvPicPr>
            <p:cNvPr id="37" name="Graphic 36" descr="Blog outline">
              <a:extLst>
                <a:ext uri="{FF2B5EF4-FFF2-40B4-BE49-F238E27FC236}">
                  <a16:creationId xmlns:a16="http://schemas.microsoft.com/office/drawing/2014/main" id="{BB30C7D4-E7B8-DF20-0BD1-7CB1046ECD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57153" y="2866668"/>
              <a:ext cx="644024" cy="644024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9A58B4F-CC52-DB92-1283-0AE4E26692F3}"/>
                </a:ext>
              </a:extLst>
            </p:cNvPr>
            <p:cNvSpPr txBox="1"/>
            <p:nvPr/>
          </p:nvSpPr>
          <p:spPr>
            <a:xfrm>
              <a:off x="1738860" y="2954793"/>
              <a:ext cx="1603459" cy="6440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spcAft>
                  <a:spcPts val="5400"/>
                </a:spcAft>
              </a:pPr>
              <a:r>
                <a:rPr lang="en-US" sz="1600">
                  <a:solidFill>
                    <a:schemeClr val="tx1"/>
                  </a:solidFill>
                </a:rPr>
                <a:t>Technology Services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712973A-1B82-C43B-EB1B-8B9059E1AB69}"/>
              </a:ext>
            </a:extLst>
          </p:cNvPr>
          <p:cNvGrpSpPr/>
          <p:nvPr/>
        </p:nvGrpSpPr>
        <p:grpSpPr>
          <a:xfrm>
            <a:off x="3670418" y="4286858"/>
            <a:ext cx="2404616" cy="730428"/>
            <a:chOff x="865178" y="4874908"/>
            <a:chExt cx="2404616" cy="730428"/>
          </a:xfrm>
        </p:grpSpPr>
        <p:pic>
          <p:nvPicPr>
            <p:cNvPr id="33" name="Graphic 32" descr="Programmer male outline">
              <a:extLst>
                <a:ext uri="{FF2B5EF4-FFF2-40B4-BE49-F238E27FC236}">
                  <a16:creationId xmlns:a16="http://schemas.microsoft.com/office/drawing/2014/main" id="{C3C4AF43-5330-8A07-2B72-D1E370CF47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65178" y="4874908"/>
              <a:ext cx="646375" cy="646375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4490126-5148-B318-83C9-3AD6A5A10895}"/>
                </a:ext>
              </a:extLst>
            </p:cNvPr>
            <p:cNvSpPr txBox="1"/>
            <p:nvPr/>
          </p:nvSpPr>
          <p:spPr>
            <a:xfrm>
              <a:off x="1666335" y="5122057"/>
              <a:ext cx="1603459" cy="4832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spcAft>
                  <a:spcPts val="5400"/>
                </a:spcAft>
              </a:pPr>
              <a:r>
                <a:rPr lang="en-US" sz="1600">
                  <a:solidFill>
                    <a:schemeClr val="tx1"/>
                  </a:solidFill>
                </a:rPr>
                <a:t>Digital Services</a:t>
              </a:r>
            </a:p>
          </p:txBody>
        </p:sp>
      </p:grpSp>
      <p:sp>
        <p:nvSpPr>
          <p:cNvPr id="43" name="Triangle 89">
            <a:extLst>
              <a:ext uri="{FF2B5EF4-FFF2-40B4-BE49-F238E27FC236}">
                <a16:creationId xmlns:a16="http://schemas.microsoft.com/office/drawing/2014/main" id="{0278DF69-DBB5-FDA2-5BB6-93E8A8D2C376}"/>
              </a:ext>
            </a:extLst>
          </p:cNvPr>
          <p:cNvSpPr/>
          <p:nvPr/>
        </p:nvSpPr>
        <p:spPr>
          <a:xfrm rot="5400000">
            <a:off x="5185399" y="3616543"/>
            <a:ext cx="3149533" cy="506125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44" name="Rounded Rectangle 90">
            <a:extLst>
              <a:ext uri="{FF2B5EF4-FFF2-40B4-BE49-F238E27FC236}">
                <a16:creationId xmlns:a16="http://schemas.microsoft.com/office/drawing/2014/main" id="{FC446BDA-A5EB-0ECF-9F62-B949B3F904D2}"/>
              </a:ext>
            </a:extLst>
          </p:cNvPr>
          <p:cNvSpPr/>
          <p:nvPr/>
        </p:nvSpPr>
        <p:spPr>
          <a:xfrm>
            <a:off x="7168010" y="1727797"/>
            <a:ext cx="4482569" cy="3770428"/>
          </a:xfrm>
          <a:prstGeom prst="roundRect">
            <a:avLst>
              <a:gd name="adj" fmla="val 5152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F5CAC4-7AA3-C6C5-82AA-E95E8CA22385}"/>
              </a:ext>
            </a:extLst>
          </p:cNvPr>
          <p:cNvSpPr txBox="1"/>
          <p:nvPr/>
        </p:nvSpPr>
        <p:spPr>
          <a:xfrm>
            <a:off x="7168010" y="1860881"/>
            <a:ext cx="4482568" cy="31380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 noProof="0">
                <a:solidFill>
                  <a:srgbClr val="193369"/>
                </a:solidFill>
              </a:rPr>
              <a:t>Scoring Process</a:t>
            </a:r>
          </a:p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46" name="Rounded Rectangle 92">
            <a:extLst>
              <a:ext uri="{FF2B5EF4-FFF2-40B4-BE49-F238E27FC236}">
                <a16:creationId xmlns:a16="http://schemas.microsoft.com/office/drawing/2014/main" id="{4A443D52-8846-5DDB-011A-C1C9B7682BA4}"/>
              </a:ext>
            </a:extLst>
          </p:cNvPr>
          <p:cNvSpPr/>
          <p:nvPr/>
        </p:nvSpPr>
        <p:spPr>
          <a:xfrm>
            <a:off x="7378546" y="2268626"/>
            <a:ext cx="1952363" cy="470778"/>
          </a:xfrm>
          <a:prstGeom prst="roundRect">
            <a:avLst>
              <a:gd name="adj" fmla="val 5583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fontAlgn="ctr"/>
            <a:r>
              <a:rPr lang="en-US" sz="1400">
                <a:solidFill>
                  <a:schemeClr val="bg1"/>
                </a:solidFill>
                <a:latin typeface="+mj-lt"/>
              </a:rPr>
              <a:t>Rationalized Data</a:t>
            </a:r>
          </a:p>
        </p:txBody>
      </p:sp>
      <p:sp>
        <p:nvSpPr>
          <p:cNvPr id="47" name="Rounded Rectangle 93">
            <a:extLst>
              <a:ext uri="{FF2B5EF4-FFF2-40B4-BE49-F238E27FC236}">
                <a16:creationId xmlns:a16="http://schemas.microsoft.com/office/drawing/2014/main" id="{43F4F098-E272-B790-66B7-5FE102CD5136}"/>
              </a:ext>
            </a:extLst>
          </p:cNvPr>
          <p:cNvSpPr/>
          <p:nvPr/>
        </p:nvSpPr>
        <p:spPr>
          <a:xfrm>
            <a:off x="7378546" y="2833341"/>
            <a:ext cx="1952363" cy="470778"/>
          </a:xfrm>
          <a:prstGeom prst="roundRect">
            <a:avLst>
              <a:gd name="adj" fmla="val 558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fontAlgn="ctr"/>
            <a:r>
              <a:rPr lang="en-US" sz="1400">
                <a:solidFill>
                  <a:schemeClr val="bg1"/>
                </a:solidFill>
                <a:latin typeface="+mj-lt"/>
              </a:rPr>
              <a:t>Weighting Factors</a:t>
            </a:r>
          </a:p>
        </p:txBody>
      </p:sp>
      <p:sp>
        <p:nvSpPr>
          <p:cNvPr id="48" name="Rounded Rectangle 94">
            <a:extLst>
              <a:ext uri="{FF2B5EF4-FFF2-40B4-BE49-F238E27FC236}">
                <a16:creationId xmlns:a16="http://schemas.microsoft.com/office/drawing/2014/main" id="{62B9C53B-8CD5-D751-FEE6-8137364F408B}"/>
              </a:ext>
            </a:extLst>
          </p:cNvPr>
          <p:cNvSpPr/>
          <p:nvPr/>
        </p:nvSpPr>
        <p:spPr>
          <a:xfrm>
            <a:off x="7378546" y="3398056"/>
            <a:ext cx="1952363" cy="470778"/>
          </a:xfrm>
          <a:prstGeom prst="roundRect">
            <a:avLst>
              <a:gd name="adj" fmla="val 5583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fontAlgn="ctr"/>
            <a:r>
              <a:rPr lang="en-US" sz="1400">
                <a:solidFill>
                  <a:schemeClr val="bg1"/>
                </a:solidFill>
                <a:latin typeface="+mj-lt"/>
              </a:rPr>
              <a:t>Scoring</a:t>
            </a:r>
            <a:br>
              <a:rPr lang="en-US" sz="1400">
                <a:solidFill>
                  <a:schemeClr val="bg1"/>
                </a:solidFill>
                <a:latin typeface="+mj-lt"/>
              </a:rPr>
            </a:br>
            <a:r>
              <a:rPr lang="en-US" sz="700" i="1">
                <a:solidFill>
                  <a:schemeClr val="bg1"/>
                </a:solidFill>
                <a:latin typeface="+mj-lt"/>
              </a:rPr>
              <a:t>(Scores From 0-10 Based On Methodology)</a:t>
            </a:r>
          </a:p>
        </p:txBody>
      </p:sp>
      <p:sp>
        <p:nvSpPr>
          <p:cNvPr id="49" name="Rounded Rectangle 94">
            <a:extLst>
              <a:ext uri="{FF2B5EF4-FFF2-40B4-BE49-F238E27FC236}">
                <a16:creationId xmlns:a16="http://schemas.microsoft.com/office/drawing/2014/main" id="{4E3F6CA2-44D7-81F2-5D8A-A6E66D3439C3}"/>
              </a:ext>
            </a:extLst>
          </p:cNvPr>
          <p:cNvSpPr/>
          <p:nvPr/>
        </p:nvSpPr>
        <p:spPr>
          <a:xfrm>
            <a:off x="7378546" y="4124136"/>
            <a:ext cx="1981864" cy="470778"/>
          </a:xfrm>
          <a:prstGeom prst="roundRect">
            <a:avLst>
              <a:gd name="adj" fmla="val 558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fontAlgn="ctr"/>
            <a:r>
              <a:rPr lang="en-US" sz="1400">
                <a:solidFill>
                  <a:schemeClr val="bg1"/>
                </a:solidFill>
                <a:latin typeface="+mj-lt"/>
              </a:rPr>
              <a:t>Data Visualization</a:t>
            </a:r>
            <a:endParaRPr lang="en-US" sz="700" i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CD966433-9451-0352-5A38-93AE2D5C00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9829" y="2255473"/>
            <a:ext cx="1164632" cy="7981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1" name="Picture 2">
            <a:extLst>
              <a:ext uri="{FF2B5EF4-FFF2-40B4-BE49-F238E27FC236}">
                <a16:creationId xmlns:a16="http://schemas.microsoft.com/office/drawing/2014/main" id="{709DB5EE-5416-9020-7FA0-CE70AB60E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9829" y="3640231"/>
            <a:ext cx="1299201" cy="64401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riangle 64">
            <a:extLst>
              <a:ext uri="{FF2B5EF4-FFF2-40B4-BE49-F238E27FC236}">
                <a16:creationId xmlns:a16="http://schemas.microsoft.com/office/drawing/2014/main" id="{7995D7DF-0E14-FDD3-6CC3-4E8FAC36A365}"/>
              </a:ext>
            </a:extLst>
          </p:cNvPr>
          <p:cNvSpPr/>
          <p:nvPr/>
        </p:nvSpPr>
        <p:spPr>
          <a:xfrm rot="10800000">
            <a:off x="10044340" y="3213781"/>
            <a:ext cx="794555" cy="226472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53" name="Rounded Rectangle 94">
            <a:extLst>
              <a:ext uri="{FF2B5EF4-FFF2-40B4-BE49-F238E27FC236}">
                <a16:creationId xmlns:a16="http://schemas.microsoft.com/office/drawing/2014/main" id="{C2ADFD35-6472-F4C9-9556-45CC7CE0CF62}"/>
              </a:ext>
            </a:extLst>
          </p:cNvPr>
          <p:cNvSpPr/>
          <p:nvPr/>
        </p:nvSpPr>
        <p:spPr>
          <a:xfrm>
            <a:off x="7408047" y="4871842"/>
            <a:ext cx="1952363" cy="470778"/>
          </a:xfrm>
          <a:prstGeom prst="roundRect">
            <a:avLst>
              <a:gd name="adj" fmla="val 5583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fontAlgn="ctr"/>
            <a:r>
              <a:rPr lang="en-US" sz="1400">
                <a:solidFill>
                  <a:schemeClr val="bg1"/>
                </a:solidFill>
                <a:latin typeface="+mj-lt"/>
              </a:rPr>
              <a:t>Recommendations</a:t>
            </a:r>
            <a:endParaRPr lang="en-US" sz="700" i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60CF78DB-9E09-344A-BC4B-967E5A9434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8947" y="4752002"/>
            <a:ext cx="1144922" cy="64401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A6B3D8D-A1FA-1718-D780-69B5640FADDC}"/>
              </a:ext>
            </a:extLst>
          </p:cNvPr>
          <p:cNvCxnSpPr>
            <a:cxnSpLocks/>
            <a:stCxn id="46" idx="3"/>
            <a:endCxn id="50" idx="1"/>
          </p:cNvCxnSpPr>
          <p:nvPr/>
        </p:nvCxnSpPr>
        <p:spPr>
          <a:xfrm>
            <a:off x="9330909" y="2504015"/>
            <a:ext cx="488920" cy="150536"/>
          </a:xfrm>
          <a:prstGeom prst="line">
            <a:avLst/>
          </a:prstGeom>
          <a:ln w="158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7A71E22-BD83-CC97-678A-379FC6B94135}"/>
              </a:ext>
            </a:extLst>
          </p:cNvPr>
          <p:cNvCxnSpPr>
            <a:cxnSpLocks/>
            <a:stCxn id="47" idx="3"/>
            <a:endCxn id="50" idx="1"/>
          </p:cNvCxnSpPr>
          <p:nvPr/>
        </p:nvCxnSpPr>
        <p:spPr>
          <a:xfrm flipV="1">
            <a:off x="9330909" y="2654551"/>
            <a:ext cx="488920" cy="414179"/>
          </a:xfrm>
          <a:prstGeom prst="line">
            <a:avLst/>
          </a:prstGeom>
          <a:ln w="158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FB2971C-F17E-3FC0-C632-EE6F5B69935C}"/>
              </a:ext>
            </a:extLst>
          </p:cNvPr>
          <p:cNvCxnSpPr>
            <a:cxnSpLocks/>
            <a:stCxn id="48" idx="3"/>
            <a:endCxn id="50" idx="1"/>
          </p:cNvCxnSpPr>
          <p:nvPr/>
        </p:nvCxnSpPr>
        <p:spPr>
          <a:xfrm flipV="1">
            <a:off x="9330909" y="2654551"/>
            <a:ext cx="488920" cy="978894"/>
          </a:xfrm>
          <a:prstGeom prst="line">
            <a:avLst/>
          </a:prstGeom>
          <a:ln w="158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23BFD1B-BB63-E412-12DB-871B38DFFB0B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 flipV="1">
            <a:off x="9360410" y="3962240"/>
            <a:ext cx="459419" cy="397285"/>
          </a:xfrm>
          <a:prstGeom prst="line">
            <a:avLst/>
          </a:prstGeom>
          <a:ln w="158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72D53CF-B85A-327D-87D3-A7B9F01456F6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 flipV="1">
            <a:off x="9360410" y="5074011"/>
            <a:ext cx="548537" cy="33220"/>
          </a:xfrm>
          <a:prstGeom prst="line">
            <a:avLst/>
          </a:prstGeom>
          <a:ln w="158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riangle 64">
            <a:extLst>
              <a:ext uri="{FF2B5EF4-FFF2-40B4-BE49-F238E27FC236}">
                <a16:creationId xmlns:a16="http://schemas.microsoft.com/office/drawing/2014/main" id="{08498433-1970-E802-5D56-78DDF67FEC29}"/>
              </a:ext>
            </a:extLst>
          </p:cNvPr>
          <p:cNvSpPr/>
          <p:nvPr/>
        </p:nvSpPr>
        <p:spPr>
          <a:xfrm rot="10800000">
            <a:off x="10084130" y="4420771"/>
            <a:ext cx="794555" cy="226472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63" name="Rounded Rectangle 39">
            <a:extLst>
              <a:ext uri="{FF2B5EF4-FFF2-40B4-BE49-F238E27FC236}">
                <a16:creationId xmlns:a16="http://schemas.microsoft.com/office/drawing/2014/main" id="{E165944A-98F7-D399-DCA1-8A618A2A4830}"/>
              </a:ext>
            </a:extLst>
          </p:cNvPr>
          <p:cNvSpPr/>
          <p:nvPr/>
        </p:nvSpPr>
        <p:spPr>
          <a:xfrm rot="5400000">
            <a:off x="10886525" y="2484770"/>
            <a:ext cx="748439" cy="394445"/>
          </a:xfrm>
          <a:prstGeom prst="roundRect">
            <a:avLst>
              <a:gd name="adj" fmla="val 5583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 fontAlgn="ctr">
              <a:spcAft>
                <a:spcPts val="1200"/>
              </a:spcAft>
            </a:pPr>
            <a:r>
              <a:rPr lang="en-US" sz="1100">
                <a:solidFill>
                  <a:schemeClr val="tx1"/>
                </a:solidFill>
                <a:latin typeface="+mj-lt"/>
              </a:rPr>
              <a:t>Scoring XLS</a:t>
            </a:r>
          </a:p>
        </p:txBody>
      </p:sp>
      <p:sp>
        <p:nvSpPr>
          <p:cNvPr id="7168" name="Rounded Rectangle 39">
            <a:extLst>
              <a:ext uri="{FF2B5EF4-FFF2-40B4-BE49-F238E27FC236}">
                <a16:creationId xmlns:a16="http://schemas.microsoft.com/office/drawing/2014/main" id="{B9BB6B39-DFDB-9CAC-228C-77FF16434679}"/>
              </a:ext>
            </a:extLst>
          </p:cNvPr>
          <p:cNvSpPr/>
          <p:nvPr/>
        </p:nvSpPr>
        <p:spPr>
          <a:xfrm rot="5400000">
            <a:off x="10941646" y="3796194"/>
            <a:ext cx="845321" cy="394445"/>
          </a:xfrm>
          <a:prstGeom prst="roundRect">
            <a:avLst>
              <a:gd name="adj" fmla="val 5583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 fontAlgn="ctr">
              <a:spcAft>
                <a:spcPts val="1200"/>
              </a:spcAft>
            </a:pPr>
            <a:r>
              <a:rPr lang="en-US" sz="1100">
                <a:solidFill>
                  <a:schemeClr val="tx1"/>
                </a:solidFill>
                <a:latin typeface="+mj-lt"/>
              </a:rPr>
              <a:t>Tableau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D400D-70F1-6F76-32E2-21C2DCD23DAD}"/>
              </a:ext>
            </a:extLst>
          </p:cNvPr>
          <p:cNvSpPr txBox="1"/>
          <p:nvPr/>
        </p:nvSpPr>
        <p:spPr>
          <a:xfrm>
            <a:off x="4498507" y="5279330"/>
            <a:ext cx="1603459" cy="4832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5400"/>
              </a:spcAft>
            </a:pPr>
            <a:r>
              <a:rPr lang="en-US" sz="1600">
                <a:solidFill>
                  <a:schemeClr val="tx1"/>
                </a:solidFill>
              </a:rPr>
              <a:t>AI &amp; Innovation</a:t>
            </a:r>
          </a:p>
        </p:txBody>
      </p:sp>
      <p:pic>
        <p:nvPicPr>
          <p:cNvPr id="24" name="Graphic 23" descr="Artificial Intelligence outline">
            <a:extLst>
              <a:ext uri="{FF2B5EF4-FFF2-40B4-BE49-F238E27FC236}">
                <a16:creationId xmlns:a16="http://schemas.microsoft.com/office/drawing/2014/main" id="{C57BD0CD-C30D-4733-0109-21C5D7816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98497" y="5070030"/>
            <a:ext cx="633201" cy="63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62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18665C-4F4D-AB55-B76C-5F180FB2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8">
            <a:extLst>
              <a:ext uri="{FF2B5EF4-FFF2-40B4-BE49-F238E27FC236}">
                <a16:creationId xmlns:a16="http://schemas.microsoft.com/office/drawing/2014/main" id="{6C34D9D7-1FEA-D594-D202-9B40DBC1333E}"/>
              </a:ext>
            </a:extLst>
          </p:cNvPr>
          <p:cNvSpPr txBox="1">
            <a:spLocks/>
          </p:cNvSpPr>
          <p:nvPr/>
        </p:nvSpPr>
        <p:spPr>
          <a:xfrm>
            <a:off x="220579" y="161336"/>
            <a:ext cx="11430000" cy="990600"/>
          </a:xfrm>
          <a:prstGeom prst="rect">
            <a:avLst/>
          </a:prstGeom>
        </p:spPr>
        <p:txBody>
          <a:bodyPr/>
          <a:lstStyle>
            <a:lvl1pPr algn="l" defTabSz="91436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Phase 2 Methodology Overview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1BBBDB-33F1-9527-AE04-E3FD24925157}"/>
              </a:ext>
            </a:extLst>
          </p:cNvPr>
          <p:cNvSpPr txBox="1"/>
          <p:nvPr/>
        </p:nvSpPr>
        <p:spPr>
          <a:xfrm>
            <a:off x="360471" y="703861"/>
            <a:ext cx="8070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Graphik" panose="020B0503030202060203" pitchFamily="34" charset="0"/>
              </a:rPr>
              <a:t>Connecting technology, operations, and fan value to guide investment priorities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5B554-7C62-CC09-06A7-77AC6B6780CA}"/>
              </a:ext>
            </a:extLst>
          </p:cNvPr>
          <p:cNvSpPr txBox="1"/>
          <p:nvPr/>
        </p:nvSpPr>
        <p:spPr>
          <a:xfrm>
            <a:off x="4231329" y="5813400"/>
            <a:ext cx="337605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1" u="none" strike="noStrike">
                <a:solidFill>
                  <a:srgbClr val="000000"/>
                </a:solidFill>
                <a:effectLst/>
                <a:latin typeface="+mj-lt"/>
              </a:rPr>
              <a:t>*NEW: Business/Operations and VOF correlations:</a:t>
            </a:r>
            <a:endParaRPr lang="en-US" sz="1000" i="1">
              <a:solidFill>
                <a:srgbClr val="000000"/>
              </a:solidFill>
              <a:latin typeface="+mj-lt"/>
            </a:endParaRP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latin typeface="+mj-lt"/>
              </a:rPr>
              <a:t>Dashboard insights ar</a:t>
            </a:r>
            <a:r>
              <a:rPr lang="en-US" sz="1000" i="1">
                <a:solidFill>
                  <a:srgbClr val="000000"/>
                </a:solidFill>
                <a:latin typeface="+mj-lt"/>
              </a:rPr>
              <a:t>e more defensible with correlated data</a:t>
            </a: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sz="1000" b="0" i="1" u="none" strike="noStrike">
                <a:solidFill>
                  <a:srgbClr val="000000"/>
                </a:solidFill>
                <a:effectLst/>
                <a:latin typeface="+mj-lt"/>
              </a:rPr>
              <a:t>Integrated results to help support investment decision making</a:t>
            </a:r>
            <a:endParaRPr lang="en-US" sz="1000" i="1">
              <a:latin typeface="+mj-lt"/>
            </a:endParaRPr>
          </a:p>
        </p:txBody>
      </p:sp>
      <p:sp>
        <p:nvSpPr>
          <p:cNvPr id="44" name="Rounded Rectangle 90">
            <a:extLst>
              <a:ext uri="{FF2B5EF4-FFF2-40B4-BE49-F238E27FC236}">
                <a16:creationId xmlns:a16="http://schemas.microsoft.com/office/drawing/2014/main" id="{567F4F2C-C5BC-D13A-6735-2A181A33CE5E}"/>
              </a:ext>
            </a:extLst>
          </p:cNvPr>
          <p:cNvSpPr/>
          <p:nvPr/>
        </p:nvSpPr>
        <p:spPr>
          <a:xfrm>
            <a:off x="7691434" y="783770"/>
            <a:ext cx="4012437" cy="5370369"/>
          </a:xfrm>
          <a:prstGeom prst="roundRect">
            <a:avLst>
              <a:gd name="adj" fmla="val 5152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/>
          </a:p>
        </p:txBody>
      </p:sp>
      <p:grpSp>
        <p:nvGrpSpPr>
          <p:cNvPr id="7234" name="Group 7233">
            <a:extLst>
              <a:ext uri="{FF2B5EF4-FFF2-40B4-BE49-F238E27FC236}">
                <a16:creationId xmlns:a16="http://schemas.microsoft.com/office/drawing/2014/main" id="{1AF2DD28-A03D-BF5A-36A2-D6020BCE3D69}"/>
              </a:ext>
            </a:extLst>
          </p:cNvPr>
          <p:cNvGrpSpPr/>
          <p:nvPr/>
        </p:nvGrpSpPr>
        <p:grpSpPr>
          <a:xfrm>
            <a:off x="1246702" y="2014567"/>
            <a:ext cx="3289808" cy="3351527"/>
            <a:chOff x="3464665" y="2616041"/>
            <a:chExt cx="2138989" cy="2179118"/>
          </a:xfrm>
        </p:grpSpPr>
        <p:sp>
          <p:nvSpPr>
            <p:cNvPr id="7248" name="Freeform 5">
              <a:extLst>
                <a:ext uri="{FF2B5EF4-FFF2-40B4-BE49-F238E27FC236}">
                  <a16:creationId xmlns:a16="http://schemas.microsoft.com/office/drawing/2014/main" id="{B9A25EE2-BF16-4CFB-E591-AED449454227}"/>
                </a:ext>
              </a:extLst>
            </p:cNvPr>
            <p:cNvSpPr>
              <a:spLocks/>
            </p:cNvSpPr>
            <p:nvPr/>
          </p:nvSpPr>
          <p:spPr bwMode="auto">
            <a:xfrm rot="21337677">
              <a:off x="3464665" y="2691052"/>
              <a:ext cx="1226849" cy="1542405"/>
            </a:xfrm>
            <a:custGeom>
              <a:avLst/>
              <a:gdLst>
                <a:gd name="T0" fmla="*/ 551 w 1060"/>
                <a:gd name="T1" fmla="*/ 1078 h 1333"/>
                <a:gd name="T2" fmla="*/ 520 w 1060"/>
                <a:gd name="T3" fmla="*/ 925 h 1333"/>
                <a:gd name="T4" fmla="*/ 917 w 1060"/>
                <a:gd name="T5" fmla="*/ 521 h 1333"/>
                <a:gd name="T6" fmla="*/ 1060 w 1060"/>
                <a:gd name="T7" fmla="*/ 259 h 1333"/>
                <a:gd name="T8" fmla="*/ 918 w 1060"/>
                <a:gd name="T9" fmla="*/ 0 h 1333"/>
                <a:gd name="T10" fmla="*/ 0 w 1060"/>
                <a:gd name="T11" fmla="*/ 925 h 1333"/>
                <a:gd name="T12" fmla="*/ 94 w 1060"/>
                <a:gd name="T13" fmla="*/ 1333 h 1333"/>
                <a:gd name="T14" fmla="*/ 244 w 1060"/>
                <a:gd name="T15" fmla="*/ 1086 h 1333"/>
                <a:gd name="T16" fmla="*/ 551 w 1060"/>
                <a:gd name="T17" fmla="*/ 1078 h 1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0" h="1333">
                  <a:moveTo>
                    <a:pt x="551" y="1078"/>
                  </a:moveTo>
                  <a:cubicBezTo>
                    <a:pt x="531" y="1031"/>
                    <a:pt x="520" y="979"/>
                    <a:pt x="520" y="925"/>
                  </a:cubicBezTo>
                  <a:cubicBezTo>
                    <a:pt x="520" y="704"/>
                    <a:pt x="697" y="525"/>
                    <a:pt x="917" y="521"/>
                  </a:cubicBezTo>
                  <a:cubicBezTo>
                    <a:pt x="1060" y="259"/>
                    <a:pt x="1060" y="259"/>
                    <a:pt x="1060" y="259"/>
                  </a:cubicBezTo>
                  <a:cubicBezTo>
                    <a:pt x="918" y="0"/>
                    <a:pt x="918" y="0"/>
                    <a:pt x="918" y="0"/>
                  </a:cubicBezTo>
                  <a:cubicBezTo>
                    <a:pt x="410" y="4"/>
                    <a:pt x="0" y="416"/>
                    <a:pt x="0" y="925"/>
                  </a:cubicBezTo>
                  <a:cubicBezTo>
                    <a:pt x="0" y="1071"/>
                    <a:pt x="34" y="1210"/>
                    <a:pt x="94" y="1333"/>
                  </a:cubicBezTo>
                  <a:cubicBezTo>
                    <a:pt x="244" y="1086"/>
                    <a:pt x="244" y="1086"/>
                    <a:pt x="244" y="1086"/>
                  </a:cubicBezTo>
                  <a:lnTo>
                    <a:pt x="551" y="107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7249" name="Freeform 6">
              <a:extLst>
                <a:ext uri="{FF2B5EF4-FFF2-40B4-BE49-F238E27FC236}">
                  <a16:creationId xmlns:a16="http://schemas.microsoft.com/office/drawing/2014/main" id="{564617D2-D594-4843-21D2-A9B0BF1A02E0}"/>
                </a:ext>
              </a:extLst>
            </p:cNvPr>
            <p:cNvSpPr>
              <a:spLocks/>
            </p:cNvSpPr>
            <p:nvPr/>
          </p:nvSpPr>
          <p:spPr bwMode="auto">
            <a:xfrm rot="21337677">
              <a:off x="4591185" y="2616041"/>
              <a:ext cx="1012469" cy="1599715"/>
            </a:xfrm>
            <a:custGeom>
              <a:avLst/>
              <a:gdLst>
                <a:gd name="T0" fmla="*/ 0 w 875"/>
                <a:gd name="T1" fmla="*/ 522 h 1383"/>
                <a:gd name="T2" fmla="*/ 355 w 875"/>
                <a:gd name="T3" fmla="*/ 923 h 1383"/>
                <a:gd name="T4" fmla="*/ 299 w 875"/>
                <a:gd name="T5" fmla="*/ 1127 h 1383"/>
                <a:gd name="T6" fmla="*/ 453 w 875"/>
                <a:gd name="T7" fmla="*/ 1377 h 1383"/>
                <a:gd name="T8" fmla="*/ 753 w 875"/>
                <a:gd name="T9" fmla="*/ 1383 h 1383"/>
                <a:gd name="T10" fmla="*/ 875 w 875"/>
                <a:gd name="T11" fmla="*/ 923 h 1383"/>
                <a:gd name="T12" fmla="*/ 3 w 875"/>
                <a:gd name="T13" fmla="*/ 0 h 1383"/>
                <a:gd name="T14" fmla="*/ 144 w 875"/>
                <a:gd name="T15" fmla="*/ 257 h 1383"/>
                <a:gd name="T16" fmla="*/ 0 w 875"/>
                <a:gd name="T17" fmla="*/ 522 h 1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5" h="1383">
                  <a:moveTo>
                    <a:pt x="0" y="522"/>
                  </a:moveTo>
                  <a:cubicBezTo>
                    <a:pt x="200" y="546"/>
                    <a:pt x="355" y="717"/>
                    <a:pt x="355" y="923"/>
                  </a:cubicBezTo>
                  <a:cubicBezTo>
                    <a:pt x="355" y="997"/>
                    <a:pt x="334" y="1067"/>
                    <a:pt x="299" y="1127"/>
                  </a:cubicBezTo>
                  <a:cubicBezTo>
                    <a:pt x="453" y="1377"/>
                    <a:pt x="453" y="1377"/>
                    <a:pt x="453" y="1377"/>
                  </a:cubicBezTo>
                  <a:cubicBezTo>
                    <a:pt x="753" y="1383"/>
                    <a:pt x="753" y="1383"/>
                    <a:pt x="753" y="1383"/>
                  </a:cubicBezTo>
                  <a:cubicBezTo>
                    <a:pt x="831" y="1248"/>
                    <a:pt x="875" y="1091"/>
                    <a:pt x="875" y="923"/>
                  </a:cubicBezTo>
                  <a:cubicBezTo>
                    <a:pt x="875" y="430"/>
                    <a:pt x="489" y="27"/>
                    <a:pt x="3" y="0"/>
                  </a:cubicBezTo>
                  <a:cubicBezTo>
                    <a:pt x="144" y="257"/>
                    <a:pt x="144" y="257"/>
                    <a:pt x="144" y="257"/>
                  </a:cubicBezTo>
                  <a:lnTo>
                    <a:pt x="0" y="52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7250" name="Freeform 7">
              <a:extLst>
                <a:ext uri="{FF2B5EF4-FFF2-40B4-BE49-F238E27FC236}">
                  <a16:creationId xmlns:a16="http://schemas.microsoft.com/office/drawing/2014/main" id="{D5E7CBBE-BB77-8016-CE7B-F8ED4D3912A0}"/>
                </a:ext>
              </a:extLst>
            </p:cNvPr>
            <p:cNvSpPr>
              <a:spLocks/>
            </p:cNvSpPr>
            <p:nvPr/>
          </p:nvSpPr>
          <p:spPr bwMode="auto">
            <a:xfrm rot="21337677">
              <a:off x="3677467" y="3960987"/>
              <a:ext cx="1819755" cy="834172"/>
            </a:xfrm>
            <a:custGeom>
              <a:avLst/>
              <a:gdLst>
                <a:gd name="T0" fmla="*/ 1120 w 1573"/>
                <a:gd name="T1" fmla="*/ 46 h 721"/>
                <a:gd name="T2" fmla="*/ 802 w 1573"/>
                <a:gd name="T3" fmla="*/ 200 h 721"/>
                <a:gd name="T4" fmla="*/ 454 w 1573"/>
                <a:gd name="T5" fmla="*/ 0 h 721"/>
                <a:gd name="T6" fmla="*/ 151 w 1573"/>
                <a:gd name="T7" fmla="*/ 8 h 721"/>
                <a:gd name="T8" fmla="*/ 0 w 1573"/>
                <a:gd name="T9" fmla="*/ 257 h 721"/>
                <a:gd name="T10" fmla="*/ 802 w 1573"/>
                <a:gd name="T11" fmla="*/ 721 h 721"/>
                <a:gd name="T12" fmla="*/ 1573 w 1573"/>
                <a:gd name="T13" fmla="*/ 307 h 721"/>
                <a:gd name="T14" fmla="*/ 1276 w 1573"/>
                <a:gd name="T15" fmla="*/ 301 h 721"/>
                <a:gd name="T16" fmla="*/ 1120 w 1573"/>
                <a:gd name="T17" fmla="*/ 46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73" h="721">
                  <a:moveTo>
                    <a:pt x="1120" y="46"/>
                  </a:moveTo>
                  <a:cubicBezTo>
                    <a:pt x="1046" y="140"/>
                    <a:pt x="931" y="200"/>
                    <a:pt x="802" y="200"/>
                  </a:cubicBezTo>
                  <a:cubicBezTo>
                    <a:pt x="654" y="200"/>
                    <a:pt x="524" y="120"/>
                    <a:pt x="454" y="0"/>
                  </a:cubicBezTo>
                  <a:cubicBezTo>
                    <a:pt x="151" y="8"/>
                    <a:pt x="151" y="8"/>
                    <a:pt x="151" y="8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160" y="534"/>
                    <a:pt x="459" y="721"/>
                    <a:pt x="802" y="721"/>
                  </a:cubicBezTo>
                  <a:cubicBezTo>
                    <a:pt x="1124" y="721"/>
                    <a:pt x="1407" y="556"/>
                    <a:pt x="1573" y="307"/>
                  </a:cubicBezTo>
                  <a:cubicBezTo>
                    <a:pt x="1276" y="301"/>
                    <a:pt x="1276" y="301"/>
                    <a:pt x="1276" y="301"/>
                  </a:cubicBezTo>
                  <a:lnTo>
                    <a:pt x="1120" y="4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</p:grpSp>
      <p:grpSp>
        <p:nvGrpSpPr>
          <p:cNvPr id="7235" name="Group 7234">
            <a:extLst>
              <a:ext uri="{FF2B5EF4-FFF2-40B4-BE49-F238E27FC236}">
                <a16:creationId xmlns:a16="http://schemas.microsoft.com/office/drawing/2014/main" id="{EDA66174-9CFA-CDD6-C2E1-F1E038998236}"/>
              </a:ext>
            </a:extLst>
          </p:cNvPr>
          <p:cNvGrpSpPr/>
          <p:nvPr/>
        </p:nvGrpSpPr>
        <p:grpSpPr>
          <a:xfrm>
            <a:off x="201903" y="1289002"/>
            <a:ext cx="2438674" cy="1376925"/>
            <a:chOff x="1074097" y="3233483"/>
            <a:chExt cx="1524171" cy="895259"/>
          </a:xfrm>
        </p:grpSpPr>
        <p:cxnSp>
          <p:nvCxnSpPr>
            <p:cNvPr id="7246" name="Straight Arrow Connector 7245">
              <a:extLst>
                <a:ext uri="{FF2B5EF4-FFF2-40B4-BE49-F238E27FC236}">
                  <a16:creationId xmlns:a16="http://schemas.microsoft.com/office/drawing/2014/main" id="{432406F0-C74D-CCDD-E05E-4FAEC7EDC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6187" y="3702815"/>
              <a:ext cx="158036" cy="425927"/>
            </a:xfrm>
            <a:prstGeom prst="straightConnector1">
              <a:avLst/>
            </a:prstGeom>
            <a:ln w="127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47" name="Footer Text">
              <a:extLst>
                <a:ext uri="{FF2B5EF4-FFF2-40B4-BE49-F238E27FC236}">
                  <a16:creationId xmlns:a16="http://schemas.microsoft.com/office/drawing/2014/main" id="{4DF7486F-6F18-E30D-8A94-221BDF451A97}"/>
                </a:ext>
              </a:extLst>
            </p:cNvPr>
            <p:cNvSpPr txBox="1"/>
            <p:nvPr/>
          </p:nvSpPr>
          <p:spPr>
            <a:xfrm flipH="1">
              <a:off x="1074097" y="3233483"/>
              <a:ext cx="1524171" cy="3802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>
                  <a:solidFill>
                    <a:schemeClr val="accent1"/>
                  </a:solidFill>
                  <a:latin typeface="+mj-lt"/>
                </a:rPr>
                <a:t>Technology Layers</a:t>
              </a:r>
              <a:br>
                <a:rPr lang="en-US" sz="1600">
                  <a:solidFill>
                    <a:schemeClr val="accent1"/>
                  </a:solidFill>
                </a:rPr>
              </a:br>
              <a:r>
                <a:rPr lang="en-US" sz="1100">
                  <a:solidFill>
                    <a:schemeClr val="accent1"/>
                  </a:solidFill>
                </a:rPr>
                <a:t>Ranked fan experience and operations enabling technologies</a:t>
              </a:r>
              <a:endParaRPr lang="en-US" sz="1100"/>
            </a:p>
          </p:txBody>
        </p:sp>
      </p:grpSp>
      <p:grpSp>
        <p:nvGrpSpPr>
          <p:cNvPr id="7236" name="Group 7235">
            <a:extLst>
              <a:ext uri="{FF2B5EF4-FFF2-40B4-BE49-F238E27FC236}">
                <a16:creationId xmlns:a16="http://schemas.microsoft.com/office/drawing/2014/main" id="{E7B6ABCB-C510-6983-839E-AF8B13199655}"/>
              </a:ext>
            </a:extLst>
          </p:cNvPr>
          <p:cNvGrpSpPr/>
          <p:nvPr/>
        </p:nvGrpSpPr>
        <p:grpSpPr>
          <a:xfrm>
            <a:off x="3917835" y="5109614"/>
            <a:ext cx="3282169" cy="586579"/>
            <a:chOff x="5201396" y="4628411"/>
            <a:chExt cx="2134021" cy="381387"/>
          </a:xfrm>
        </p:grpSpPr>
        <p:grpSp>
          <p:nvGrpSpPr>
            <p:cNvPr id="7242" name="Group 7241">
              <a:extLst>
                <a:ext uri="{FF2B5EF4-FFF2-40B4-BE49-F238E27FC236}">
                  <a16:creationId xmlns:a16="http://schemas.microsoft.com/office/drawing/2014/main" id="{325D3125-E7C5-6B95-3E31-B654A01468AE}"/>
                </a:ext>
              </a:extLst>
            </p:cNvPr>
            <p:cNvGrpSpPr/>
            <p:nvPr/>
          </p:nvGrpSpPr>
          <p:grpSpPr>
            <a:xfrm rot="10800000">
              <a:off x="5201396" y="4628411"/>
              <a:ext cx="461770" cy="150505"/>
              <a:chOff x="3643669" y="2241514"/>
              <a:chExt cx="615695" cy="200673"/>
            </a:xfrm>
          </p:grpSpPr>
          <p:cxnSp>
            <p:nvCxnSpPr>
              <p:cNvPr id="7244" name="Straight Connector 7243">
                <a:extLst>
                  <a:ext uri="{FF2B5EF4-FFF2-40B4-BE49-F238E27FC236}">
                    <a16:creationId xmlns:a16="http://schemas.microsoft.com/office/drawing/2014/main" id="{1C8DDE49-2A4C-5B6D-980E-E981430C0F4E}"/>
                  </a:ext>
                </a:extLst>
              </p:cNvPr>
              <p:cNvCxnSpPr/>
              <p:nvPr/>
            </p:nvCxnSpPr>
            <p:spPr>
              <a:xfrm rot="10800000">
                <a:off x="4058741" y="2241565"/>
                <a:ext cx="200623" cy="200622"/>
              </a:xfrm>
              <a:prstGeom prst="line">
                <a:avLst/>
              </a:prstGeom>
              <a:ln w="1270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5" name="Straight Arrow Connector 7244">
                <a:extLst>
                  <a:ext uri="{FF2B5EF4-FFF2-40B4-BE49-F238E27FC236}">
                    <a16:creationId xmlns:a16="http://schemas.microsoft.com/office/drawing/2014/main" id="{0F4E31DC-FD15-1A0C-261D-4411493E9992}"/>
                  </a:ext>
                </a:extLst>
              </p:cNvPr>
              <p:cNvCxnSpPr/>
              <p:nvPr/>
            </p:nvCxnSpPr>
            <p:spPr>
              <a:xfrm rot="10800000">
                <a:off x="3643669" y="2241514"/>
                <a:ext cx="418247" cy="0"/>
              </a:xfrm>
              <a:prstGeom prst="straightConnector1">
                <a:avLst/>
              </a:prstGeom>
              <a:ln w="12700">
                <a:solidFill>
                  <a:schemeClr val="accent3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43" name="Footer Text">
              <a:extLst>
                <a:ext uri="{FF2B5EF4-FFF2-40B4-BE49-F238E27FC236}">
                  <a16:creationId xmlns:a16="http://schemas.microsoft.com/office/drawing/2014/main" id="{5CC468D6-3DBE-4C34-3478-6B13296699A1}"/>
                </a:ext>
              </a:extLst>
            </p:cNvPr>
            <p:cNvSpPr txBox="1"/>
            <p:nvPr/>
          </p:nvSpPr>
          <p:spPr>
            <a:xfrm flipH="1">
              <a:off x="5811246" y="4629585"/>
              <a:ext cx="1524171" cy="3802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>
                  <a:solidFill>
                    <a:schemeClr val="accent3"/>
                  </a:solidFill>
                  <a:latin typeface="+mj-lt"/>
                </a:rPr>
                <a:t>Fan Experience</a:t>
              </a:r>
              <a:br>
                <a:rPr lang="en-US" sz="1600">
                  <a:solidFill>
                    <a:schemeClr val="accent3"/>
                  </a:solidFill>
                </a:rPr>
              </a:br>
              <a:r>
                <a:rPr lang="en-US" sz="1100">
                  <a:solidFill>
                    <a:srgbClr val="297FD5"/>
                  </a:solidFill>
                </a:rPr>
                <a:t>Voice of the Fan survey questions and data that support *</a:t>
              </a:r>
            </a:p>
          </p:txBody>
        </p:sp>
      </p:grpSp>
      <p:grpSp>
        <p:nvGrpSpPr>
          <p:cNvPr id="7237" name="Group 7236">
            <a:extLst>
              <a:ext uri="{FF2B5EF4-FFF2-40B4-BE49-F238E27FC236}">
                <a16:creationId xmlns:a16="http://schemas.microsoft.com/office/drawing/2014/main" id="{A83DF10D-4119-FBBE-0AA9-6F66EC82F507}"/>
              </a:ext>
            </a:extLst>
          </p:cNvPr>
          <p:cNvGrpSpPr/>
          <p:nvPr/>
        </p:nvGrpSpPr>
        <p:grpSpPr>
          <a:xfrm>
            <a:off x="4100318" y="1795928"/>
            <a:ext cx="3421245" cy="754053"/>
            <a:chOff x="5351851" y="2473885"/>
            <a:chExt cx="2224447" cy="490275"/>
          </a:xfrm>
        </p:grpSpPr>
        <p:grpSp>
          <p:nvGrpSpPr>
            <p:cNvPr id="7238" name="Group 7237">
              <a:extLst>
                <a:ext uri="{FF2B5EF4-FFF2-40B4-BE49-F238E27FC236}">
                  <a16:creationId xmlns:a16="http://schemas.microsoft.com/office/drawing/2014/main" id="{2E1343A6-F008-2CCD-0C53-8874777F6A53}"/>
                </a:ext>
              </a:extLst>
            </p:cNvPr>
            <p:cNvGrpSpPr/>
            <p:nvPr/>
          </p:nvGrpSpPr>
          <p:grpSpPr>
            <a:xfrm flipH="1">
              <a:off x="5351851" y="2630945"/>
              <a:ext cx="572984" cy="257261"/>
              <a:chOff x="3495385" y="2092824"/>
              <a:chExt cx="763978" cy="343013"/>
            </a:xfrm>
          </p:grpSpPr>
          <p:cxnSp>
            <p:nvCxnSpPr>
              <p:cNvPr id="7240" name="Straight Connector 7239">
                <a:extLst>
                  <a:ext uri="{FF2B5EF4-FFF2-40B4-BE49-F238E27FC236}">
                    <a16:creationId xmlns:a16="http://schemas.microsoft.com/office/drawing/2014/main" id="{792FC529-0A43-0D42-523E-671DE65F70FC}"/>
                  </a:ext>
                </a:extLst>
              </p:cNvPr>
              <p:cNvCxnSpPr/>
              <p:nvPr/>
            </p:nvCxnSpPr>
            <p:spPr>
              <a:xfrm flipH="1" flipV="1">
                <a:off x="3916350" y="2092824"/>
                <a:ext cx="343013" cy="343013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1" name="Straight Arrow Connector 7240">
                <a:extLst>
                  <a:ext uri="{FF2B5EF4-FFF2-40B4-BE49-F238E27FC236}">
                    <a16:creationId xmlns:a16="http://schemas.microsoft.com/office/drawing/2014/main" id="{FF9AB5AA-5567-8D99-6BC7-246F62208F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95385" y="2092824"/>
                <a:ext cx="425000" cy="3163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39" name="Footer Text">
              <a:extLst>
                <a:ext uri="{FF2B5EF4-FFF2-40B4-BE49-F238E27FC236}">
                  <a16:creationId xmlns:a16="http://schemas.microsoft.com/office/drawing/2014/main" id="{FF1C9046-8911-CF08-E6DD-BBE66691BA60}"/>
                </a:ext>
              </a:extLst>
            </p:cNvPr>
            <p:cNvSpPr txBox="1"/>
            <p:nvPr/>
          </p:nvSpPr>
          <p:spPr>
            <a:xfrm flipH="1">
              <a:off x="6014485" y="2473885"/>
              <a:ext cx="1561813" cy="4902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>
                  <a:solidFill>
                    <a:schemeClr val="accent2"/>
                  </a:solidFill>
                  <a:latin typeface="+mj-lt"/>
                </a:rPr>
                <a:t>Business &amp; Operations</a:t>
              </a:r>
              <a:br>
                <a:rPr lang="en-US" sz="1600">
                  <a:solidFill>
                    <a:schemeClr val="accent2"/>
                  </a:solidFill>
                </a:rPr>
              </a:br>
              <a:r>
                <a:rPr lang="en-US" sz="1100">
                  <a:solidFill>
                    <a:srgbClr val="629DD1"/>
                  </a:solidFill>
                </a:rPr>
                <a:t>Revenue or operational KPIs that support correlations needed to assess technologies</a:t>
              </a:r>
            </a:p>
          </p:txBody>
        </p:sp>
      </p:grpSp>
      <p:sp>
        <p:nvSpPr>
          <p:cNvPr id="7231" name="Freeform 23">
            <a:extLst>
              <a:ext uri="{FF2B5EF4-FFF2-40B4-BE49-F238E27FC236}">
                <a16:creationId xmlns:a16="http://schemas.microsoft.com/office/drawing/2014/main" id="{11035FC7-D4DE-4EDC-4DAA-BA595AC6B746}"/>
              </a:ext>
            </a:extLst>
          </p:cNvPr>
          <p:cNvSpPr>
            <a:spLocks noEditPoints="1"/>
          </p:cNvSpPr>
          <p:nvPr/>
        </p:nvSpPr>
        <p:spPr bwMode="auto">
          <a:xfrm>
            <a:off x="1691447" y="2789998"/>
            <a:ext cx="488932" cy="481608"/>
          </a:xfrm>
          <a:custGeom>
            <a:avLst/>
            <a:gdLst>
              <a:gd name="T0" fmla="*/ 113 w 113"/>
              <a:gd name="T1" fmla="*/ 26 h 111"/>
              <a:gd name="T2" fmla="*/ 107 w 113"/>
              <a:gd name="T3" fmla="*/ 42 h 111"/>
              <a:gd name="T4" fmla="*/ 109 w 113"/>
              <a:gd name="T5" fmla="*/ 58 h 111"/>
              <a:gd name="T6" fmla="*/ 102 w 113"/>
              <a:gd name="T7" fmla="*/ 85 h 111"/>
              <a:gd name="T8" fmla="*/ 83 w 113"/>
              <a:gd name="T9" fmla="*/ 104 h 111"/>
              <a:gd name="T10" fmla="*/ 57 w 113"/>
              <a:gd name="T11" fmla="*/ 111 h 111"/>
              <a:gd name="T12" fmla="*/ 31 w 113"/>
              <a:gd name="T13" fmla="*/ 104 h 111"/>
              <a:gd name="T14" fmla="*/ 12 w 113"/>
              <a:gd name="T15" fmla="*/ 85 h 111"/>
              <a:gd name="T16" fmla="*/ 5 w 113"/>
              <a:gd name="T17" fmla="*/ 58 h 111"/>
              <a:gd name="T18" fmla="*/ 7 w 113"/>
              <a:gd name="T19" fmla="*/ 43 h 111"/>
              <a:gd name="T20" fmla="*/ 0 w 113"/>
              <a:gd name="T21" fmla="*/ 26 h 111"/>
              <a:gd name="T22" fmla="*/ 8 w 113"/>
              <a:gd name="T23" fmla="*/ 8 h 111"/>
              <a:gd name="T24" fmla="*/ 25 w 113"/>
              <a:gd name="T25" fmla="*/ 0 h 111"/>
              <a:gd name="T26" fmla="*/ 43 w 113"/>
              <a:gd name="T27" fmla="*/ 8 h 111"/>
              <a:gd name="T28" fmla="*/ 57 w 113"/>
              <a:gd name="T29" fmla="*/ 6 h 111"/>
              <a:gd name="T30" fmla="*/ 71 w 113"/>
              <a:gd name="T31" fmla="*/ 8 h 111"/>
              <a:gd name="T32" fmla="*/ 88 w 113"/>
              <a:gd name="T33" fmla="*/ 0 h 111"/>
              <a:gd name="T34" fmla="*/ 106 w 113"/>
              <a:gd name="T35" fmla="*/ 8 h 111"/>
              <a:gd name="T36" fmla="*/ 113 w 113"/>
              <a:gd name="T37" fmla="*/ 26 h 111"/>
              <a:gd name="T38" fmla="*/ 28 w 113"/>
              <a:gd name="T39" fmla="*/ 88 h 111"/>
              <a:gd name="T40" fmla="*/ 57 w 113"/>
              <a:gd name="T41" fmla="*/ 100 h 111"/>
              <a:gd name="T42" fmla="*/ 86 w 113"/>
              <a:gd name="T43" fmla="*/ 88 h 111"/>
              <a:gd name="T44" fmla="*/ 99 w 113"/>
              <a:gd name="T45" fmla="*/ 58 h 111"/>
              <a:gd name="T46" fmla="*/ 86 w 113"/>
              <a:gd name="T47" fmla="*/ 29 h 111"/>
              <a:gd name="T48" fmla="*/ 57 w 113"/>
              <a:gd name="T49" fmla="*/ 17 h 111"/>
              <a:gd name="T50" fmla="*/ 28 w 113"/>
              <a:gd name="T51" fmla="*/ 29 h 111"/>
              <a:gd name="T52" fmla="*/ 16 w 113"/>
              <a:gd name="T53" fmla="*/ 58 h 111"/>
              <a:gd name="T54" fmla="*/ 28 w 113"/>
              <a:gd name="T55" fmla="*/ 88 h 111"/>
              <a:gd name="T56" fmla="*/ 55 w 113"/>
              <a:gd name="T57" fmla="*/ 20 h 111"/>
              <a:gd name="T58" fmla="*/ 57 w 113"/>
              <a:gd name="T59" fmla="*/ 19 h 111"/>
              <a:gd name="T60" fmla="*/ 60 w 113"/>
              <a:gd name="T61" fmla="*/ 20 h 111"/>
              <a:gd name="T62" fmla="*/ 61 w 113"/>
              <a:gd name="T63" fmla="*/ 23 h 111"/>
              <a:gd name="T64" fmla="*/ 61 w 113"/>
              <a:gd name="T65" fmla="*/ 58 h 111"/>
              <a:gd name="T66" fmla="*/ 61 w 113"/>
              <a:gd name="T67" fmla="*/ 59 h 111"/>
              <a:gd name="T68" fmla="*/ 61 w 113"/>
              <a:gd name="T69" fmla="*/ 59 h 111"/>
              <a:gd name="T70" fmla="*/ 61 w 113"/>
              <a:gd name="T71" fmla="*/ 60 h 111"/>
              <a:gd name="T72" fmla="*/ 60 w 113"/>
              <a:gd name="T73" fmla="*/ 61 h 111"/>
              <a:gd name="T74" fmla="*/ 60 w 113"/>
              <a:gd name="T75" fmla="*/ 61 h 111"/>
              <a:gd name="T76" fmla="*/ 60 w 113"/>
              <a:gd name="T77" fmla="*/ 61 h 111"/>
              <a:gd name="T78" fmla="*/ 59 w 113"/>
              <a:gd name="T79" fmla="*/ 62 h 111"/>
              <a:gd name="T80" fmla="*/ 59 w 113"/>
              <a:gd name="T81" fmla="*/ 62 h 111"/>
              <a:gd name="T82" fmla="*/ 59 w 113"/>
              <a:gd name="T83" fmla="*/ 62 h 111"/>
              <a:gd name="T84" fmla="*/ 35 w 113"/>
              <a:gd name="T85" fmla="*/ 72 h 111"/>
              <a:gd name="T86" fmla="*/ 33 w 113"/>
              <a:gd name="T87" fmla="*/ 73 h 111"/>
              <a:gd name="T88" fmla="*/ 30 w 113"/>
              <a:gd name="T89" fmla="*/ 70 h 111"/>
              <a:gd name="T90" fmla="*/ 30 w 113"/>
              <a:gd name="T91" fmla="*/ 68 h 111"/>
              <a:gd name="T92" fmla="*/ 32 w 113"/>
              <a:gd name="T93" fmla="*/ 66 h 111"/>
              <a:gd name="T94" fmla="*/ 54 w 113"/>
              <a:gd name="T95" fmla="*/ 56 h 111"/>
              <a:gd name="T96" fmla="*/ 54 w 113"/>
              <a:gd name="T97" fmla="*/ 23 h 111"/>
              <a:gd name="T98" fmla="*/ 55 w 113"/>
              <a:gd name="T99" fmla="*/ 20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13" h="111">
                <a:moveTo>
                  <a:pt x="113" y="26"/>
                </a:moveTo>
                <a:cubicBezTo>
                  <a:pt x="113" y="32"/>
                  <a:pt x="111" y="38"/>
                  <a:pt x="107" y="42"/>
                </a:cubicBezTo>
                <a:cubicBezTo>
                  <a:pt x="109" y="48"/>
                  <a:pt x="109" y="53"/>
                  <a:pt x="109" y="58"/>
                </a:cubicBezTo>
                <a:cubicBezTo>
                  <a:pt x="109" y="68"/>
                  <a:pt x="107" y="77"/>
                  <a:pt x="102" y="85"/>
                </a:cubicBezTo>
                <a:cubicBezTo>
                  <a:pt x="98" y="93"/>
                  <a:pt x="91" y="99"/>
                  <a:pt x="83" y="104"/>
                </a:cubicBezTo>
                <a:cubicBezTo>
                  <a:pt x="75" y="108"/>
                  <a:pt x="67" y="111"/>
                  <a:pt x="57" y="111"/>
                </a:cubicBezTo>
                <a:cubicBezTo>
                  <a:pt x="48" y="111"/>
                  <a:pt x="39" y="108"/>
                  <a:pt x="31" y="104"/>
                </a:cubicBezTo>
                <a:cubicBezTo>
                  <a:pt x="23" y="99"/>
                  <a:pt x="17" y="93"/>
                  <a:pt x="12" y="85"/>
                </a:cubicBezTo>
                <a:cubicBezTo>
                  <a:pt x="7" y="77"/>
                  <a:pt x="5" y="68"/>
                  <a:pt x="5" y="58"/>
                </a:cubicBezTo>
                <a:cubicBezTo>
                  <a:pt x="5" y="53"/>
                  <a:pt x="6" y="48"/>
                  <a:pt x="7" y="43"/>
                </a:cubicBezTo>
                <a:cubicBezTo>
                  <a:pt x="3" y="38"/>
                  <a:pt x="0" y="32"/>
                  <a:pt x="0" y="26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5" y="0"/>
                </a:cubicBezTo>
                <a:cubicBezTo>
                  <a:pt x="32" y="0"/>
                  <a:pt x="38" y="3"/>
                  <a:pt x="43" y="8"/>
                </a:cubicBezTo>
                <a:cubicBezTo>
                  <a:pt x="48" y="7"/>
                  <a:pt x="53" y="6"/>
                  <a:pt x="57" y="6"/>
                </a:cubicBezTo>
                <a:cubicBezTo>
                  <a:pt x="62" y="6"/>
                  <a:pt x="66" y="7"/>
                  <a:pt x="71" y="8"/>
                </a:cubicBezTo>
                <a:cubicBezTo>
                  <a:pt x="75" y="3"/>
                  <a:pt x="81" y="0"/>
                  <a:pt x="88" y="0"/>
                </a:cubicBezTo>
                <a:cubicBezTo>
                  <a:pt x="95" y="0"/>
                  <a:pt x="101" y="3"/>
                  <a:pt x="106" y="8"/>
                </a:cubicBezTo>
                <a:cubicBezTo>
                  <a:pt x="111" y="13"/>
                  <a:pt x="113" y="19"/>
                  <a:pt x="113" y="26"/>
                </a:cubicBezTo>
                <a:close/>
                <a:moveTo>
                  <a:pt x="28" y="88"/>
                </a:moveTo>
                <a:cubicBezTo>
                  <a:pt x="36" y="96"/>
                  <a:pt x="46" y="100"/>
                  <a:pt x="57" y="100"/>
                </a:cubicBezTo>
                <a:cubicBezTo>
                  <a:pt x="69" y="100"/>
                  <a:pt x="78" y="96"/>
                  <a:pt x="86" y="88"/>
                </a:cubicBezTo>
                <a:cubicBezTo>
                  <a:pt x="95" y="80"/>
                  <a:pt x="99" y="70"/>
                  <a:pt x="99" y="58"/>
                </a:cubicBezTo>
                <a:cubicBezTo>
                  <a:pt x="99" y="47"/>
                  <a:pt x="95" y="37"/>
                  <a:pt x="86" y="29"/>
                </a:cubicBezTo>
                <a:cubicBezTo>
                  <a:pt x="78" y="21"/>
                  <a:pt x="69" y="17"/>
                  <a:pt x="57" y="17"/>
                </a:cubicBezTo>
                <a:cubicBezTo>
                  <a:pt x="46" y="17"/>
                  <a:pt x="36" y="21"/>
                  <a:pt x="28" y="29"/>
                </a:cubicBezTo>
                <a:cubicBezTo>
                  <a:pt x="20" y="37"/>
                  <a:pt x="16" y="47"/>
                  <a:pt x="16" y="58"/>
                </a:cubicBezTo>
                <a:cubicBezTo>
                  <a:pt x="16" y="70"/>
                  <a:pt x="20" y="80"/>
                  <a:pt x="28" y="88"/>
                </a:cubicBezTo>
                <a:close/>
                <a:moveTo>
                  <a:pt x="55" y="20"/>
                </a:moveTo>
                <a:cubicBezTo>
                  <a:pt x="55" y="20"/>
                  <a:pt x="56" y="19"/>
                  <a:pt x="57" y="19"/>
                </a:cubicBezTo>
                <a:cubicBezTo>
                  <a:pt x="58" y="19"/>
                  <a:pt x="59" y="20"/>
                  <a:pt x="60" y="20"/>
                </a:cubicBezTo>
                <a:cubicBezTo>
                  <a:pt x="60" y="21"/>
                  <a:pt x="61" y="22"/>
                  <a:pt x="61" y="23"/>
                </a:cubicBezTo>
                <a:cubicBezTo>
                  <a:pt x="61" y="58"/>
                  <a:pt x="61" y="58"/>
                  <a:pt x="61" y="58"/>
                </a:cubicBezTo>
                <a:cubicBezTo>
                  <a:pt x="61" y="59"/>
                  <a:pt x="61" y="59"/>
                  <a:pt x="61" y="59"/>
                </a:cubicBezTo>
                <a:cubicBezTo>
                  <a:pt x="61" y="59"/>
                  <a:pt x="61" y="59"/>
                  <a:pt x="61" y="59"/>
                </a:cubicBezTo>
                <a:cubicBezTo>
                  <a:pt x="61" y="60"/>
                  <a:pt x="61" y="60"/>
                  <a:pt x="61" y="60"/>
                </a:cubicBezTo>
                <a:cubicBezTo>
                  <a:pt x="60" y="60"/>
                  <a:pt x="60" y="60"/>
                  <a:pt x="60" y="61"/>
                </a:cubicBezTo>
                <a:cubicBezTo>
                  <a:pt x="60" y="61"/>
                  <a:pt x="60" y="61"/>
                  <a:pt x="60" y="61"/>
                </a:cubicBezTo>
                <a:cubicBezTo>
                  <a:pt x="60" y="61"/>
                  <a:pt x="60" y="61"/>
                  <a:pt x="60" y="61"/>
                </a:cubicBezTo>
                <a:cubicBezTo>
                  <a:pt x="60" y="61"/>
                  <a:pt x="59" y="61"/>
                  <a:pt x="59" y="62"/>
                </a:cubicBezTo>
                <a:cubicBezTo>
                  <a:pt x="59" y="62"/>
                  <a:pt x="59" y="62"/>
                  <a:pt x="59" y="62"/>
                </a:cubicBezTo>
                <a:cubicBezTo>
                  <a:pt x="59" y="62"/>
                  <a:pt x="59" y="62"/>
                  <a:pt x="59" y="62"/>
                </a:cubicBezTo>
                <a:cubicBezTo>
                  <a:pt x="35" y="72"/>
                  <a:pt x="35" y="72"/>
                  <a:pt x="35" y="72"/>
                </a:cubicBezTo>
                <a:cubicBezTo>
                  <a:pt x="34" y="73"/>
                  <a:pt x="34" y="73"/>
                  <a:pt x="33" y="73"/>
                </a:cubicBezTo>
                <a:cubicBezTo>
                  <a:pt x="32" y="73"/>
                  <a:pt x="31" y="72"/>
                  <a:pt x="30" y="70"/>
                </a:cubicBezTo>
                <a:cubicBezTo>
                  <a:pt x="30" y="69"/>
                  <a:pt x="30" y="69"/>
                  <a:pt x="30" y="68"/>
                </a:cubicBezTo>
                <a:cubicBezTo>
                  <a:pt x="30" y="67"/>
                  <a:pt x="31" y="66"/>
                  <a:pt x="32" y="66"/>
                </a:cubicBezTo>
                <a:cubicBezTo>
                  <a:pt x="54" y="56"/>
                  <a:pt x="54" y="56"/>
                  <a:pt x="54" y="56"/>
                </a:cubicBezTo>
                <a:cubicBezTo>
                  <a:pt x="54" y="23"/>
                  <a:pt x="54" y="23"/>
                  <a:pt x="54" y="23"/>
                </a:cubicBezTo>
                <a:cubicBezTo>
                  <a:pt x="54" y="22"/>
                  <a:pt x="54" y="21"/>
                  <a:pt x="55" y="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7232" name="Freeform 26">
            <a:extLst>
              <a:ext uri="{FF2B5EF4-FFF2-40B4-BE49-F238E27FC236}">
                <a16:creationId xmlns:a16="http://schemas.microsoft.com/office/drawing/2014/main" id="{DB94F115-689C-3AAC-D053-E5DA6B657A2F}"/>
              </a:ext>
            </a:extLst>
          </p:cNvPr>
          <p:cNvSpPr>
            <a:spLocks noEditPoints="1"/>
          </p:cNvSpPr>
          <p:nvPr/>
        </p:nvSpPr>
        <p:spPr bwMode="auto">
          <a:xfrm>
            <a:off x="3736723" y="2815634"/>
            <a:ext cx="455971" cy="455971"/>
          </a:xfrm>
          <a:custGeom>
            <a:avLst/>
            <a:gdLst>
              <a:gd name="T0" fmla="*/ 52 w 105"/>
              <a:gd name="T1" fmla="*/ 105 h 105"/>
              <a:gd name="T2" fmla="*/ 53 w 105"/>
              <a:gd name="T3" fmla="*/ 30 h 105"/>
              <a:gd name="T4" fmla="*/ 52 w 105"/>
              <a:gd name="T5" fmla="*/ 29 h 105"/>
              <a:gd name="T6" fmla="*/ 50 w 105"/>
              <a:gd name="T7" fmla="*/ 28 h 105"/>
              <a:gd name="T8" fmla="*/ 45 w 105"/>
              <a:gd name="T9" fmla="*/ 31 h 105"/>
              <a:gd name="T10" fmla="*/ 52 w 105"/>
              <a:gd name="T11" fmla="*/ 24 h 105"/>
              <a:gd name="T12" fmla="*/ 59 w 105"/>
              <a:gd name="T13" fmla="*/ 26 h 105"/>
              <a:gd name="T14" fmla="*/ 63 w 105"/>
              <a:gd name="T15" fmla="*/ 26 h 105"/>
              <a:gd name="T16" fmla="*/ 65 w 105"/>
              <a:gd name="T17" fmla="*/ 27 h 105"/>
              <a:gd name="T18" fmla="*/ 76 w 105"/>
              <a:gd name="T19" fmla="*/ 25 h 105"/>
              <a:gd name="T20" fmla="*/ 80 w 105"/>
              <a:gd name="T21" fmla="*/ 25 h 105"/>
              <a:gd name="T22" fmla="*/ 82 w 105"/>
              <a:gd name="T23" fmla="*/ 24 h 105"/>
              <a:gd name="T24" fmla="*/ 82 w 105"/>
              <a:gd name="T25" fmla="*/ 23 h 105"/>
              <a:gd name="T26" fmla="*/ 26 w 105"/>
              <a:gd name="T27" fmla="*/ 23 h 105"/>
              <a:gd name="T28" fmla="*/ 25 w 105"/>
              <a:gd name="T29" fmla="*/ 25 h 105"/>
              <a:gd name="T30" fmla="*/ 14 w 105"/>
              <a:gd name="T31" fmla="*/ 61 h 105"/>
              <a:gd name="T32" fmla="*/ 17 w 105"/>
              <a:gd name="T33" fmla="*/ 63 h 105"/>
              <a:gd name="T34" fmla="*/ 19 w 105"/>
              <a:gd name="T35" fmla="*/ 72 h 105"/>
              <a:gd name="T36" fmla="*/ 92 w 105"/>
              <a:gd name="T37" fmla="*/ 59 h 105"/>
              <a:gd name="T38" fmla="*/ 94 w 105"/>
              <a:gd name="T39" fmla="*/ 53 h 105"/>
              <a:gd name="T40" fmla="*/ 87 w 105"/>
              <a:gd name="T41" fmla="*/ 50 h 105"/>
              <a:gd name="T42" fmla="*/ 82 w 105"/>
              <a:gd name="T43" fmla="*/ 57 h 105"/>
              <a:gd name="T44" fmla="*/ 76 w 105"/>
              <a:gd name="T45" fmla="*/ 48 h 105"/>
              <a:gd name="T46" fmla="*/ 68 w 105"/>
              <a:gd name="T47" fmla="*/ 48 h 105"/>
              <a:gd name="T48" fmla="*/ 69 w 105"/>
              <a:gd name="T49" fmla="*/ 54 h 105"/>
              <a:gd name="T50" fmla="*/ 59 w 105"/>
              <a:gd name="T51" fmla="*/ 47 h 105"/>
              <a:gd name="T52" fmla="*/ 66 w 105"/>
              <a:gd name="T53" fmla="*/ 60 h 105"/>
              <a:gd name="T54" fmla="*/ 59 w 105"/>
              <a:gd name="T55" fmla="*/ 73 h 105"/>
              <a:gd name="T56" fmla="*/ 50 w 105"/>
              <a:gd name="T57" fmla="*/ 78 h 105"/>
              <a:gd name="T58" fmla="*/ 48 w 105"/>
              <a:gd name="T59" fmla="*/ 66 h 105"/>
              <a:gd name="T60" fmla="*/ 45 w 105"/>
              <a:gd name="T61" fmla="*/ 60 h 105"/>
              <a:gd name="T62" fmla="*/ 35 w 105"/>
              <a:gd name="T63" fmla="*/ 59 h 105"/>
              <a:gd name="T64" fmla="*/ 32 w 105"/>
              <a:gd name="T65" fmla="*/ 51 h 105"/>
              <a:gd name="T66" fmla="*/ 45 w 105"/>
              <a:gd name="T67" fmla="*/ 42 h 105"/>
              <a:gd name="T68" fmla="*/ 54 w 105"/>
              <a:gd name="T69" fmla="*/ 45 h 105"/>
              <a:gd name="T70" fmla="*/ 60 w 105"/>
              <a:gd name="T71" fmla="*/ 43 h 105"/>
              <a:gd name="T72" fmla="*/ 54 w 105"/>
              <a:gd name="T73" fmla="*/ 41 h 105"/>
              <a:gd name="T74" fmla="*/ 48 w 105"/>
              <a:gd name="T75" fmla="*/ 38 h 105"/>
              <a:gd name="T76" fmla="*/ 50 w 105"/>
              <a:gd name="T77" fmla="*/ 41 h 105"/>
              <a:gd name="T78" fmla="*/ 41 w 105"/>
              <a:gd name="T79" fmla="*/ 40 h 105"/>
              <a:gd name="T80" fmla="*/ 37 w 105"/>
              <a:gd name="T81" fmla="*/ 42 h 105"/>
              <a:gd name="T82" fmla="*/ 39 w 105"/>
              <a:gd name="T83" fmla="*/ 36 h 105"/>
              <a:gd name="T84" fmla="*/ 45 w 105"/>
              <a:gd name="T85" fmla="*/ 33 h 105"/>
              <a:gd name="T86" fmla="*/ 50 w 105"/>
              <a:gd name="T87" fmla="*/ 32 h 105"/>
              <a:gd name="T88" fmla="*/ 27 w 105"/>
              <a:gd name="T89" fmla="*/ 27 h 105"/>
              <a:gd name="T90" fmla="*/ 37 w 105"/>
              <a:gd name="T91" fmla="*/ 33 h 105"/>
              <a:gd name="T92" fmla="*/ 37 w 105"/>
              <a:gd name="T93" fmla="*/ 31 h 105"/>
              <a:gd name="T94" fmla="*/ 42 w 105"/>
              <a:gd name="T95" fmla="*/ 34 h 105"/>
              <a:gd name="T96" fmla="*/ 42 w 105"/>
              <a:gd name="T97" fmla="*/ 40 h 105"/>
              <a:gd name="T98" fmla="*/ 48 w 105"/>
              <a:gd name="T99" fmla="*/ 42 h 105"/>
              <a:gd name="T100" fmla="*/ 56 w 105"/>
              <a:gd name="T101" fmla="*/ 38 h 105"/>
              <a:gd name="T102" fmla="*/ 60 w 105"/>
              <a:gd name="T103" fmla="*/ 37 h 105"/>
              <a:gd name="T104" fmla="*/ 57 w 105"/>
              <a:gd name="T105" fmla="*/ 29 h 105"/>
              <a:gd name="T106" fmla="*/ 59 w 105"/>
              <a:gd name="T107" fmla="*/ 62 h 105"/>
              <a:gd name="T108" fmla="*/ 68 w 105"/>
              <a:gd name="T109" fmla="*/ 70 h 105"/>
              <a:gd name="T110" fmla="*/ 69 w 105"/>
              <a:gd name="T111" fmla="*/ 42 h 105"/>
              <a:gd name="T112" fmla="*/ 66 w 105"/>
              <a:gd name="T113" fmla="*/ 38 h 105"/>
              <a:gd name="T114" fmla="*/ 70 w 105"/>
              <a:gd name="T115" fmla="*/ 38 h 105"/>
              <a:gd name="T116" fmla="*/ 69 w 105"/>
              <a:gd name="T117" fmla="*/ 40 h 105"/>
              <a:gd name="T118" fmla="*/ 70 w 105"/>
              <a:gd name="T119" fmla="*/ 24 h 105"/>
              <a:gd name="T120" fmla="*/ 77 w 105"/>
              <a:gd name="T121" fmla="*/ 20 h 105"/>
              <a:gd name="T122" fmla="*/ 84 w 105"/>
              <a:gd name="T123" fmla="*/ 57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5" h="105">
                <a:moveTo>
                  <a:pt x="26" y="7"/>
                </a:moveTo>
                <a:cubicBezTo>
                  <a:pt x="34" y="3"/>
                  <a:pt x="43" y="0"/>
                  <a:pt x="52" y="0"/>
                </a:cubicBezTo>
                <a:cubicBezTo>
                  <a:pt x="62" y="0"/>
                  <a:pt x="71" y="3"/>
                  <a:pt x="79" y="7"/>
                </a:cubicBezTo>
                <a:cubicBezTo>
                  <a:pt x="87" y="12"/>
                  <a:pt x="93" y="18"/>
                  <a:pt x="98" y="26"/>
                </a:cubicBezTo>
                <a:cubicBezTo>
                  <a:pt x="103" y="34"/>
                  <a:pt x="105" y="43"/>
                  <a:pt x="105" y="52"/>
                </a:cubicBezTo>
                <a:cubicBezTo>
                  <a:pt x="105" y="62"/>
                  <a:pt x="103" y="71"/>
                  <a:pt x="98" y="79"/>
                </a:cubicBezTo>
                <a:cubicBezTo>
                  <a:pt x="93" y="87"/>
                  <a:pt x="87" y="93"/>
                  <a:pt x="79" y="98"/>
                </a:cubicBezTo>
                <a:cubicBezTo>
                  <a:pt x="71" y="102"/>
                  <a:pt x="62" y="105"/>
                  <a:pt x="52" y="105"/>
                </a:cubicBezTo>
                <a:cubicBezTo>
                  <a:pt x="43" y="105"/>
                  <a:pt x="34" y="102"/>
                  <a:pt x="26" y="98"/>
                </a:cubicBezTo>
                <a:cubicBezTo>
                  <a:pt x="18" y="93"/>
                  <a:pt x="12" y="87"/>
                  <a:pt x="7" y="79"/>
                </a:cubicBezTo>
                <a:cubicBezTo>
                  <a:pt x="2" y="71"/>
                  <a:pt x="0" y="62"/>
                  <a:pt x="0" y="52"/>
                </a:cubicBezTo>
                <a:cubicBezTo>
                  <a:pt x="0" y="43"/>
                  <a:pt x="2" y="34"/>
                  <a:pt x="7" y="26"/>
                </a:cubicBezTo>
                <a:cubicBezTo>
                  <a:pt x="12" y="18"/>
                  <a:pt x="18" y="12"/>
                  <a:pt x="26" y="7"/>
                </a:cubicBezTo>
                <a:close/>
                <a:moveTo>
                  <a:pt x="52" y="32"/>
                </a:moveTo>
                <a:cubicBezTo>
                  <a:pt x="52" y="31"/>
                  <a:pt x="53" y="31"/>
                  <a:pt x="54" y="31"/>
                </a:cubicBezTo>
                <a:cubicBezTo>
                  <a:pt x="54" y="31"/>
                  <a:pt x="53" y="31"/>
                  <a:pt x="53" y="30"/>
                </a:cubicBezTo>
                <a:cubicBezTo>
                  <a:pt x="55" y="30"/>
                  <a:pt x="55" y="30"/>
                  <a:pt x="55" y="30"/>
                </a:cubicBez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6" y="30"/>
                  <a:pt x="56" y="29"/>
                </a:cubicBezTo>
                <a:cubicBezTo>
                  <a:pt x="55" y="29"/>
                  <a:pt x="55" y="29"/>
                  <a:pt x="55" y="29"/>
                </a:cubicBezTo>
                <a:cubicBezTo>
                  <a:pt x="54" y="29"/>
                  <a:pt x="54" y="29"/>
                  <a:pt x="54" y="29"/>
                </a:cubicBezTo>
                <a:cubicBezTo>
                  <a:pt x="54" y="29"/>
                  <a:pt x="54" y="29"/>
                  <a:pt x="53" y="30"/>
                </a:cubicBezTo>
                <a:cubicBezTo>
                  <a:pt x="53" y="30"/>
                  <a:pt x="53" y="30"/>
                  <a:pt x="53" y="29"/>
                </a:cubicBezTo>
                <a:cubicBezTo>
                  <a:pt x="52" y="29"/>
                  <a:pt x="52" y="29"/>
                  <a:pt x="52" y="29"/>
                </a:cubicBezTo>
                <a:cubicBezTo>
                  <a:pt x="52" y="28"/>
                  <a:pt x="52" y="28"/>
                  <a:pt x="53" y="28"/>
                </a:cubicBezTo>
                <a:cubicBezTo>
                  <a:pt x="54" y="27"/>
                  <a:pt x="55" y="26"/>
                  <a:pt x="54" y="26"/>
                </a:cubicBezTo>
                <a:cubicBezTo>
                  <a:pt x="53" y="26"/>
                  <a:pt x="53" y="26"/>
                  <a:pt x="53" y="26"/>
                </a:cubicBezTo>
                <a:cubicBezTo>
                  <a:pt x="52" y="26"/>
                  <a:pt x="52" y="26"/>
                  <a:pt x="52" y="26"/>
                </a:cubicBezTo>
                <a:cubicBezTo>
                  <a:pt x="52" y="27"/>
                  <a:pt x="52" y="27"/>
                  <a:pt x="52" y="27"/>
                </a:cubicBezTo>
                <a:cubicBezTo>
                  <a:pt x="52" y="27"/>
                  <a:pt x="52" y="27"/>
                  <a:pt x="52" y="28"/>
                </a:cubicBezTo>
                <a:cubicBezTo>
                  <a:pt x="52" y="28"/>
                  <a:pt x="51" y="28"/>
                  <a:pt x="51" y="28"/>
                </a:cubicBezTo>
                <a:cubicBezTo>
                  <a:pt x="51" y="28"/>
                  <a:pt x="50" y="28"/>
                  <a:pt x="50" y="28"/>
                </a:cubicBezTo>
                <a:cubicBezTo>
                  <a:pt x="50" y="29"/>
                  <a:pt x="50" y="29"/>
                  <a:pt x="50" y="29"/>
                </a:cubicBezTo>
                <a:cubicBezTo>
                  <a:pt x="51" y="29"/>
                  <a:pt x="51" y="30"/>
                  <a:pt x="50" y="30"/>
                </a:cubicBezTo>
                <a:cubicBezTo>
                  <a:pt x="50" y="31"/>
                  <a:pt x="50" y="31"/>
                  <a:pt x="50" y="31"/>
                </a:cubicBezTo>
                <a:cubicBezTo>
                  <a:pt x="50" y="31"/>
                  <a:pt x="49" y="31"/>
                  <a:pt x="48" y="32"/>
                </a:cubicBezTo>
                <a:cubicBezTo>
                  <a:pt x="47" y="32"/>
                  <a:pt x="47" y="32"/>
                  <a:pt x="47" y="31"/>
                </a:cubicBezTo>
                <a:cubicBezTo>
                  <a:pt x="47" y="30"/>
                  <a:pt x="47" y="30"/>
                  <a:pt x="47" y="30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31"/>
                  <a:pt x="46" y="31"/>
                  <a:pt x="45" y="31"/>
                </a:cubicBezTo>
                <a:cubicBezTo>
                  <a:pt x="45" y="31"/>
                  <a:pt x="45" y="31"/>
                  <a:pt x="44" y="31"/>
                </a:cubicBezTo>
                <a:cubicBezTo>
                  <a:pt x="44" y="31"/>
                  <a:pt x="44" y="30"/>
                  <a:pt x="44" y="30"/>
                </a:cubicBezTo>
                <a:cubicBezTo>
                  <a:pt x="44" y="30"/>
                  <a:pt x="44" y="30"/>
                  <a:pt x="44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28"/>
                  <a:pt x="44" y="28"/>
                  <a:pt x="45" y="28"/>
                </a:cubicBezTo>
                <a:cubicBezTo>
                  <a:pt x="47" y="27"/>
                  <a:pt x="48" y="27"/>
                  <a:pt x="48" y="26"/>
                </a:cubicBezTo>
                <a:cubicBezTo>
                  <a:pt x="49" y="25"/>
                  <a:pt x="49" y="25"/>
                  <a:pt x="49" y="25"/>
                </a:cubicBezTo>
                <a:cubicBezTo>
                  <a:pt x="50" y="24"/>
                  <a:pt x="51" y="24"/>
                  <a:pt x="52" y="24"/>
                </a:cubicBezTo>
                <a:cubicBezTo>
                  <a:pt x="53" y="24"/>
                  <a:pt x="54" y="24"/>
                  <a:pt x="54" y="24"/>
                </a:cubicBezTo>
                <a:cubicBezTo>
                  <a:pt x="55" y="24"/>
                  <a:pt x="56" y="24"/>
                  <a:pt x="58" y="24"/>
                </a:cubicBezTo>
                <a:cubicBezTo>
                  <a:pt x="59" y="25"/>
                  <a:pt x="59" y="25"/>
                  <a:pt x="59" y="25"/>
                </a:cubicBezTo>
                <a:cubicBezTo>
                  <a:pt x="59" y="25"/>
                  <a:pt x="60" y="25"/>
                  <a:pt x="62" y="25"/>
                </a:cubicBezTo>
                <a:cubicBezTo>
                  <a:pt x="64" y="25"/>
                  <a:pt x="64" y="26"/>
                  <a:pt x="64" y="26"/>
                </a:cubicBezTo>
                <a:cubicBezTo>
                  <a:pt x="63" y="26"/>
                  <a:pt x="62" y="26"/>
                  <a:pt x="62" y="26"/>
                </a:cubicBezTo>
                <a:cubicBezTo>
                  <a:pt x="61" y="26"/>
                  <a:pt x="61" y="26"/>
                  <a:pt x="60" y="26"/>
                </a:cubicBezTo>
                <a:cubicBezTo>
                  <a:pt x="60" y="26"/>
                  <a:pt x="59" y="26"/>
                  <a:pt x="59" y="26"/>
                </a:cubicBezTo>
                <a:cubicBezTo>
                  <a:pt x="60" y="26"/>
                  <a:pt x="60" y="27"/>
                  <a:pt x="60" y="27"/>
                </a:cubicBezTo>
                <a:cubicBezTo>
                  <a:pt x="60" y="27"/>
                  <a:pt x="60" y="27"/>
                  <a:pt x="60" y="27"/>
                </a:cubicBezTo>
                <a:cubicBezTo>
                  <a:pt x="61" y="27"/>
                  <a:pt x="61" y="27"/>
                  <a:pt x="61" y="27"/>
                </a:cubicBezTo>
                <a:cubicBezTo>
                  <a:pt x="61" y="27"/>
                  <a:pt x="62" y="27"/>
                  <a:pt x="62" y="27"/>
                </a:cubicBezTo>
                <a:cubicBezTo>
                  <a:pt x="62" y="27"/>
                  <a:pt x="62" y="27"/>
                  <a:pt x="62" y="27"/>
                </a:cubicBezTo>
                <a:cubicBezTo>
                  <a:pt x="62" y="27"/>
                  <a:pt x="62" y="27"/>
                  <a:pt x="62" y="26"/>
                </a:cubicBezTo>
                <a:cubicBezTo>
                  <a:pt x="62" y="26"/>
                  <a:pt x="62" y="26"/>
                  <a:pt x="63" y="26"/>
                </a:cubicBezTo>
                <a:cubicBezTo>
                  <a:pt x="63" y="26"/>
                  <a:pt x="63" y="26"/>
                  <a:pt x="63" y="26"/>
                </a:cubicBezTo>
                <a:cubicBezTo>
                  <a:pt x="63" y="26"/>
                  <a:pt x="64" y="26"/>
                  <a:pt x="64" y="26"/>
                </a:cubicBezTo>
                <a:cubicBezTo>
                  <a:pt x="64" y="26"/>
                  <a:pt x="64" y="26"/>
                  <a:pt x="64" y="26"/>
                </a:cubicBezTo>
                <a:cubicBezTo>
                  <a:pt x="64" y="26"/>
                  <a:pt x="64" y="26"/>
                  <a:pt x="64" y="26"/>
                </a:cubicBezTo>
                <a:cubicBezTo>
                  <a:pt x="64" y="26"/>
                  <a:pt x="64" y="26"/>
                  <a:pt x="64" y="26"/>
                </a:cubicBezTo>
                <a:cubicBezTo>
                  <a:pt x="64" y="25"/>
                  <a:pt x="64" y="25"/>
                  <a:pt x="65" y="25"/>
                </a:cubicBezTo>
                <a:cubicBezTo>
                  <a:pt x="65" y="25"/>
                  <a:pt x="66" y="25"/>
                  <a:pt x="66" y="25"/>
                </a:cubicBezTo>
                <a:cubicBezTo>
                  <a:pt x="66" y="25"/>
                  <a:pt x="66" y="26"/>
                  <a:pt x="65" y="27"/>
                </a:cubicBezTo>
                <a:cubicBezTo>
                  <a:pt x="64" y="28"/>
                  <a:pt x="64" y="28"/>
                  <a:pt x="65" y="27"/>
                </a:cubicBezTo>
                <a:cubicBezTo>
                  <a:pt x="66" y="26"/>
                  <a:pt x="66" y="25"/>
                  <a:pt x="67" y="25"/>
                </a:cubicBezTo>
                <a:cubicBezTo>
                  <a:pt x="68" y="25"/>
                  <a:pt x="68" y="25"/>
                  <a:pt x="68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3" y="25"/>
                  <a:pt x="73" y="25"/>
                </a:cubicBezTo>
                <a:cubicBezTo>
                  <a:pt x="73" y="24"/>
                  <a:pt x="74" y="24"/>
                  <a:pt x="74" y="24"/>
                </a:cubicBezTo>
                <a:cubicBezTo>
                  <a:pt x="75" y="25"/>
                  <a:pt x="75" y="25"/>
                  <a:pt x="76" y="25"/>
                </a:cubicBezTo>
                <a:cubicBezTo>
                  <a:pt x="78" y="25"/>
                  <a:pt x="78" y="25"/>
                  <a:pt x="78" y="25"/>
                </a:cubicBezTo>
                <a:cubicBezTo>
                  <a:pt x="78" y="25"/>
                  <a:pt x="78" y="25"/>
                  <a:pt x="77" y="24"/>
                </a:cubicBezTo>
                <a:cubicBezTo>
                  <a:pt x="76" y="24"/>
                  <a:pt x="76" y="24"/>
                  <a:pt x="77" y="23"/>
                </a:cubicBezTo>
                <a:cubicBezTo>
                  <a:pt x="79" y="22"/>
                  <a:pt x="79" y="22"/>
                  <a:pt x="79" y="22"/>
                </a:cubicBezTo>
                <a:cubicBezTo>
                  <a:pt x="79" y="22"/>
                  <a:pt x="79" y="22"/>
                  <a:pt x="79" y="22"/>
                </a:cubicBezTo>
                <a:cubicBezTo>
                  <a:pt x="79" y="23"/>
                  <a:pt x="80" y="23"/>
                  <a:pt x="80" y="23"/>
                </a:cubicBezTo>
                <a:cubicBezTo>
                  <a:pt x="80" y="23"/>
                  <a:pt x="80" y="23"/>
                  <a:pt x="80" y="24"/>
                </a:cubicBezTo>
                <a:cubicBezTo>
                  <a:pt x="80" y="24"/>
                  <a:pt x="80" y="25"/>
                  <a:pt x="80" y="25"/>
                </a:cubicBezTo>
                <a:cubicBezTo>
                  <a:pt x="80" y="25"/>
                  <a:pt x="80" y="25"/>
                  <a:pt x="79" y="26"/>
                </a:cubicBezTo>
                <a:cubicBezTo>
                  <a:pt x="79" y="26"/>
                  <a:pt x="78" y="26"/>
                  <a:pt x="79" y="26"/>
                </a:cubicBezTo>
                <a:cubicBezTo>
                  <a:pt x="80" y="26"/>
                  <a:pt x="80" y="26"/>
                  <a:pt x="80" y="26"/>
                </a:cubicBezTo>
                <a:cubicBezTo>
                  <a:pt x="81" y="25"/>
                  <a:pt x="82" y="24"/>
                  <a:pt x="82" y="25"/>
                </a:cubicBezTo>
                <a:cubicBezTo>
                  <a:pt x="82" y="25"/>
                  <a:pt x="82" y="25"/>
                  <a:pt x="83" y="25"/>
                </a:cubicBezTo>
                <a:cubicBezTo>
                  <a:pt x="83" y="25"/>
                  <a:pt x="83" y="25"/>
                  <a:pt x="83" y="25"/>
                </a:cubicBezTo>
                <a:cubicBezTo>
                  <a:pt x="83" y="25"/>
                  <a:pt x="83" y="25"/>
                  <a:pt x="83" y="24"/>
                </a:cubicBezTo>
                <a:cubicBezTo>
                  <a:pt x="83" y="24"/>
                  <a:pt x="82" y="24"/>
                  <a:pt x="82" y="24"/>
                </a:cubicBezTo>
                <a:cubicBezTo>
                  <a:pt x="81" y="25"/>
                  <a:pt x="81" y="25"/>
                  <a:pt x="81" y="25"/>
                </a:cubicBezTo>
                <a:cubicBezTo>
                  <a:pt x="81" y="25"/>
                  <a:pt x="81" y="25"/>
                  <a:pt x="81" y="24"/>
                </a:cubicBezTo>
                <a:cubicBezTo>
                  <a:pt x="81" y="23"/>
                  <a:pt x="81" y="23"/>
                  <a:pt x="81" y="23"/>
                </a:cubicBezTo>
                <a:cubicBezTo>
                  <a:pt x="81" y="23"/>
                  <a:pt x="81" y="23"/>
                  <a:pt x="81" y="23"/>
                </a:cubicBezTo>
                <a:cubicBezTo>
                  <a:pt x="81" y="22"/>
                  <a:pt x="81" y="22"/>
                  <a:pt x="81" y="22"/>
                </a:cubicBezTo>
                <a:cubicBezTo>
                  <a:pt x="81" y="23"/>
                  <a:pt x="81" y="23"/>
                  <a:pt x="81" y="23"/>
                </a:cubicBezTo>
                <a:cubicBezTo>
                  <a:pt x="81" y="24"/>
                  <a:pt x="82" y="24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74" y="15"/>
                  <a:pt x="65" y="11"/>
                  <a:pt x="55" y="11"/>
                </a:cubicBezTo>
                <a:cubicBezTo>
                  <a:pt x="54" y="11"/>
                  <a:pt x="54" y="11"/>
                  <a:pt x="54" y="11"/>
                </a:cubicBezTo>
                <a:cubicBezTo>
                  <a:pt x="44" y="11"/>
                  <a:pt x="36" y="14"/>
                  <a:pt x="29" y="19"/>
                </a:cubicBezTo>
                <a:cubicBezTo>
                  <a:pt x="27" y="19"/>
                  <a:pt x="27" y="20"/>
                  <a:pt x="28" y="20"/>
                </a:cubicBezTo>
                <a:cubicBezTo>
                  <a:pt x="28" y="21"/>
                  <a:pt x="28" y="21"/>
                  <a:pt x="28" y="22"/>
                </a:cubicBezTo>
                <a:cubicBezTo>
                  <a:pt x="28" y="22"/>
                  <a:pt x="28" y="22"/>
                  <a:pt x="28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6" y="22"/>
                  <a:pt x="26" y="23"/>
                  <a:pt x="26" y="23"/>
                </a:cubicBezTo>
                <a:cubicBezTo>
                  <a:pt x="26" y="23"/>
                  <a:pt x="26" y="23"/>
                  <a:pt x="26" y="23"/>
                </a:cubicBezTo>
                <a:cubicBezTo>
                  <a:pt x="26" y="23"/>
                  <a:pt x="26" y="24"/>
                  <a:pt x="26" y="24"/>
                </a:cubicBezTo>
                <a:cubicBezTo>
                  <a:pt x="27" y="24"/>
                  <a:pt x="26" y="24"/>
                  <a:pt x="26" y="24"/>
                </a:cubicBezTo>
                <a:cubicBezTo>
                  <a:pt x="25" y="24"/>
                  <a:pt x="25" y="24"/>
                  <a:pt x="25" y="24"/>
                </a:cubicBezTo>
                <a:cubicBezTo>
                  <a:pt x="25" y="23"/>
                  <a:pt x="25" y="23"/>
                  <a:pt x="25" y="23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5" y="24"/>
                  <a:pt x="25" y="24"/>
                  <a:pt x="25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25"/>
                  <a:pt x="22" y="25"/>
                  <a:pt x="22" y="25"/>
                </a:cubicBezTo>
                <a:cubicBezTo>
                  <a:pt x="21" y="26"/>
                  <a:pt x="21" y="26"/>
                  <a:pt x="21" y="26"/>
                </a:cubicBezTo>
                <a:cubicBezTo>
                  <a:pt x="14" y="33"/>
                  <a:pt x="11" y="42"/>
                  <a:pt x="11" y="52"/>
                </a:cubicBezTo>
                <a:cubicBezTo>
                  <a:pt x="11" y="54"/>
                  <a:pt x="11" y="56"/>
                  <a:pt x="12" y="59"/>
                </a:cubicBezTo>
                <a:cubicBezTo>
                  <a:pt x="12" y="59"/>
                  <a:pt x="13" y="59"/>
                  <a:pt x="13" y="60"/>
                </a:cubicBezTo>
                <a:cubicBezTo>
                  <a:pt x="13" y="60"/>
                  <a:pt x="13" y="61"/>
                  <a:pt x="14" y="61"/>
                </a:cubicBezTo>
                <a:cubicBezTo>
                  <a:pt x="14" y="61"/>
                  <a:pt x="14" y="61"/>
                  <a:pt x="14" y="61"/>
                </a:cubicBezTo>
                <a:cubicBezTo>
                  <a:pt x="14" y="62"/>
                  <a:pt x="13" y="62"/>
                  <a:pt x="13" y="62"/>
                </a:cubicBezTo>
                <a:cubicBezTo>
                  <a:pt x="12" y="62"/>
                  <a:pt x="12" y="62"/>
                  <a:pt x="12" y="62"/>
                </a:cubicBezTo>
                <a:cubicBezTo>
                  <a:pt x="13" y="63"/>
                  <a:pt x="13" y="62"/>
                  <a:pt x="14" y="62"/>
                </a:cubicBezTo>
                <a:cubicBezTo>
                  <a:pt x="14" y="62"/>
                  <a:pt x="15" y="62"/>
                  <a:pt x="14" y="63"/>
                </a:cubicBezTo>
                <a:cubicBezTo>
                  <a:pt x="14" y="63"/>
                  <a:pt x="14" y="63"/>
                  <a:pt x="14" y="63"/>
                </a:cubicBezTo>
                <a:cubicBezTo>
                  <a:pt x="14" y="63"/>
                  <a:pt x="14" y="63"/>
                  <a:pt x="14" y="63"/>
                </a:cubicBezTo>
                <a:cubicBezTo>
                  <a:pt x="14" y="63"/>
                  <a:pt x="15" y="62"/>
                  <a:pt x="15" y="62"/>
                </a:cubicBezTo>
                <a:cubicBezTo>
                  <a:pt x="17" y="63"/>
                  <a:pt x="17" y="63"/>
                  <a:pt x="17" y="63"/>
                </a:cubicBezTo>
                <a:cubicBezTo>
                  <a:pt x="18" y="63"/>
                  <a:pt x="18" y="63"/>
                  <a:pt x="18" y="63"/>
                </a:cubicBezTo>
                <a:cubicBezTo>
                  <a:pt x="19" y="63"/>
                  <a:pt x="19" y="63"/>
                  <a:pt x="19" y="64"/>
                </a:cubicBezTo>
                <a:cubicBezTo>
                  <a:pt x="20" y="64"/>
                  <a:pt x="20" y="64"/>
                  <a:pt x="21" y="65"/>
                </a:cubicBezTo>
                <a:cubicBezTo>
                  <a:pt x="22" y="65"/>
                  <a:pt x="22" y="66"/>
                  <a:pt x="22" y="66"/>
                </a:cubicBezTo>
                <a:cubicBezTo>
                  <a:pt x="22" y="67"/>
                  <a:pt x="21" y="68"/>
                  <a:pt x="20" y="69"/>
                </a:cubicBezTo>
                <a:cubicBezTo>
                  <a:pt x="20" y="69"/>
                  <a:pt x="19" y="69"/>
                  <a:pt x="20" y="70"/>
                </a:cubicBezTo>
                <a:cubicBezTo>
                  <a:pt x="20" y="70"/>
                  <a:pt x="20" y="71"/>
                  <a:pt x="19" y="71"/>
                </a:cubicBezTo>
                <a:cubicBezTo>
                  <a:pt x="19" y="72"/>
                  <a:pt x="19" y="72"/>
                  <a:pt x="19" y="72"/>
                </a:cubicBezTo>
                <a:cubicBezTo>
                  <a:pt x="19" y="72"/>
                  <a:pt x="19" y="72"/>
                  <a:pt x="19" y="73"/>
                </a:cubicBezTo>
                <a:cubicBezTo>
                  <a:pt x="19" y="73"/>
                  <a:pt x="19" y="73"/>
                  <a:pt x="18" y="74"/>
                </a:cubicBezTo>
                <a:cubicBezTo>
                  <a:pt x="18" y="74"/>
                  <a:pt x="18" y="74"/>
                  <a:pt x="17" y="74"/>
                </a:cubicBezTo>
                <a:cubicBezTo>
                  <a:pt x="25" y="87"/>
                  <a:pt x="38" y="94"/>
                  <a:pt x="55" y="94"/>
                </a:cubicBezTo>
                <a:cubicBezTo>
                  <a:pt x="63" y="94"/>
                  <a:pt x="71" y="91"/>
                  <a:pt x="79" y="84"/>
                </a:cubicBezTo>
                <a:cubicBezTo>
                  <a:pt x="87" y="78"/>
                  <a:pt x="91" y="70"/>
                  <a:pt x="93" y="60"/>
                </a:cubicBezTo>
                <a:cubicBezTo>
                  <a:pt x="93" y="60"/>
                  <a:pt x="93" y="60"/>
                  <a:pt x="93" y="60"/>
                </a:cubicBezTo>
                <a:cubicBezTo>
                  <a:pt x="92" y="59"/>
                  <a:pt x="92" y="59"/>
                  <a:pt x="92" y="59"/>
                </a:cubicBezTo>
                <a:cubicBezTo>
                  <a:pt x="92" y="59"/>
                  <a:pt x="93" y="59"/>
                  <a:pt x="93" y="59"/>
                </a:cubicBezTo>
                <a:cubicBezTo>
                  <a:pt x="93" y="59"/>
                  <a:pt x="93" y="59"/>
                  <a:pt x="93" y="59"/>
                </a:cubicBezTo>
                <a:cubicBezTo>
                  <a:pt x="94" y="58"/>
                  <a:pt x="94" y="58"/>
                  <a:pt x="93" y="57"/>
                </a:cubicBezTo>
                <a:cubicBezTo>
                  <a:pt x="93" y="57"/>
                  <a:pt x="93" y="57"/>
                  <a:pt x="94" y="57"/>
                </a:cubicBezTo>
                <a:cubicBezTo>
                  <a:pt x="94" y="56"/>
                  <a:pt x="94" y="56"/>
                  <a:pt x="94" y="56"/>
                </a:cubicBezTo>
                <a:cubicBezTo>
                  <a:pt x="94" y="56"/>
                  <a:pt x="94" y="56"/>
                  <a:pt x="94" y="56"/>
                </a:cubicBezTo>
                <a:cubicBezTo>
                  <a:pt x="94" y="56"/>
                  <a:pt x="94" y="55"/>
                  <a:pt x="94" y="55"/>
                </a:cubicBezTo>
                <a:cubicBezTo>
                  <a:pt x="94" y="53"/>
                  <a:pt x="94" y="53"/>
                  <a:pt x="94" y="53"/>
                </a:cubicBezTo>
                <a:cubicBezTo>
                  <a:pt x="94" y="53"/>
                  <a:pt x="93" y="53"/>
                  <a:pt x="93" y="53"/>
                </a:cubicBezTo>
                <a:cubicBezTo>
                  <a:pt x="92" y="54"/>
                  <a:pt x="92" y="54"/>
                  <a:pt x="92" y="54"/>
                </a:cubicBezTo>
                <a:cubicBezTo>
                  <a:pt x="92" y="54"/>
                  <a:pt x="91" y="54"/>
                  <a:pt x="91" y="53"/>
                </a:cubicBezTo>
                <a:cubicBezTo>
                  <a:pt x="92" y="52"/>
                  <a:pt x="91" y="52"/>
                  <a:pt x="91" y="51"/>
                </a:cubicBezTo>
                <a:cubicBezTo>
                  <a:pt x="90" y="50"/>
                  <a:pt x="90" y="50"/>
                  <a:pt x="90" y="50"/>
                </a:cubicBezTo>
                <a:cubicBezTo>
                  <a:pt x="90" y="50"/>
                  <a:pt x="90" y="50"/>
                  <a:pt x="90" y="50"/>
                </a:cubicBezTo>
                <a:cubicBezTo>
                  <a:pt x="89" y="50"/>
                  <a:pt x="89" y="50"/>
                  <a:pt x="88" y="50"/>
                </a:cubicBezTo>
                <a:cubicBezTo>
                  <a:pt x="88" y="50"/>
                  <a:pt x="88" y="50"/>
                  <a:pt x="87" y="50"/>
                </a:cubicBezTo>
                <a:cubicBezTo>
                  <a:pt x="87" y="51"/>
                  <a:pt x="87" y="51"/>
                  <a:pt x="87" y="51"/>
                </a:cubicBezTo>
                <a:cubicBezTo>
                  <a:pt x="87" y="51"/>
                  <a:pt x="87" y="51"/>
                  <a:pt x="87" y="51"/>
                </a:cubicBezTo>
                <a:cubicBezTo>
                  <a:pt x="86" y="51"/>
                  <a:pt x="86" y="52"/>
                  <a:pt x="86" y="52"/>
                </a:cubicBezTo>
                <a:cubicBezTo>
                  <a:pt x="85" y="52"/>
                  <a:pt x="85" y="53"/>
                  <a:pt x="85" y="53"/>
                </a:cubicBezTo>
                <a:cubicBezTo>
                  <a:pt x="84" y="53"/>
                  <a:pt x="84" y="54"/>
                  <a:pt x="84" y="54"/>
                </a:cubicBezTo>
                <a:cubicBezTo>
                  <a:pt x="84" y="55"/>
                  <a:pt x="84" y="56"/>
                  <a:pt x="83" y="57"/>
                </a:cubicBezTo>
                <a:cubicBezTo>
                  <a:pt x="83" y="58"/>
                  <a:pt x="82" y="58"/>
                  <a:pt x="82" y="58"/>
                </a:cubicBezTo>
                <a:cubicBezTo>
                  <a:pt x="82" y="58"/>
                  <a:pt x="82" y="58"/>
                  <a:pt x="82" y="57"/>
                </a:cubicBezTo>
                <a:cubicBezTo>
                  <a:pt x="82" y="57"/>
                  <a:pt x="82" y="56"/>
                  <a:pt x="81" y="55"/>
                </a:cubicBezTo>
                <a:cubicBezTo>
                  <a:pt x="80" y="54"/>
                  <a:pt x="80" y="54"/>
                  <a:pt x="80" y="54"/>
                </a:cubicBezTo>
                <a:cubicBezTo>
                  <a:pt x="80" y="52"/>
                  <a:pt x="80" y="52"/>
                  <a:pt x="80" y="52"/>
                </a:cubicBezTo>
                <a:cubicBezTo>
                  <a:pt x="80" y="50"/>
                  <a:pt x="80" y="50"/>
                  <a:pt x="80" y="50"/>
                </a:cubicBezTo>
                <a:cubicBezTo>
                  <a:pt x="79" y="51"/>
                  <a:pt x="79" y="51"/>
                  <a:pt x="79" y="51"/>
                </a:cubicBezTo>
                <a:cubicBezTo>
                  <a:pt x="78" y="51"/>
                  <a:pt x="78" y="50"/>
                  <a:pt x="78" y="50"/>
                </a:cubicBezTo>
                <a:cubicBezTo>
                  <a:pt x="78" y="50"/>
                  <a:pt x="78" y="49"/>
                  <a:pt x="78" y="49"/>
                </a:cubicBezTo>
                <a:cubicBezTo>
                  <a:pt x="77" y="49"/>
                  <a:pt x="77" y="49"/>
                  <a:pt x="76" y="48"/>
                </a:cubicBezTo>
                <a:cubicBezTo>
                  <a:pt x="74" y="49"/>
                  <a:pt x="74" y="49"/>
                  <a:pt x="74" y="49"/>
                </a:cubicBezTo>
                <a:cubicBezTo>
                  <a:pt x="73" y="49"/>
                  <a:pt x="72" y="48"/>
                  <a:pt x="72" y="48"/>
                </a:cubicBezTo>
                <a:cubicBezTo>
                  <a:pt x="71" y="48"/>
                  <a:pt x="71" y="47"/>
                  <a:pt x="71" y="48"/>
                </a:cubicBezTo>
                <a:cubicBezTo>
                  <a:pt x="70" y="48"/>
                  <a:pt x="70" y="48"/>
                  <a:pt x="69" y="48"/>
                </a:cubicBezTo>
                <a:cubicBezTo>
                  <a:pt x="69" y="47"/>
                  <a:pt x="68" y="47"/>
                  <a:pt x="68" y="46"/>
                </a:cubicBezTo>
                <a:cubicBezTo>
                  <a:pt x="68" y="45"/>
                  <a:pt x="67" y="45"/>
                  <a:pt x="67" y="46"/>
                </a:cubicBezTo>
                <a:cubicBezTo>
                  <a:pt x="67" y="46"/>
                  <a:pt x="67" y="46"/>
                  <a:pt x="67" y="46"/>
                </a:cubicBezTo>
                <a:cubicBezTo>
                  <a:pt x="68" y="48"/>
                  <a:pt x="68" y="48"/>
                  <a:pt x="68" y="48"/>
                </a:cubicBezTo>
                <a:cubicBezTo>
                  <a:pt x="68" y="48"/>
                  <a:pt x="68" y="48"/>
                  <a:pt x="68" y="48"/>
                </a:cubicBezTo>
                <a:cubicBezTo>
                  <a:pt x="69" y="49"/>
                  <a:pt x="69" y="49"/>
                  <a:pt x="69" y="49"/>
                </a:cubicBezTo>
                <a:cubicBezTo>
                  <a:pt x="69" y="49"/>
                  <a:pt x="69" y="49"/>
                  <a:pt x="69" y="49"/>
                </a:cubicBezTo>
                <a:cubicBezTo>
                  <a:pt x="69" y="49"/>
                  <a:pt x="70" y="49"/>
                  <a:pt x="71" y="48"/>
                </a:cubicBezTo>
                <a:cubicBezTo>
                  <a:pt x="73" y="50"/>
                  <a:pt x="73" y="50"/>
                  <a:pt x="73" y="50"/>
                </a:cubicBezTo>
                <a:cubicBezTo>
                  <a:pt x="73" y="50"/>
                  <a:pt x="73" y="50"/>
                  <a:pt x="72" y="51"/>
                </a:cubicBezTo>
                <a:cubicBezTo>
                  <a:pt x="72" y="52"/>
                  <a:pt x="71" y="52"/>
                  <a:pt x="70" y="53"/>
                </a:cubicBezTo>
                <a:cubicBezTo>
                  <a:pt x="70" y="53"/>
                  <a:pt x="69" y="53"/>
                  <a:pt x="69" y="54"/>
                </a:cubicBezTo>
                <a:cubicBezTo>
                  <a:pt x="69" y="54"/>
                  <a:pt x="68" y="54"/>
                  <a:pt x="68" y="54"/>
                </a:cubicBezTo>
                <a:cubicBezTo>
                  <a:pt x="68" y="54"/>
                  <a:pt x="67" y="54"/>
                  <a:pt x="66" y="55"/>
                </a:cubicBezTo>
                <a:cubicBezTo>
                  <a:pt x="65" y="55"/>
                  <a:pt x="64" y="55"/>
                  <a:pt x="64" y="53"/>
                </a:cubicBezTo>
                <a:cubicBezTo>
                  <a:pt x="63" y="52"/>
                  <a:pt x="63" y="51"/>
                  <a:pt x="62" y="51"/>
                </a:cubicBezTo>
                <a:cubicBezTo>
                  <a:pt x="62" y="51"/>
                  <a:pt x="61" y="50"/>
                  <a:pt x="61" y="49"/>
                </a:cubicBezTo>
                <a:cubicBezTo>
                  <a:pt x="61" y="48"/>
                  <a:pt x="61" y="48"/>
                  <a:pt x="61" y="48"/>
                </a:cubicBezTo>
                <a:cubicBezTo>
                  <a:pt x="60" y="47"/>
                  <a:pt x="60" y="47"/>
                  <a:pt x="60" y="47"/>
                </a:cubicBezTo>
                <a:cubicBezTo>
                  <a:pt x="60" y="47"/>
                  <a:pt x="60" y="47"/>
                  <a:pt x="59" y="47"/>
                </a:cubicBezTo>
                <a:cubicBezTo>
                  <a:pt x="59" y="47"/>
                  <a:pt x="60" y="48"/>
                  <a:pt x="61" y="51"/>
                </a:cubicBezTo>
                <a:cubicBezTo>
                  <a:pt x="62" y="53"/>
                  <a:pt x="63" y="54"/>
                  <a:pt x="63" y="54"/>
                </a:cubicBezTo>
                <a:cubicBezTo>
                  <a:pt x="64" y="54"/>
                  <a:pt x="64" y="55"/>
                  <a:pt x="64" y="56"/>
                </a:cubicBezTo>
                <a:cubicBezTo>
                  <a:pt x="64" y="56"/>
                  <a:pt x="64" y="56"/>
                  <a:pt x="64" y="56"/>
                </a:cubicBezTo>
                <a:cubicBezTo>
                  <a:pt x="64" y="56"/>
                  <a:pt x="64" y="56"/>
                  <a:pt x="64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8" y="57"/>
                  <a:pt x="68" y="57"/>
                </a:cubicBezTo>
                <a:cubicBezTo>
                  <a:pt x="66" y="60"/>
                  <a:pt x="66" y="60"/>
                  <a:pt x="66" y="60"/>
                </a:cubicBezTo>
                <a:cubicBezTo>
                  <a:pt x="66" y="60"/>
                  <a:pt x="66" y="61"/>
                  <a:pt x="66" y="61"/>
                </a:cubicBezTo>
                <a:cubicBezTo>
                  <a:pt x="65" y="61"/>
                  <a:pt x="64" y="61"/>
                  <a:pt x="64" y="62"/>
                </a:cubicBezTo>
                <a:cubicBezTo>
                  <a:pt x="63" y="63"/>
                  <a:pt x="63" y="63"/>
                  <a:pt x="63" y="63"/>
                </a:cubicBezTo>
                <a:cubicBezTo>
                  <a:pt x="62" y="64"/>
                  <a:pt x="62" y="64"/>
                  <a:pt x="62" y="64"/>
                </a:cubicBezTo>
                <a:cubicBezTo>
                  <a:pt x="62" y="64"/>
                  <a:pt x="62" y="65"/>
                  <a:pt x="62" y="66"/>
                </a:cubicBezTo>
                <a:cubicBezTo>
                  <a:pt x="63" y="68"/>
                  <a:pt x="63" y="68"/>
                  <a:pt x="63" y="68"/>
                </a:cubicBezTo>
                <a:cubicBezTo>
                  <a:pt x="63" y="70"/>
                  <a:pt x="62" y="71"/>
                  <a:pt x="61" y="72"/>
                </a:cubicBezTo>
                <a:cubicBezTo>
                  <a:pt x="60" y="72"/>
                  <a:pt x="59" y="73"/>
                  <a:pt x="59" y="73"/>
                </a:cubicBezTo>
                <a:cubicBezTo>
                  <a:pt x="60" y="74"/>
                  <a:pt x="60" y="74"/>
                  <a:pt x="60" y="75"/>
                </a:cubicBezTo>
                <a:cubicBezTo>
                  <a:pt x="60" y="75"/>
                  <a:pt x="60" y="75"/>
                  <a:pt x="59" y="75"/>
                </a:cubicBezTo>
                <a:cubicBezTo>
                  <a:pt x="59" y="76"/>
                  <a:pt x="58" y="76"/>
                  <a:pt x="59" y="76"/>
                </a:cubicBezTo>
                <a:cubicBezTo>
                  <a:pt x="59" y="77"/>
                  <a:pt x="58" y="77"/>
                  <a:pt x="57" y="79"/>
                </a:cubicBezTo>
                <a:cubicBezTo>
                  <a:pt x="56" y="80"/>
                  <a:pt x="55" y="80"/>
                  <a:pt x="54" y="80"/>
                </a:cubicBezTo>
                <a:cubicBezTo>
                  <a:pt x="53" y="80"/>
                  <a:pt x="52" y="80"/>
                  <a:pt x="52" y="81"/>
                </a:cubicBezTo>
                <a:cubicBezTo>
                  <a:pt x="51" y="81"/>
                  <a:pt x="51" y="81"/>
                  <a:pt x="50" y="80"/>
                </a:cubicBezTo>
                <a:cubicBezTo>
                  <a:pt x="50" y="78"/>
                  <a:pt x="50" y="78"/>
                  <a:pt x="50" y="78"/>
                </a:cubicBezTo>
                <a:cubicBezTo>
                  <a:pt x="49" y="77"/>
                  <a:pt x="49" y="77"/>
                  <a:pt x="49" y="77"/>
                </a:cubicBezTo>
                <a:cubicBezTo>
                  <a:pt x="49" y="77"/>
                  <a:pt x="49" y="76"/>
                  <a:pt x="49" y="76"/>
                </a:cubicBezTo>
                <a:cubicBezTo>
                  <a:pt x="49" y="76"/>
                  <a:pt x="49" y="76"/>
                  <a:pt x="49" y="75"/>
                </a:cubicBezTo>
                <a:cubicBezTo>
                  <a:pt x="49" y="74"/>
                  <a:pt x="48" y="74"/>
                  <a:pt x="48" y="73"/>
                </a:cubicBezTo>
                <a:cubicBezTo>
                  <a:pt x="47" y="72"/>
                  <a:pt x="47" y="71"/>
                  <a:pt x="47" y="71"/>
                </a:cubicBezTo>
                <a:cubicBezTo>
                  <a:pt x="47" y="70"/>
                  <a:pt x="47" y="69"/>
                  <a:pt x="48" y="69"/>
                </a:cubicBezTo>
                <a:cubicBezTo>
                  <a:pt x="48" y="68"/>
                  <a:pt x="48" y="68"/>
                  <a:pt x="48" y="68"/>
                </a:cubicBezTo>
                <a:cubicBezTo>
                  <a:pt x="48" y="67"/>
                  <a:pt x="48" y="67"/>
                  <a:pt x="48" y="66"/>
                </a:cubicBezTo>
                <a:cubicBezTo>
                  <a:pt x="48" y="66"/>
                  <a:pt x="48" y="66"/>
                  <a:pt x="48" y="65"/>
                </a:cubicBezTo>
                <a:cubicBezTo>
                  <a:pt x="47" y="65"/>
                  <a:pt x="47" y="65"/>
                  <a:pt x="47" y="64"/>
                </a:cubicBezTo>
                <a:cubicBezTo>
                  <a:pt x="46" y="64"/>
                  <a:pt x="46" y="63"/>
                  <a:pt x="46" y="63"/>
                </a:cubicBezTo>
                <a:cubicBezTo>
                  <a:pt x="45" y="63"/>
                  <a:pt x="45" y="63"/>
                  <a:pt x="45" y="62"/>
                </a:cubicBezTo>
                <a:cubicBezTo>
                  <a:pt x="46" y="62"/>
                  <a:pt x="46" y="62"/>
                  <a:pt x="46" y="61"/>
                </a:cubicBezTo>
                <a:cubicBezTo>
                  <a:pt x="46" y="61"/>
                  <a:pt x="46" y="61"/>
                  <a:pt x="46" y="60"/>
                </a:cubicBezTo>
                <a:cubicBezTo>
                  <a:pt x="46" y="60"/>
                  <a:pt x="46" y="60"/>
                  <a:pt x="46" y="60"/>
                </a:cubicBezTo>
                <a:cubicBezTo>
                  <a:pt x="45" y="59"/>
                  <a:pt x="45" y="59"/>
                  <a:pt x="45" y="60"/>
                </a:cubicBezTo>
                <a:cubicBezTo>
                  <a:pt x="44" y="60"/>
                  <a:pt x="44" y="60"/>
                  <a:pt x="44" y="60"/>
                </a:cubicBezTo>
                <a:cubicBezTo>
                  <a:pt x="43" y="59"/>
                  <a:pt x="43" y="59"/>
                  <a:pt x="43" y="59"/>
                </a:cubicBezTo>
                <a:cubicBezTo>
                  <a:pt x="43" y="58"/>
                  <a:pt x="42" y="58"/>
                  <a:pt x="41" y="58"/>
                </a:cubicBezTo>
                <a:cubicBezTo>
                  <a:pt x="40" y="59"/>
                  <a:pt x="40" y="59"/>
                  <a:pt x="40" y="59"/>
                </a:cubicBezTo>
                <a:cubicBezTo>
                  <a:pt x="38" y="59"/>
                  <a:pt x="38" y="59"/>
                  <a:pt x="38" y="59"/>
                </a:cubicBezTo>
                <a:cubicBezTo>
                  <a:pt x="37" y="59"/>
                  <a:pt x="37" y="59"/>
                  <a:pt x="37" y="60"/>
                </a:cubicBezTo>
                <a:cubicBezTo>
                  <a:pt x="37" y="60"/>
                  <a:pt x="36" y="60"/>
                  <a:pt x="36" y="60"/>
                </a:cubicBezTo>
                <a:cubicBezTo>
                  <a:pt x="35" y="59"/>
                  <a:pt x="35" y="59"/>
                  <a:pt x="35" y="59"/>
                </a:cubicBezTo>
                <a:cubicBezTo>
                  <a:pt x="34" y="58"/>
                  <a:pt x="34" y="58"/>
                  <a:pt x="33" y="57"/>
                </a:cubicBezTo>
                <a:cubicBezTo>
                  <a:pt x="33" y="57"/>
                  <a:pt x="33" y="56"/>
                  <a:pt x="32" y="56"/>
                </a:cubicBezTo>
                <a:cubicBezTo>
                  <a:pt x="32" y="56"/>
                  <a:pt x="31" y="56"/>
                  <a:pt x="31" y="55"/>
                </a:cubicBezTo>
                <a:cubicBezTo>
                  <a:pt x="31" y="55"/>
                  <a:pt x="31" y="55"/>
                  <a:pt x="31" y="55"/>
                </a:cubicBezTo>
                <a:cubicBezTo>
                  <a:pt x="31" y="55"/>
                  <a:pt x="32" y="55"/>
                  <a:pt x="32" y="55"/>
                </a:cubicBezTo>
                <a:cubicBezTo>
                  <a:pt x="32" y="54"/>
                  <a:pt x="31" y="54"/>
                  <a:pt x="31" y="54"/>
                </a:cubicBezTo>
                <a:cubicBezTo>
                  <a:pt x="31" y="54"/>
                  <a:pt x="31" y="54"/>
                  <a:pt x="31" y="54"/>
                </a:cubicBezTo>
                <a:cubicBezTo>
                  <a:pt x="32" y="53"/>
                  <a:pt x="32" y="52"/>
                  <a:pt x="32" y="51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49"/>
                  <a:pt x="32" y="49"/>
                  <a:pt x="33" y="48"/>
                </a:cubicBezTo>
                <a:cubicBezTo>
                  <a:pt x="33" y="48"/>
                  <a:pt x="34" y="47"/>
                  <a:pt x="34" y="47"/>
                </a:cubicBezTo>
                <a:cubicBezTo>
                  <a:pt x="35" y="46"/>
                  <a:pt x="35" y="46"/>
                  <a:pt x="35" y="45"/>
                </a:cubicBezTo>
                <a:cubicBezTo>
                  <a:pt x="35" y="44"/>
                  <a:pt x="36" y="44"/>
                  <a:pt x="36" y="44"/>
                </a:cubicBezTo>
                <a:cubicBezTo>
                  <a:pt x="37" y="43"/>
                  <a:pt x="38" y="43"/>
                  <a:pt x="39" y="43"/>
                </a:cubicBezTo>
                <a:cubicBezTo>
                  <a:pt x="42" y="42"/>
                  <a:pt x="42" y="42"/>
                  <a:pt x="42" y="42"/>
                </a:cubicBezTo>
                <a:cubicBezTo>
                  <a:pt x="44" y="42"/>
                  <a:pt x="45" y="42"/>
                  <a:pt x="45" y="42"/>
                </a:cubicBezTo>
                <a:cubicBezTo>
                  <a:pt x="46" y="41"/>
                  <a:pt x="46" y="42"/>
                  <a:pt x="46" y="42"/>
                </a:cubicBezTo>
                <a:cubicBezTo>
                  <a:pt x="47" y="43"/>
                  <a:pt x="47" y="43"/>
                  <a:pt x="47" y="43"/>
                </a:cubicBezTo>
                <a:cubicBezTo>
                  <a:pt x="46" y="43"/>
                  <a:pt x="46" y="43"/>
                  <a:pt x="46" y="44"/>
                </a:cubicBezTo>
                <a:cubicBezTo>
                  <a:pt x="47" y="44"/>
                  <a:pt x="47" y="44"/>
                  <a:pt x="48" y="44"/>
                </a:cubicBezTo>
                <a:cubicBezTo>
                  <a:pt x="50" y="45"/>
                  <a:pt x="50" y="45"/>
                  <a:pt x="50" y="45"/>
                </a:cubicBezTo>
                <a:cubicBezTo>
                  <a:pt x="51" y="45"/>
                  <a:pt x="51" y="45"/>
                  <a:pt x="52" y="45"/>
                </a:cubicBezTo>
                <a:cubicBezTo>
                  <a:pt x="52" y="44"/>
                  <a:pt x="52" y="44"/>
                  <a:pt x="53" y="44"/>
                </a:cubicBezTo>
                <a:cubicBezTo>
                  <a:pt x="54" y="45"/>
                  <a:pt x="54" y="45"/>
                  <a:pt x="54" y="45"/>
                </a:cubicBezTo>
                <a:cubicBezTo>
                  <a:pt x="55" y="45"/>
                  <a:pt x="56" y="45"/>
                  <a:pt x="56" y="45"/>
                </a:cubicBezTo>
                <a:cubicBezTo>
                  <a:pt x="56" y="45"/>
                  <a:pt x="56" y="45"/>
                  <a:pt x="56" y="45"/>
                </a:cubicBezTo>
                <a:cubicBezTo>
                  <a:pt x="55" y="46"/>
                  <a:pt x="55" y="46"/>
                  <a:pt x="55" y="46"/>
                </a:cubicBezTo>
                <a:cubicBezTo>
                  <a:pt x="55" y="46"/>
                  <a:pt x="55" y="46"/>
                  <a:pt x="55" y="46"/>
                </a:cubicBezTo>
                <a:cubicBezTo>
                  <a:pt x="56" y="45"/>
                  <a:pt x="56" y="45"/>
                  <a:pt x="57" y="45"/>
                </a:cubicBezTo>
                <a:cubicBezTo>
                  <a:pt x="57" y="45"/>
                  <a:pt x="58" y="45"/>
                  <a:pt x="58" y="45"/>
                </a:cubicBezTo>
                <a:cubicBezTo>
                  <a:pt x="58" y="45"/>
                  <a:pt x="58" y="45"/>
                  <a:pt x="59" y="45"/>
                </a:cubicBezTo>
                <a:cubicBezTo>
                  <a:pt x="59" y="45"/>
                  <a:pt x="60" y="44"/>
                  <a:pt x="60" y="43"/>
                </a:cubicBezTo>
                <a:cubicBezTo>
                  <a:pt x="60" y="42"/>
                  <a:pt x="60" y="42"/>
                  <a:pt x="59" y="42"/>
                </a:cubicBezTo>
                <a:cubicBezTo>
                  <a:pt x="59" y="42"/>
                  <a:pt x="58" y="43"/>
                  <a:pt x="58" y="43"/>
                </a:cubicBezTo>
                <a:cubicBezTo>
                  <a:pt x="56" y="42"/>
                  <a:pt x="56" y="42"/>
                  <a:pt x="56" y="42"/>
                </a:cubicBezTo>
                <a:cubicBezTo>
                  <a:pt x="56" y="42"/>
                  <a:pt x="56" y="42"/>
                  <a:pt x="55" y="42"/>
                </a:cubicBezTo>
                <a:cubicBezTo>
                  <a:pt x="55" y="42"/>
                  <a:pt x="55" y="41"/>
                  <a:pt x="55" y="41"/>
                </a:cubicBezTo>
                <a:cubicBezTo>
                  <a:pt x="55" y="40"/>
                  <a:pt x="54" y="40"/>
                  <a:pt x="54" y="40"/>
                </a:cubicBezTo>
                <a:cubicBezTo>
                  <a:pt x="53" y="40"/>
                  <a:pt x="53" y="41"/>
                  <a:pt x="53" y="41"/>
                </a:cubicBezTo>
                <a:cubicBezTo>
                  <a:pt x="54" y="41"/>
                  <a:pt x="54" y="41"/>
                  <a:pt x="54" y="41"/>
                </a:cubicBezTo>
                <a:cubicBezTo>
                  <a:pt x="54" y="42"/>
                  <a:pt x="54" y="42"/>
                  <a:pt x="53" y="42"/>
                </a:cubicBezTo>
                <a:cubicBezTo>
                  <a:pt x="53" y="42"/>
                  <a:pt x="52" y="43"/>
                  <a:pt x="52" y="42"/>
                </a:cubicBezTo>
                <a:cubicBezTo>
                  <a:pt x="52" y="42"/>
                  <a:pt x="52" y="42"/>
                  <a:pt x="52" y="42"/>
                </a:cubicBezTo>
                <a:cubicBezTo>
                  <a:pt x="52" y="41"/>
                  <a:pt x="52" y="41"/>
                  <a:pt x="51" y="40"/>
                </a:cubicBezTo>
                <a:cubicBezTo>
                  <a:pt x="51" y="40"/>
                  <a:pt x="51" y="40"/>
                  <a:pt x="51" y="40"/>
                </a:cubicBezTo>
                <a:cubicBezTo>
                  <a:pt x="51" y="40"/>
                  <a:pt x="51" y="39"/>
                  <a:pt x="50" y="39"/>
                </a:cubicBezTo>
                <a:cubicBezTo>
                  <a:pt x="50" y="39"/>
                  <a:pt x="50" y="39"/>
                  <a:pt x="50" y="39"/>
                </a:cubicBezTo>
                <a:cubicBezTo>
                  <a:pt x="50" y="38"/>
                  <a:pt x="49" y="38"/>
                  <a:pt x="48" y="38"/>
                </a:cubicBezTo>
                <a:cubicBezTo>
                  <a:pt x="48" y="37"/>
                  <a:pt x="47" y="37"/>
                  <a:pt x="47" y="38"/>
                </a:cubicBezTo>
                <a:cubicBezTo>
                  <a:pt x="47" y="38"/>
                  <a:pt x="47" y="38"/>
                  <a:pt x="48" y="38"/>
                </a:cubicBezTo>
                <a:cubicBezTo>
                  <a:pt x="48" y="38"/>
                  <a:pt x="48" y="38"/>
                  <a:pt x="48" y="39"/>
                </a:cubicBezTo>
                <a:cubicBezTo>
                  <a:pt x="48" y="39"/>
                  <a:pt x="49" y="39"/>
                  <a:pt x="49" y="39"/>
                </a:cubicBezTo>
                <a:cubicBezTo>
                  <a:pt x="51" y="40"/>
                  <a:pt x="51" y="40"/>
                  <a:pt x="51" y="40"/>
                </a:cubicBezTo>
                <a:cubicBezTo>
                  <a:pt x="50" y="40"/>
                  <a:pt x="50" y="40"/>
                  <a:pt x="50" y="40"/>
                </a:cubicBezTo>
                <a:cubicBezTo>
                  <a:pt x="50" y="40"/>
                  <a:pt x="50" y="41"/>
                  <a:pt x="50" y="41"/>
                </a:cubicBezTo>
                <a:cubicBezTo>
                  <a:pt x="50" y="41"/>
                  <a:pt x="50" y="41"/>
                  <a:pt x="50" y="41"/>
                </a:cubicBezTo>
                <a:cubicBezTo>
                  <a:pt x="49" y="41"/>
                  <a:pt x="49" y="41"/>
                  <a:pt x="49" y="41"/>
                </a:cubicBezTo>
                <a:cubicBezTo>
                  <a:pt x="49" y="40"/>
                  <a:pt x="48" y="40"/>
                  <a:pt x="48" y="39"/>
                </a:cubicBezTo>
                <a:cubicBezTo>
                  <a:pt x="47" y="39"/>
                  <a:pt x="46" y="39"/>
                  <a:pt x="46" y="38"/>
                </a:cubicBezTo>
                <a:cubicBezTo>
                  <a:pt x="46" y="38"/>
                  <a:pt x="46" y="38"/>
                  <a:pt x="45" y="38"/>
                </a:cubicBezTo>
                <a:cubicBezTo>
                  <a:pt x="44" y="39"/>
                  <a:pt x="44" y="39"/>
                  <a:pt x="44" y="39"/>
                </a:cubicBezTo>
                <a:cubicBezTo>
                  <a:pt x="43" y="38"/>
                  <a:pt x="43" y="38"/>
                  <a:pt x="43" y="38"/>
                </a:cubicBezTo>
                <a:cubicBezTo>
                  <a:pt x="43" y="38"/>
                  <a:pt x="43" y="39"/>
                  <a:pt x="42" y="39"/>
                </a:cubicBezTo>
                <a:cubicBezTo>
                  <a:pt x="42" y="39"/>
                  <a:pt x="42" y="40"/>
                  <a:pt x="41" y="40"/>
                </a:cubicBezTo>
                <a:cubicBezTo>
                  <a:pt x="41" y="40"/>
                  <a:pt x="41" y="40"/>
                  <a:pt x="41" y="41"/>
                </a:cubicBezTo>
                <a:cubicBezTo>
                  <a:pt x="41" y="41"/>
                  <a:pt x="41" y="41"/>
                  <a:pt x="41" y="41"/>
                </a:cubicBezTo>
                <a:cubicBezTo>
                  <a:pt x="40" y="42"/>
                  <a:pt x="40" y="42"/>
                  <a:pt x="40" y="42"/>
                </a:cubicBezTo>
                <a:cubicBezTo>
                  <a:pt x="39" y="42"/>
                  <a:pt x="38" y="42"/>
                  <a:pt x="38" y="42"/>
                </a:cubicBezTo>
                <a:cubicBezTo>
                  <a:pt x="38" y="42"/>
                  <a:pt x="38" y="42"/>
                  <a:pt x="38" y="43"/>
                </a:cubicBezTo>
                <a:cubicBezTo>
                  <a:pt x="38" y="43"/>
                  <a:pt x="38" y="43"/>
                  <a:pt x="38" y="43"/>
                </a:cubicBezTo>
                <a:cubicBezTo>
                  <a:pt x="37" y="42"/>
                  <a:pt x="37" y="42"/>
                  <a:pt x="37" y="42"/>
                </a:cubicBezTo>
                <a:cubicBezTo>
                  <a:pt x="37" y="42"/>
                  <a:pt x="37" y="42"/>
                  <a:pt x="37" y="42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42"/>
                  <a:pt x="35" y="41"/>
                  <a:pt x="35" y="41"/>
                </a:cubicBezTo>
                <a:cubicBezTo>
                  <a:pt x="35" y="41"/>
                  <a:pt x="35" y="41"/>
                  <a:pt x="36" y="41"/>
                </a:cubicBezTo>
                <a:cubicBezTo>
                  <a:pt x="36" y="40"/>
                  <a:pt x="36" y="40"/>
                  <a:pt x="36" y="39"/>
                </a:cubicBezTo>
                <a:cubicBezTo>
                  <a:pt x="35" y="39"/>
                  <a:pt x="35" y="39"/>
                  <a:pt x="36" y="38"/>
                </a:cubicBezTo>
                <a:cubicBezTo>
                  <a:pt x="38" y="38"/>
                  <a:pt x="38" y="38"/>
                  <a:pt x="38" y="38"/>
                </a:cubicBezTo>
                <a:cubicBezTo>
                  <a:pt x="39" y="38"/>
                  <a:pt x="40" y="38"/>
                  <a:pt x="40" y="38"/>
                </a:cubicBezTo>
                <a:cubicBezTo>
                  <a:pt x="41" y="37"/>
                  <a:pt x="40" y="36"/>
                  <a:pt x="39" y="36"/>
                </a:cubicBezTo>
                <a:cubicBezTo>
                  <a:pt x="38" y="36"/>
                  <a:pt x="38" y="36"/>
                  <a:pt x="38" y="36"/>
                </a:cubicBezTo>
                <a:cubicBezTo>
                  <a:pt x="38" y="36"/>
                  <a:pt x="38" y="36"/>
                  <a:pt x="38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40" y="35"/>
                  <a:pt x="40" y="35"/>
                  <a:pt x="40" y="35"/>
                </a:cubicBezTo>
                <a:cubicBezTo>
                  <a:pt x="41" y="35"/>
                  <a:pt x="41" y="35"/>
                  <a:pt x="41" y="35"/>
                </a:cubicBezTo>
                <a:cubicBezTo>
                  <a:pt x="41" y="35"/>
                  <a:pt x="42" y="35"/>
                  <a:pt x="42" y="34"/>
                </a:cubicBezTo>
                <a:cubicBezTo>
                  <a:pt x="43" y="34"/>
                  <a:pt x="43" y="34"/>
                  <a:pt x="43" y="34"/>
                </a:cubicBezTo>
                <a:cubicBezTo>
                  <a:pt x="44" y="33"/>
                  <a:pt x="44" y="33"/>
                  <a:pt x="45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5" y="32"/>
                  <a:pt x="45" y="31"/>
                  <a:pt x="46" y="31"/>
                </a:cubicBezTo>
                <a:cubicBezTo>
                  <a:pt x="46" y="31"/>
                  <a:pt x="46" y="31"/>
                  <a:pt x="46" y="32"/>
                </a:cubicBezTo>
                <a:cubicBezTo>
                  <a:pt x="46" y="32"/>
                  <a:pt x="46" y="32"/>
                  <a:pt x="46" y="32"/>
                </a:cubicBezTo>
                <a:cubicBezTo>
                  <a:pt x="47" y="33"/>
                  <a:pt x="47" y="33"/>
                  <a:pt x="47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9" y="33"/>
                  <a:pt x="49" y="33"/>
                  <a:pt x="49" y="33"/>
                </a:cubicBezTo>
                <a:cubicBezTo>
                  <a:pt x="49" y="33"/>
                  <a:pt x="50" y="33"/>
                  <a:pt x="50" y="32"/>
                </a:cubicBezTo>
                <a:cubicBezTo>
                  <a:pt x="50" y="32"/>
                  <a:pt x="50" y="32"/>
                  <a:pt x="51" y="32"/>
                </a:cubicBezTo>
                <a:cubicBezTo>
                  <a:pt x="51" y="33"/>
                  <a:pt x="52" y="33"/>
                  <a:pt x="52" y="32"/>
                </a:cubicBezTo>
                <a:close/>
                <a:moveTo>
                  <a:pt x="32" y="27"/>
                </a:moveTo>
                <a:cubicBezTo>
                  <a:pt x="32" y="26"/>
                  <a:pt x="31" y="26"/>
                  <a:pt x="30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26"/>
                  <a:pt x="28" y="26"/>
                  <a:pt x="27" y="26"/>
                </a:cubicBezTo>
                <a:cubicBezTo>
                  <a:pt x="27" y="26"/>
                  <a:pt x="27" y="27"/>
                  <a:pt x="27" y="27"/>
                </a:cubicBezTo>
                <a:cubicBezTo>
                  <a:pt x="27" y="27"/>
                  <a:pt x="28" y="27"/>
                  <a:pt x="28" y="27"/>
                </a:cubicBezTo>
                <a:cubicBezTo>
                  <a:pt x="29" y="27"/>
                  <a:pt x="29" y="27"/>
                  <a:pt x="29" y="28"/>
                </a:cubicBezTo>
                <a:cubicBezTo>
                  <a:pt x="29" y="28"/>
                  <a:pt x="29" y="28"/>
                  <a:pt x="30" y="28"/>
                </a:cubicBezTo>
                <a:cubicBezTo>
                  <a:pt x="30" y="28"/>
                  <a:pt x="30" y="28"/>
                  <a:pt x="30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2" y="27"/>
                  <a:pt x="32" y="27"/>
                  <a:pt x="32" y="27"/>
                </a:cubicBezTo>
                <a:cubicBezTo>
                  <a:pt x="32" y="27"/>
                  <a:pt x="32" y="27"/>
                  <a:pt x="32" y="27"/>
                </a:cubicBezTo>
                <a:close/>
                <a:moveTo>
                  <a:pt x="37" y="33"/>
                </a:moveTo>
                <a:cubicBezTo>
                  <a:pt x="37" y="32"/>
                  <a:pt x="37" y="32"/>
                  <a:pt x="36" y="32"/>
                </a:cubicBezTo>
                <a:cubicBezTo>
                  <a:pt x="35" y="32"/>
                  <a:pt x="35" y="33"/>
                  <a:pt x="35" y="33"/>
                </a:cubicBezTo>
                <a:cubicBezTo>
                  <a:pt x="35" y="33"/>
                  <a:pt x="35" y="33"/>
                  <a:pt x="35" y="34"/>
                </a:cubicBezTo>
                <a:cubicBezTo>
                  <a:pt x="35" y="34"/>
                  <a:pt x="35" y="34"/>
                  <a:pt x="36" y="34"/>
                </a:cubicBezTo>
                <a:cubicBezTo>
                  <a:pt x="37" y="34"/>
                  <a:pt x="37" y="34"/>
                  <a:pt x="37" y="33"/>
                </a:cubicBezTo>
                <a:close/>
                <a:moveTo>
                  <a:pt x="39" y="30"/>
                </a:moveTo>
                <a:cubicBezTo>
                  <a:pt x="37" y="31"/>
                  <a:pt x="37" y="31"/>
                  <a:pt x="37" y="31"/>
                </a:cubicBezTo>
                <a:cubicBezTo>
                  <a:pt x="36" y="31"/>
                  <a:pt x="36" y="31"/>
                  <a:pt x="37" y="31"/>
                </a:cubicBezTo>
                <a:cubicBezTo>
                  <a:pt x="37" y="32"/>
                  <a:pt x="38" y="33"/>
                  <a:pt x="39" y="33"/>
                </a:cubicBezTo>
                <a:cubicBezTo>
                  <a:pt x="40" y="33"/>
                  <a:pt x="40" y="33"/>
                  <a:pt x="39" y="33"/>
                </a:cubicBezTo>
                <a:cubicBezTo>
                  <a:pt x="38" y="33"/>
                  <a:pt x="38" y="33"/>
                  <a:pt x="38" y="34"/>
                </a:cubicBezTo>
                <a:cubicBezTo>
                  <a:pt x="38" y="34"/>
                  <a:pt x="38" y="34"/>
                  <a:pt x="39" y="34"/>
                </a:cubicBezTo>
                <a:cubicBezTo>
                  <a:pt x="39" y="35"/>
                  <a:pt x="39" y="35"/>
                  <a:pt x="39" y="35"/>
                </a:cubicBezTo>
                <a:cubicBezTo>
                  <a:pt x="39" y="34"/>
                  <a:pt x="39" y="34"/>
                  <a:pt x="39" y="34"/>
                </a:cubicBezTo>
                <a:cubicBezTo>
                  <a:pt x="41" y="35"/>
                  <a:pt x="41" y="35"/>
                  <a:pt x="41" y="35"/>
                </a:cubicBezTo>
                <a:cubicBezTo>
                  <a:pt x="41" y="35"/>
                  <a:pt x="42" y="34"/>
                  <a:pt x="42" y="34"/>
                </a:cubicBezTo>
                <a:cubicBezTo>
                  <a:pt x="42" y="33"/>
                  <a:pt x="41" y="33"/>
                  <a:pt x="41" y="33"/>
                </a:cubicBezTo>
                <a:cubicBezTo>
                  <a:pt x="41" y="33"/>
                  <a:pt x="40" y="33"/>
                  <a:pt x="40" y="32"/>
                </a:cubicBezTo>
                <a:cubicBezTo>
                  <a:pt x="40" y="32"/>
                  <a:pt x="40" y="32"/>
                  <a:pt x="40" y="32"/>
                </a:cubicBezTo>
                <a:cubicBezTo>
                  <a:pt x="40" y="32"/>
                  <a:pt x="40" y="32"/>
                  <a:pt x="40" y="31"/>
                </a:cubicBezTo>
                <a:cubicBezTo>
                  <a:pt x="40" y="31"/>
                  <a:pt x="39" y="30"/>
                  <a:pt x="39" y="30"/>
                </a:cubicBezTo>
                <a:close/>
                <a:moveTo>
                  <a:pt x="42" y="40"/>
                </a:moveTo>
                <a:cubicBezTo>
                  <a:pt x="42" y="40"/>
                  <a:pt x="42" y="40"/>
                  <a:pt x="42" y="40"/>
                </a:cubicBezTo>
                <a:cubicBezTo>
                  <a:pt x="42" y="40"/>
                  <a:pt x="42" y="40"/>
                  <a:pt x="42" y="40"/>
                </a:cubicBezTo>
                <a:close/>
                <a:moveTo>
                  <a:pt x="45" y="40"/>
                </a:moveTo>
                <a:cubicBezTo>
                  <a:pt x="45" y="40"/>
                  <a:pt x="45" y="40"/>
                  <a:pt x="45" y="40"/>
                </a:cubicBezTo>
                <a:cubicBezTo>
                  <a:pt x="45" y="40"/>
                  <a:pt x="45" y="41"/>
                  <a:pt x="45" y="41"/>
                </a:cubicBezTo>
                <a:cubicBezTo>
                  <a:pt x="45" y="41"/>
                  <a:pt x="46" y="41"/>
                  <a:pt x="46" y="41"/>
                </a:cubicBezTo>
                <a:cubicBezTo>
                  <a:pt x="46" y="40"/>
                  <a:pt x="46" y="40"/>
                  <a:pt x="46" y="40"/>
                </a:cubicBezTo>
                <a:cubicBezTo>
                  <a:pt x="46" y="40"/>
                  <a:pt x="45" y="40"/>
                  <a:pt x="45" y="40"/>
                </a:cubicBezTo>
                <a:close/>
                <a:moveTo>
                  <a:pt x="47" y="41"/>
                </a:moveTo>
                <a:cubicBezTo>
                  <a:pt x="47" y="41"/>
                  <a:pt x="47" y="42"/>
                  <a:pt x="48" y="42"/>
                </a:cubicBezTo>
                <a:cubicBezTo>
                  <a:pt x="48" y="42"/>
                  <a:pt x="48" y="42"/>
                  <a:pt x="49" y="42"/>
                </a:cubicBezTo>
                <a:cubicBezTo>
                  <a:pt x="49" y="42"/>
                  <a:pt x="49" y="42"/>
                  <a:pt x="49" y="42"/>
                </a:cubicBezTo>
                <a:cubicBezTo>
                  <a:pt x="49" y="41"/>
                  <a:pt x="49" y="41"/>
                  <a:pt x="48" y="41"/>
                </a:cubicBezTo>
                <a:lnTo>
                  <a:pt x="47" y="41"/>
                </a:lnTo>
                <a:close/>
                <a:moveTo>
                  <a:pt x="57" y="40"/>
                </a:moveTo>
                <a:cubicBezTo>
                  <a:pt x="56" y="40"/>
                  <a:pt x="56" y="40"/>
                  <a:pt x="56" y="40"/>
                </a:cubicBezTo>
                <a:cubicBezTo>
                  <a:pt x="56" y="39"/>
                  <a:pt x="56" y="39"/>
                  <a:pt x="56" y="39"/>
                </a:cubicBezTo>
                <a:cubicBezTo>
                  <a:pt x="55" y="39"/>
                  <a:pt x="55" y="38"/>
                  <a:pt x="56" y="38"/>
                </a:cubicBezTo>
                <a:cubicBezTo>
                  <a:pt x="56" y="38"/>
                  <a:pt x="56" y="38"/>
                  <a:pt x="57" y="37"/>
                </a:cubicBezTo>
                <a:cubicBezTo>
                  <a:pt x="57" y="37"/>
                  <a:pt x="57" y="37"/>
                  <a:pt x="58" y="37"/>
                </a:cubicBezTo>
                <a:cubicBezTo>
                  <a:pt x="58" y="37"/>
                  <a:pt x="58" y="37"/>
                  <a:pt x="58" y="37"/>
                </a:cubicBezTo>
                <a:cubicBezTo>
                  <a:pt x="59" y="38"/>
                  <a:pt x="59" y="38"/>
                  <a:pt x="59" y="38"/>
                </a:cubicBezTo>
                <a:cubicBezTo>
                  <a:pt x="60" y="38"/>
                  <a:pt x="60" y="37"/>
                  <a:pt x="60" y="37"/>
                </a:cubicBezTo>
                <a:cubicBezTo>
                  <a:pt x="60" y="37"/>
                  <a:pt x="60" y="37"/>
                  <a:pt x="61" y="37"/>
                </a:cubicBezTo>
                <a:cubicBezTo>
                  <a:pt x="61" y="37"/>
                  <a:pt x="61" y="37"/>
                  <a:pt x="61" y="37"/>
                </a:cubicBezTo>
                <a:cubicBezTo>
                  <a:pt x="61" y="37"/>
                  <a:pt x="61" y="37"/>
                  <a:pt x="60" y="37"/>
                </a:cubicBezTo>
                <a:cubicBezTo>
                  <a:pt x="60" y="37"/>
                  <a:pt x="60" y="37"/>
                  <a:pt x="61" y="38"/>
                </a:cubicBezTo>
                <a:cubicBezTo>
                  <a:pt x="61" y="38"/>
                  <a:pt x="61" y="38"/>
                  <a:pt x="62" y="38"/>
                </a:cubicBezTo>
                <a:cubicBezTo>
                  <a:pt x="62" y="38"/>
                  <a:pt x="62" y="39"/>
                  <a:pt x="63" y="39"/>
                </a:cubicBezTo>
                <a:cubicBezTo>
                  <a:pt x="63" y="39"/>
                  <a:pt x="63" y="39"/>
                  <a:pt x="63" y="40"/>
                </a:cubicBezTo>
                <a:cubicBezTo>
                  <a:pt x="62" y="40"/>
                  <a:pt x="61" y="40"/>
                  <a:pt x="60" y="40"/>
                </a:cubicBezTo>
                <a:cubicBezTo>
                  <a:pt x="59" y="39"/>
                  <a:pt x="58" y="39"/>
                  <a:pt x="58" y="39"/>
                </a:cubicBezTo>
                <a:cubicBezTo>
                  <a:pt x="58" y="40"/>
                  <a:pt x="58" y="40"/>
                  <a:pt x="57" y="40"/>
                </a:cubicBezTo>
                <a:close/>
                <a:moveTo>
                  <a:pt x="57" y="29"/>
                </a:moveTo>
                <a:cubicBezTo>
                  <a:pt x="58" y="28"/>
                  <a:pt x="58" y="28"/>
                  <a:pt x="58" y="29"/>
                </a:cubicBezTo>
                <a:cubicBezTo>
                  <a:pt x="58" y="29"/>
                  <a:pt x="59" y="29"/>
                  <a:pt x="59" y="29"/>
                </a:cubicBezTo>
                <a:cubicBezTo>
                  <a:pt x="58" y="30"/>
                  <a:pt x="58" y="30"/>
                  <a:pt x="58" y="29"/>
                </a:cubicBezTo>
                <a:cubicBezTo>
                  <a:pt x="57" y="29"/>
                  <a:pt x="57" y="29"/>
                  <a:pt x="57" y="29"/>
                </a:cubicBezTo>
                <a:close/>
                <a:moveTo>
                  <a:pt x="58" y="63"/>
                </a:moveTo>
                <a:cubicBezTo>
                  <a:pt x="58" y="63"/>
                  <a:pt x="58" y="63"/>
                  <a:pt x="58" y="62"/>
                </a:cubicBezTo>
                <a:cubicBezTo>
                  <a:pt x="58" y="62"/>
                  <a:pt x="58" y="62"/>
                  <a:pt x="58" y="62"/>
                </a:cubicBezTo>
                <a:cubicBezTo>
                  <a:pt x="59" y="62"/>
                  <a:pt x="59" y="62"/>
                  <a:pt x="59" y="62"/>
                </a:cubicBezTo>
                <a:cubicBezTo>
                  <a:pt x="59" y="62"/>
                  <a:pt x="59" y="62"/>
                  <a:pt x="59" y="63"/>
                </a:cubicBezTo>
                <a:cubicBezTo>
                  <a:pt x="59" y="63"/>
                  <a:pt x="58" y="63"/>
                  <a:pt x="58" y="63"/>
                </a:cubicBezTo>
                <a:close/>
                <a:moveTo>
                  <a:pt x="64" y="74"/>
                </a:moveTo>
                <a:cubicBezTo>
                  <a:pt x="64" y="75"/>
                  <a:pt x="64" y="75"/>
                  <a:pt x="64" y="75"/>
                </a:cubicBezTo>
                <a:cubicBezTo>
                  <a:pt x="64" y="76"/>
                  <a:pt x="65" y="76"/>
                  <a:pt x="65" y="76"/>
                </a:cubicBezTo>
                <a:cubicBezTo>
                  <a:pt x="66" y="76"/>
                  <a:pt x="66" y="75"/>
                  <a:pt x="67" y="74"/>
                </a:cubicBezTo>
                <a:cubicBezTo>
                  <a:pt x="67" y="72"/>
                  <a:pt x="67" y="71"/>
                  <a:pt x="68" y="71"/>
                </a:cubicBezTo>
                <a:cubicBezTo>
                  <a:pt x="68" y="71"/>
                  <a:pt x="68" y="71"/>
                  <a:pt x="68" y="70"/>
                </a:cubicBezTo>
                <a:cubicBezTo>
                  <a:pt x="68" y="69"/>
                  <a:pt x="68" y="69"/>
                  <a:pt x="67" y="68"/>
                </a:cubicBezTo>
                <a:cubicBezTo>
                  <a:pt x="67" y="68"/>
                  <a:pt x="67" y="69"/>
                  <a:pt x="67" y="69"/>
                </a:cubicBezTo>
                <a:cubicBezTo>
                  <a:pt x="66" y="70"/>
                  <a:pt x="66" y="71"/>
                  <a:pt x="65" y="70"/>
                </a:cubicBezTo>
                <a:cubicBezTo>
                  <a:pt x="64" y="70"/>
                  <a:pt x="64" y="71"/>
                  <a:pt x="64" y="72"/>
                </a:cubicBezTo>
                <a:cubicBezTo>
                  <a:pt x="65" y="72"/>
                  <a:pt x="65" y="73"/>
                  <a:pt x="64" y="73"/>
                </a:cubicBezTo>
                <a:cubicBezTo>
                  <a:pt x="64" y="73"/>
                  <a:pt x="64" y="74"/>
                  <a:pt x="64" y="74"/>
                </a:cubicBezTo>
                <a:close/>
                <a:moveTo>
                  <a:pt x="70" y="42"/>
                </a:moveTo>
                <a:cubicBezTo>
                  <a:pt x="70" y="42"/>
                  <a:pt x="69" y="42"/>
                  <a:pt x="69" y="42"/>
                </a:cubicBezTo>
                <a:cubicBezTo>
                  <a:pt x="67" y="42"/>
                  <a:pt x="67" y="42"/>
                  <a:pt x="67" y="42"/>
                </a:cubicBezTo>
                <a:cubicBezTo>
                  <a:pt x="67" y="42"/>
                  <a:pt x="67" y="41"/>
                  <a:pt x="67" y="41"/>
                </a:cubicBezTo>
                <a:cubicBezTo>
                  <a:pt x="67" y="41"/>
                  <a:pt x="67" y="40"/>
                  <a:pt x="67" y="40"/>
                </a:cubicBezTo>
                <a:cubicBezTo>
                  <a:pt x="67" y="41"/>
                  <a:pt x="67" y="40"/>
                  <a:pt x="68" y="40"/>
                </a:cubicBezTo>
                <a:cubicBezTo>
                  <a:pt x="68" y="40"/>
                  <a:pt x="68" y="40"/>
                  <a:pt x="68" y="39"/>
                </a:cubicBezTo>
                <a:cubicBezTo>
                  <a:pt x="67" y="39"/>
                  <a:pt x="67" y="39"/>
                  <a:pt x="67" y="39"/>
                </a:cubicBezTo>
                <a:cubicBezTo>
                  <a:pt x="67" y="39"/>
                  <a:pt x="67" y="39"/>
                  <a:pt x="67" y="39"/>
                </a:cubicBezTo>
                <a:cubicBezTo>
                  <a:pt x="67" y="39"/>
                  <a:pt x="66" y="39"/>
                  <a:pt x="66" y="38"/>
                </a:cubicBezTo>
                <a:cubicBezTo>
                  <a:pt x="65" y="38"/>
                  <a:pt x="65" y="37"/>
                  <a:pt x="66" y="37"/>
                </a:cubicBezTo>
                <a:cubicBezTo>
                  <a:pt x="66" y="37"/>
                  <a:pt x="66" y="37"/>
                  <a:pt x="67" y="37"/>
                </a:cubicBezTo>
                <a:cubicBezTo>
                  <a:pt x="67" y="37"/>
                  <a:pt x="67" y="37"/>
                  <a:pt x="68" y="37"/>
                </a:cubicBezTo>
                <a:cubicBezTo>
                  <a:pt x="68" y="36"/>
                  <a:pt x="68" y="36"/>
                  <a:pt x="68" y="36"/>
                </a:cubicBezTo>
                <a:cubicBezTo>
                  <a:pt x="68" y="36"/>
                  <a:pt x="69" y="36"/>
                  <a:pt x="69" y="36"/>
                </a:cubicBezTo>
                <a:cubicBezTo>
                  <a:pt x="69" y="36"/>
                  <a:pt x="70" y="36"/>
                  <a:pt x="70" y="37"/>
                </a:cubicBezTo>
                <a:cubicBezTo>
                  <a:pt x="70" y="37"/>
                  <a:pt x="70" y="37"/>
                  <a:pt x="70" y="37"/>
                </a:cubicBezTo>
                <a:cubicBezTo>
                  <a:pt x="70" y="37"/>
                  <a:pt x="70" y="37"/>
                  <a:pt x="70" y="38"/>
                </a:cubicBezTo>
                <a:cubicBezTo>
                  <a:pt x="69" y="38"/>
                  <a:pt x="69" y="38"/>
                  <a:pt x="69" y="38"/>
                </a:cubicBezTo>
                <a:cubicBezTo>
                  <a:pt x="69" y="37"/>
                  <a:pt x="68" y="37"/>
                  <a:pt x="68" y="37"/>
                </a:cubicBezTo>
                <a:cubicBezTo>
                  <a:pt x="68" y="38"/>
                  <a:pt x="68" y="38"/>
                  <a:pt x="68" y="38"/>
                </a:cubicBezTo>
                <a:cubicBezTo>
                  <a:pt x="68" y="38"/>
                  <a:pt x="68" y="38"/>
                  <a:pt x="68" y="38"/>
                </a:cubicBezTo>
                <a:cubicBezTo>
                  <a:pt x="68" y="38"/>
                  <a:pt x="68" y="38"/>
                  <a:pt x="69" y="39"/>
                </a:cubicBezTo>
                <a:cubicBezTo>
                  <a:pt x="69" y="39"/>
                  <a:pt x="69" y="39"/>
                  <a:pt x="69" y="39"/>
                </a:cubicBezTo>
                <a:cubicBezTo>
                  <a:pt x="69" y="39"/>
                  <a:pt x="69" y="39"/>
                  <a:pt x="70" y="39"/>
                </a:cubicBezTo>
                <a:cubicBezTo>
                  <a:pt x="70" y="39"/>
                  <a:pt x="70" y="40"/>
                  <a:pt x="69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70" y="40"/>
                  <a:pt x="70" y="41"/>
                  <a:pt x="70" y="42"/>
                </a:cubicBezTo>
                <a:close/>
                <a:moveTo>
                  <a:pt x="75" y="21"/>
                </a:moveTo>
                <a:cubicBezTo>
                  <a:pt x="72" y="21"/>
                  <a:pt x="72" y="21"/>
                  <a:pt x="72" y="21"/>
                </a:cubicBezTo>
                <a:cubicBezTo>
                  <a:pt x="72" y="21"/>
                  <a:pt x="72" y="21"/>
                  <a:pt x="71" y="21"/>
                </a:cubicBezTo>
                <a:cubicBezTo>
                  <a:pt x="71" y="22"/>
                  <a:pt x="70" y="22"/>
                  <a:pt x="69" y="22"/>
                </a:cubicBezTo>
                <a:cubicBezTo>
                  <a:pt x="68" y="23"/>
                  <a:pt x="68" y="23"/>
                  <a:pt x="68" y="23"/>
                </a:cubicBezTo>
                <a:cubicBezTo>
                  <a:pt x="69" y="24"/>
                  <a:pt x="70" y="24"/>
                  <a:pt x="70" y="24"/>
                </a:cubicBezTo>
                <a:cubicBezTo>
                  <a:pt x="71" y="24"/>
                  <a:pt x="71" y="24"/>
                  <a:pt x="72" y="24"/>
                </a:cubicBezTo>
                <a:cubicBezTo>
                  <a:pt x="72" y="23"/>
                  <a:pt x="72" y="23"/>
                  <a:pt x="71" y="23"/>
                </a:cubicBezTo>
                <a:cubicBezTo>
                  <a:pt x="71" y="23"/>
                  <a:pt x="71" y="23"/>
                  <a:pt x="71" y="22"/>
                </a:cubicBezTo>
                <a:cubicBezTo>
                  <a:pt x="73" y="21"/>
                  <a:pt x="74" y="21"/>
                  <a:pt x="75" y="21"/>
                </a:cubicBezTo>
                <a:cubicBezTo>
                  <a:pt x="76" y="21"/>
                  <a:pt x="77" y="21"/>
                  <a:pt x="77" y="21"/>
                </a:cubicBezTo>
                <a:cubicBezTo>
                  <a:pt x="78" y="21"/>
                  <a:pt x="78" y="20"/>
                  <a:pt x="77" y="20"/>
                </a:cubicBezTo>
                <a:cubicBezTo>
                  <a:pt x="77" y="20"/>
                  <a:pt x="77" y="20"/>
                  <a:pt x="77" y="20"/>
                </a:cubicBezTo>
                <a:cubicBezTo>
                  <a:pt x="77" y="20"/>
                  <a:pt x="77" y="20"/>
                  <a:pt x="77" y="20"/>
                </a:cubicBezTo>
                <a:cubicBezTo>
                  <a:pt x="77" y="21"/>
                  <a:pt x="76" y="21"/>
                  <a:pt x="76" y="21"/>
                </a:cubicBezTo>
                <a:lnTo>
                  <a:pt x="75" y="21"/>
                </a:lnTo>
                <a:close/>
                <a:moveTo>
                  <a:pt x="84" y="57"/>
                </a:moveTo>
                <a:cubicBezTo>
                  <a:pt x="84" y="57"/>
                  <a:pt x="84" y="57"/>
                  <a:pt x="84" y="58"/>
                </a:cubicBezTo>
                <a:cubicBezTo>
                  <a:pt x="84" y="58"/>
                  <a:pt x="84" y="59"/>
                  <a:pt x="84" y="59"/>
                </a:cubicBezTo>
                <a:cubicBezTo>
                  <a:pt x="84" y="59"/>
                  <a:pt x="84" y="59"/>
                  <a:pt x="84" y="58"/>
                </a:cubicBezTo>
                <a:cubicBezTo>
                  <a:pt x="84" y="58"/>
                  <a:pt x="85" y="58"/>
                  <a:pt x="85" y="58"/>
                </a:cubicBezTo>
                <a:cubicBezTo>
                  <a:pt x="85" y="58"/>
                  <a:pt x="84" y="57"/>
                  <a:pt x="84" y="57"/>
                </a:cubicBezTo>
                <a:cubicBezTo>
                  <a:pt x="84" y="57"/>
                  <a:pt x="84" y="57"/>
                  <a:pt x="84" y="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7233" name="Freeform 65">
            <a:extLst>
              <a:ext uri="{FF2B5EF4-FFF2-40B4-BE49-F238E27FC236}">
                <a16:creationId xmlns:a16="http://schemas.microsoft.com/office/drawing/2014/main" id="{ACD9B3F3-2645-341D-CDA4-18AE9F111BF2}"/>
              </a:ext>
            </a:extLst>
          </p:cNvPr>
          <p:cNvSpPr>
            <a:spLocks noEditPoints="1"/>
          </p:cNvSpPr>
          <p:nvPr/>
        </p:nvSpPr>
        <p:spPr bwMode="auto">
          <a:xfrm>
            <a:off x="2657980" y="4657866"/>
            <a:ext cx="459633" cy="450477"/>
          </a:xfrm>
          <a:custGeom>
            <a:avLst/>
            <a:gdLst>
              <a:gd name="T0" fmla="*/ 92 w 106"/>
              <a:gd name="T1" fmla="*/ 55 h 104"/>
              <a:gd name="T2" fmla="*/ 91 w 106"/>
              <a:gd name="T3" fmla="*/ 65 h 104"/>
              <a:gd name="T4" fmla="*/ 101 w 106"/>
              <a:gd name="T5" fmla="*/ 76 h 104"/>
              <a:gd name="T6" fmla="*/ 97 w 106"/>
              <a:gd name="T7" fmla="*/ 83 h 104"/>
              <a:gd name="T8" fmla="*/ 82 w 106"/>
              <a:gd name="T9" fmla="*/ 80 h 104"/>
              <a:gd name="T10" fmla="*/ 74 w 106"/>
              <a:gd name="T11" fmla="*/ 86 h 104"/>
              <a:gd name="T12" fmla="*/ 75 w 106"/>
              <a:gd name="T13" fmla="*/ 101 h 104"/>
              <a:gd name="T14" fmla="*/ 67 w 106"/>
              <a:gd name="T15" fmla="*/ 104 h 104"/>
              <a:gd name="T16" fmla="*/ 58 w 106"/>
              <a:gd name="T17" fmla="*/ 92 h 104"/>
              <a:gd name="T18" fmla="*/ 53 w 106"/>
              <a:gd name="T19" fmla="*/ 93 h 104"/>
              <a:gd name="T20" fmla="*/ 48 w 106"/>
              <a:gd name="T21" fmla="*/ 92 h 104"/>
              <a:gd name="T22" fmla="*/ 39 w 106"/>
              <a:gd name="T23" fmla="*/ 104 h 104"/>
              <a:gd name="T24" fmla="*/ 31 w 106"/>
              <a:gd name="T25" fmla="*/ 101 h 104"/>
              <a:gd name="T26" fmla="*/ 32 w 106"/>
              <a:gd name="T27" fmla="*/ 87 h 104"/>
              <a:gd name="T28" fmla="*/ 24 w 106"/>
              <a:gd name="T29" fmla="*/ 80 h 104"/>
              <a:gd name="T30" fmla="*/ 9 w 106"/>
              <a:gd name="T31" fmla="*/ 83 h 104"/>
              <a:gd name="T32" fmla="*/ 5 w 106"/>
              <a:gd name="T33" fmla="*/ 76 h 104"/>
              <a:gd name="T34" fmla="*/ 15 w 106"/>
              <a:gd name="T35" fmla="*/ 65 h 104"/>
              <a:gd name="T36" fmla="*/ 13 w 106"/>
              <a:gd name="T37" fmla="*/ 55 h 104"/>
              <a:gd name="T38" fmla="*/ 0 w 106"/>
              <a:gd name="T39" fmla="*/ 48 h 104"/>
              <a:gd name="T40" fmla="*/ 2 w 106"/>
              <a:gd name="T41" fmla="*/ 40 h 104"/>
              <a:gd name="T42" fmla="*/ 16 w 106"/>
              <a:gd name="T43" fmla="*/ 38 h 104"/>
              <a:gd name="T44" fmla="*/ 22 w 106"/>
              <a:gd name="T45" fmla="*/ 29 h 104"/>
              <a:gd name="T46" fmla="*/ 16 w 106"/>
              <a:gd name="T47" fmla="*/ 15 h 104"/>
              <a:gd name="T48" fmla="*/ 22 w 106"/>
              <a:gd name="T49" fmla="*/ 10 h 104"/>
              <a:gd name="T50" fmla="*/ 35 w 106"/>
              <a:gd name="T51" fmla="*/ 18 h 104"/>
              <a:gd name="T52" fmla="*/ 45 w 106"/>
              <a:gd name="T53" fmla="*/ 14 h 104"/>
              <a:gd name="T54" fmla="*/ 49 w 106"/>
              <a:gd name="T55" fmla="*/ 0 h 104"/>
              <a:gd name="T56" fmla="*/ 53 w 106"/>
              <a:gd name="T57" fmla="*/ 0 h 104"/>
              <a:gd name="T58" fmla="*/ 57 w 106"/>
              <a:gd name="T59" fmla="*/ 0 h 104"/>
              <a:gd name="T60" fmla="*/ 61 w 106"/>
              <a:gd name="T61" fmla="*/ 15 h 104"/>
              <a:gd name="T62" fmla="*/ 71 w 106"/>
              <a:gd name="T63" fmla="*/ 18 h 104"/>
              <a:gd name="T64" fmla="*/ 84 w 106"/>
              <a:gd name="T65" fmla="*/ 10 h 104"/>
              <a:gd name="T66" fmla="*/ 90 w 106"/>
              <a:gd name="T67" fmla="*/ 15 h 104"/>
              <a:gd name="T68" fmla="*/ 84 w 106"/>
              <a:gd name="T69" fmla="*/ 29 h 104"/>
              <a:gd name="T70" fmla="*/ 89 w 106"/>
              <a:gd name="T71" fmla="*/ 38 h 104"/>
              <a:gd name="T72" fmla="*/ 104 w 106"/>
              <a:gd name="T73" fmla="*/ 40 h 104"/>
              <a:gd name="T74" fmla="*/ 106 w 106"/>
              <a:gd name="T75" fmla="*/ 48 h 104"/>
              <a:gd name="T76" fmla="*/ 92 w 106"/>
              <a:gd name="T77" fmla="*/ 55 h 104"/>
              <a:gd name="T78" fmla="*/ 70 w 106"/>
              <a:gd name="T79" fmla="*/ 72 h 104"/>
              <a:gd name="T80" fmla="*/ 66 w 106"/>
              <a:gd name="T81" fmla="*/ 66 h 104"/>
              <a:gd name="T82" fmla="*/ 71 w 106"/>
              <a:gd name="T83" fmla="*/ 53 h 104"/>
              <a:gd name="T84" fmla="*/ 66 w 106"/>
              <a:gd name="T85" fmla="*/ 40 h 104"/>
              <a:gd name="T86" fmla="*/ 53 w 106"/>
              <a:gd name="T87" fmla="*/ 35 h 104"/>
              <a:gd name="T88" fmla="*/ 40 w 106"/>
              <a:gd name="T89" fmla="*/ 40 h 104"/>
              <a:gd name="T90" fmla="*/ 34 w 106"/>
              <a:gd name="T91" fmla="*/ 53 h 104"/>
              <a:gd name="T92" fmla="*/ 40 w 106"/>
              <a:gd name="T93" fmla="*/ 66 h 104"/>
              <a:gd name="T94" fmla="*/ 53 w 106"/>
              <a:gd name="T95" fmla="*/ 71 h 104"/>
              <a:gd name="T96" fmla="*/ 59 w 106"/>
              <a:gd name="T97" fmla="*/ 70 h 104"/>
              <a:gd name="T98" fmla="*/ 63 w 106"/>
              <a:gd name="T99" fmla="*/ 76 h 104"/>
              <a:gd name="T100" fmla="*/ 70 w 106"/>
              <a:gd name="T101" fmla="*/ 72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06" h="104">
                <a:moveTo>
                  <a:pt x="92" y="55"/>
                </a:moveTo>
                <a:cubicBezTo>
                  <a:pt x="92" y="59"/>
                  <a:pt x="92" y="62"/>
                  <a:pt x="91" y="65"/>
                </a:cubicBezTo>
                <a:cubicBezTo>
                  <a:pt x="101" y="76"/>
                  <a:pt x="101" y="76"/>
                  <a:pt x="101" y="76"/>
                </a:cubicBezTo>
                <a:cubicBezTo>
                  <a:pt x="100" y="79"/>
                  <a:pt x="98" y="81"/>
                  <a:pt x="97" y="83"/>
                </a:cubicBezTo>
                <a:cubicBezTo>
                  <a:pt x="82" y="80"/>
                  <a:pt x="82" y="80"/>
                  <a:pt x="82" y="80"/>
                </a:cubicBezTo>
                <a:cubicBezTo>
                  <a:pt x="80" y="82"/>
                  <a:pt x="77" y="85"/>
                  <a:pt x="74" y="86"/>
                </a:cubicBezTo>
                <a:cubicBezTo>
                  <a:pt x="75" y="101"/>
                  <a:pt x="75" y="101"/>
                  <a:pt x="75" y="101"/>
                </a:cubicBezTo>
                <a:cubicBezTo>
                  <a:pt x="72" y="102"/>
                  <a:pt x="70" y="103"/>
                  <a:pt x="67" y="104"/>
                </a:cubicBezTo>
                <a:cubicBezTo>
                  <a:pt x="58" y="92"/>
                  <a:pt x="58" y="92"/>
                  <a:pt x="58" y="92"/>
                </a:cubicBezTo>
                <a:cubicBezTo>
                  <a:pt x="56" y="93"/>
                  <a:pt x="54" y="93"/>
                  <a:pt x="53" y="93"/>
                </a:cubicBezTo>
                <a:cubicBezTo>
                  <a:pt x="51" y="93"/>
                  <a:pt x="50" y="93"/>
                  <a:pt x="48" y="92"/>
                </a:cubicBezTo>
                <a:cubicBezTo>
                  <a:pt x="39" y="104"/>
                  <a:pt x="39" y="104"/>
                  <a:pt x="39" y="104"/>
                </a:cubicBezTo>
                <a:cubicBezTo>
                  <a:pt x="36" y="104"/>
                  <a:pt x="34" y="103"/>
                  <a:pt x="31" y="101"/>
                </a:cubicBezTo>
                <a:cubicBezTo>
                  <a:pt x="32" y="87"/>
                  <a:pt x="32" y="87"/>
                  <a:pt x="32" y="87"/>
                </a:cubicBezTo>
                <a:cubicBezTo>
                  <a:pt x="29" y="85"/>
                  <a:pt x="26" y="83"/>
                  <a:pt x="24" y="80"/>
                </a:cubicBezTo>
                <a:cubicBezTo>
                  <a:pt x="9" y="83"/>
                  <a:pt x="9" y="83"/>
                  <a:pt x="9" y="83"/>
                </a:cubicBezTo>
                <a:cubicBezTo>
                  <a:pt x="8" y="81"/>
                  <a:pt x="7" y="79"/>
                  <a:pt x="5" y="76"/>
                </a:cubicBezTo>
                <a:cubicBezTo>
                  <a:pt x="15" y="65"/>
                  <a:pt x="15" y="65"/>
                  <a:pt x="15" y="65"/>
                </a:cubicBezTo>
                <a:cubicBezTo>
                  <a:pt x="14" y="62"/>
                  <a:pt x="13" y="58"/>
                  <a:pt x="13" y="55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6"/>
                  <a:pt x="1" y="43"/>
                  <a:pt x="2" y="40"/>
                </a:cubicBezTo>
                <a:cubicBezTo>
                  <a:pt x="16" y="38"/>
                  <a:pt x="16" y="38"/>
                  <a:pt x="16" y="38"/>
                </a:cubicBezTo>
                <a:cubicBezTo>
                  <a:pt x="18" y="35"/>
                  <a:pt x="19" y="32"/>
                  <a:pt x="22" y="29"/>
                </a:cubicBezTo>
                <a:cubicBezTo>
                  <a:pt x="16" y="15"/>
                  <a:pt x="16" y="15"/>
                  <a:pt x="16" y="15"/>
                </a:cubicBezTo>
                <a:cubicBezTo>
                  <a:pt x="18" y="13"/>
                  <a:pt x="20" y="12"/>
                  <a:pt x="22" y="10"/>
                </a:cubicBezTo>
                <a:cubicBezTo>
                  <a:pt x="35" y="18"/>
                  <a:pt x="35" y="18"/>
                  <a:pt x="35" y="18"/>
                </a:cubicBezTo>
                <a:cubicBezTo>
                  <a:pt x="38" y="16"/>
                  <a:pt x="41" y="15"/>
                  <a:pt x="45" y="14"/>
                </a:cubicBezTo>
                <a:cubicBezTo>
                  <a:pt x="49" y="0"/>
                  <a:pt x="49" y="0"/>
                  <a:pt x="49" y="0"/>
                </a:cubicBezTo>
                <a:cubicBezTo>
                  <a:pt x="51" y="0"/>
                  <a:pt x="52" y="0"/>
                  <a:pt x="53" y="0"/>
                </a:cubicBezTo>
                <a:cubicBezTo>
                  <a:pt x="54" y="0"/>
                  <a:pt x="55" y="0"/>
                  <a:pt x="57" y="0"/>
                </a:cubicBezTo>
                <a:cubicBezTo>
                  <a:pt x="61" y="15"/>
                  <a:pt x="61" y="15"/>
                  <a:pt x="61" y="15"/>
                </a:cubicBezTo>
                <a:cubicBezTo>
                  <a:pt x="65" y="15"/>
                  <a:pt x="68" y="17"/>
                  <a:pt x="71" y="18"/>
                </a:cubicBezTo>
                <a:cubicBezTo>
                  <a:pt x="84" y="10"/>
                  <a:pt x="84" y="10"/>
                  <a:pt x="84" y="10"/>
                </a:cubicBezTo>
                <a:cubicBezTo>
                  <a:pt x="86" y="12"/>
                  <a:pt x="88" y="13"/>
                  <a:pt x="90" y="15"/>
                </a:cubicBezTo>
                <a:cubicBezTo>
                  <a:pt x="84" y="29"/>
                  <a:pt x="84" y="29"/>
                  <a:pt x="84" y="29"/>
                </a:cubicBezTo>
                <a:cubicBezTo>
                  <a:pt x="86" y="32"/>
                  <a:pt x="88" y="35"/>
                  <a:pt x="89" y="38"/>
                </a:cubicBezTo>
                <a:cubicBezTo>
                  <a:pt x="104" y="40"/>
                  <a:pt x="104" y="40"/>
                  <a:pt x="104" y="40"/>
                </a:cubicBezTo>
                <a:cubicBezTo>
                  <a:pt x="105" y="43"/>
                  <a:pt x="106" y="45"/>
                  <a:pt x="106" y="48"/>
                </a:cubicBezTo>
                <a:lnTo>
                  <a:pt x="92" y="55"/>
                </a:lnTo>
                <a:close/>
                <a:moveTo>
                  <a:pt x="70" y="72"/>
                </a:moveTo>
                <a:cubicBezTo>
                  <a:pt x="66" y="66"/>
                  <a:pt x="66" y="66"/>
                  <a:pt x="66" y="66"/>
                </a:cubicBezTo>
                <a:cubicBezTo>
                  <a:pt x="69" y="63"/>
                  <a:pt x="71" y="58"/>
                  <a:pt x="71" y="53"/>
                </a:cubicBezTo>
                <a:cubicBezTo>
                  <a:pt x="71" y="48"/>
                  <a:pt x="69" y="44"/>
                  <a:pt x="66" y="40"/>
                </a:cubicBezTo>
                <a:cubicBezTo>
                  <a:pt x="62" y="36"/>
                  <a:pt x="58" y="35"/>
                  <a:pt x="53" y="35"/>
                </a:cubicBezTo>
                <a:cubicBezTo>
                  <a:pt x="48" y="35"/>
                  <a:pt x="43" y="36"/>
                  <a:pt x="40" y="40"/>
                </a:cubicBezTo>
                <a:cubicBezTo>
                  <a:pt x="36" y="44"/>
                  <a:pt x="34" y="48"/>
                  <a:pt x="34" y="53"/>
                </a:cubicBezTo>
                <a:cubicBezTo>
                  <a:pt x="34" y="58"/>
                  <a:pt x="36" y="63"/>
                  <a:pt x="40" y="66"/>
                </a:cubicBezTo>
                <a:cubicBezTo>
                  <a:pt x="43" y="70"/>
                  <a:pt x="48" y="71"/>
                  <a:pt x="53" y="71"/>
                </a:cubicBezTo>
                <a:cubicBezTo>
                  <a:pt x="55" y="71"/>
                  <a:pt x="57" y="71"/>
                  <a:pt x="59" y="70"/>
                </a:cubicBezTo>
                <a:cubicBezTo>
                  <a:pt x="63" y="76"/>
                  <a:pt x="63" y="76"/>
                  <a:pt x="63" y="76"/>
                </a:cubicBezTo>
                <a:lnTo>
                  <a:pt x="70" y="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600"/>
          </a:p>
        </p:txBody>
      </p:sp>
      <p:pic>
        <p:nvPicPr>
          <p:cNvPr id="7258" name="Picture 7257">
            <a:extLst>
              <a:ext uri="{FF2B5EF4-FFF2-40B4-BE49-F238E27FC236}">
                <a16:creationId xmlns:a16="http://schemas.microsoft.com/office/drawing/2014/main" id="{4DC558CE-BF99-D7A2-ECB5-65CC9B058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86" y="2172954"/>
            <a:ext cx="1228762" cy="1578910"/>
          </a:xfrm>
          <a:prstGeom prst="rect">
            <a:avLst/>
          </a:prstGeom>
        </p:spPr>
      </p:pic>
      <p:sp>
        <p:nvSpPr>
          <p:cNvPr id="7277" name="Rectangle: Rounded Corners 7276">
            <a:extLst>
              <a:ext uri="{FF2B5EF4-FFF2-40B4-BE49-F238E27FC236}">
                <a16:creationId xmlns:a16="http://schemas.microsoft.com/office/drawing/2014/main" id="{FDCA7E3C-97C9-CCE8-DFBF-6FCA196E834B}"/>
              </a:ext>
            </a:extLst>
          </p:cNvPr>
          <p:cNvSpPr/>
          <p:nvPr/>
        </p:nvSpPr>
        <p:spPr>
          <a:xfrm>
            <a:off x="8815107" y="2788949"/>
            <a:ext cx="1628507" cy="68403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Survey Ingestion</a:t>
            </a:r>
          </a:p>
        </p:txBody>
      </p:sp>
      <p:sp>
        <p:nvSpPr>
          <p:cNvPr id="7278" name="Rectangle: Rounded Corners 7277">
            <a:extLst>
              <a:ext uri="{FF2B5EF4-FFF2-40B4-BE49-F238E27FC236}">
                <a16:creationId xmlns:a16="http://schemas.microsoft.com/office/drawing/2014/main" id="{B2934FE8-2AD5-D8CC-9B67-543EFA04ED27}"/>
              </a:ext>
            </a:extLst>
          </p:cNvPr>
          <p:cNvSpPr/>
          <p:nvPr/>
        </p:nvSpPr>
        <p:spPr>
          <a:xfrm>
            <a:off x="8826232" y="1580412"/>
            <a:ext cx="1628507" cy="68403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Survey Development</a:t>
            </a:r>
          </a:p>
        </p:txBody>
      </p:sp>
      <p:sp>
        <p:nvSpPr>
          <p:cNvPr id="7279" name="Rectangle: Rounded Corners 7278">
            <a:extLst>
              <a:ext uri="{FF2B5EF4-FFF2-40B4-BE49-F238E27FC236}">
                <a16:creationId xmlns:a16="http://schemas.microsoft.com/office/drawing/2014/main" id="{3028642F-05DB-3352-7456-339100EA1161}"/>
              </a:ext>
            </a:extLst>
          </p:cNvPr>
          <p:cNvSpPr/>
          <p:nvPr/>
        </p:nvSpPr>
        <p:spPr>
          <a:xfrm>
            <a:off x="8815107" y="3997486"/>
            <a:ext cx="1628507" cy="68403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Back-end Business Logic</a:t>
            </a:r>
          </a:p>
        </p:txBody>
      </p:sp>
      <p:sp>
        <p:nvSpPr>
          <p:cNvPr id="7281" name="Rectangle: Rounded Corners 7280">
            <a:extLst>
              <a:ext uri="{FF2B5EF4-FFF2-40B4-BE49-F238E27FC236}">
                <a16:creationId xmlns:a16="http://schemas.microsoft.com/office/drawing/2014/main" id="{290DEC05-4C17-DC3F-861B-FB41E6AD2DEA}"/>
              </a:ext>
            </a:extLst>
          </p:cNvPr>
          <p:cNvSpPr/>
          <p:nvPr/>
        </p:nvSpPr>
        <p:spPr>
          <a:xfrm>
            <a:off x="8841373" y="5206024"/>
            <a:ext cx="1628507" cy="68403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Dashboard Outputs</a:t>
            </a:r>
          </a:p>
        </p:txBody>
      </p:sp>
      <p:sp>
        <p:nvSpPr>
          <p:cNvPr id="7282" name="Arrow: Right 7281">
            <a:extLst>
              <a:ext uri="{FF2B5EF4-FFF2-40B4-BE49-F238E27FC236}">
                <a16:creationId xmlns:a16="http://schemas.microsoft.com/office/drawing/2014/main" id="{9F5141B4-9233-0484-102C-6935008445E1}"/>
              </a:ext>
            </a:extLst>
          </p:cNvPr>
          <p:cNvSpPr/>
          <p:nvPr/>
        </p:nvSpPr>
        <p:spPr>
          <a:xfrm rot="5400000">
            <a:off x="9433158" y="2372811"/>
            <a:ext cx="392402" cy="307777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Graphik" panose="020B0503030202060203" pitchFamily="34" charset="0"/>
            </a:endParaRPr>
          </a:p>
        </p:txBody>
      </p:sp>
      <p:sp>
        <p:nvSpPr>
          <p:cNvPr id="7283" name="Arrow: Right 7282">
            <a:extLst>
              <a:ext uri="{FF2B5EF4-FFF2-40B4-BE49-F238E27FC236}">
                <a16:creationId xmlns:a16="http://schemas.microsoft.com/office/drawing/2014/main" id="{EA9676E4-553F-92CD-1014-1DF6B47DEBF3}"/>
              </a:ext>
            </a:extLst>
          </p:cNvPr>
          <p:cNvSpPr/>
          <p:nvPr/>
        </p:nvSpPr>
        <p:spPr>
          <a:xfrm rot="5400000">
            <a:off x="9433158" y="3581348"/>
            <a:ext cx="392402" cy="307777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Graphik" panose="020B0503030202060203" pitchFamily="34" charset="0"/>
            </a:endParaRPr>
          </a:p>
        </p:txBody>
      </p:sp>
      <p:sp>
        <p:nvSpPr>
          <p:cNvPr id="7284" name="Arrow: Right 7283">
            <a:extLst>
              <a:ext uri="{FF2B5EF4-FFF2-40B4-BE49-F238E27FC236}">
                <a16:creationId xmlns:a16="http://schemas.microsoft.com/office/drawing/2014/main" id="{92BCED2D-4265-F367-161C-C4DFA4F02586}"/>
              </a:ext>
            </a:extLst>
          </p:cNvPr>
          <p:cNvSpPr/>
          <p:nvPr/>
        </p:nvSpPr>
        <p:spPr>
          <a:xfrm rot="5400000">
            <a:off x="9433158" y="4789885"/>
            <a:ext cx="392402" cy="307777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Graphik" panose="020B0503030202060203" pitchFamily="34" charset="0"/>
            </a:endParaRPr>
          </a:p>
        </p:txBody>
      </p:sp>
      <p:pic>
        <p:nvPicPr>
          <p:cNvPr id="7285" name="Picture 7284">
            <a:extLst>
              <a:ext uri="{FF2B5EF4-FFF2-40B4-BE49-F238E27FC236}">
                <a16:creationId xmlns:a16="http://schemas.microsoft.com/office/drawing/2014/main" id="{DC0202E2-2DFF-EE86-4CDA-960E515E6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131" y="5290875"/>
            <a:ext cx="891664" cy="50069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298" name="Group 78">
            <a:extLst>
              <a:ext uri="{FF2B5EF4-FFF2-40B4-BE49-F238E27FC236}">
                <a16:creationId xmlns:a16="http://schemas.microsoft.com/office/drawing/2014/main" id="{DB2EE23D-BC28-631D-0C78-86A7B35DFC2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51049" y="2948980"/>
            <a:ext cx="332545" cy="442701"/>
            <a:chOff x="5561" y="440"/>
            <a:chExt cx="320" cy="426"/>
          </a:xfrm>
          <a:solidFill>
            <a:srgbClr val="000000"/>
          </a:solidFill>
        </p:grpSpPr>
        <p:sp>
          <p:nvSpPr>
            <p:cNvPr id="7299" name="Freeform 79">
              <a:extLst>
                <a:ext uri="{FF2B5EF4-FFF2-40B4-BE49-F238E27FC236}">
                  <a16:creationId xmlns:a16="http://schemas.microsoft.com/office/drawing/2014/main" id="{93F86BB1-F3E3-9AA5-EE0C-205964B3F2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1" y="440"/>
              <a:ext cx="320" cy="426"/>
            </a:xfrm>
            <a:custGeom>
              <a:avLst/>
              <a:gdLst>
                <a:gd name="T0" fmla="*/ 210 w 216"/>
                <a:gd name="T1" fmla="*/ 288 h 288"/>
                <a:gd name="T2" fmla="*/ 6 w 216"/>
                <a:gd name="T3" fmla="*/ 288 h 288"/>
                <a:gd name="T4" fmla="*/ 0 w 216"/>
                <a:gd name="T5" fmla="*/ 282 h 288"/>
                <a:gd name="T6" fmla="*/ 0 w 216"/>
                <a:gd name="T7" fmla="*/ 6 h 288"/>
                <a:gd name="T8" fmla="*/ 6 w 216"/>
                <a:gd name="T9" fmla="*/ 0 h 288"/>
                <a:gd name="T10" fmla="*/ 138 w 216"/>
                <a:gd name="T11" fmla="*/ 0 h 288"/>
                <a:gd name="T12" fmla="*/ 142 w 216"/>
                <a:gd name="T13" fmla="*/ 2 h 288"/>
                <a:gd name="T14" fmla="*/ 214 w 216"/>
                <a:gd name="T15" fmla="*/ 74 h 288"/>
                <a:gd name="T16" fmla="*/ 216 w 216"/>
                <a:gd name="T17" fmla="*/ 78 h 288"/>
                <a:gd name="T18" fmla="*/ 216 w 216"/>
                <a:gd name="T19" fmla="*/ 282 h 288"/>
                <a:gd name="T20" fmla="*/ 210 w 216"/>
                <a:gd name="T21" fmla="*/ 288 h 288"/>
                <a:gd name="T22" fmla="*/ 12 w 216"/>
                <a:gd name="T23" fmla="*/ 276 h 288"/>
                <a:gd name="T24" fmla="*/ 204 w 216"/>
                <a:gd name="T25" fmla="*/ 276 h 288"/>
                <a:gd name="T26" fmla="*/ 204 w 216"/>
                <a:gd name="T27" fmla="*/ 81 h 288"/>
                <a:gd name="T28" fmla="*/ 136 w 216"/>
                <a:gd name="T29" fmla="*/ 12 h 288"/>
                <a:gd name="T30" fmla="*/ 12 w 216"/>
                <a:gd name="T31" fmla="*/ 12 h 288"/>
                <a:gd name="T32" fmla="*/ 12 w 216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6" h="288">
                  <a:moveTo>
                    <a:pt x="210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6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1" y="1"/>
                    <a:pt x="142" y="2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6" y="75"/>
                    <a:pt x="216" y="77"/>
                    <a:pt x="216" y="78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6"/>
                    <a:pt x="214" y="288"/>
                    <a:pt x="210" y="288"/>
                  </a:cubicBezTo>
                  <a:close/>
                  <a:moveTo>
                    <a:pt x="12" y="276"/>
                  </a:moveTo>
                  <a:cubicBezTo>
                    <a:pt x="204" y="276"/>
                    <a:pt x="204" y="276"/>
                    <a:pt x="204" y="276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0" name="Freeform 80">
              <a:extLst>
                <a:ext uri="{FF2B5EF4-FFF2-40B4-BE49-F238E27FC236}">
                  <a16:creationId xmlns:a16="http://schemas.microsoft.com/office/drawing/2014/main" id="{5B8DA38E-06F0-D7D7-B167-428DF4DB8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" y="440"/>
              <a:ext cx="124" cy="125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5"/>
                    <a:pt x="84" y="78"/>
                  </a:cubicBezTo>
                  <a:cubicBezTo>
                    <a:pt x="84" y="82"/>
                    <a:pt x="82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1" name="Freeform 81">
              <a:extLst>
                <a:ext uri="{FF2B5EF4-FFF2-40B4-BE49-F238E27FC236}">
                  <a16:creationId xmlns:a16="http://schemas.microsoft.com/office/drawing/2014/main" id="{849106B7-40D5-4164-2EC6-627647475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18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2" name="Freeform 82">
              <a:extLst>
                <a:ext uri="{FF2B5EF4-FFF2-40B4-BE49-F238E27FC236}">
                  <a16:creationId xmlns:a16="http://schemas.microsoft.com/office/drawing/2014/main" id="{8C76107C-241C-FA6D-B3C9-1097DF2D1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89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3" name="Freeform 83">
              <a:extLst>
                <a:ext uri="{FF2B5EF4-FFF2-40B4-BE49-F238E27FC236}">
                  <a16:creationId xmlns:a16="http://schemas.microsoft.com/office/drawing/2014/main" id="{31D4CD02-8A02-F13A-8E5C-8AD2EE614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760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4" name="Freeform 84">
              <a:extLst>
                <a:ext uri="{FF2B5EF4-FFF2-40B4-BE49-F238E27FC236}">
                  <a16:creationId xmlns:a16="http://schemas.microsoft.com/office/drawing/2014/main" id="{8DA04952-F970-2EE9-3EF7-2E24354D4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582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5" name="Freeform 85">
              <a:extLst>
                <a:ext uri="{FF2B5EF4-FFF2-40B4-BE49-F238E27FC236}">
                  <a16:creationId xmlns:a16="http://schemas.microsoft.com/office/drawing/2014/main" id="{47965B34-07BE-BEDC-0237-45374BAB8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653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6" name="Freeform 86">
              <a:extLst>
                <a:ext uri="{FF2B5EF4-FFF2-40B4-BE49-F238E27FC236}">
                  <a16:creationId xmlns:a16="http://schemas.microsoft.com/office/drawing/2014/main" id="{5C992F4D-9068-5DDC-0793-902251231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724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  <p:grpSp>
        <p:nvGrpSpPr>
          <p:cNvPr id="7325" name="Group 75">
            <a:extLst>
              <a:ext uri="{FF2B5EF4-FFF2-40B4-BE49-F238E27FC236}">
                <a16:creationId xmlns:a16="http://schemas.microsoft.com/office/drawing/2014/main" id="{BDB1C85C-BD44-AA80-8A10-BB2CB590FA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51049" y="4150547"/>
            <a:ext cx="388707" cy="466230"/>
            <a:chOff x="1405" y="1718"/>
            <a:chExt cx="356" cy="427"/>
          </a:xfrm>
          <a:solidFill>
            <a:srgbClr val="000000"/>
          </a:solidFill>
        </p:grpSpPr>
        <p:sp>
          <p:nvSpPr>
            <p:cNvPr id="7326" name="Freeform 76">
              <a:extLst>
                <a:ext uri="{FF2B5EF4-FFF2-40B4-BE49-F238E27FC236}">
                  <a16:creationId xmlns:a16="http://schemas.microsoft.com/office/drawing/2014/main" id="{E878F55D-8BA9-FBE8-FCEE-F9F9D860E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6" y="1878"/>
              <a:ext cx="212" cy="213"/>
            </a:xfrm>
            <a:custGeom>
              <a:avLst/>
              <a:gdLst>
                <a:gd name="T0" fmla="*/ 57 w 143"/>
                <a:gd name="T1" fmla="*/ 144 h 144"/>
                <a:gd name="T2" fmla="*/ 51 w 143"/>
                <a:gd name="T3" fmla="*/ 125 h 144"/>
                <a:gd name="T4" fmla="*/ 24 w 143"/>
                <a:gd name="T5" fmla="*/ 123 h 144"/>
                <a:gd name="T6" fmla="*/ 1 w 143"/>
                <a:gd name="T7" fmla="*/ 95 h 144"/>
                <a:gd name="T8" fmla="*/ 3 w 143"/>
                <a:gd name="T9" fmla="*/ 86 h 144"/>
                <a:gd name="T10" fmla="*/ 15 w 143"/>
                <a:gd name="T11" fmla="*/ 64 h 144"/>
                <a:gd name="T12" fmla="*/ 1 w 143"/>
                <a:gd name="T13" fmla="*/ 54 h 144"/>
                <a:gd name="T14" fmla="*/ 17 w 143"/>
                <a:gd name="T15" fmla="*/ 23 h 144"/>
                <a:gd name="T16" fmla="*/ 37 w 143"/>
                <a:gd name="T17" fmla="*/ 27 h 144"/>
                <a:gd name="T18" fmla="*/ 51 w 143"/>
                <a:gd name="T19" fmla="*/ 6 h 144"/>
                <a:gd name="T20" fmla="*/ 87 w 143"/>
                <a:gd name="T21" fmla="*/ 0 h 144"/>
                <a:gd name="T22" fmla="*/ 93 w 143"/>
                <a:gd name="T23" fmla="*/ 20 h 144"/>
                <a:gd name="T24" fmla="*/ 117 w 143"/>
                <a:gd name="T25" fmla="*/ 21 h 144"/>
                <a:gd name="T26" fmla="*/ 126 w 143"/>
                <a:gd name="T27" fmla="*/ 23 h 144"/>
                <a:gd name="T28" fmla="*/ 142 w 143"/>
                <a:gd name="T29" fmla="*/ 54 h 144"/>
                <a:gd name="T30" fmla="*/ 127 w 143"/>
                <a:gd name="T31" fmla="*/ 64 h 144"/>
                <a:gd name="T32" fmla="*/ 139 w 143"/>
                <a:gd name="T33" fmla="*/ 86 h 144"/>
                <a:gd name="T34" fmla="*/ 126 w 143"/>
                <a:gd name="T35" fmla="*/ 121 h 144"/>
                <a:gd name="T36" fmla="*/ 117 w 143"/>
                <a:gd name="T37" fmla="*/ 123 h 144"/>
                <a:gd name="T38" fmla="*/ 93 w 143"/>
                <a:gd name="T39" fmla="*/ 124 h 144"/>
                <a:gd name="T40" fmla="*/ 87 w 143"/>
                <a:gd name="T41" fmla="*/ 144 h 144"/>
                <a:gd name="T42" fmla="*/ 81 w 143"/>
                <a:gd name="T43" fmla="*/ 132 h 144"/>
                <a:gd name="T44" fmla="*/ 85 w 143"/>
                <a:gd name="T45" fmla="*/ 115 h 144"/>
                <a:gd name="T46" fmla="*/ 109 w 143"/>
                <a:gd name="T47" fmla="*/ 104 h 144"/>
                <a:gd name="T48" fmla="*/ 128 w 143"/>
                <a:gd name="T49" fmla="*/ 94 h 144"/>
                <a:gd name="T50" fmla="*/ 115 w 143"/>
                <a:gd name="T51" fmla="*/ 82 h 144"/>
                <a:gd name="T52" fmla="*/ 118 w 143"/>
                <a:gd name="T53" fmla="*/ 56 h 144"/>
                <a:gd name="T54" fmla="*/ 118 w 143"/>
                <a:gd name="T55" fmla="*/ 34 h 144"/>
                <a:gd name="T56" fmla="*/ 102 w 143"/>
                <a:gd name="T57" fmla="*/ 39 h 144"/>
                <a:gd name="T58" fmla="*/ 81 w 143"/>
                <a:gd name="T59" fmla="*/ 23 h 144"/>
                <a:gd name="T60" fmla="*/ 63 w 143"/>
                <a:gd name="T61" fmla="*/ 12 h 144"/>
                <a:gd name="T62" fmla="*/ 58 w 143"/>
                <a:gd name="T63" fmla="*/ 29 h 144"/>
                <a:gd name="T64" fmla="*/ 34 w 143"/>
                <a:gd name="T65" fmla="*/ 40 h 144"/>
                <a:gd name="T66" fmla="*/ 15 w 143"/>
                <a:gd name="T67" fmla="*/ 50 h 144"/>
                <a:gd name="T68" fmla="*/ 27 w 143"/>
                <a:gd name="T69" fmla="*/ 62 h 144"/>
                <a:gd name="T70" fmla="*/ 24 w 143"/>
                <a:gd name="T71" fmla="*/ 88 h 144"/>
                <a:gd name="T72" fmla="*/ 24 w 143"/>
                <a:gd name="T73" fmla="*/ 110 h 144"/>
                <a:gd name="T74" fmla="*/ 41 w 143"/>
                <a:gd name="T75" fmla="*/ 105 h 144"/>
                <a:gd name="T76" fmla="*/ 63 w 143"/>
                <a:gd name="T77" fmla="*/ 12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3" h="144">
                  <a:moveTo>
                    <a:pt x="87" y="144"/>
                  </a:moveTo>
                  <a:cubicBezTo>
                    <a:pt x="57" y="144"/>
                    <a:pt x="57" y="144"/>
                    <a:pt x="57" y="144"/>
                  </a:cubicBezTo>
                  <a:cubicBezTo>
                    <a:pt x="54" y="144"/>
                    <a:pt x="51" y="141"/>
                    <a:pt x="51" y="138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44" y="123"/>
                    <a:pt x="40" y="120"/>
                    <a:pt x="36" y="117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2" y="125"/>
                    <a:pt x="18" y="124"/>
                    <a:pt x="16" y="121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0" y="93"/>
                    <a:pt x="0" y="92"/>
                    <a:pt x="0" y="90"/>
                  </a:cubicBezTo>
                  <a:cubicBezTo>
                    <a:pt x="1" y="89"/>
                    <a:pt x="2" y="87"/>
                    <a:pt x="3" y="86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14" y="74"/>
                    <a:pt x="14" y="69"/>
                    <a:pt x="15" y="64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2" y="56"/>
                    <a:pt x="1" y="55"/>
                    <a:pt x="1" y="54"/>
                  </a:cubicBezTo>
                  <a:cubicBezTo>
                    <a:pt x="0" y="52"/>
                    <a:pt x="0" y="50"/>
                    <a:pt x="1" y="49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8" y="20"/>
                    <a:pt x="22" y="19"/>
                    <a:pt x="25" y="20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40" y="24"/>
                    <a:pt x="44" y="21"/>
                    <a:pt x="51" y="19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3"/>
                    <a:pt x="54" y="0"/>
                    <a:pt x="57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1" y="0"/>
                    <a:pt x="93" y="3"/>
                    <a:pt x="93" y="6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9" y="22"/>
                    <a:pt x="103" y="25"/>
                    <a:pt x="106" y="27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9" y="20"/>
                    <a:pt x="120" y="19"/>
                    <a:pt x="122" y="20"/>
                  </a:cubicBezTo>
                  <a:cubicBezTo>
                    <a:pt x="124" y="20"/>
                    <a:pt x="125" y="21"/>
                    <a:pt x="126" y="23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50"/>
                    <a:pt x="142" y="52"/>
                    <a:pt x="142" y="54"/>
                  </a:cubicBezTo>
                  <a:cubicBezTo>
                    <a:pt x="141" y="55"/>
                    <a:pt x="140" y="56"/>
                    <a:pt x="139" y="57"/>
                  </a:cubicBezTo>
                  <a:cubicBezTo>
                    <a:pt x="127" y="64"/>
                    <a:pt x="127" y="64"/>
                    <a:pt x="127" y="64"/>
                  </a:cubicBezTo>
                  <a:cubicBezTo>
                    <a:pt x="128" y="69"/>
                    <a:pt x="128" y="74"/>
                    <a:pt x="127" y="80"/>
                  </a:cubicBezTo>
                  <a:cubicBezTo>
                    <a:pt x="139" y="86"/>
                    <a:pt x="139" y="86"/>
                    <a:pt x="139" y="86"/>
                  </a:cubicBezTo>
                  <a:cubicBezTo>
                    <a:pt x="142" y="88"/>
                    <a:pt x="143" y="92"/>
                    <a:pt x="141" y="95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5" y="122"/>
                    <a:pt x="124" y="123"/>
                    <a:pt x="122" y="124"/>
                  </a:cubicBezTo>
                  <a:cubicBezTo>
                    <a:pt x="120" y="124"/>
                    <a:pt x="119" y="124"/>
                    <a:pt x="117" y="123"/>
                  </a:cubicBezTo>
                  <a:cubicBezTo>
                    <a:pt x="106" y="117"/>
                    <a:pt x="106" y="117"/>
                    <a:pt x="106" y="117"/>
                  </a:cubicBezTo>
                  <a:cubicBezTo>
                    <a:pt x="103" y="119"/>
                    <a:pt x="99" y="122"/>
                    <a:pt x="93" y="124"/>
                  </a:cubicBezTo>
                  <a:cubicBezTo>
                    <a:pt x="93" y="138"/>
                    <a:pt x="93" y="138"/>
                    <a:pt x="93" y="138"/>
                  </a:cubicBezTo>
                  <a:cubicBezTo>
                    <a:pt x="93" y="141"/>
                    <a:pt x="91" y="144"/>
                    <a:pt x="87" y="144"/>
                  </a:cubicBezTo>
                  <a:close/>
                  <a:moveTo>
                    <a:pt x="63" y="132"/>
                  </a:moveTo>
                  <a:cubicBezTo>
                    <a:pt x="81" y="132"/>
                    <a:pt x="81" y="132"/>
                    <a:pt x="81" y="132"/>
                  </a:cubicBezTo>
                  <a:cubicBezTo>
                    <a:pt x="81" y="120"/>
                    <a:pt x="81" y="120"/>
                    <a:pt x="81" y="120"/>
                  </a:cubicBezTo>
                  <a:cubicBezTo>
                    <a:pt x="81" y="118"/>
                    <a:pt x="83" y="116"/>
                    <a:pt x="85" y="115"/>
                  </a:cubicBezTo>
                  <a:cubicBezTo>
                    <a:pt x="93" y="111"/>
                    <a:pt x="98" y="108"/>
                    <a:pt x="102" y="105"/>
                  </a:cubicBezTo>
                  <a:cubicBezTo>
                    <a:pt x="104" y="103"/>
                    <a:pt x="107" y="103"/>
                    <a:pt x="109" y="104"/>
                  </a:cubicBezTo>
                  <a:cubicBezTo>
                    <a:pt x="118" y="110"/>
                    <a:pt x="118" y="110"/>
                    <a:pt x="118" y="110"/>
                  </a:cubicBezTo>
                  <a:cubicBezTo>
                    <a:pt x="128" y="94"/>
                    <a:pt x="128" y="94"/>
                    <a:pt x="128" y="94"/>
                  </a:cubicBezTo>
                  <a:cubicBezTo>
                    <a:pt x="118" y="88"/>
                    <a:pt x="118" y="88"/>
                    <a:pt x="118" y="88"/>
                  </a:cubicBezTo>
                  <a:cubicBezTo>
                    <a:pt x="115" y="87"/>
                    <a:pt x="114" y="84"/>
                    <a:pt x="115" y="82"/>
                  </a:cubicBezTo>
                  <a:cubicBezTo>
                    <a:pt x="116" y="75"/>
                    <a:pt x="116" y="69"/>
                    <a:pt x="115" y="62"/>
                  </a:cubicBezTo>
                  <a:cubicBezTo>
                    <a:pt x="114" y="60"/>
                    <a:pt x="115" y="57"/>
                    <a:pt x="118" y="56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7" y="41"/>
                    <a:pt x="104" y="41"/>
                    <a:pt x="102" y="39"/>
                  </a:cubicBezTo>
                  <a:cubicBezTo>
                    <a:pt x="98" y="36"/>
                    <a:pt x="93" y="32"/>
                    <a:pt x="85" y="29"/>
                  </a:cubicBezTo>
                  <a:cubicBezTo>
                    <a:pt x="83" y="28"/>
                    <a:pt x="81" y="26"/>
                    <a:pt x="81" y="23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23"/>
                    <a:pt x="63" y="23"/>
                    <a:pt x="63" y="23"/>
                  </a:cubicBezTo>
                  <a:cubicBezTo>
                    <a:pt x="63" y="26"/>
                    <a:pt x="61" y="29"/>
                    <a:pt x="58" y="29"/>
                  </a:cubicBezTo>
                  <a:cubicBezTo>
                    <a:pt x="50" y="31"/>
                    <a:pt x="47" y="34"/>
                    <a:pt x="42" y="39"/>
                  </a:cubicBezTo>
                  <a:cubicBezTo>
                    <a:pt x="40" y="41"/>
                    <a:pt x="37" y="41"/>
                    <a:pt x="34" y="40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7"/>
                    <a:pt x="28" y="60"/>
                    <a:pt x="27" y="62"/>
                  </a:cubicBezTo>
                  <a:cubicBezTo>
                    <a:pt x="26" y="69"/>
                    <a:pt x="26" y="75"/>
                    <a:pt x="27" y="82"/>
                  </a:cubicBezTo>
                  <a:cubicBezTo>
                    <a:pt x="28" y="84"/>
                    <a:pt x="27" y="87"/>
                    <a:pt x="24" y="88"/>
                  </a:cubicBezTo>
                  <a:cubicBezTo>
                    <a:pt x="14" y="94"/>
                    <a:pt x="14" y="94"/>
                    <a:pt x="14" y="94"/>
                  </a:cubicBezTo>
                  <a:cubicBezTo>
                    <a:pt x="24" y="110"/>
                    <a:pt x="24" y="110"/>
                    <a:pt x="24" y="110"/>
                  </a:cubicBezTo>
                  <a:cubicBezTo>
                    <a:pt x="34" y="104"/>
                    <a:pt x="34" y="104"/>
                    <a:pt x="34" y="104"/>
                  </a:cubicBezTo>
                  <a:cubicBezTo>
                    <a:pt x="37" y="103"/>
                    <a:pt x="39" y="103"/>
                    <a:pt x="41" y="105"/>
                  </a:cubicBezTo>
                  <a:cubicBezTo>
                    <a:pt x="47" y="110"/>
                    <a:pt x="50" y="113"/>
                    <a:pt x="58" y="114"/>
                  </a:cubicBezTo>
                  <a:cubicBezTo>
                    <a:pt x="61" y="115"/>
                    <a:pt x="63" y="117"/>
                    <a:pt x="63" y="120"/>
                  </a:cubicBezTo>
                  <a:lnTo>
                    <a:pt x="63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27" name="Freeform 77">
              <a:extLst>
                <a:ext uri="{FF2B5EF4-FFF2-40B4-BE49-F238E27FC236}">
                  <a16:creationId xmlns:a16="http://schemas.microsoft.com/office/drawing/2014/main" id="{ED0C85F4-D5C5-EA6F-77F4-B06C45C0E1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3" y="1946"/>
              <a:ext cx="77" cy="77"/>
            </a:xfrm>
            <a:custGeom>
              <a:avLst/>
              <a:gdLst>
                <a:gd name="T0" fmla="*/ 26 w 52"/>
                <a:gd name="T1" fmla="*/ 52 h 52"/>
                <a:gd name="T2" fmla="*/ 0 w 52"/>
                <a:gd name="T3" fmla="*/ 26 h 52"/>
                <a:gd name="T4" fmla="*/ 26 w 52"/>
                <a:gd name="T5" fmla="*/ 0 h 52"/>
                <a:gd name="T6" fmla="*/ 52 w 52"/>
                <a:gd name="T7" fmla="*/ 26 h 52"/>
                <a:gd name="T8" fmla="*/ 26 w 52"/>
                <a:gd name="T9" fmla="*/ 52 h 52"/>
                <a:gd name="T10" fmla="*/ 26 w 52"/>
                <a:gd name="T11" fmla="*/ 12 h 52"/>
                <a:gd name="T12" fmla="*/ 12 w 52"/>
                <a:gd name="T13" fmla="*/ 26 h 52"/>
                <a:gd name="T14" fmla="*/ 26 w 52"/>
                <a:gd name="T15" fmla="*/ 40 h 52"/>
                <a:gd name="T16" fmla="*/ 40 w 52"/>
                <a:gd name="T17" fmla="*/ 26 h 52"/>
                <a:gd name="T18" fmla="*/ 26 w 52"/>
                <a:gd name="T19" fmla="*/ 1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52"/>
                  </a:moveTo>
                  <a:cubicBezTo>
                    <a:pt x="11" y="52"/>
                    <a:pt x="0" y="40"/>
                    <a:pt x="0" y="26"/>
                  </a:cubicBezTo>
                  <a:cubicBezTo>
                    <a:pt x="0" y="11"/>
                    <a:pt x="11" y="0"/>
                    <a:pt x="26" y="0"/>
                  </a:cubicBezTo>
                  <a:cubicBezTo>
                    <a:pt x="41" y="0"/>
                    <a:pt x="52" y="11"/>
                    <a:pt x="52" y="26"/>
                  </a:cubicBezTo>
                  <a:cubicBezTo>
                    <a:pt x="52" y="40"/>
                    <a:pt x="41" y="52"/>
                    <a:pt x="26" y="52"/>
                  </a:cubicBezTo>
                  <a:close/>
                  <a:moveTo>
                    <a:pt x="26" y="12"/>
                  </a:moveTo>
                  <a:cubicBezTo>
                    <a:pt x="18" y="12"/>
                    <a:pt x="12" y="18"/>
                    <a:pt x="12" y="26"/>
                  </a:cubicBezTo>
                  <a:cubicBezTo>
                    <a:pt x="12" y="34"/>
                    <a:pt x="18" y="40"/>
                    <a:pt x="26" y="40"/>
                  </a:cubicBezTo>
                  <a:cubicBezTo>
                    <a:pt x="34" y="40"/>
                    <a:pt x="40" y="34"/>
                    <a:pt x="40" y="26"/>
                  </a:cubicBezTo>
                  <a:cubicBezTo>
                    <a:pt x="40" y="18"/>
                    <a:pt x="34" y="12"/>
                    <a:pt x="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28" name="Freeform 78">
              <a:extLst>
                <a:ext uri="{FF2B5EF4-FFF2-40B4-BE49-F238E27FC236}">
                  <a16:creationId xmlns:a16="http://schemas.microsoft.com/office/drawing/2014/main" id="{6ABB7696-BFAD-D5DF-E585-1B08B01F6C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5" y="1718"/>
              <a:ext cx="356" cy="427"/>
            </a:xfrm>
            <a:custGeom>
              <a:avLst/>
              <a:gdLst>
                <a:gd name="T0" fmla="*/ 234 w 240"/>
                <a:gd name="T1" fmla="*/ 288 h 288"/>
                <a:gd name="T2" fmla="*/ 6 w 240"/>
                <a:gd name="T3" fmla="*/ 288 h 288"/>
                <a:gd name="T4" fmla="*/ 0 w 240"/>
                <a:gd name="T5" fmla="*/ 282 h 288"/>
                <a:gd name="T6" fmla="*/ 0 w 240"/>
                <a:gd name="T7" fmla="*/ 6 h 288"/>
                <a:gd name="T8" fmla="*/ 6 w 240"/>
                <a:gd name="T9" fmla="*/ 0 h 288"/>
                <a:gd name="T10" fmla="*/ 162 w 240"/>
                <a:gd name="T11" fmla="*/ 0 h 288"/>
                <a:gd name="T12" fmla="*/ 166 w 240"/>
                <a:gd name="T13" fmla="*/ 2 h 288"/>
                <a:gd name="T14" fmla="*/ 238 w 240"/>
                <a:gd name="T15" fmla="*/ 74 h 288"/>
                <a:gd name="T16" fmla="*/ 240 w 240"/>
                <a:gd name="T17" fmla="*/ 78 h 288"/>
                <a:gd name="T18" fmla="*/ 240 w 240"/>
                <a:gd name="T19" fmla="*/ 282 h 288"/>
                <a:gd name="T20" fmla="*/ 234 w 240"/>
                <a:gd name="T21" fmla="*/ 288 h 288"/>
                <a:gd name="T22" fmla="*/ 12 w 240"/>
                <a:gd name="T23" fmla="*/ 276 h 288"/>
                <a:gd name="T24" fmla="*/ 228 w 240"/>
                <a:gd name="T25" fmla="*/ 276 h 288"/>
                <a:gd name="T26" fmla="*/ 228 w 240"/>
                <a:gd name="T27" fmla="*/ 80 h 288"/>
                <a:gd name="T28" fmla="*/ 160 w 240"/>
                <a:gd name="T29" fmla="*/ 12 h 288"/>
                <a:gd name="T30" fmla="*/ 12 w 240"/>
                <a:gd name="T31" fmla="*/ 12 h 288"/>
                <a:gd name="T32" fmla="*/ 12 w 240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0" h="288">
                  <a:moveTo>
                    <a:pt x="234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5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4" y="0"/>
                    <a:pt x="165" y="0"/>
                    <a:pt x="166" y="2"/>
                  </a:cubicBezTo>
                  <a:cubicBezTo>
                    <a:pt x="238" y="74"/>
                    <a:pt x="238" y="74"/>
                    <a:pt x="238" y="74"/>
                  </a:cubicBezTo>
                  <a:cubicBezTo>
                    <a:pt x="240" y="75"/>
                    <a:pt x="240" y="76"/>
                    <a:pt x="240" y="78"/>
                  </a:cubicBezTo>
                  <a:cubicBezTo>
                    <a:pt x="240" y="282"/>
                    <a:pt x="240" y="282"/>
                    <a:pt x="240" y="282"/>
                  </a:cubicBezTo>
                  <a:cubicBezTo>
                    <a:pt x="240" y="285"/>
                    <a:pt x="238" y="288"/>
                    <a:pt x="234" y="288"/>
                  </a:cubicBezTo>
                  <a:close/>
                  <a:moveTo>
                    <a:pt x="12" y="276"/>
                  </a:moveTo>
                  <a:cubicBezTo>
                    <a:pt x="228" y="276"/>
                    <a:pt x="228" y="276"/>
                    <a:pt x="228" y="276"/>
                  </a:cubicBezTo>
                  <a:cubicBezTo>
                    <a:pt x="228" y="80"/>
                    <a:pt x="228" y="80"/>
                    <a:pt x="228" y="80"/>
                  </a:cubicBezTo>
                  <a:cubicBezTo>
                    <a:pt x="160" y="12"/>
                    <a:pt x="160" y="12"/>
                    <a:pt x="16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29" name="Freeform 79">
              <a:extLst>
                <a:ext uri="{FF2B5EF4-FFF2-40B4-BE49-F238E27FC236}">
                  <a16:creationId xmlns:a16="http://schemas.microsoft.com/office/drawing/2014/main" id="{CFC233B9-4E9C-132C-BC16-BFB8260F6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1718"/>
              <a:ext cx="125" cy="125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5"/>
                    <a:pt x="84" y="78"/>
                  </a:cubicBezTo>
                  <a:cubicBezTo>
                    <a:pt x="84" y="81"/>
                    <a:pt x="82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pic>
        <p:nvPicPr>
          <p:cNvPr id="7420" name="Picture 7419">
            <a:extLst>
              <a:ext uri="{FF2B5EF4-FFF2-40B4-BE49-F238E27FC236}">
                <a16:creationId xmlns:a16="http://schemas.microsoft.com/office/drawing/2014/main" id="{8FDB3969-E377-73C1-C52C-1E61B7AF3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427" y="2618075"/>
            <a:ext cx="1454457" cy="1770012"/>
          </a:xfrm>
          <a:prstGeom prst="rect">
            <a:avLst/>
          </a:prstGeom>
        </p:spPr>
      </p:pic>
      <p:pic>
        <p:nvPicPr>
          <p:cNvPr id="7421" name="Picture 7420">
            <a:extLst>
              <a:ext uri="{FF2B5EF4-FFF2-40B4-BE49-F238E27FC236}">
                <a16:creationId xmlns:a16="http://schemas.microsoft.com/office/drawing/2014/main" id="{D1609A41-D1A2-871A-9044-EDF9C11A2E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7796" y="5143164"/>
            <a:ext cx="1163421" cy="1494950"/>
          </a:xfrm>
          <a:prstGeom prst="rect">
            <a:avLst/>
          </a:prstGeom>
        </p:spPr>
      </p:pic>
      <p:sp>
        <p:nvSpPr>
          <p:cNvPr id="7422" name="TextBox 7421">
            <a:extLst>
              <a:ext uri="{FF2B5EF4-FFF2-40B4-BE49-F238E27FC236}">
                <a16:creationId xmlns:a16="http://schemas.microsoft.com/office/drawing/2014/main" id="{48981B77-666D-C221-654D-AABE0E58D236}"/>
              </a:ext>
            </a:extLst>
          </p:cNvPr>
          <p:cNvSpPr txBox="1"/>
          <p:nvPr/>
        </p:nvSpPr>
        <p:spPr>
          <a:xfrm>
            <a:off x="10469880" y="1634311"/>
            <a:ext cx="11196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Finalize methodology</a:t>
            </a:r>
          </a:p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i="1">
                <a:solidFill>
                  <a:srgbClr val="000000"/>
                </a:solidFill>
                <a:latin typeface="+mj-lt"/>
              </a:rPr>
              <a:t>Review with 3 clubs and update</a:t>
            </a:r>
            <a:endParaRPr lang="en-US" sz="800" i="1">
              <a:latin typeface="+mj-lt"/>
            </a:endParaRPr>
          </a:p>
        </p:txBody>
      </p:sp>
      <p:sp>
        <p:nvSpPr>
          <p:cNvPr id="7423" name="TextBox 7422">
            <a:extLst>
              <a:ext uri="{FF2B5EF4-FFF2-40B4-BE49-F238E27FC236}">
                <a16:creationId xmlns:a16="http://schemas.microsoft.com/office/drawing/2014/main" id="{8B2E195C-7353-4B1D-43A4-1EC7BBEDB367}"/>
              </a:ext>
            </a:extLst>
          </p:cNvPr>
          <p:cNvSpPr txBox="1"/>
          <p:nvPr/>
        </p:nvSpPr>
        <p:spPr>
          <a:xfrm>
            <a:off x="10469880" y="2788949"/>
            <a:ext cx="11196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Develop backend ingestion engine</a:t>
            </a:r>
          </a:p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i="1">
                <a:solidFill>
                  <a:srgbClr val="000000"/>
                </a:solidFill>
                <a:latin typeface="+mj-lt"/>
              </a:rPr>
              <a:t>Develop frontend surveys</a:t>
            </a:r>
            <a:endParaRPr lang="en-US" sz="800" i="1">
              <a:latin typeface="+mj-lt"/>
            </a:endParaRPr>
          </a:p>
        </p:txBody>
      </p:sp>
      <p:sp>
        <p:nvSpPr>
          <p:cNvPr id="7424" name="TextBox 7423">
            <a:extLst>
              <a:ext uri="{FF2B5EF4-FFF2-40B4-BE49-F238E27FC236}">
                <a16:creationId xmlns:a16="http://schemas.microsoft.com/office/drawing/2014/main" id="{F7541542-1EC4-20B2-20FC-23BDDBE6E6C4}"/>
              </a:ext>
            </a:extLst>
          </p:cNvPr>
          <p:cNvSpPr txBox="1"/>
          <p:nvPr/>
        </p:nvSpPr>
        <p:spPr>
          <a:xfrm>
            <a:off x="10480860" y="4047117"/>
            <a:ext cx="11196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Build out methodology system logic</a:t>
            </a:r>
          </a:p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i="1">
                <a:solidFill>
                  <a:srgbClr val="000000"/>
                </a:solidFill>
                <a:latin typeface="+mj-lt"/>
              </a:rPr>
              <a:t>Test logic for production</a:t>
            </a:r>
            <a:endParaRPr lang="en-US" sz="800" i="1">
              <a:latin typeface="+mj-lt"/>
            </a:endParaRPr>
          </a:p>
        </p:txBody>
      </p:sp>
      <p:sp>
        <p:nvSpPr>
          <p:cNvPr id="7425" name="TextBox 7424">
            <a:extLst>
              <a:ext uri="{FF2B5EF4-FFF2-40B4-BE49-F238E27FC236}">
                <a16:creationId xmlns:a16="http://schemas.microsoft.com/office/drawing/2014/main" id="{5EE92093-AFF1-1C4D-8A2C-9AE748CA37ED}"/>
              </a:ext>
            </a:extLst>
          </p:cNvPr>
          <p:cNvSpPr txBox="1"/>
          <p:nvPr/>
        </p:nvSpPr>
        <p:spPr>
          <a:xfrm>
            <a:off x="10527047" y="5187281"/>
            <a:ext cx="11196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Send ou</a:t>
            </a:r>
            <a:r>
              <a:rPr lang="en-US" sz="800" i="1">
                <a:solidFill>
                  <a:srgbClr val="000000"/>
                </a:solidFill>
                <a:latin typeface="+mj-lt"/>
              </a:rPr>
              <a:t>t 32 team surveys</a:t>
            </a:r>
            <a:endParaRPr lang="en-US" sz="800" b="0" i="1" u="none" strike="noStrike">
              <a:solidFill>
                <a:srgbClr val="000000"/>
              </a:solidFill>
              <a:effectLst/>
              <a:latin typeface="+mj-lt"/>
            </a:endParaRPr>
          </a:p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i="1">
                <a:solidFill>
                  <a:srgbClr val="000000"/>
                </a:solidFill>
                <a:latin typeface="+mj-lt"/>
              </a:rPr>
              <a:t>Automatic dashboard updates</a:t>
            </a:r>
            <a:endParaRPr lang="en-US" sz="800" i="1">
              <a:latin typeface="+mj-lt"/>
            </a:endParaRPr>
          </a:p>
        </p:txBody>
      </p:sp>
      <p:sp>
        <p:nvSpPr>
          <p:cNvPr id="7426" name="TextBox 7425">
            <a:extLst>
              <a:ext uri="{FF2B5EF4-FFF2-40B4-BE49-F238E27FC236}">
                <a16:creationId xmlns:a16="http://schemas.microsoft.com/office/drawing/2014/main" id="{45CF5597-3C0D-ADBF-6768-5E9C0A203DC7}"/>
              </a:ext>
            </a:extLst>
          </p:cNvPr>
          <p:cNvSpPr txBox="1"/>
          <p:nvPr/>
        </p:nvSpPr>
        <p:spPr>
          <a:xfrm>
            <a:off x="5045680" y="1620112"/>
            <a:ext cx="4902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i="1" u="none" strike="noStrike">
                <a:solidFill>
                  <a:srgbClr val="FF0000"/>
                </a:solidFill>
                <a:effectLst/>
                <a:latin typeface="+mj-lt"/>
              </a:rPr>
              <a:t>NEW</a:t>
            </a:r>
            <a:endParaRPr lang="en-US" sz="800" i="1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427" name="TextBox 7426">
            <a:extLst>
              <a:ext uri="{FF2B5EF4-FFF2-40B4-BE49-F238E27FC236}">
                <a16:creationId xmlns:a16="http://schemas.microsoft.com/office/drawing/2014/main" id="{AAF58934-41EF-B9B9-BDFF-2A80F7F71A6B}"/>
              </a:ext>
            </a:extLst>
          </p:cNvPr>
          <p:cNvSpPr txBox="1"/>
          <p:nvPr/>
        </p:nvSpPr>
        <p:spPr>
          <a:xfrm>
            <a:off x="4787787" y="4943773"/>
            <a:ext cx="4902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i="1" u="none" strike="noStrike">
                <a:solidFill>
                  <a:srgbClr val="FF0000"/>
                </a:solidFill>
                <a:effectLst/>
                <a:latin typeface="+mj-lt"/>
              </a:rPr>
              <a:t>NEW</a:t>
            </a:r>
            <a:endParaRPr lang="en-US" sz="800" i="1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7429" name="Picture 7428">
            <a:extLst>
              <a:ext uri="{FF2B5EF4-FFF2-40B4-BE49-F238E27FC236}">
                <a16:creationId xmlns:a16="http://schemas.microsoft.com/office/drawing/2014/main" id="{A0AC477E-5C74-49BC-B44C-0C54F4D7B7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6576" y="1620112"/>
            <a:ext cx="584774" cy="584774"/>
          </a:xfrm>
          <a:prstGeom prst="rect">
            <a:avLst/>
          </a:prstGeom>
        </p:spPr>
      </p:pic>
      <p:sp>
        <p:nvSpPr>
          <p:cNvPr id="7430" name="TextBox 7429">
            <a:extLst>
              <a:ext uri="{FF2B5EF4-FFF2-40B4-BE49-F238E27FC236}">
                <a16:creationId xmlns:a16="http://schemas.microsoft.com/office/drawing/2014/main" id="{8CA76E61-67D7-663B-21DA-AAFA77778D39}"/>
              </a:ext>
            </a:extLst>
          </p:cNvPr>
          <p:cNvSpPr txBox="1"/>
          <p:nvPr/>
        </p:nvSpPr>
        <p:spPr>
          <a:xfrm>
            <a:off x="7833131" y="950938"/>
            <a:ext cx="3638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u="none" strike="noStrike">
                <a:solidFill>
                  <a:srgbClr val="000000"/>
                </a:solidFill>
                <a:effectLst/>
                <a:latin typeface="+mj-lt"/>
              </a:rPr>
              <a:t>*Approx ~40-60 questions</a:t>
            </a:r>
          </a:p>
          <a:p>
            <a:r>
              <a:rPr lang="en-US" sz="1200" b="1" i="1">
                <a:solidFill>
                  <a:srgbClr val="000000"/>
                </a:solidFill>
                <a:latin typeface="+mj-lt"/>
              </a:rPr>
              <a:t>Tech Layer + Business + VOF Integration data</a:t>
            </a:r>
            <a:endParaRPr lang="en-US" sz="1200" i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76455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1E9C741-6CA4-18ED-4AA3-CF3AD0E2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72FE4E-2A17-BF81-D67E-A6EF3304CD6F}"/>
              </a:ext>
            </a:extLst>
          </p:cNvPr>
          <p:cNvSpPr/>
          <p:nvPr/>
        </p:nvSpPr>
        <p:spPr>
          <a:xfrm>
            <a:off x="3125347" y="2410533"/>
            <a:ext cx="2773195" cy="35637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700" b="1">
              <a:solidFill>
                <a:schemeClr val="tx1"/>
              </a:solidFill>
            </a:endParaRPr>
          </a:p>
          <a:p>
            <a:pPr algn="ctr"/>
            <a:endParaRPr lang="en-US" sz="1631" i="1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6E20DC-D74A-BF7E-27D5-4FA27C300917}"/>
              </a:ext>
            </a:extLst>
          </p:cNvPr>
          <p:cNvSpPr/>
          <p:nvPr/>
        </p:nvSpPr>
        <p:spPr>
          <a:xfrm>
            <a:off x="9023227" y="2410533"/>
            <a:ext cx="2787773" cy="35637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700" b="1">
              <a:solidFill>
                <a:schemeClr val="tx1"/>
              </a:solidFill>
            </a:endParaRPr>
          </a:p>
          <a:p>
            <a:pPr algn="ctr"/>
            <a:endParaRPr lang="en-US" sz="1631" i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20FD3-0FF3-A034-8831-A2BE6C4C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571500"/>
          </a:xfrm>
        </p:spPr>
        <p:txBody>
          <a:bodyPr/>
          <a:lstStyle/>
          <a:p>
            <a:r>
              <a:rPr lang="en-US"/>
              <a:t>Survey Development Business &amp; Operations Survey Insights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82228-61AB-027A-C553-A644D400F48A}"/>
              </a:ext>
            </a:extLst>
          </p:cNvPr>
          <p:cNvSpPr txBox="1"/>
          <p:nvPr/>
        </p:nvSpPr>
        <p:spPr>
          <a:xfrm>
            <a:off x="438912" y="1785766"/>
            <a:ext cx="2373153" cy="2545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 noProof="0">
                <a:solidFill>
                  <a:schemeClr val="bg2">
                    <a:lumMod val="25000"/>
                  </a:schemeClr>
                </a:solidFill>
              </a:rPr>
              <a:t>Direct Revenue Generation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8A727B-9BF6-76F5-F546-362BED784DE0}"/>
              </a:ext>
            </a:extLst>
          </p:cNvPr>
          <p:cNvSpPr txBox="1"/>
          <p:nvPr/>
        </p:nvSpPr>
        <p:spPr>
          <a:xfrm>
            <a:off x="3346196" y="1785766"/>
            <a:ext cx="2373153" cy="2545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Operational Efficiency</a:t>
            </a:r>
            <a:endParaRPr lang="en-US" b="1" noProof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69C982-9852-6CE8-5719-20E511BE22B0}"/>
              </a:ext>
            </a:extLst>
          </p:cNvPr>
          <p:cNvSpPr txBox="1"/>
          <p:nvPr/>
        </p:nvSpPr>
        <p:spPr>
          <a:xfrm>
            <a:off x="6253480" y="1785766"/>
            <a:ext cx="2373153" cy="2545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>
                <a:solidFill>
                  <a:schemeClr val="bg2">
                    <a:lumMod val="25000"/>
                  </a:schemeClr>
                </a:solidFill>
              </a:rPr>
              <a:t>Fan Experience</a:t>
            </a:r>
            <a:endParaRPr lang="en-US" b="1" noProof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7425AB-8C91-AC1D-CA4F-BD0D4641D492}"/>
              </a:ext>
            </a:extLst>
          </p:cNvPr>
          <p:cNvSpPr txBox="1"/>
          <p:nvPr/>
        </p:nvSpPr>
        <p:spPr>
          <a:xfrm>
            <a:off x="9160764" y="1785766"/>
            <a:ext cx="2373153" cy="2545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b="1" noProof="0">
                <a:solidFill>
                  <a:schemeClr val="bg2">
                    <a:lumMod val="25000"/>
                  </a:schemeClr>
                </a:solidFill>
              </a:rPr>
              <a:t>Marketing &amp; Advertising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E7442B-2093-0783-7B51-4804DB9E8B4E}"/>
              </a:ext>
            </a:extLst>
          </p:cNvPr>
          <p:cNvSpPr txBox="1"/>
          <p:nvPr/>
        </p:nvSpPr>
        <p:spPr>
          <a:xfrm>
            <a:off x="9285732" y="2572415"/>
            <a:ext cx="2248185" cy="1620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Criticality to live broadcast quality/reliability</a:t>
            </a:r>
          </a:p>
          <a:p>
            <a:pPr marL="285750" indent="-285750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Enhancement of content capture and coverage</a:t>
            </a:r>
          </a:p>
          <a:p>
            <a:pPr marL="285750" indent="-285750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Ability to enable additional or higher-value ad inventory</a:t>
            </a:r>
          </a:p>
          <a:p>
            <a:pPr marL="285750" indent="-285750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Ease of integration for media / sponsor partners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F4673D-6AC8-34F1-E65E-D42CB720D3E0}"/>
              </a:ext>
            </a:extLst>
          </p:cNvPr>
          <p:cNvSpPr txBox="1"/>
          <p:nvPr/>
        </p:nvSpPr>
        <p:spPr>
          <a:xfrm>
            <a:off x="3387852" y="2572415"/>
            <a:ext cx="2248185" cy="1620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Annual cost savings potential (</a:t>
            </a:r>
            <a:r>
              <a:rPr lang="en-US" sz="1400" err="1"/>
              <a:t>opex</a:t>
            </a:r>
            <a:r>
              <a:rPr lang="en-US" sz="1400"/>
              <a:t>, capex, </a:t>
            </a:r>
            <a:r>
              <a:rPr lang="en-US" sz="1400" err="1"/>
              <a:t>etc</a:t>
            </a:r>
            <a:r>
              <a:rPr lang="en-US" sz="1400"/>
              <a:t>)</a:t>
            </a:r>
          </a:p>
          <a:p>
            <a:pPr marL="285750" indent="-285750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Level of process automation or manual reduction</a:t>
            </a:r>
          </a:p>
          <a:p>
            <a:pPr marL="285750" indent="-285750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Avoided incidents / downtime</a:t>
            </a:r>
          </a:p>
          <a:p>
            <a:pPr marL="285750" indent="-285750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Improvements in resource utilization (staffing, energy, crowd flow)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755FA6-616B-4220-3262-B60E61EF883D}"/>
              </a:ext>
            </a:extLst>
          </p:cNvPr>
          <p:cNvSpPr txBox="1"/>
          <p:nvPr/>
        </p:nvSpPr>
        <p:spPr>
          <a:xfrm>
            <a:off x="6336792" y="2572415"/>
            <a:ext cx="2248185" cy="1620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Expected uplift to Voice of the Fan Experience survey</a:t>
            </a:r>
          </a:p>
          <a:p>
            <a:pPr marL="285750" indent="-285750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Depth of fan engagement enabled</a:t>
            </a:r>
          </a:p>
          <a:p>
            <a:pPr marL="285750" indent="-285750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Enhancement of sponsor brand delivery quality</a:t>
            </a:r>
          </a:p>
          <a:p>
            <a:pPr marL="285750" indent="-285750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Differentiation of in-stadium experience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7E292A-295F-7356-0A99-AFD70AF98DB7}"/>
              </a:ext>
            </a:extLst>
          </p:cNvPr>
          <p:cNvSpPr txBox="1"/>
          <p:nvPr/>
        </p:nvSpPr>
        <p:spPr>
          <a:xfrm>
            <a:off x="438912" y="2572415"/>
            <a:ext cx="2248185" cy="16200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noProof="0"/>
              <a:t>Impact on incremental game-day revenue (tickets, merch, concessions)</a:t>
            </a:r>
          </a:p>
          <a:p>
            <a:pPr marL="285750" indent="-2857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Criticality to enabling transactions</a:t>
            </a:r>
          </a:p>
          <a:p>
            <a:pPr marL="285750" indent="-2857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noProof="0"/>
              <a:t>Portion of fans whose spending this influences</a:t>
            </a:r>
          </a:p>
          <a:p>
            <a:pPr marL="285750" indent="-2857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/>
              <a:t>Ability to support or enhance sponsor monetization</a:t>
            </a:r>
            <a:endParaRPr lang="en-US" sz="1400" noProof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C9093B-1B7B-2105-3B5A-2B1B7C179C0A}"/>
              </a:ext>
            </a:extLst>
          </p:cNvPr>
          <p:cNvSpPr txBox="1"/>
          <p:nvPr/>
        </p:nvSpPr>
        <p:spPr>
          <a:xfrm>
            <a:off x="393192" y="1415506"/>
            <a:ext cx="11497056" cy="4285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1400">
                <a:latin typeface="+mj-lt"/>
              </a:rPr>
              <a:t>By linking technology capabilities to measurable value outcomes, we ensure our scoring model reflects real business impact and guides smarter, value‑driven decisions across the NFL ecosystem.</a:t>
            </a:r>
          </a:p>
        </p:txBody>
      </p:sp>
    </p:spTree>
    <p:extLst>
      <p:ext uri="{BB962C8B-B14F-4D97-AF65-F5344CB8AC3E}">
        <p14:creationId xmlns:p14="http://schemas.microsoft.com/office/powerpoint/2010/main" val="740368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apezoid 8">
            <a:extLst>
              <a:ext uri="{FF2B5EF4-FFF2-40B4-BE49-F238E27FC236}">
                <a16:creationId xmlns:a16="http://schemas.microsoft.com/office/drawing/2014/main" id="{C8E1AFF7-2637-2958-53DA-62F8EB268CE3}"/>
              </a:ext>
            </a:extLst>
          </p:cNvPr>
          <p:cNvSpPr/>
          <p:nvPr/>
        </p:nvSpPr>
        <p:spPr>
          <a:xfrm rot="16200000">
            <a:off x="3438227" y="1716362"/>
            <a:ext cx="3020252" cy="2371559"/>
          </a:xfrm>
          <a:prstGeom prst="trapezoid">
            <a:avLst>
              <a:gd name="adj" fmla="val 3797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700" b="1">
              <a:solidFill>
                <a:schemeClr val="tx1"/>
              </a:solidFill>
            </a:endParaRPr>
          </a:p>
          <a:p>
            <a:pPr algn="ctr"/>
            <a:endParaRPr lang="en-US" sz="1631" i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E94E5-A406-102A-BD9E-CE9B50A3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571500"/>
          </a:xfrm>
        </p:spPr>
        <p:txBody>
          <a:bodyPr/>
          <a:lstStyle/>
          <a:p>
            <a:r>
              <a:rPr lang="en-US"/>
              <a:t>Voice of the Fan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F82A5A-8D98-E1C0-146A-8406AB8E1612}"/>
              </a:ext>
            </a:extLst>
          </p:cNvPr>
          <p:cNvSpPr/>
          <p:nvPr/>
        </p:nvSpPr>
        <p:spPr>
          <a:xfrm>
            <a:off x="5861145" y="1235947"/>
            <a:ext cx="5726695" cy="50676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700" b="1">
              <a:solidFill>
                <a:schemeClr val="tx1"/>
              </a:solidFill>
            </a:endParaRPr>
          </a:p>
          <a:p>
            <a:pPr algn="ctr"/>
            <a:endParaRPr lang="en-US" sz="1631" i="1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F5EACB-A171-2819-A76E-358E6401F76C}"/>
              </a:ext>
            </a:extLst>
          </p:cNvPr>
          <p:cNvSpPr/>
          <p:nvPr/>
        </p:nvSpPr>
        <p:spPr>
          <a:xfrm>
            <a:off x="5861145" y="1338410"/>
            <a:ext cx="5726694" cy="558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31" b="1"/>
              <a:t>Key Information Needed</a:t>
            </a:r>
          </a:p>
          <a:p>
            <a:endParaRPr lang="en-US" sz="1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0A69AF-5B54-B205-C352-BEAB3F1BB675}"/>
              </a:ext>
            </a:extLst>
          </p:cNvPr>
          <p:cNvSpPr txBox="1"/>
          <p:nvPr/>
        </p:nvSpPr>
        <p:spPr>
          <a:xfrm>
            <a:off x="6010228" y="1846351"/>
            <a:ext cx="5432472" cy="43783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 defTabSz="2286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400"/>
              <a:t>Full list of </a:t>
            </a:r>
            <a:r>
              <a:rPr lang="en-US" sz="1400" i="1"/>
              <a:t>Voice of the Fan </a:t>
            </a:r>
            <a:r>
              <a:rPr lang="en-US" sz="1400"/>
              <a:t>questions and scoring scales.</a:t>
            </a:r>
          </a:p>
          <a:p>
            <a:pPr marL="285750" indent="-285750" algn="l" defTabSz="2286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400"/>
              <a:t>Definitions for each gameday value driver (mobile ticketing, gameday staff)</a:t>
            </a:r>
          </a:p>
          <a:p>
            <a:pPr marL="285750" indent="-285750" algn="l" defTabSz="2286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400"/>
              <a:t>Access to underlying survey data or dashboards to understand trends and correlations</a:t>
            </a:r>
          </a:p>
          <a:p>
            <a:pPr marL="285750" indent="-285750" algn="l" defTabSz="2286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400"/>
              <a:t>Methodology details: weighting factors, scoring logic, and segmentation approach</a:t>
            </a:r>
          </a:p>
          <a:p>
            <a:pPr marL="285750" indent="-285750" algn="l" defTabSz="2286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400"/>
              <a:t>Year-over-year results to contextualize the 2020-2025 core changes</a:t>
            </a:r>
          </a:p>
          <a:p>
            <a:pPr marL="285750" indent="-285750" algn="l" defTabSz="2286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400"/>
              <a:t>Drivers behind increases / decreases in specific elements (e.g. Food &amp; Beverage)</a:t>
            </a:r>
          </a:p>
          <a:p>
            <a:pPr marL="285750" indent="-285750" algn="l" defTabSz="2286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400"/>
              <a:t>Clarity on how fan-experience elements map to employee workflows or roles</a:t>
            </a:r>
          </a:p>
          <a:p>
            <a:pPr marL="285750" indent="-285750" algn="l" defTabSz="2286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400"/>
              <a:t>Any operational KPIs used alongside fan sentiment to evaluate technologies</a:t>
            </a:r>
            <a:endParaRPr lang="en-US" sz="1600"/>
          </a:p>
          <a:p>
            <a:pPr marL="285750" indent="-285750" algn="l" defTabSz="228600"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en-US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C8B5CD-B983-1771-63D3-253FC08A2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43" y="1338410"/>
            <a:ext cx="4672009" cy="255018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49A182-E2CB-EF37-B5D4-5A7C050282F4}"/>
              </a:ext>
            </a:extLst>
          </p:cNvPr>
          <p:cNvSpPr/>
          <p:nvPr/>
        </p:nvSpPr>
        <p:spPr>
          <a:xfrm>
            <a:off x="599243" y="4405953"/>
            <a:ext cx="4672009" cy="58514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Integrating VOF and correlating into Scoring Dashboard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2E01B8B-2BBC-1F13-8E00-F4F8F306D570}"/>
              </a:ext>
            </a:extLst>
          </p:cNvPr>
          <p:cNvSpPr/>
          <p:nvPr/>
        </p:nvSpPr>
        <p:spPr>
          <a:xfrm rot="5400000">
            <a:off x="2796136" y="3993383"/>
            <a:ext cx="392402" cy="307777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Graphik" panose="020B050303020206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374E97-E6E0-DFE1-F42B-3632AE049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331" y="5173196"/>
            <a:ext cx="2168012" cy="12174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045B6C-98E1-6A40-5FB2-CAC90AAE4CA1}"/>
              </a:ext>
            </a:extLst>
          </p:cNvPr>
          <p:cNvSpPr txBox="1"/>
          <p:nvPr/>
        </p:nvSpPr>
        <p:spPr>
          <a:xfrm>
            <a:off x="380999" y="831854"/>
            <a:ext cx="11228673" cy="4285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/>
              <a:t>Integrating the voice of the fan into value‑based technology prioritization</a:t>
            </a:r>
          </a:p>
        </p:txBody>
      </p:sp>
    </p:spTree>
    <p:extLst>
      <p:ext uri="{BB962C8B-B14F-4D97-AF65-F5344CB8AC3E}">
        <p14:creationId xmlns:p14="http://schemas.microsoft.com/office/powerpoint/2010/main" val="355003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1026E2-D424-B439-4778-496FE487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8CC5394C-69E4-0F65-2DAA-FA8BE8463AC1}"/>
              </a:ext>
            </a:extLst>
          </p:cNvPr>
          <p:cNvSpPr/>
          <p:nvPr/>
        </p:nvSpPr>
        <p:spPr>
          <a:xfrm>
            <a:off x="6279025" y="1391362"/>
            <a:ext cx="5644897" cy="514052"/>
          </a:xfrm>
          <a:prstGeom prst="homePlat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57" name="Arrow: Pentagon 56">
            <a:extLst>
              <a:ext uri="{FF2B5EF4-FFF2-40B4-BE49-F238E27FC236}">
                <a16:creationId xmlns:a16="http://schemas.microsoft.com/office/drawing/2014/main" id="{1A13EC37-7448-751F-16AB-57D432009F57}"/>
              </a:ext>
            </a:extLst>
          </p:cNvPr>
          <p:cNvSpPr/>
          <p:nvPr/>
        </p:nvSpPr>
        <p:spPr>
          <a:xfrm>
            <a:off x="380999" y="1411067"/>
            <a:ext cx="5644897" cy="514052"/>
          </a:xfrm>
          <a:prstGeom prst="homePlat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2ED57-75F2-6706-56E1-3FD287E4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571500"/>
          </a:xfrm>
        </p:spPr>
        <p:txBody>
          <a:bodyPr/>
          <a:lstStyle/>
          <a:p>
            <a:r>
              <a:rPr lang="en-US"/>
              <a:t>Illustrative update to Scoring Weights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AAB72D8-7DA6-423F-8239-CBE0F671C6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985653"/>
              </p:ext>
            </p:extLst>
          </p:nvPr>
        </p:nvGraphicFramePr>
        <p:xfrm>
          <a:off x="6291072" y="2578552"/>
          <a:ext cx="5653533" cy="2194872"/>
        </p:xfrm>
        <a:graphic>
          <a:graphicData uri="http://schemas.openxmlformats.org/drawingml/2006/table">
            <a:tbl>
              <a:tblPr/>
              <a:tblGrid>
                <a:gridCol w="1919732">
                  <a:extLst>
                    <a:ext uri="{9D8B030D-6E8A-4147-A177-3AD203B41FA5}">
                      <a16:colId xmlns:a16="http://schemas.microsoft.com/office/drawing/2014/main" val="3682818736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3945265002"/>
                    </a:ext>
                  </a:extLst>
                </a:gridCol>
                <a:gridCol w="2252473">
                  <a:extLst>
                    <a:ext uri="{9D8B030D-6E8A-4147-A177-3AD203B41FA5}">
                      <a16:colId xmlns:a16="http://schemas.microsoft.com/office/drawing/2014/main" val="490244476"/>
                    </a:ext>
                  </a:extLst>
                </a:gridCol>
              </a:tblGrid>
              <a:tr h="355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noProof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End Zone"/>
                        </a:rPr>
                        <a:t>B</a:t>
                      </a:r>
                      <a:r>
                        <a:rPr lang="en-US" sz="1100" b="1" noProof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End Zone"/>
                        </a:rPr>
                        <a:t>  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Value Driver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Scoring </a:t>
                      </a:r>
                      <a:r>
                        <a:rPr lang="en-US" sz="1000" b="1">
                          <a:solidFill>
                            <a:schemeClr val="tx1"/>
                          </a:solidFill>
                          <a:effectLst/>
                        </a:rPr>
                        <a:t>(1–5)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</a:rPr>
                        <a:t>Scoring description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862639"/>
                  </a:ext>
                </a:extLst>
              </a:tr>
              <a:tr h="396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Cost Savings Potential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Cuts manual counts; optimizes staffing and routing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76242"/>
                  </a:ext>
                </a:extLst>
              </a:tr>
              <a:tr h="396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Incident/Downtime Avoidance Value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Early congestion/safety detection prevents delays/overtime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83959"/>
                  </a:ext>
                </a:extLst>
              </a:tr>
              <a:tr h="396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Resource Utilization Improvement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Improves gate allocation, concessions staffing, cleaning cycles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261636"/>
                  </a:ext>
                </a:extLst>
              </a:tr>
              <a:tr h="396344"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effectLst/>
                        </a:rPr>
                        <a:t>Average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>
                          <a:effectLst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00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23718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64DA923-9649-F451-4698-B9C870AA9200}"/>
              </a:ext>
            </a:extLst>
          </p:cNvPr>
          <p:cNvSpPr txBox="1"/>
          <p:nvPr/>
        </p:nvSpPr>
        <p:spPr>
          <a:xfrm>
            <a:off x="381000" y="863601"/>
            <a:ext cx="11430000" cy="2809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1400">
                <a:latin typeface="+mj-lt"/>
              </a:rPr>
              <a:t>Strengthening investment decisions with data‑driven weighting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BA7756-DBAB-11B8-9A0A-C8E0950280B8}"/>
              </a:ext>
            </a:extLst>
          </p:cNvPr>
          <p:cNvSpPr txBox="1"/>
          <p:nvPr/>
        </p:nvSpPr>
        <p:spPr>
          <a:xfrm>
            <a:off x="463295" y="1508099"/>
            <a:ext cx="5394893" cy="3687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b="1" noProof="0">
                <a:solidFill>
                  <a:schemeClr val="bg1"/>
                </a:solidFill>
              </a:rPr>
              <a:t>Prototype – Rough Order Value 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8661F7-61FF-3D90-5469-615DB6CCCA6F}"/>
              </a:ext>
            </a:extLst>
          </p:cNvPr>
          <p:cNvSpPr txBox="1"/>
          <p:nvPr/>
        </p:nvSpPr>
        <p:spPr>
          <a:xfrm>
            <a:off x="6447028" y="1508099"/>
            <a:ext cx="4648200" cy="3687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</a:rPr>
              <a:t>Phase 2 - Defensible Data Driven 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F54F2DC-4E40-7905-3446-E18F40B25B19}"/>
              </a:ext>
            </a:extLst>
          </p:cNvPr>
          <p:cNvSpPr/>
          <p:nvPr/>
        </p:nvSpPr>
        <p:spPr>
          <a:xfrm>
            <a:off x="381000" y="1946554"/>
            <a:ext cx="5644896" cy="543476"/>
          </a:xfrm>
          <a:prstGeom prst="roundRect">
            <a:avLst>
              <a:gd name="adj" fmla="val 4889"/>
            </a:avLst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05B408-D0B2-9024-77DB-2202834E3F4C}"/>
              </a:ext>
            </a:extLst>
          </p:cNvPr>
          <p:cNvSpPr txBox="1"/>
          <p:nvPr/>
        </p:nvSpPr>
        <p:spPr>
          <a:xfrm>
            <a:off x="1005840" y="2086262"/>
            <a:ext cx="226771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600" b="1" noProof="0"/>
              <a:t>Pre-Game Impact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A6473D-66A5-57EA-A104-5B85C1D80A29}"/>
              </a:ext>
            </a:extLst>
          </p:cNvPr>
          <p:cNvSpPr txBox="1"/>
          <p:nvPr/>
        </p:nvSpPr>
        <p:spPr>
          <a:xfrm>
            <a:off x="5340096" y="208626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</a:pPr>
            <a:r>
              <a:rPr lang="en-US" b="1" noProof="0"/>
              <a:t>21%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2DBA329-5F12-F207-DD0C-0FAAAADB0427}"/>
              </a:ext>
            </a:extLst>
          </p:cNvPr>
          <p:cNvSpPr/>
          <p:nvPr/>
        </p:nvSpPr>
        <p:spPr>
          <a:xfrm>
            <a:off x="381000" y="2568878"/>
            <a:ext cx="5644896" cy="2159998"/>
          </a:xfrm>
          <a:prstGeom prst="roundRect">
            <a:avLst>
              <a:gd name="adj" fmla="val 1502"/>
            </a:avLst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2797E0-F146-9475-366F-EBDBA1A1E06C}"/>
              </a:ext>
            </a:extLst>
          </p:cNvPr>
          <p:cNvSpPr txBox="1"/>
          <p:nvPr/>
        </p:nvSpPr>
        <p:spPr>
          <a:xfrm>
            <a:off x="1005840" y="2653723"/>
            <a:ext cx="226771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600" b="1"/>
              <a:t>Value Cases</a:t>
            </a:r>
            <a:endParaRPr lang="en-US" sz="1600" b="1" noProof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FFF5DE-D8FF-8C60-B719-C15F72377D88}"/>
              </a:ext>
            </a:extLst>
          </p:cNvPr>
          <p:cNvSpPr txBox="1"/>
          <p:nvPr/>
        </p:nvSpPr>
        <p:spPr>
          <a:xfrm>
            <a:off x="4526280" y="4409371"/>
            <a:ext cx="1417320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</a:pPr>
            <a:r>
              <a:rPr lang="en-US" b="1" noProof="0"/>
              <a:t>5x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C8A308-4E94-C75D-16C4-74DBB4A7FA4C}"/>
              </a:ext>
            </a:extLst>
          </p:cNvPr>
          <p:cNvSpPr txBox="1"/>
          <p:nvPr/>
        </p:nvSpPr>
        <p:spPr>
          <a:xfrm>
            <a:off x="1005840" y="2971739"/>
            <a:ext cx="2267712" cy="17571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400" noProof="0"/>
              <a:t>Parking</a:t>
            </a:r>
          </a:p>
          <a:p>
            <a:pPr algn="l" defTabSz="228600">
              <a:spcAft>
                <a:spcPts val="1200"/>
              </a:spcAft>
            </a:pPr>
            <a:r>
              <a:rPr lang="en-US" sz="1400"/>
              <a:t>Wayfinding</a:t>
            </a:r>
          </a:p>
          <a:p>
            <a:pPr algn="l" defTabSz="228600">
              <a:spcAft>
                <a:spcPts val="1200"/>
              </a:spcAft>
            </a:pPr>
            <a:r>
              <a:rPr lang="en-US" sz="1400" noProof="0"/>
              <a:t>Stadium Entry (Ticketing)</a:t>
            </a:r>
          </a:p>
          <a:p>
            <a:pPr algn="l" defTabSz="228600">
              <a:spcAft>
                <a:spcPts val="1200"/>
              </a:spcAft>
            </a:pPr>
            <a:r>
              <a:rPr lang="en-US" sz="1400"/>
              <a:t>Concession Ordering</a:t>
            </a:r>
          </a:p>
          <a:p>
            <a:pPr algn="l" defTabSz="228600">
              <a:spcAft>
                <a:spcPts val="1200"/>
              </a:spcAft>
            </a:pPr>
            <a:r>
              <a:rPr lang="en-US" sz="1400" noProof="0"/>
              <a:t>Retail Sales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5999CA-7103-7C03-F8CA-D0BFD1F74939}"/>
              </a:ext>
            </a:extLst>
          </p:cNvPr>
          <p:cNvSpPr/>
          <p:nvPr/>
        </p:nvSpPr>
        <p:spPr>
          <a:xfrm>
            <a:off x="381000" y="4835156"/>
            <a:ext cx="5644896" cy="543476"/>
          </a:xfrm>
          <a:prstGeom prst="roundRect">
            <a:avLst>
              <a:gd name="adj" fmla="val 4889"/>
            </a:avLst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8A8E32-5E6E-E7C7-6624-7F226DB72B67}"/>
              </a:ext>
            </a:extLst>
          </p:cNvPr>
          <p:cNvSpPr txBox="1"/>
          <p:nvPr/>
        </p:nvSpPr>
        <p:spPr>
          <a:xfrm>
            <a:off x="1005840" y="4983450"/>
            <a:ext cx="226771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600" b="1"/>
              <a:t>Survey Result Score</a:t>
            </a:r>
            <a:endParaRPr lang="en-US" sz="1600" b="1" noProof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435901-DEF1-011D-304F-5668536556D5}"/>
              </a:ext>
            </a:extLst>
          </p:cNvPr>
          <p:cNvSpPr txBox="1"/>
          <p:nvPr/>
        </p:nvSpPr>
        <p:spPr>
          <a:xfrm>
            <a:off x="4526280" y="4994961"/>
            <a:ext cx="1417320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</a:pPr>
            <a:r>
              <a:rPr lang="en-US" b="1"/>
              <a:t>1-5</a:t>
            </a:r>
            <a:endParaRPr lang="en-US" b="1" noProof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AE50D20-EFA5-F14A-7C43-C98D33849D28}"/>
              </a:ext>
            </a:extLst>
          </p:cNvPr>
          <p:cNvSpPr/>
          <p:nvPr/>
        </p:nvSpPr>
        <p:spPr>
          <a:xfrm>
            <a:off x="381000" y="5484912"/>
            <a:ext cx="5644896" cy="543476"/>
          </a:xfrm>
          <a:prstGeom prst="roundRect">
            <a:avLst>
              <a:gd name="adj" fmla="val 4889"/>
            </a:avLst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39AF81-1EC4-4EFD-3AE2-D51FA22CF5D0}"/>
              </a:ext>
            </a:extLst>
          </p:cNvPr>
          <p:cNvSpPr txBox="1"/>
          <p:nvPr/>
        </p:nvSpPr>
        <p:spPr>
          <a:xfrm>
            <a:off x="1005840" y="5642350"/>
            <a:ext cx="277063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600" b="1"/>
              <a:t>Weighted Score</a:t>
            </a:r>
            <a:endParaRPr lang="en-US" sz="1600" b="1" noProof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22CFDA-10C1-6D20-752E-F3D34C6A149A}"/>
              </a:ext>
            </a:extLst>
          </p:cNvPr>
          <p:cNvSpPr txBox="1"/>
          <p:nvPr/>
        </p:nvSpPr>
        <p:spPr>
          <a:xfrm>
            <a:off x="4526280" y="5631746"/>
            <a:ext cx="1417320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</a:pPr>
            <a:endParaRPr lang="en-US" b="1" noProof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52F231-BBFF-2BF2-533B-1D39D5D3F220}"/>
              </a:ext>
            </a:extLst>
          </p:cNvPr>
          <p:cNvSpPr txBox="1"/>
          <p:nvPr/>
        </p:nvSpPr>
        <p:spPr>
          <a:xfrm>
            <a:off x="512064" y="2031398"/>
            <a:ext cx="30175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2400" b="1">
                <a:solidFill>
                  <a:schemeClr val="bg2">
                    <a:lumMod val="25000"/>
                  </a:schemeClr>
                </a:solidFill>
                <a:latin typeface="End Zone"/>
              </a:rPr>
              <a:t>A</a:t>
            </a:r>
            <a:endParaRPr lang="en-US" sz="2400" b="1" noProof="0">
              <a:solidFill>
                <a:schemeClr val="bg2">
                  <a:lumMod val="25000"/>
                </a:schemeClr>
              </a:solidFill>
              <a:latin typeface="End Zone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255750-A58D-F19A-C1BB-30058CF826B2}"/>
              </a:ext>
            </a:extLst>
          </p:cNvPr>
          <p:cNvSpPr txBox="1"/>
          <p:nvPr/>
        </p:nvSpPr>
        <p:spPr>
          <a:xfrm>
            <a:off x="520700" y="2613118"/>
            <a:ext cx="30175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2400" b="1" noProof="0">
                <a:solidFill>
                  <a:schemeClr val="bg2">
                    <a:lumMod val="25000"/>
                  </a:schemeClr>
                </a:solidFill>
                <a:latin typeface="End Zone"/>
              </a:rPr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6C4751-B457-DAA1-82AC-B3F3D754AA62}"/>
              </a:ext>
            </a:extLst>
          </p:cNvPr>
          <p:cNvSpPr txBox="1"/>
          <p:nvPr/>
        </p:nvSpPr>
        <p:spPr>
          <a:xfrm>
            <a:off x="512064" y="4923178"/>
            <a:ext cx="30175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2400" b="1">
                <a:solidFill>
                  <a:schemeClr val="bg2">
                    <a:lumMod val="25000"/>
                  </a:schemeClr>
                </a:solidFill>
                <a:latin typeface="End Zone"/>
              </a:rPr>
              <a:t>C</a:t>
            </a:r>
            <a:endParaRPr lang="en-US" sz="2400" b="1" noProof="0">
              <a:solidFill>
                <a:schemeClr val="bg2">
                  <a:lumMod val="25000"/>
                </a:schemeClr>
              </a:solidFill>
              <a:latin typeface="End Zone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8FA9F9-94A8-2F3F-296D-6D86154386A1}"/>
              </a:ext>
            </a:extLst>
          </p:cNvPr>
          <p:cNvSpPr txBox="1"/>
          <p:nvPr/>
        </p:nvSpPr>
        <p:spPr>
          <a:xfrm>
            <a:off x="521208" y="5576882"/>
            <a:ext cx="30175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2400" b="1" noProof="0">
                <a:solidFill>
                  <a:schemeClr val="bg2">
                    <a:lumMod val="25000"/>
                  </a:schemeClr>
                </a:solidFill>
                <a:latin typeface="End Zone"/>
              </a:rPr>
              <a:t>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13F28-1AF5-A0B1-EF7B-69DBB2D75583}"/>
              </a:ext>
            </a:extLst>
          </p:cNvPr>
          <p:cNvSpPr txBox="1"/>
          <p:nvPr/>
        </p:nvSpPr>
        <p:spPr>
          <a:xfrm>
            <a:off x="4837176" y="5640890"/>
            <a:ext cx="1106424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</a:pPr>
            <a:r>
              <a:rPr lang="en-US" b="1"/>
              <a:t>A*B*C</a:t>
            </a:r>
            <a:endParaRPr lang="en-US" b="1" noProof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F67B90E-4627-AD05-51F7-D78C00C71D34}"/>
              </a:ext>
            </a:extLst>
          </p:cNvPr>
          <p:cNvSpPr/>
          <p:nvPr/>
        </p:nvSpPr>
        <p:spPr>
          <a:xfrm>
            <a:off x="6282436" y="1946554"/>
            <a:ext cx="5644896" cy="543476"/>
          </a:xfrm>
          <a:prstGeom prst="roundRect">
            <a:avLst>
              <a:gd name="adj" fmla="val 4889"/>
            </a:avLst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7F8D7F-26A9-42AC-198D-85F6D1006847}"/>
              </a:ext>
            </a:extLst>
          </p:cNvPr>
          <p:cNvSpPr txBox="1"/>
          <p:nvPr/>
        </p:nvSpPr>
        <p:spPr>
          <a:xfrm>
            <a:off x="6907276" y="2086262"/>
            <a:ext cx="226771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600" b="1" noProof="0"/>
              <a:t>Pre-Game Impact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B08F24-568A-0FE9-E86A-6E41969018A1}"/>
              </a:ext>
            </a:extLst>
          </p:cNvPr>
          <p:cNvSpPr txBox="1"/>
          <p:nvPr/>
        </p:nvSpPr>
        <p:spPr>
          <a:xfrm>
            <a:off x="11241532" y="208626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</a:pPr>
            <a:r>
              <a:rPr lang="en-US" b="1" noProof="0"/>
              <a:t>21%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F37233-222E-BFEC-8082-82750B35FE07}"/>
              </a:ext>
            </a:extLst>
          </p:cNvPr>
          <p:cNvSpPr txBox="1"/>
          <p:nvPr/>
        </p:nvSpPr>
        <p:spPr>
          <a:xfrm>
            <a:off x="6413500" y="2031398"/>
            <a:ext cx="30175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2400" b="1">
                <a:solidFill>
                  <a:schemeClr val="bg2">
                    <a:lumMod val="25000"/>
                  </a:schemeClr>
                </a:solidFill>
                <a:latin typeface="End Zone"/>
              </a:rPr>
              <a:t>A</a:t>
            </a:r>
            <a:endParaRPr lang="en-US" sz="2400" b="1" noProof="0">
              <a:solidFill>
                <a:schemeClr val="bg2">
                  <a:lumMod val="25000"/>
                </a:schemeClr>
              </a:solidFill>
              <a:latin typeface="End Zone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64DB368-391A-CE4F-F06E-7ECF02C196FE}"/>
              </a:ext>
            </a:extLst>
          </p:cNvPr>
          <p:cNvSpPr/>
          <p:nvPr/>
        </p:nvSpPr>
        <p:spPr>
          <a:xfrm>
            <a:off x="6279025" y="4835156"/>
            <a:ext cx="5644896" cy="543476"/>
          </a:xfrm>
          <a:prstGeom prst="roundRect">
            <a:avLst>
              <a:gd name="adj" fmla="val 4889"/>
            </a:avLst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79061A-7402-2834-76A7-11C152687760}"/>
              </a:ext>
            </a:extLst>
          </p:cNvPr>
          <p:cNvSpPr txBox="1"/>
          <p:nvPr/>
        </p:nvSpPr>
        <p:spPr>
          <a:xfrm>
            <a:off x="6903865" y="4983450"/>
            <a:ext cx="226771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600" b="1"/>
              <a:t>Survey Result Score</a:t>
            </a:r>
            <a:endParaRPr lang="en-US" sz="1600" b="1" noProof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F3EBFE-31C1-FD49-B3F4-E371EBE285C1}"/>
              </a:ext>
            </a:extLst>
          </p:cNvPr>
          <p:cNvSpPr txBox="1"/>
          <p:nvPr/>
        </p:nvSpPr>
        <p:spPr>
          <a:xfrm>
            <a:off x="10424305" y="4994961"/>
            <a:ext cx="1417320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</a:pPr>
            <a:r>
              <a:rPr lang="en-US" b="1"/>
              <a:t>1-5</a:t>
            </a:r>
            <a:endParaRPr lang="en-US" b="1" noProof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0CE205-F7AA-BB0B-D20E-4774BD37B66C}"/>
              </a:ext>
            </a:extLst>
          </p:cNvPr>
          <p:cNvSpPr txBox="1"/>
          <p:nvPr/>
        </p:nvSpPr>
        <p:spPr>
          <a:xfrm>
            <a:off x="6410089" y="4923178"/>
            <a:ext cx="30175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2400" b="1">
                <a:solidFill>
                  <a:schemeClr val="bg2">
                    <a:lumMod val="25000"/>
                  </a:schemeClr>
                </a:solidFill>
                <a:latin typeface="End Zone"/>
              </a:rPr>
              <a:t>C</a:t>
            </a:r>
            <a:endParaRPr lang="en-US" sz="2400" b="1" noProof="0">
              <a:solidFill>
                <a:schemeClr val="bg2">
                  <a:lumMod val="25000"/>
                </a:schemeClr>
              </a:solidFill>
              <a:latin typeface="End Zone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710C784-4D90-7BB0-E7DE-B778D392FEB0}"/>
              </a:ext>
            </a:extLst>
          </p:cNvPr>
          <p:cNvSpPr/>
          <p:nvPr/>
        </p:nvSpPr>
        <p:spPr>
          <a:xfrm>
            <a:off x="6279025" y="5484912"/>
            <a:ext cx="5644896" cy="543476"/>
          </a:xfrm>
          <a:prstGeom prst="roundRect">
            <a:avLst>
              <a:gd name="adj" fmla="val 4889"/>
            </a:avLst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5C35EC-6220-4BBE-B530-65F63DCB0D28}"/>
              </a:ext>
            </a:extLst>
          </p:cNvPr>
          <p:cNvSpPr txBox="1"/>
          <p:nvPr/>
        </p:nvSpPr>
        <p:spPr>
          <a:xfrm>
            <a:off x="6903865" y="5642350"/>
            <a:ext cx="277063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n-US" sz="1600" b="1"/>
              <a:t>Weighted Score</a:t>
            </a:r>
            <a:endParaRPr lang="en-US" sz="1600" b="1" noProof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B13B64-2118-1B57-0508-E0E0EE6BEB2E}"/>
              </a:ext>
            </a:extLst>
          </p:cNvPr>
          <p:cNvSpPr txBox="1"/>
          <p:nvPr/>
        </p:nvSpPr>
        <p:spPr>
          <a:xfrm>
            <a:off x="10424305" y="5631746"/>
            <a:ext cx="1417320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</a:pPr>
            <a:endParaRPr lang="en-US" b="1" noProof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262862-B7CD-70D5-6A6C-0862B125BF20}"/>
              </a:ext>
            </a:extLst>
          </p:cNvPr>
          <p:cNvSpPr txBox="1"/>
          <p:nvPr/>
        </p:nvSpPr>
        <p:spPr>
          <a:xfrm>
            <a:off x="6419233" y="5576882"/>
            <a:ext cx="301752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2400" b="1" noProof="0">
                <a:solidFill>
                  <a:schemeClr val="bg2">
                    <a:lumMod val="25000"/>
                  </a:schemeClr>
                </a:solidFill>
                <a:latin typeface="End Zone"/>
              </a:rPr>
              <a:t>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7DA53B-F675-FB34-5502-BAB1EA921915}"/>
              </a:ext>
            </a:extLst>
          </p:cNvPr>
          <p:cNvSpPr txBox="1"/>
          <p:nvPr/>
        </p:nvSpPr>
        <p:spPr>
          <a:xfrm>
            <a:off x="10735201" y="5640890"/>
            <a:ext cx="1106424" cy="246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defTabSz="228600">
              <a:spcAft>
                <a:spcPts val="1200"/>
              </a:spcAft>
            </a:pPr>
            <a:r>
              <a:rPr lang="en-US" b="1"/>
              <a:t>A*B*C</a:t>
            </a:r>
            <a:endParaRPr lang="en-US" b="1" noProof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780A448-4DDC-F0F8-406A-D96452BF6E85}"/>
              </a:ext>
            </a:extLst>
          </p:cNvPr>
          <p:cNvCxnSpPr/>
          <p:nvPr/>
        </p:nvCxnSpPr>
        <p:spPr>
          <a:xfrm>
            <a:off x="6126144" y="1946554"/>
            <a:ext cx="0" cy="4081834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A6705A-70B4-6423-E404-61EDE726FC97}"/>
              </a:ext>
            </a:extLst>
          </p:cNvPr>
          <p:cNvSpPr txBox="1"/>
          <p:nvPr/>
        </p:nvSpPr>
        <p:spPr>
          <a:xfrm>
            <a:off x="9334500" y="107564"/>
            <a:ext cx="272962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u="none" strike="noStrike" dirty="0">
                <a:solidFill>
                  <a:srgbClr val="FF0000"/>
                </a:solidFill>
                <a:effectLst/>
                <a:latin typeface="+mj-lt"/>
              </a:rPr>
              <a:t>We need to determine how best to rationalize and correlate using KPIs, revenue insights, VOF data here.</a:t>
            </a:r>
            <a:endParaRPr lang="en-US" sz="1400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173ABFED-828F-0B74-9E9D-6D5A560C2848}"/>
              </a:ext>
            </a:extLst>
          </p:cNvPr>
          <p:cNvSpPr/>
          <p:nvPr/>
        </p:nvSpPr>
        <p:spPr>
          <a:xfrm rot="16200000">
            <a:off x="8874303" y="710598"/>
            <a:ext cx="1384300" cy="789751"/>
          </a:xfrm>
          <a:prstGeom prst="arc">
            <a:avLst/>
          </a:prstGeom>
          <a:ln w="28575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45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4427E4E-3769-0759-4F27-2F94D558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18">
            <a:extLst>
              <a:ext uri="{FF2B5EF4-FFF2-40B4-BE49-F238E27FC236}">
                <a16:creationId xmlns:a16="http://schemas.microsoft.com/office/drawing/2014/main" id="{F84A79C4-6325-8D48-5D72-1DD2B131379A}"/>
              </a:ext>
            </a:extLst>
          </p:cNvPr>
          <p:cNvSpPr/>
          <p:nvPr/>
        </p:nvSpPr>
        <p:spPr>
          <a:xfrm>
            <a:off x="4325300" y="5091063"/>
            <a:ext cx="3277701" cy="1200274"/>
          </a:xfrm>
          <a:prstGeom prst="roundRect">
            <a:avLst>
              <a:gd name="adj" fmla="val 4109"/>
            </a:avLst>
          </a:prstGeom>
          <a:solidFill>
            <a:schemeClr val="bg1"/>
          </a:solidFill>
          <a:ln>
            <a:solidFill>
              <a:srgbClr val="297FD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>
              <a:spcAft>
                <a:spcPts val="600"/>
              </a:spcAft>
            </a:pPr>
            <a:endParaRPr lang="en-US" sz="1600" b="1" err="1"/>
          </a:p>
        </p:txBody>
      </p:sp>
      <p:sp>
        <p:nvSpPr>
          <p:cNvPr id="37" name="Rounded Rectangle 18">
            <a:extLst>
              <a:ext uri="{FF2B5EF4-FFF2-40B4-BE49-F238E27FC236}">
                <a16:creationId xmlns:a16="http://schemas.microsoft.com/office/drawing/2014/main" id="{AD283D96-9E02-18E8-9937-1EFA26649BC2}"/>
              </a:ext>
            </a:extLst>
          </p:cNvPr>
          <p:cNvSpPr/>
          <p:nvPr/>
        </p:nvSpPr>
        <p:spPr>
          <a:xfrm>
            <a:off x="4325302" y="2494011"/>
            <a:ext cx="3277701" cy="1200274"/>
          </a:xfrm>
          <a:prstGeom prst="roundRect">
            <a:avLst>
              <a:gd name="adj" fmla="val 4109"/>
            </a:avLst>
          </a:prstGeom>
          <a:solidFill>
            <a:schemeClr val="bg1"/>
          </a:solidFill>
          <a:ln>
            <a:solidFill>
              <a:srgbClr val="297FD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>
              <a:spcAft>
                <a:spcPts val="600"/>
              </a:spcAft>
            </a:pPr>
            <a:endParaRPr lang="en-US" sz="1600" b="1" err="1"/>
          </a:p>
        </p:txBody>
      </p:sp>
      <p:sp>
        <p:nvSpPr>
          <p:cNvPr id="38" name="Rounded Rectangle 18">
            <a:extLst>
              <a:ext uri="{FF2B5EF4-FFF2-40B4-BE49-F238E27FC236}">
                <a16:creationId xmlns:a16="http://schemas.microsoft.com/office/drawing/2014/main" id="{A96A08D5-1321-A07A-4C5B-BDD37E3B4046}"/>
              </a:ext>
            </a:extLst>
          </p:cNvPr>
          <p:cNvSpPr/>
          <p:nvPr/>
        </p:nvSpPr>
        <p:spPr>
          <a:xfrm>
            <a:off x="4325301" y="3794806"/>
            <a:ext cx="3277701" cy="1200274"/>
          </a:xfrm>
          <a:prstGeom prst="roundRect">
            <a:avLst>
              <a:gd name="adj" fmla="val 4109"/>
            </a:avLst>
          </a:prstGeom>
          <a:solidFill>
            <a:schemeClr val="bg1"/>
          </a:solidFill>
          <a:ln>
            <a:solidFill>
              <a:srgbClr val="297FD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>
              <a:spcAft>
                <a:spcPts val="600"/>
              </a:spcAft>
            </a:pPr>
            <a:endParaRPr lang="en-US" sz="1600" b="1" err="1"/>
          </a:p>
        </p:txBody>
      </p:sp>
      <p:sp>
        <p:nvSpPr>
          <p:cNvPr id="23" name="Rounded Rectangle 18">
            <a:extLst>
              <a:ext uri="{FF2B5EF4-FFF2-40B4-BE49-F238E27FC236}">
                <a16:creationId xmlns:a16="http://schemas.microsoft.com/office/drawing/2014/main" id="{9F51AFDA-8BA6-1853-4FC6-DE9A48EF3F84}"/>
              </a:ext>
            </a:extLst>
          </p:cNvPr>
          <p:cNvSpPr/>
          <p:nvPr/>
        </p:nvSpPr>
        <p:spPr>
          <a:xfrm>
            <a:off x="339735" y="1200022"/>
            <a:ext cx="3673709" cy="1200274"/>
          </a:xfrm>
          <a:prstGeom prst="roundRect">
            <a:avLst>
              <a:gd name="adj" fmla="val 4109"/>
            </a:avLst>
          </a:prstGeom>
          <a:solidFill>
            <a:schemeClr val="bg1"/>
          </a:solidFill>
          <a:ln>
            <a:solidFill>
              <a:srgbClr val="297FD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>
              <a:spcAft>
                <a:spcPts val="600"/>
              </a:spcAft>
            </a:pPr>
            <a:endParaRPr lang="en-US" sz="1600" b="1" err="1"/>
          </a:p>
        </p:txBody>
      </p:sp>
      <p:sp>
        <p:nvSpPr>
          <p:cNvPr id="34" name="Rounded Rectangle 18">
            <a:extLst>
              <a:ext uri="{FF2B5EF4-FFF2-40B4-BE49-F238E27FC236}">
                <a16:creationId xmlns:a16="http://schemas.microsoft.com/office/drawing/2014/main" id="{E3D2271D-1C80-DADD-BC2D-67F2DEF6AE30}"/>
              </a:ext>
            </a:extLst>
          </p:cNvPr>
          <p:cNvSpPr/>
          <p:nvPr/>
        </p:nvSpPr>
        <p:spPr>
          <a:xfrm>
            <a:off x="339735" y="2498549"/>
            <a:ext cx="3673709" cy="1200274"/>
          </a:xfrm>
          <a:prstGeom prst="roundRect">
            <a:avLst>
              <a:gd name="adj" fmla="val 4109"/>
            </a:avLst>
          </a:prstGeom>
          <a:solidFill>
            <a:schemeClr val="bg1"/>
          </a:solidFill>
          <a:ln>
            <a:solidFill>
              <a:srgbClr val="297FD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>
              <a:spcAft>
                <a:spcPts val="600"/>
              </a:spcAft>
            </a:pPr>
            <a:endParaRPr lang="en-US" sz="1600" b="1" err="1"/>
          </a:p>
        </p:txBody>
      </p:sp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9A911CAA-DBC1-DE9B-E73C-BF1448E836F9}"/>
              </a:ext>
            </a:extLst>
          </p:cNvPr>
          <p:cNvSpPr/>
          <p:nvPr/>
        </p:nvSpPr>
        <p:spPr>
          <a:xfrm>
            <a:off x="339735" y="3797076"/>
            <a:ext cx="3673709" cy="1200274"/>
          </a:xfrm>
          <a:prstGeom prst="roundRect">
            <a:avLst>
              <a:gd name="adj" fmla="val 4109"/>
            </a:avLst>
          </a:prstGeom>
          <a:solidFill>
            <a:schemeClr val="bg1"/>
          </a:solidFill>
          <a:ln>
            <a:solidFill>
              <a:srgbClr val="297FD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>
              <a:spcAft>
                <a:spcPts val="600"/>
              </a:spcAft>
            </a:pPr>
            <a:endParaRPr lang="en-US" sz="1600" b="1" err="1"/>
          </a:p>
        </p:txBody>
      </p:sp>
      <p:sp>
        <p:nvSpPr>
          <p:cNvPr id="36" name="Rounded Rectangle 18">
            <a:extLst>
              <a:ext uri="{FF2B5EF4-FFF2-40B4-BE49-F238E27FC236}">
                <a16:creationId xmlns:a16="http://schemas.microsoft.com/office/drawing/2014/main" id="{2E89BFB7-D493-45CC-82F5-E3F7A361AE65}"/>
              </a:ext>
            </a:extLst>
          </p:cNvPr>
          <p:cNvSpPr/>
          <p:nvPr/>
        </p:nvSpPr>
        <p:spPr>
          <a:xfrm>
            <a:off x="339735" y="5095602"/>
            <a:ext cx="3673709" cy="1200274"/>
          </a:xfrm>
          <a:prstGeom prst="roundRect">
            <a:avLst>
              <a:gd name="adj" fmla="val 4109"/>
            </a:avLst>
          </a:prstGeom>
          <a:solidFill>
            <a:schemeClr val="bg1"/>
          </a:solidFill>
          <a:ln>
            <a:solidFill>
              <a:srgbClr val="297FD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>
              <a:spcAft>
                <a:spcPts val="600"/>
              </a:spcAft>
            </a:pPr>
            <a:endParaRPr lang="en-US" sz="1600" b="1" err="1"/>
          </a:p>
        </p:txBody>
      </p:sp>
      <p:sp>
        <p:nvSpPr>
          <p:cNvPr id="24" name="Rounded Rectangle 18">
            <a:extLst>
              <a:ext uri="{FF2B5EF4-FFF2-40B4-BE49-F238E27FC236}">
                <a16:creationId xmlns:a16="http://schemas.microsoft.com/office/drawing/2014/main" id="{539778B0-D60C-AAD7-4912-844FA65B8FC3}"/>
              </a:ext>
            </a:extLst>
          </p:cNvPr>
          <p:cNvSpPr/>
          <p:nvPr/>
        </p:nvSpPr>
        <p:spPr>
          <a:xfrm>
            <a:off x="4328221" y="1200022"/>
            <a:ext cx="3277701" cy="1200274"/>
          </a:xfrm>
          <a:prstGeom prst="roundRect">
            <a:avLst>
              <a:gd name="adj" fmla="val 4109"/>
            </a:avLst>
          </a:prstGeom>
          <a:solidFill>
            <a:schemeClr val="bg1"/>
          </a:solidFill>
          <a:ln>
            <a:solidFill>
              <a:srgbClr val="297FD5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>
              <a:spcAft>
                <a:spcPts val="600"/>
              </a:spcAft>
            </a:pPr>
            <a:endParaRPr lang="en-US" sz="1600" b="1" err="1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7C6F539-F9A7-A02E-2263-4A1B7114528A}"/>
              </a:ext>
            </a:extLst>
          </p:cNvPr>
          <p:cNvSpPr/>
          <p:nvPr/>
        </p:nvSpPr>
        <p:spPr>
          <a:xfrm>
            <a:off x="8535766" y="1932806"/>
            <a:ext cx="3275234" cy="37969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>
              <a:spcAft>
                <a:spcPts val="600"/>
              </a:spcAft>
            </a:pPr>
            <a:endParaRPr lang="en-US" sz="1600" b="1" err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DC7A51-EAF3-2DDD-6BBF-6F43B1811135}"/>
              </a:ext>
            </a:extLst>
          </p:cNvPr>
          <p:cNvSpPr/>
          <p:nvPr/>
        </p:nvSpPr>
        <p:spPr>
          <a:xfrm>
            <a:off x="8802473" y="2108200"/>
            <a:ext cx="2765876" cy="34046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700" b="1">
              <a:solidFill>
                <a:schemeClr val="tx1"/>
              </a:solidFill>
            </a:endParaRPr>
          </a:p>
          <a:p>
            <a:pPr algn="ctr"/>
            <a:endParaRPr lang="en-US" sz="1631" i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7B370E-32AC-E439-F372-40AFB616A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Illustrative Survey Questions</a:t>
            </a:r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BFBD1F23-A811-D05B-1EE0-76A783A0A8AE}"/>
              </a:ext>
            </a:extLst>
          </p:cNvPr>
          <p:cNvSpPr/>
          <p:nvPr/>
        </p:nvSpPr>
        <p:spPr>
          <a:xfrm>
            <a:off x="519694" y="1302881"/>
            <a:ext cx="3493750" cy="90105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400" kern="0">
                <a:solidFill>
                  <a:schemeClr val="tx1"/>
                </a:solidFill>
              </a:rPr>
              <a:t>What is the avg. infrastructure utilization of capacity?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0">
              <a:solidFill>
                <a:schemeClr val="tx1"/>
              </a:solidFill>
            </a:endParaRPr>
          </a:p>
          <a:p>
            <a:r>
              <a:rPr lang="en-US" sz="1000" kern="0">
                <a:solidFill>
                  <a:schemeClr val="tx1"/>
                </a:solidFill>
              </a:rPr>
              <a:t>&lt;Please average the following: Wi-Fi, LAN, NH-DAS, Wired to Stadium&gt;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EB8BFF-B6D3-7CF7-1703-41130D14320B}"/>
              </a:ext>
            </a:extLst>
          </p:cNvPr>
          <p:cNvSpPr/>
          <p:nvPr/>
        </p:nvSpPr>
        <p:spPr>
          <a:xfrm>
            <a:off x="654513" y="809558"/>
            <a:ext cx="2496957" cy="478805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Survey Question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4C2568-AEAC-AADB-2683-DC2AA43F4331}"/>
              </a:ext>
            </a:extLst>
          </p:cNvPr>
          <p:cNvSpPr/>
          <p:nvPr/>
        </p:nvSpPr>
        <p:spPr>
          <a:xfrm>
            <a:off x="4715671" y="809557"/>
            <a:ext cx="2496957" cy="478805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Answer Options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66A4A7-D28B-77F5-AFA6-DAE4C0DA795A}"/>
              </a:ext>
            </a:extLst>
          </p:cNvPr>
          <p:cNvSpPr/>
          <p:nvPr/>
        </p:nvSpPr>
        <p:spPr>
          <a:xfrm>
            <a:off x="8535766" y="1182103"/>
            <a:ext cx="3275234" cy="478805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Correlation Opportunities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1F54FF07-EE83-A05C-B38F-ADABEE7D4926}"/>
              </a:ext>
            </a:extLst>
          </p:cNvPr>
          <p:cNvSpPr/>
          <p:nvPr/>
        </p:nvSpPr>
        <p:spPr>
          <a:xfrm>
            <a:off x="8623862" y="1790748"/>
            <a:ext cx="2989638" cy="393903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kern="0">
                <a:solidFill>
                  <a:schemeClr val="tx1"/>
                </a:solidFill>
                <a:latin typeface="Graphik" panose="020B0503030202060203" pitchFamily="34" charset="0"/>
              </a:rPr>
              <a:t>Impact to concessions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kern="0">
                <a:solidFill>
                  <a:schemeClr val="tx1"/>
                </a:solidFill>
                <a:latin typeface="Graphik" panose="020B0503030202060203" pitchFamily="34" charset="0"/>
              </a:rPr>
              <a:t>Impact to retail sales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kern="0">
                <a:solidFill>
                  <a:schemeClr val="tx1"/>
                </a:solidFill>
                <a:latin typeface="Graphik" panose="020B0503030202060203" pitchFamily="34" charset="0"/>
              </a:rPr>
              <a:t>Impact to gate entry/exit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kern="0">
                <a:solidFill>
                  <a:schemeClr val="tx1"/>
                </a:solidFill>
                <a:latin typeface="Graphik" panose="020B0503030202060203" pitchFamily="34" charset="0"/>
              </a:rPr>
              <a:t>Impact to service delivery to partners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kern="0">
                <a:solidFill>
                  <a:schemeClr val="tx1"/>
                </a:solidFill>
                <a:latin typeface="Graphik" panose="020B0503030202060203" pitchFamily="34" charset="0"/>
              </a:rPr>
              <a:t>Impact to mobile applications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kern="0">
                <a:solidFill>
                  <a:schemeClr val="tx1"/>
                </a:solidFill>
                <a:latin typeface="Graphik" panose="020B0503030202060203" pitchFamily="34" charset="0"/>
              </a:rPr>
              <a:t>Impact to 3</a:t>
            </a:r>
            <a:r>
              <a:rPr lang="en-US" sz="1400" kern="0" baseline="30000">
                <a:solidFill>
                  <a:schemeClr val="tx1"/>
                </a:solidFill>
                <a:latin typeface="Graphik" panose="020B0503030202060203" pitchFamily="34" charset="0"/>
              </a:rPr>
              <a:t>rd</a:t>
            </a:r>
            <a:r>
              <a:rPr lang="en-US" sz="1400" kern="0">
                <a:solidFill>
                  <a:schemeClr val="tx1"/>
                </a:solidFill>
                <a:latin typeface="Graphik" panose="020B0503030202060203" pitchFamily="34" charset="0"/>
              </a:rPr>
              <a:t> party integrations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kern="0">
                <a:solidFill>
                  <a:schemeClr val="tx1"/>
                </a:solidFill>
                <a:latin typeface="Graphik" panose="020B0503030202060203" pitchFamily="34" charset="0"/>
              </a:rPr>
              <a:t>Impact to advertising capabilities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kern="0">
                <a:solidFill>
                  <a:schemeClr val="tx1"/>
                </a:solidFill>
                <a:latin typeface="Graphik" panose="020B0503030202060203" pitchFamily="34" charset="0"/>
              </a:rPr>
              <a:t>Impact to innovation rollouts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kern="0">
                <a:solidFill>
                  <a:schemeClr val="tx1"/>
                </a:solidFill>
                <a:latin typeface="Graphik" panose="020B0503030202060203" pitchFamily="34" charset="0"/>
              </a:rPr>
              <a:t>Impact to non-gameday operations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kern="0">
                <a:solidFill>
                  <a:schemeClr val="tx1"/>
                </a:solidFill>
                <a:latin typeface="Graphik" panose="020B0503030202060203" pitchFamily="34" charset="0"/>
              </a:rPr>
              <a:t>Impact to stadium maintenance operations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FC5D6B8C-B161-DC4F-EFAB-1030C52E7E44}"/>
              </a:ext>
            </a:extLst>
          </p:cNvPr>
          <p:cNvSpPr/>
          <p:nvPr/>
        </p:nvSpPr>
        <p:spPr>
          <a:xfrm>
            <a:off x="519694" y="2498548"/>
            <a:ext cx="3493750" cy="1200274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400">
                <a:solidFill>
                  <a:schemeClr val="tx1"/>
                </a:solidFill>
              </a:rPr>
              <a:t>How many IT service calls happen leading on game day? </a:t>
            </a:r>
          </a:p>
          <a:p>
            <a:endParaRPr lang="en-US" sz="1200">
              <a:solidFill>
                <a:schemeClr val="tx1"/>
              </a:solidFill>
            </a:endParaRPr>
          </a:p>
          <a:p>
            <a:r>
              <a:rPr lang="en-US" sz="1050">
                <a:solidFill>
                  <a:schemeClr val="tx1"/>
                </a:solidFill>
              </a:rPr>
              <a:t>&lt;Please be inclusive across infrastructure, services partners, </a:t>
            </a:r>
            <a:r>
              <a:rPr lang="en-US" sz="1050" err="1">
                <a:solidFill>
                  <a:schemeClr val="tx1"/>
                </a:solidFill>
              </a:rPr>
              <a:t>etc</a:t>
            </a:r>
            <a:r>
              <a:rPr lang="en-US" sz="1050">
                <a:solidFill>
                  <a:schemeClr val="tx1"/>
                </a:solidFill>
              </a:rPr>
              <a:t>&gt;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6343F4E1-D3AA-822A-68D6-01939DD4D650}"/>
              </a:ext>
            </a:extLst>
          </p:cNvPr>
          <p:cNvSpPr/>
          <p:nvPr/>
        </p:nvSpPr>
        <p:spPr>
          <a:xfrm>
            <a:off x="516395" y="4025900"/>
            <a:ext cx="3497049" cy="73499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400">
                <a:solidFill>
                  <a:schemeClr val="tx1"/>
                </a:solidFill>
              </a:rPr>
              <a:t>Where does predictive analytics provide the most revenue and/or operational savings?</a:t>
            </a:r>
          </a:p>
          <a:p>
            <a:endParaRPr lang="en-US" sz="1200">
              <a:solidFill>
                <a:schemeClr val="tx1"/>
              </a:solidFill>
            </a:endParaRPr>
          </a:p>
          <a:p>
            <a:r>
              <a:rPr lang="en-US" sz="1050">
                <a:solidFill>
                  <a:schemeClr val="tx1"/>
                </a:solidFill>
              </a:rPr>
              <a:t>&lt;Please select from the list&gt;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08991455-938B-529A-1ACB-B7F10C914BD3}"/>
              </a:ext>
            </a:extLst>
          </p:cNvPr>
          <p:cNvSpPr/>
          <p:nvPr/>
        </p:nvSpPr>
        <p:spPr>
          <a:xfrm>
            <a:off x="516395" y="5332057"/>
            <a:ext cx="3497049" cy="72736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400">
                <a:solidFill>
                  <a:schemeClr val="tx1"/>
                </a:solidFill>
              </a:rPr>
              <a:t>What capabilities are enabled on the mobile that generate revenue, impact fan experience, or support operations?</a:t>
            </a:r>
          </a:p>
          <a:p>
            <a:endParaRPr lang="en-US" sz="1200" kern="0">
              <a:solidFill>
                <a:schemeClr val="tx1"/>
              </a:solidFill>
            </a:endParaRPr>
          </a:p>
          <a:p>
            <a:r>
              <a:rPr lang="en-US" sz="1050">
                <a:solidFill>
                  <a:schemeClr val="tx1"/>
                </a:solidFill>
              </a:rPr>
              <a:t>&lt;Please select from the list&gt;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4DEF11BF-82CA-F16B-10A5-038AD56A2500}"/>
              </a:ext>
            </a:extLst>
          </p:cNvPr>
          <p:cNvSpPr/>
          <p:nvPr/>
        </p:nvSpPr>
        <p:spPr>
          <a:xfrm>
            <a:off x="5411489" y="2528298"/>
            <a:ext cx="1105319" cy="1124438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200">
                <a:solidFill>
                  <a:schemeClr val="tx1"/>
                </a:solidFill>
              </a:rPr>
              <a:t>A) &lt; 20</a:t>
            </a:r>
          </a:p>
          <a:p>
            <a:r>
              <a:rPr lang="en-US" sz="1200">
                <a:solidFill>
                  <a:schemeClr val="tx1"/>
                </a:solidFill>
              </a:rPr>
              <a:t>B) 20 – 50</a:t>
            </a:r>
          </a:p>
          <a:p>
            <a:r>
              <a:rPr lang="en-US" sz="1200">
                <a:solidFill>
                  <a:schemeClr val="tx1"/>
                </a:solidFill>
              </a:rPr>
              <a:t>C) &gt;50</a:t>
            </a:r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E3865D93-C049-FEE7-575A-1137A53C2A79}"/>
              </a:ext>
            </a:extLst>
          </p:cNvPr>
          <p:cNvSpPr/>
          <p:nvPr/>
        </p:nvSpPr>
        <p:spPr>
          <a:xfrm>
            <a:off x="5411489" y="3936876"/>
            <a:ext cx="2191512" cy="91613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200">
                <a:solidFill>
                  <a:schemeClr val="tx1"/>
                </a:solidFill>
              </a:rPr>
              <a:t>N/A, Crowd Density, wayfinding, concessions demand, predictive maintenance, etc.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4CD62795-479E-AE00-E34F-23135D64D800}"/>
              </a:ext>
            </a:extLst>
          </p:cNvPr>
          <p:cNvSpPr/>
          <p:nvPr/>
        </p:nvSpPr>
        <p:spPr>
          <a:xfrm>
            <a:off x="5411489" y="5325248"/>
            <a:ext cx="2191512" cy="727363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200">
                <a:solidFill>
                  <a:schemeClr val="tx1"/>
                </a:solidFill>
              </a:rPr>
              <a:t>AI chatbot, Concessions, Replays, Wayfinding, Spill reporting, etc.</a:t>
            </a:r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F713FAC4-A140-381C-D5C5-5D6F11BC9003}"/>
              </a:ext>
            </a:extLst>
          </p:cNvPr>
          <p:cNvSpPr/>
          <p:nvPr/>
        </p:nvSpPr>
        <p:spPr>
          <a:xfrm>
            <a:off x="5411489" y="1294722"/>
            <a:ext cx="1105319" cy="1009712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200">
                <a:solidFill>
                  <a:schemeClr val="tx1"/>
                </a:solidFill>
              </a:rPr>
              <a:t>A) &lt; 50%</a:t>
            </a:r>
          </a:p>
          <a:p>
            <a:r>
              <a:rPr lang="en-US" sz="1200">
                <a:solidFill>
                  <a:schemeClr val="tx1"/>
                </a:solidFill>
              </a:rPr>
              <a:t>B) 51 – 75%</a:t>
            </a:r>
          </a:p>
          <a:p>
            <a:r>
              <a:rPr lang="en-US" sz="1200">
                <a:solidFill>
                  <a:schemeClr val="tx1"/>
                </a:solidFill>
              </a:rPr>
              <a:t>C) &gt; 75%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837E583-B82B-2ED1-F8A2-2632D30585BC}"/>
              </a:ext>
            </a:extLst>
          </p:cNvPr>
          <p:cNvSpPr/>
          <p:nvPr/>
        </p:nvSpPr>
        <p:spPr>
          <a:xfrm rot="5400000">
            <a:off x="6955966" y="3378104"/>
            <a:ext cx="2610889" cy="296518"/>
          </a:xfrm>
          <a:prstGeom prst="triangle">
            <a:avLst/>
          </a:prstGeom>
          <a:solidFill>
            <a:srgbClr val="297FD5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7DECB567-2F17-A707-2357-FF09E01BF8ED}"/>
              </a:ext>
            </a:extLst>
          </p:cNvPr>
          <p:cNvSpPr/>
          <p:nvPr/>
        </p:nvSpPr>
        <p:spPr>
          <a:xfrm rot="16200000" flipH="1">
            <a:off x="6554092" y="3378104"/>
            <a:ext cx="2610889" cy="296518"/>
          </a:xfrm>
          <a:prstGeom prst="triangle">
            <a:avLst/>
          </a:prstGeom>
          <a:solidFill>
            <a:srgbClr val="297FD5"/>
          </a:solidFill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4AFDB04-803E-94CE-212E-6030972A9C4A}"/>
              </a:ext>
            </a:extLst>
          </p:cNvPr>
          <p:cNvSpPr/>
          <p:nvPr/>
        </p:nvSpPr>
        <p:spPr>
          <a:xfrm>
            <a:off x="108783" y="1613379"/>
            <a:ext cx="365760" cy="365760"/>
          </a:xfrm>
          <a:prstGeom prst="ellipse">
            <a:avLst/>
          </a:prstGeom>
          <a:solidFill>
            <a:srgbClr val="297FD5"/>
          </a:solidFill>
          <a:ln w="9525">
            <a:solidFill>
              <a:srgbClr val="297FD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7B3C36-A929-AAB4-B48F-15B7F44ADCEC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4013444" y="1800159"/>
            <a:ext cx="314777" cy="0"/>
          </a:xfrm>
          <a:prstGeom prst="line">
            <a:avLst/>
          </a:prstGeom>
          <a:ln w="127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D4BFD945-52C6-D73C-A4E4-2209270F4820}"/>
              </a:ext>
            </a:extLst>
          </p:cNvPr>
          <p:cNvSpPr/>
          <p:nvPr/>
        </p:nvSpPr>
        <p:spPr>
          <a:xfrm>
            <a:off x="107622" y="2904936"/>
            <a:ext cx="365760" cy="365760"/>
          </a:xfrm>
          <a:prstGeom prst="ellipse">
            <a:avLst/>
          </a:prstGeom>
          <a:solidFill>
            <a:srgbClr val="297FD5"/>
          </a:solidFill>
          <a:ln w="9525">
            <a:solidFill>
              <a:srgbClr val="297FD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AF1D371-F513-AD8B-79D4-3381C915F13E}"/>
              </a:ext>
            </a:extLst>
          </p:cNvPr>
          <p:cNvSpPr/>
          <p:nvPr/>
        </p:nvSpPr>
        <p:spPr>
          <a:xfrm>
            <a:off x="107622" y="4208897"/>
            <a:ext cx="365760" cy="365760"/>
          </a:xfrm>
          <a:prstGeom prst="ellipse">
            <a:avLst/>
          </a:prstGeom>
          <a:solidFill>
            <a:srgbClr val="297FD5"/>
          </a:solidFill>
          <a:ln w="9525">
            <a:solidFill>
              <a:srgbClr val="297FD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A2421A8-A548-B620-9AFB-E08D94625BED}"/>
              </a:ext>
            </a:extLst>
          </p:cNvPr>
          <p:cNvSpPr/>
          <p:nvPr/>
        </p:nvSpPr>
        <p:spPr>
          <a:xfrm>
            <a:off x="107622" y="5512858"/>
            <a:ext cx="365760" cy="365760"/>
          </a:xfrm>
          <a:prstGeom prst="ellipse">
            <a:avLst/>
          </a:prstGeom>
          <a:solidFill>
            <a:srgbClr val="297FD5"/>
          </a:solidFill>
          <a:ln w="9525">
            <a:solidFill>
              <a:srgbClr val="297FD5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2A83850-8AFF-FC41-E2E6-0F783B809FDE}"/>
              </a:ext>
            </a:extLst>
          </p:cNvPr>
          <p:cNvCxnSpPr>
            <a:cxnSpLocks/>
            <a:stCxn id="34" idx="3"/>
            <a:endCxn id="37" idx="1"/>
          </p:cNvCxnSpPr>
          <p:nvPr/>
        </p:nvCxnSpPr>
        <p:spPr>
          <a:xfrm flipV="1">
            <a:off x="4013444" y="3094148"/>
            <a:ext cx="311858" cy="4538"/>
          </a:xfrm>
          <a:prstGeom prst="line">
            <a:avLst/>
          </a:prstGeom>
          <a:ln w="127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052016-B7CA-8A5B-C983-1E49C935DEAB}"/>
              </a:ext>
            </a:extLst>
          </p:cNvPr>
          <p:cNvCxnSpPr>
            <a:cxnSpLocks/>
            <a:stCxn id="35" idx="3"/>
            <a:endCxn id="38" idx="1"/>
          </p:cNvCxnSpPr>
          <p:nvPr/>
        </p:nvCxnSpPr>
        <p:spPr>
          <a:xfrm flipV="1">
            <a:off x="4013444" y="4394943"/>
            <a:ext cx="311857" cy="2270"/>
          </a:xfrm>
          <a:prstGeom prst="line">
            <a:avLst/>
          </a:prstGeom>
          <a:ln w="127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8AD487A-B816-5BD4-E7D1-DFA0637A261D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 flipV="1">
            <a:off x="4013444" y="5691200"/>
            <a:ext cx="311856" cy="4539"/>
          </a:xfrm>
          <a:prstGeom prst="line">
            <a:avLst/>
          </a:prstGeom>
          <a:ln w="127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6">
            <a:extLst>
              <a:ext uri="{FF2B5EF4-FFF2-40B4-BE49-F238E27FC236}">
                <a16:creationId xmlns:a16="http://schemas.microsoft.com/office/drawing/2014/main" id="{1D93067E-41B7-15E9-93C4-48E39D6A9C8B}"/>
              </a:ext>
            </a:extLst>
          </p:cNvPr>
          <p:cNvSpPr/>
          <p:nvPr/>
        </p:nvSpPr>
        <p:spPr>
          <a:xfrm>
            <a:off x="4390627" y="1290966"/>
            <a:ext cx="1105319" cy="1009712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200" b="1">
                <a:solidFill>
                  <a:schemeClr val="tx1"/>
                </a:solidFill>
              </a:rPr>
              <a:t>Select One:</a:t>
            </a:r>
          </a:p>
        </p:txBody>
      </p:sp>
      <p:sp>
        <p:nvSpPr>
          <p:cNvPr id="54" name="Rounded Rectangle 6">
            <a:extLst>
              <a:ext uri="{FF2B5EF4-FFF2-40B4-BE49-F238E27FC236}">
                <a16:creationId xmlns:a16="http://schemas.microsoft.com/office/drawing/2014/main" id="{1828CB2F-6B47-429B-79B8-06040C381E3E}"/>
              </a:ext>
            </a:extLst>
          </p:cNvPr>
          <p:cNvSpPr/>
          <p:nvPr/>
        </p:nvSpPr>
        <p:spPr>
          <a:xfrm>
            <a:off x="4390628" y="2580239"/>
            <a:ext cx="1105319" cy="1009712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200" b="1">
                <a:solidFill>
                  <a:schemeClr val="tx1"/>
                </a:solidFill>
              </a:rPr>
              <a:t>Select One:</a:t>
            </a:r>
          </a:p>
        </p:txBody>
      </p:sp>
      <p:sp>
        <p:nvSpPr>
          <p:cNvPr id="45" name="Rounded Rectangle 6">
            <a:extLst>
              <a:ext uri="{FF2B5EF4-FFF2-40B4-BE49-F238E27FC236}">
                <a16:creationId xmlns:a16="http://schemas.microsoft.com/office/drawing/2014/main" id="{4B11F587-6FC0-BA48-AD3A-1DCDA7D62FE1}"/>
              </a:ext>
            </a:extLst>
          </p:cNvPr>
          <p:cNvSpPr/>
          <p:nvPr/>
        </p:nvSpPr>
        <p:spPr>
          <a:xfrm>
            <a:off x="4390627" y="3886921"/>
            <a:ext cx="1105319" cy="1009712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200" b="1">
                <a:solidFill>
                  <a:schemeClr val="tx1"/>
                </a:solidFill>
              </a:rPr>
              <a:t>Multi-Select options:</a:t>
            </a:r>
          </a:p>
        </p:txBody>
      </p:sp>
      <p:sp>
        <p:nvSpPr>
          <p:cNvPr id="55" name="Rounded Rectangle 6">
            <a:extLst>
              <a:ext uri="{FF2B5EF4-FFF2-40B4-BE49-F238E27FC236}">
                <a16:creationId xmlns:a16="http://schemas.microsoft.com/office/drawing/2014/main" id="{5C41CD51-A305-EAAE-8321-7A52074A7E01}"/>
              </a:ext>
            </a:extLst>
          </p:cNvPr>
          <p:cNvSpPr/>
          <p:nvPr/>
        </p:nvSpPr>
        <p:spPr>
          <a:xfrm>
            <a:off x="4390626" y="5190882"/>
            <a:ext cx="1105319" cy="1009712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200" b="1">
                <a:solidFill>
                  <a:schemeClr val="tx1"/>
                </a:solidFill>
              </a:rPr>
              <a:t>Multi-Select options:</a:t>
            </a:r>
          </a:p>
        </p:txBody>
      </p:sp>
    </p:spTree>
    <p:extLst>
      <p:ext uri="{BB962C8B-B14F-4D97-AF65-F5344CB8AC3E}">
        <p14:creationId xmlns:p14="http://schemas.microsoft.com/office/powerpoint/2010/main" val="171332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096846-7991-7E56-5B36-2423CC7DA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17A09-0573-2ED3-1C82-5F9A926B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48A08507-171D-D5E3-945F-C0940F594279}"/>
              </a:ext>
            </a:extLst>
          </p:cNvPr>
          <p:cNvSpPr/>
          <p:nvPr/>
        </p:nvSpPr>
        <p:spPr>
          <a:xfrm>
            <a:off x="508000" y="1206500"/>
            <a:ext cx="10795000" cy="424179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b="1" kern="0">
                <a:solidFill>
                  <a:schemeClr val="tx1"/>
                </a:solidFill>
                <a:latin typeface="Graphik" panose="020B0503030202060203" pitchFamily="34" charset="0"/>
              </a:rPr>
              <a:t>Agreed upon scope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b="1" kern="0">
                <a:solidFill>
                  <a:schemeClr val="tx1"/>
                </a:solidFill>
                <a:latin typeface="Graphik" panose="020B0503030202060203" pitchFamily="34" charset="0"/>
              </a:rPr>
              <a:t>Finalize SOW for NFL review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b="1" kern="0">
                <a:solidFill>
                  <a:schemeClr val="tx1"/>
                </a:solidFill>
                <a:latin typeface="Graphik" panose="020B0503030202060203" pitchFamily="34" charset="0"/>
              </a:rPr>
              <a:t>Plan for kick-off while SOW is being finalized/signed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400" b="1" kern="0">
                <a:solidFill>
                  <a:schemeClr val="tx1"/>
                </a:solidFill>
                <a:latin typeface="Graphik" panose="020B0503030202060203" pitchFamily="34" charset="0"/>
              </a:rPr>
              <a:t>Finalize 3 clubs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400" b="1" kern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76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62">
            <a:extLst>
              <a:ext uri="{FF2B5EF4-FFF2-40B4-BE49-F238E27FC236}">
                <a16:creationId xmlns:a16="http://schemas.microsoft.com/office/drawing/2014/main" id="{F06F43AD-5644-233B-B3E2-4BECA4B980A6}"/>
              </a:ext>
            </a:extLst>
          </p:cNvPr>
          <p:cNvSpPr>
            <a:spLocks/>
          </p:cNvSpPr>
          <p:nvPr/>
        </p:nvSpPr>
        <p:spPr>
          <a:xfrm>
            <a:off x="0" y="1335149"/>
            <a:ext cx="12192000" cy="2582559"/>
          </a:xfrm>
          <a:prstGeom prst="roundRect">
            <a:avLst>
              <a:gd name="adj" fmla="val 99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endParaRPr lang="en-US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5DD8B-48FB-2448-771C-EB4E6811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Phase 2: Moving from Manual, Subjective Scoring to Automated, Defensible Benchmarking</a:t>
            </a:r>
          </a:p>
        </p:txBody>
      </p:sp>
      <p:sp>
        <p:nvSpPr>
          <p:cNvPr id="8" name="Rounded Rectangle 62">
            <a:extLst>
              <a:ext uri="{FF2B5EF4-FFF2-40B4-BE49-F238E27FC236}">
                <a16:creationId xmlns:a16="http://schemas.microsoft.com/office/drawing/2014/main" id="{4ABBA1C1-A1D9-034D-AE33-68D4529A1393}"/>
              </a:ext>
            </a:extLst>
          </p:cNvPr>
          <p:cNvSpPr>
            <a:spLocks/>
          </p:cNvSpPr>
          <p:nvPr/>
        </p:nvSpPr>
        <p:spPr>
          <a:xfrm>
            <a:off x="1041400" y="1371601"/>
            <a:ext cx="10591800" cy="2256848"/>
          </a:xfrm>
          <a:prstGeom prst="roundRect">
            <a:avLst>
              <a:gd name="adj" fmla="val 999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algn="ctr"/>
            <a:r>
              <a:rPr lang="en-US" sz="1600" b="1">
                <a:solidFill>
                  <a:srgbClr val="193369"/>
                </a:solidFill>
              </a:rPr>
              <a:t>Manual rationalization introduced scoring bias, review overhead, and limited scalability</a:t>
            </a:r>
            <a:endParaRPr lang="en-US" sz="1600"/>
          </a:p>
        </p:txBody>
      </p:sp>
      <p:sp>
        <p:nvSpPr>
          <p:cNvPr id="9" name="Rounded Rectangle 62">
            <a:extLst>
              <a:ext uri="{FF2B5EF4-FFF2-40B4-BE49-F238E27FC236}">
                <a16:creationId xmlns:a16="http://schemas.microsoft.com/office/drawing/2014/main" id="{2CF2EC51-099C-C0B8-E501-562DA8139241}"/>
              </a:ext>
            </a:extLst>
          </p:cNvPr>
          <p:cNvSpPr>
            <a:spLocks/>
          </p:cNvSpPr>
          <p:nvPr/>
        </p:nvSpPr>
        <p:spPr>
          <a:xfrm>
            <a:off x="2598912" y="3917709"/>
            <a:ext cx="7302678" cy="2256848"/>
          </a:xfrm>
          <a:prstGeom prst="roundRect">
            <a:avLst>
              <a:gd name="adj" fmla="val 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pPr algn="ctr"/>
            <a:r>
              <a:rPr lang="en-US" sz="1600" b="1">
                <a:solidFill>
                  <a:srgbClr val="193369"/>
                </a:solidFill>
              </a:rPr>
              <a:t>Standardized inputs eliminate manual normalization, reduce bias, and enable automated scoring across all 32 teams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167E7B3-F756-02DE-8FF3-B11D4768CC94}"/>
              </a:ext>
            </a:extLst>
          </p:cNvPr>
          <p:cNvSpPr/>
          <p:nvPr/>
        </p:nvSpPr>
        <p:spPr>
          <a:xfrm>
            <a:off x="6428557" y="2216405"/>
            <a:ext cx="1449658" cy="982994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b="1" kern="0">
                <a:solidFill>
                  <a:srgbClr val="7030A0"/>
                </a:solidFill>
                <a:latin typeface="Graphik" panose="020B0503030202060203" pitchFamily="34" charset="0"/>
              </a:rPr>
              <a:t>Scores calculated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5AB74B-4D36-1CD9-CF35-4EA8FA72A262}"/>
              </a:ext>
            </a:extLst>
          </p:cNvPr>
          <p:cNvSpPr/>
          <p:nvPr/>
        </p:nvSpPr>
        <p:spPr>
          <a:xfrm>
            <a:off x="8143430" y="2216405"/>
            <a:ext cx="1449658" cy="982994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b="1" kern="0">
                <a:solidFill>
                  <a:srgbClr val="7030A0"/>
                </a:solidFill>
                <a:latin typeface="Graphik" panose="020B0503030202060203" pitchFamily="34" charset="0"/>
              </a:rPr>
              <a:t>Scores weighted vs. </a:t>
            </a:r>
          </a:p>
          <a:p>
            <a:pPr algn="ctr"/>
            <a:r>
              <a:rPr lang="en-US" sz="1200" b="1" kern="0">
                <a:solidFill>
                  <a:srgbClr val="7030A0"/>
                </a:solidFill>
                <a:latin typeface="Graphik" panose="020B0503030202060203" pitchFamily="34" charset="0"/>
              </a:rPr>
              <a:t>indicative value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326DF05-BD0E-77E1-C42A-3968ACA47703}"/>
              </a:ext>
            </a:extLst>
          </p:cNvPr>
          <p:cNvSpPr/>
          <p:nvPr/>
        </p:nvSpPr>
        <p:spPr>
          <a:xfrm>
            <a:off x="9858303" y="2213617"/>
            <a:ext cx="1449658" cy="982994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b="1" kern="0">
                <a:solidFill>
                  <a:srgbClr val="7030A0"/>
                </a:solidFill>
                <a:latin typeface="Graphik" panose="020B0503030202060203" pitchFamily="34" charset="0"/>
              </a:rPr>
              <a:t>Results manually exported to dashboard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1455BBA-C89A-39AB-AD9E-E12F6DCA44BE}"/>
              </a:ext>
            </a:extLst>
          </p:cNvPr>
          <p:cNvSpPr/>
          <p:nvPr/>
        </p:nvSpPr>
        <p:spPr>
          <a:xfrm>
            <a:off x="1283938" y="2216405"/>
            <a:ext cx="1449658" cy="982994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b="1" kern="0">
                <a:solidFill>
                  <a:schemeClr val="bg2">
                    <a:lumMod val="50000"/>
                  </a:schemeClr>
                </a:solidFill>
                <a:latin typeface="Graphik" panose="020B0503030202060203" pitchFamily="34" charset="0"/>
              </a:rPr>
              <a:t>Survey Received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34A0E9-DF5E-A48C-B909-A671951CA1E3}"/>
              </a:ext>
            </a:extLst>
          </p:cNvPr>
          <p:cNvSpPr/>
          <p:nvPr/>
        </p:nvSpPr>
        <p:spPr>
          <a:xfrm>
            <a:off x="2998811" y="2216405"/>
            <a:ext cx="1449658" cy="982994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b="1" kern="0">
                <a:solidFill>
                  <a:schemeClr val="bg2">
                    <a:lumMod val="50000"/>
                  </a:schemeClr>
                </a:solidFill>
                <a:latin typeface="Graphik" panose="020B0503030202060203" pitchFamily="34" charset="0"/>
              </a:rPr>
              <a:t>”Free-form” responses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E89CB22-B002-7ED6-7DCB-3C143C641E26}"/>
              </a:ext>
            </a:extLst>
          </p:cNvPr>
          <p:cNvSpPr/>
          <p:nvPr/>
        </p:nvSpPr>
        <p:spPr>
          <a:xfrm>
            <a:off x="4713684" y="2216405"/>
            <a:ext cx="1449658" cy="982994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b="1" kern="0">
                <a:solidFill>
                  <a:srgbClr val="7030A0"/>
                </a:solidFill>
                <a:latin typeface="Graphik" panose="020B0503030202060203" pitchFamily="34" charset="0"/>
              </a:rPr>
              <a:t>Manually rationalized data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4B65A9A-5951-8E8E-2186-2ECE09999C85}"/>
              </a:ext>
            </a:extLst>
          </p:cNvPr>
          <p:cNvSpPr/>
          <p:nvPr/>
        </p:nvSpPr>
        <p:spPr>
          <a:xfrm>
            <a:off x="2998811" y="4759724"/>
            <a:ext cx="1449658" cy="982994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b="1" kern="0">
                <a:solidFill>
                  <a:schemeClr val="bg2">
                    <a:lumMod val="50000"/>
                  </a:schemeClr>
                </a:solidFill>
                <a:latin typeface="Graphik" panose="020B0503030202060203" pitchFamily="34" charset="0"/>
              </a:rPr>
              <a:t>Survey Received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D822CA3-E514-A0D5-7114-A7EE71EAD4E4}"/>
              </a:ext>
            </a:extLst>
          </p:cNvPr>
          <p:cNvSpPr/>
          <p:nvPr/>
        </p:nvSpPr>
        <p:spPr>
          <a:xfrm>
            <a:off x="4713684" y="4759724"/>
            <a:ext cx="1449658" cy="982994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b="1" kern="0">
                <a:solidFill>
                  <a:schemeClr val="bg2">
                    <a:lumMod val="50000"/>
                  </a:schemeClr>
                </a:solidFill>
                <a:latin typeface="Graphik" panose="020B0503030202060203" pitchFamily="34" charset="0"/>
              </a:rPr>
              <a:t>Standardized responses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BC528D6-4C2B-9518-9B09-CE5FAD194F6E}"/>
              </a:ext>
            </a:extLst>
          </p:cNvPr>
          <p:cNvSpPr/>
          <p:nvPr/>
        </p:nvSpPr>
        <p:spPr>
          <a:xfrm>
            <a:off x="6428557" y="4759724"/>
            <a:ext cx="1449658" cy="982994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b="1" kern="0">
                <a:solidFill>
                  <a:srgbClr val="7030A0"/>
                </a:solidFill>
                <a:latin typeface="Graphik" panose="020B0503030202060203" pitchFamily="34" charset="0"/>
              </a:rPr>
              <a:t>Automatically weighted against value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954CDC0-1720-31E9-4D0E-90491739F2F0}"/>
              </a:ext>
            </a:extLst>
          </p:cNvPr>
          <p:cNvSpPr/>
          <p:nvPr/>
        </p:nvSpPr>
        <p:spPr>
          <a:xfrm>
            <a:off x="8143430" y="4759724"/>
            <a:ext cx="1449658" cy="982994"/>
          </a:xfrm>
          <a:prstGeom prst="roundRect">
            <a:avLst/>
          </a:prstGeom>
          <a:solidFill>
            <a:schemeClr val="bg1"/>
          </a:solidFill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b="1" kern="0">
                <a:solidFill>
                  <a:srgbClr val="7030A0"/>
                </a:solidFill>
                <a:latin typeface="Graphik" panose="020B0503030202060203" pitchFamily="34" charset="0"/>
              </a:rPr>
              <a:t>Dashboard automatically updated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4DA1F01-C923-0A9B-83E5-987F338B5BF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733596" y="2707902"/>
            <a:ext cx="265215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4D8DB32-3B0C-9635-6AE9-593BC4BA5FAB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448469" y="2707902"/>
            <a:ext cx="265215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586DCF3-E7FF-4F6E-4E26-0B585968922A}"/>
              </a:ext>
            </a:extLst>
          </p:cNvPr>
          <p:cNvCxnSpPr>
            <a:cxnSpLocks/>
            <a:stCxn id="10" idx="3"/>
            <a:endCxn id="3" idx="1"/>
          </p:cNvCxnSpPr>
          <p:nvPr/>
        </p:nvCxnSpPr>
        <p:spPr>
          <a:xfrm>
            <a:off x="6163342" y="2707902"/>
            <a:ext cx="265215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D30BB9A-78C8-1D5A-C745-4D80D4F8488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7878215" y="2707902"/>
            <a:ext cx="265215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51CC6E5-0316-3907-7346-E1BB3ED13B3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9593088" y="2705114"/>
            <a:ext cx="265215" cy="278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98B7F04-54A6-CB5C-3DAA-77A42DB34E67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4448469" y="5251221"/>
            <a:ext cx="265215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494B583-22CA-5288-36BF-0FB143894386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6163342" y="5251221"/>
            <a:ext cx="265215" cy="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96A84E3-6E0E-C43A-0D5C-6F72534B9182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7878215" y="5251221"/>
            <a:ext cx="265215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A69020C-D391-5C19-924F-08705217A251}"/>
              </a:ext>
            </a:extLst>
          </p:cNvPr>
          <p:cNvSpPr txBox="1"/>
          <p:nvPr/>
        </p:nvSpPr>
        <p:spPr>
          <a:xfrm>
            <a:off x="2010113" y="637161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pic>
        <p:nvPicPr>
          <p:cNvPr id="62" name="Picture 61" descr="NFL_Shield_web.png">
            <a:extLst>
              <a:ext uri="{FF2B5EF4-FFF2-40B4-BE49-F238E27FC236}">
                <a16:creationId xmlns:a16="http://schemas.microsoft.com/office/drawing/2014/main" id="{F24EA328-FC26-9CF4-8870-BF313CCCD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681" y="2232008"/>
            <a:ext cx="215383" cy="295978"/>
          </a:xfrm>
          <a:prstGeom prst="rect">
            <a:avLst/>
          </a:prstGeom>
        </p:spPr>
      </p:pic>
      <p:pic>
        <p:nvPicPr>
          <p:cNvPr id="63" name="Picture 62" descr="NFL_Shield_web.png">
            <a:extLst>
              <a:ext uri="{FF2B5EF4-FFF2-40B4-BE49-F238E27FC236}">
                <a16:creationId xmlns:a16="http://schemas.microsoft.com/office/drawing/2014/main" id="{139EAFA2-C6EA-C358-4E99-78E194CAB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295" y="2232008"/>
            <a:ext cx="215383" cy="295978"/>
          </a:xfrm>
          <a:prstGeom prst="rect">
            <a:avLst/>
          </a:prstGeom>
        </p:spPr>
      </p:pic>
      <p:pic>
        <p:nvPicPr>
          <p:cNvPr id="64" name="Picture 63" descr="NFL_Shield_web.png">
            <a:extLst>
              <a:ext uri="{FF2B5EF4-FFF2-40B4-BE49-F238E27FC236}">
                <a16:creationId xmlns:a16="http://schemas.microsoft.com/office/drawing/2014/main" id="{F3518539-1FCE-41DC-28DB-DB00EFDC8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294" y="4778656"/>
            <a:ext cx="215383" cy="295978"/>
          </a:xfrm>
          <a:prstGeom prst="rect">
            <a:avLst/>
          </a:prstGeom>
        </p:spPr>
      </p:pic>
      <p:pic>
        <p:nvPicPr>
          <p:cNvPr id="65" name="Picture 64" descr="NFL_Shield_web.png">
            <a:extLst>
              <a:ext uri="{FF2B5EF4-FFF2-40B4-BE49-F238E27FC236}">
                <a16:creationId xmlns:a16="http://schemas.microsoft.com/office/drawing/2014/main" id="{C5F43458-F176-EB3C-33A4-E740F53BA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517" y="4778656"/>
            <a:ext cx="215383" cy="295978"/>
          </a:xfrm>
          <a:prstGeom prst="rect">
            <a:avLst/>
          </a:prstGeom>
        </p:spPr>
      </p:pic>
      <p:pic>
        <p:nvPicPr>
          <p:cNvPr id="70" name="Picture 69" descr="Accenture Logo, symbol, meaning, history, PNG, brand">
            <a:extLst>
              <a:ext uri="{FF2B5EF4-FFF2-40B4-BE49-F238E27FC236}">
                <a16:creationId xmlns:a16="http://schemas.microsoft.com/office/drawing/2014/main" id="{947663CD-5722-470D-8468-4FCE83515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538" y="2244576"/>
            <a:ext cx="348672" cy="196128"/>
          </a:xfrm>
          <a:prstGeom prst="rect">
            <a:avLst/>
          </a:prstGeom>
        </p:spPr>
      </p:pic>
      <p:pic>
        <p:nvPicPr>
          <p:cNvPr id="71" name="Picture 70" descr="Accenture Logo, symbol, meaning, history, PNG, brand">
            <a:extLst>
              <a:ext uri="{FF2B5EF4-FFF2-40B4-BE49-F238E27FC236}">
                <a16:creationId xmlns:a16="http://schemas.microsoft.com/office/drawing/2014/main" id="{F1C69D69-F5A7-AAF5-6A9E-F9B2010DF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411" y="2242480"/>
            <a:ext cx="348672" cy="196128"/>
          </a:xfrm>
          <a:prstGeom prst="rect">
            <a:avLst/>
          </a:prstGeom>
        </p:spPr>
      </p:pic>
      <p:pic>
        <p:nvPicPr>
          <p:cNvPr id="72" name="Picture 71" descr="Accenture Logo, symbol, meaning, history, PNG, brand">
            <a:extLst>
              <a:ext uri="{FF2B5EF4-FFF2-40B4-BE49-F238E27FC236}">
                <a16:creationId xmlns:a16="http://schemas.microsoft.com/office/drawing/2014/main" id="{2F303427-57CC-DF96-6353-5173CAFB4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458" y="2242480"/>
            <a:ext cx="348672" cy="196128"/>
          </a:xfrm>
          <a:prstGeom prst="rect">
            <a:avLst/>
          </a:prstGeom>
        </p:spPr>
      </p:pic>
      <p:pic>
        <p:nvPicPr>
          <p:cNvPr id="73" name="Picture 72" descr="Accenture Logo, symbol, meaning, history, PNG, brand">
            <a:extLst>
              <a:ext uri="{FF2B5EF4-FFF2-40B4-BE49-F238E27FC236}">
                <a16:creationId xmlns:a16="http://schemas.microsoft.com/office/drawing/2014/main" id="{9E4AE673-4216-2CC5-2856-0D5D4B845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1590" y="2244576"/>
            <a:ext cx="348672" cy="196128"/>
          </a:xfrm>
          <a:prstGeom prst="rect">
            <a:avLst/>
          </a:prstGeom>
        </p:spPr>
      </p:pic>
      <p:pic>
        <p:nvPicPr>
          <p:cNvPr id="74" name="Picture 73" descr="Accenture Logo, symbol, meaning, history, PNG, brand">
            <a:extLst>
              <a:ext uri="{FF2B5EF4-FFF2-40B4-BE49-F238E27FC236}">
                <a16:creationId xmlns:a16="http://schemas.microsoft.com/office/drawing/2014/main" id="{DD2BD969-B198-A6B4-F1C4-BE65576BE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411" y="4783855"/>
            <a:ext cx="348672" cy="196128"/>
          </a:xfrm>
          <a:prstGeom prst="rect">
            <a:avLst/>
          </a:prstGeom>
        </p:spPr>
      </p:pic>
      <p:pic>
        <p:nvPicPr>
          <p:cNvPr id="75" name="Picture 74" descr="Accenture Logo, symbol, meaning, history, PNG, brand">
            <a:extLst>
              <a:ext uri="{FF2B5EF4-FFF2-40B4-BE49-F238E27FC236}">
                <a16:creationId xmlns:a16="http://schemas.microsoft.com/office/drawing/2014/main" id="{B8C69070-6B7C-0EE3-B277-C3D17398F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458" y="4783855"/>
            <a:ext cx="348672" cy="19612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CE88B09-E94C-925D-9AC5-2F911E16BF60}"/>
              </a:ext>
            </a:extLst>
          </p:cNvPr>
          <p:cNvSpPr txBox="1"/>
          <p:nvPr/>
        </p:nvSpPr>
        <p:spPr>
          <a:xfrm rot="16200000">
            <a:off x="-918534" y="2533726"/>
            <a:ext cx="22568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solidFill>
                  <a:srgbClr val="193369"/>
                </a:solidFill>
              </a:rPr>
              <a:t>Prototype </a:t>
            </a:r>
            <a:endParaRPr lang="en-US" sz="20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B73F47-8E91-E2D2-02D6-1705EE9F278C}"/>
              </a:ext>
            </a:extLst>
          </p:cNvPr>
          <p:cNvSpPr txBox="1"/>
          <p:nvPr/>
        </p:nvSpPr>
        <p:spPr>
          <a:xfrm rot="16200000">
            <a:off x="-918534" y="5079834"/>
            <a:ext cx="22568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1">
                <a:solidFill>
                  <a:srgbClr val="193369"/>
                </a:solidFill>
              </a:defRPr>
            </a:lvl1pPr>
          </a:lstStyle>
          <a:p>
            <a:r>
              <a:rPr lang="en-US" sz="2000"/>
              <a:t>Phase 2</a:t>
            </a:r>
          </a:p>
        </p:txBody>
      </p:sp>
    </p:spTree>
    <p:extLst>
      <p:ext uri="{BB962C8B-B14F-4D97-AF65-F5344CB8AC3E}">
        <p14:creationId xmlns:p14="http://schemas.microsoft.com/office/powerpoint/2010/main" val="3301267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CE0EAB-4D90-FD97-9AAD-BC2F2B65D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4C19B76-DC39-455C-352C-8ADD7D6C2E77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2424970"/>
          <a:ext cx="11630026" cy="3200400"/>
        </p:xfrm>
        <a:graphic>
          <a:graphicData uri="http://schemas.openxmlformats.org/drawingml/2006/table">
            <a:tbl>
              <a:tblPr/>
              <a:tblGrid>
                <a:gridCol w="1406236">
                  <a:extLst>
                    <a:ext uri="{9D8B030D-6E8A-4147-A177-3AD203B41FA5}">
                      <a16:colId xmlns:a16="http://schemas.microsoft.com/office/drawing/2014/main" val="2788982316"/>
                    </a:ext>
                  </a:extLst>
                </a:gridCol>
                <a:gridCol w="3034146">
                  <a:extLst>
                    <a:ext uri="{9D8B030D-6E8A-4147-A177-3AD203B41FA5}">
                      <a16:colId xmlns:a16="http://schemas.microsoft.com/office/drawing/2014/main" val="932316482"/>
                    </a:ext>
                  </a:extLst>
                </a:gridCol>
                <a:gridCol w="2396548">
                  <a:extLst>
                    <a:ext uri="{9D8B030D-6E8A-4147-A177-3AD203B41FA5}">
                      <a16:colId xmlns:a16="http://schemas.microsoft.com/office/drawing/2014/main" val="1568455030"/>
                    </a:ext>
                  </a:extLst>
                </a:gridCol>
                <a:gridCol w="2396548">
                  <a:extLst>
                    <a:ext uri="{9D8B030D-6E8A-4147-A177-3AD203B41FA5}">
                      <a16:colId xmlns:a16="http://schemas.microsoft.com/office/drawing/2014/main" val="1732682949"/>
                    </a:ext>
                  </a:extLst>
                </a:gridCol>
                <a:gridCol w="2396548">
                  <a:extLst>
                    <a:ext uri="{9D8B030D-6E8A-4147-A177-3AD203B41FA5}">
                      <a16:colId xmlns:a16="http://schemas.microsoft.com/office/drawing/2014/main" val="142119541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Digital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Broadband networks, cloud hosting,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30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07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3484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Digital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SaaS, mobile applications,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30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76089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Technology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Wi-Fi, DAS, Fiber,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30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88076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Technology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Broadcast, 5G services,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30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07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32155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AI / Innovation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Graphik"/>
                          <a:ea typeface="+mn-ea"/>
                          <a:cs typeface="+mn-cs"/>
                        </a:rPr>
                        <a:t>New technology, POCs,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Graphik"/>
                          <a:ea typeface="+mn-ea"/>
                          <a:cs typeface="+mn-cs"/>
                        </a:rPr>
                        <a:t>etc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Graphik"/>
                        <a:ea typeface="+mn-ea"/>
                        <a:cs typeface="+mn-cs"/>
                      </a:endParaRPr>
                    </a:p>
                  </a:txBody>
                  <a:tcPr marL="146304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Graphik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Graphik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kern="1200">
                        <a:solidFill>
                          <a:schemeClr val="tx1"/>
                        </a:solidFill>
                        <a:latin typeface="Graphik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70038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174C60-20F8-BE39-249C-1AACB8C2A98E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819651" y="1320417"/>
          <a:ext cx="7191375" cy="1104553"/>
        </p:xfrm>
        <a:graphic>
          <a:graphicData uri="http://schemas.openxmlformats.org/drawingml/2006/table">
            <a:tbl>
              <a:tblPr/>
              <a:tblGrid>
                <a:gridCol w="2397125">
                  <a:extLst>
                    <a:ext uri="{9D8B030D-6E8A-4147-A177-3AD203B41FA5}">
                      <a16:colId xmlns:a16="http://schemas.microsoft.com/office/drawing/2014/main" val="2288890886"/>
                    </a:ext>
                  </a:extLst>
                </a:gridCol>
                <a:gridCol w="2397125">
                  <a:extLst>
                    <a:ext uri="{9D8B030D-6E8A-4147-A177-3AD203B41FA5}">
                      <a16:colId xmlns:a16="http://schemas.microsoft.com/office/drawing/2014/main" val="1321672478"/>
                    </a:ext>
                  </a:extLst>
                </a:gridCol>
                <a:gridCol w="2397125">
                  <a:extLst>
                    <a:ext uri="{9D8B030D-6E8A-4147-A177-3AD203B41FA5}">
                      <a16:colId xmlns:a16="http://schemas.microsoft.com/office/drawing/2014/main" val="1732866797"/>
                    </a:ext>
                  </a:extLst>
                </a:gridCol>
              </a:tblGrid>
              <a:tr h="347853"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Pre-Game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In-Game</a:t>
                      </a:r>
                      <a:endParaRPr lang="en-US" sz="12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Post-Game</a:t>
                      </a:r>
                      <a:endParaRPr lang="en-US" sz="12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420169"/>
                  </a:ext>
                </a:extLst>
              </a:tr>
              <a:tr h="756700"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  <a:latin typeface="+mj-lt"/>
                        </a:rPr>
                        <a:t>Stadium entry, parking, </a:t>
                      </a:r>
                      <a:r>
                        <a:rPr lang="en-US" sz="900" b="0" err="1">
                          <a:solidFill>
                            <a:schemeClr val="tx1"/>
                          </a:solidFill>
                          <a:latin typeface="+mj-lt"/>
                        </a:rPr>
                        <a:t>etc</a:t>
                      </a:r>
                      <a:endParaRPr lang="en-US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>
                          <a:solidFill>
                            <a:schemeClr val="tx1"/>
                          </a:solidFill>
                          <a:latin typeface="+mj-lt"/>
                        </a:rPr>
                        <a:t>Concessions, wayfinding, </a:t>
                      </a:r>
                      <a:r>
                        <a:rPr lang="en-US" sz="900" b="0" err="1">
                          <a:solidFill>
                            <a:schemeClr val="tx1"/>
                          </a:solidFill>
                          <a:latin typeface="+mj-lt"/>
                        </a:rPr>
                        <a:t>etc</a:t>
                      </a:r>
                      <a:endParaRPr lang="en-US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Exit management, retail, </a:t>
                      </a:r>
                      <a:r>
                        <a:rPr lang="en-US" sz="900" b="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n-US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34846"/>
                  </a:ext>
                </a:extLst>
              </a:tr>
            </a:tbl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9FFA1E68-47E8-9CDF-7A17-B56B848A38F0}"/>
              </a:ext>
            </a:extLst>
          </p:cNvPr>
          <p:cNvSpPr/>
          <p:nvPr/>
        </p:nvSpPr>
        <p:spPr>
          <a:xfrm>
            <a:off x="3739127" y="1283687"/>
            <a:ext cx="670096" cy="158926"/>
          </a:xfrm>
          <a:prstGeom prst="rect">
            <a:avLst/>
          </a:prstGeom>
          <a:solidFill>
            <a:srgbClr val="D50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900"/>
              <a:t>Low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9FD1E3-3100-17E6-9290-D6289F01A6F8}"/>
              </a:ext>
            </a:extLst>
          </p:cNvPr>
          <p:cNvSpPr/>
          <p:nvPr/>
        </p:nvSpPr>
        <p:spPr>
          <a:xfrm>
            <a:off x="3739127" y="1500887"/>
            <a:ext cx="670096" cy="1589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900"/>
              <a:t>Medium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327963-66CC-95BF-ADC5-3659C9B8B63F}"/>
              </a:ext>
            </a:extLst>
          </p:cNvPr>
          <p:cNvSpPr/>
          <p:nvPr/>
        </p:nvSpPr>
        <p:spPr>
          <a:xfrm>
            <a:off x="3739127" y="1718087"/>
            <a:ext cx="670096" cy="15892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900"/>
              <a:t>High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48EB8AA-7CAE-C04F-992E-D2023FA35C6A}"/>
              </a:ext>
            </a:extLst>
          </p:cNvPr>
          <p:cNvGrpSpPr>
            <a:grpSpLocks noChangeAspect="1"/>
          </p:cNvGrpSpPr>
          <p:nvPr/>
        </p:nvGrpSpPr>
        <p:grpSpPr>
          <a:xfrm>
            <a:off x="2494914" y="3817809"/>
            <a:ext cx="465819" cy="387232"/>
            <a:chOff x="9109075" y="7043738"/>
            <a:chExt cx="1298575" cy="1079500"/>
          </a:xfrm>
          <a:solidFill>
            <a:schemeClr val="accent1"/>
          </a:solidFill>
        </p:grpSpPr>
        <p:sp>
          <p:nvSpPr>
            <p:cNvPr id="20" name="Freeform 74">
              <a:extLst>
                <a:ext uri="{FF2B5EF4-FFF2-40B4-BE49-F238E27FC236}">
                  <a16:creationId xmlns:a16="http://schemas.microsoft.com/office/drawing/2014/main" id="{C67EF4B0-C15C-DCF5-2553-4E74317558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09075" y="7259638"/>
              <a:ext cx="1298575" cy="863600"/>
            </a:xfrm>
            <a:custGeom>
              <a:avLst/>
              <a:gdLst>
                <a:gd name="T0" fmla="*/ 307 w 343"/>
                <a:gd name="T1" fmla="*/ 114 h 228"/>
                <a:gd name="T2" fmla="*/ 172 w 343"/>
                <a:gd name="T3" fmla="*/ 114 h 228"/>
                <a:gd name="T4" fmla="*/ 172 w 343"/>
                <a:gd name="T5" fmla="*/ 7 h 228"/>
                <a:gd name="T6" fmla="*/ 165 w 343"/>
                <a:gd name="T7" fmla="*/ 0 h 228"/>
                <a:gd name="T8" fmla="*/ 158 w 343"/>
                <a:gd name="T9" fmla="*/ 7 h 228"/>
                <a:gd name="T10" fmla="*/ 158 w 343"/>
                <a:gd name="T11" fmla="*/ 114 h 228"/>
                <a:gd name="T12" fmla="*/ 36 w 343"/>
                <a:gd name="T13" fmla="*/ 114 h 228"/>
                <a:gd name="T14" fmla="*/ 0 w 343"/>
                <a:gd name="T15" fmla="*/ 150 h 228"/>
                <a:gd name="T16" fmla="*/ 0 w 343"/>
                <a:gd name="T17" fmla="*/ 178 h 228"/>
                <a:gd name="T18" fmla="*/ 29 w 343"/>
                <a:gd name="T19" fmla="*/ 213 h 228"/>
                <a:gd name="T20" fmla="*/ 29 w 343"/>
                <a:gd name="T21" fmla="*/ 221 h 228"/>
                <a:gd name="T22" fmla="*/ 36 w 343"/>
                <a:gd name="T23" fmla="*/ 228 h 228"/>
                <a:gd name="T24" fmla="*/ 43 w 343"/>
                <a:gd name="T25" fmla="*/ 221 h 228"/>
                <a:gd name="T26" fmla="*/ 43 w 343"/>
                <a:gd name="T27" fmla="*/ 214 h 228"/>
                <a:gd name="T28" fmla="*/ 300 w 343"/>
                <a:gd name="T29" fmla="*/ 214 h 228"/>
                <a:gd name="T30" fmla="*/ 300 w 343"/>
                <a:gd name="T31" fmla="*/ 221 h 228"/>
                <a:gd name="T32" fmla="*/ 307 w 343"/>
                <a:gd name="T33" fmla="*/ 228 h 228"/>
                <a:gd name="T34" fmla="*/ 315 w 343"/>
                <a:gd name="T35" fmla="*/ 221 h 228"/>
                <a:gd name="T36" fmla="*/ 315 w 343"/>
                <a:gd name="T37" fmla="*/ 213 h 228"/>
                <a:gd name="T38" fmla="*/ 343 w 343"/>
                <a:gd name="T39" fmla="*/ 178 h 228"/>
                <a:gd name="T40" fmla="*/ 343 w 343"/>
                <a:gd name="T41" fmla="*/ 150 h 228"/>
                <a:gd name="T42" fmla="*/ 307 w 343"/>
                <a:gd name="T43" fmla="*/ 114 h 228"/>
                <a:gd name="T44" fmla="*/ 329 w 343"/>
                <a:gd name="T45" fmla="*/ 178 h 228"/>
                <a:gd name="T46" fmla="*/ 307 w 343"/>
                <a:gd name="T47" fmla="*/ 200 h 228"/>
                <a:gd name="T48" fmla="*/ 36 w 343"/>
                <a:gd name="T49" fmla="*/ 200 h 228"/>
                <a:gd name="T50" fmla="*/ 15 w 343"/>
                <a:gd name="T51" fmla="*/ 178 h 228"/>
                <a:gd name="T52" fmla="*/ 15 w 343"/>
                <a:gd name="T53" fmla="*/ 150 h 228"/>
                <a:gd name="T54" fmla="*/ 36 w 343"/>
                <a:gd name="T55" fmla="*/ 128 h 228"/>
                <a:gd name="T56" fmla="*/ 307 w 343"/>
                <a:gd name="T57" fmla="*/ 128 h 228"/>
                <a:gd name="T58" fmla="*/ 329 w 343"/>
                <a:gd name="T59" fmla="*/ 150 h 228"/>
                <a:gd name="T60" fmla="*/ 329 w 343"/>
                <a:gd name="T61" fmla="*/ 17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3" h="228">
                  <a:moveTo>
                    <a:pt x="307" y="114"/>
                  </a:moveTo>
                  <a:cubicBezTo>
                    <a:pt x="172" y="114"/>
                    <a:pt x="172" y="114"/>
                    <a:pt x="172" y="114"/>
                  </a:cubicBezTo>
                  <a:cubicBezTo>
                    <a:pt x="172" y="7"/>
                    <a:pt x="172" y="7"/>
                    <a:pt x="172" y="7"/>
                  </a:cubicBezTo>
                  <a:cubicBezTo>
                    <a:pt x="172" y="3"/>
                    <a:pt x="169" y="0"/>
                    <a:pt x="165" y="0"/>
                  </a:cubicBezTo>
                  <a:cubicBezTo>
                    <a:pt x="161" y="0"/>
                    <a:pt x="158" y="3"/>
                    <a:pt x="158" y="7"/>
                  </a:cubicBezTo>
                  <a:cubicBezTo>
                    <a:pt x="158" y="114"/>
                    <a:pt x="158" y="114"/>
                    <a:pt x="158" y="114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16" y="114"/>
                    <a:pt x="0" y="130"/>
                    <a:pt x="0" y="150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96"/>
                    <a:pt x="13" y="210"/>
                    <a:pt x="29" y="213"/>
                  </a:cubicBezTo>
                  <a:cubicBezTo>
                    <a:pt x="29" y="221"/>
                    <a:pt x="29" y="221"/>
                    <a:pt x="29" y="221"/>
                  </a:cubicBezTo>
                  <a:cubicBezTo>
                    <a:pt x="29" y="225"/>
                    <a:pt x="32" y="228"/>
                    <a:pt x="36" y="228"/>
                  </a:cubicBezTo>
                  <a:cubicBezTo>
                    <a:pt x="40" y="228"/>
                    <a:pt x="43" y="225"/>
                    <a:pt x="43" y="221"/>
                  </a:cubicBezTo>
                  <a:cubicBezTo>
                    <a:pt x="43" y="214"/>
                    <a:pt x="43" y="214"/>
                    <a:pt x="43" y="214"/>
                  </a:cubicBezTo>
                  <a:cubicBezTo>
                    <a:pt x="300" y="214"/>
                    <a:pt x="300" y="214"/>
                    <a:pt x="300" y="214"/>
                  </a:cubicBezTo>
                  <a:cubicBezTo>
                    <a:pt x="300" y="221"/>
                    <a:pt x="300" y="221"/>
                    <a:pt x="300" y="221"/>
                  </a:cubicBezTo>
                  <a:cubicBezTo>
                    <a:pt x="300" y="225"/>
                    <a:pt x="303" y="228"/>
                    <a:pt x="307" y="228"/>
                  </a:cubicBezTo>
                  <a:cubicBezTo>
                    <a:pt x="311" y="228"/>
                    <a:pt x="315" y="225"/>
                    <a:pt x="315" y="221"/>
                  </a:cubicBezTo>
                  <a:cubicBezTo>
                    <a:pt x="315" y="213"/>
                    <a:pt x="315" y="213"/>
                    <a:pt x="315" y="213"/>
                  </a:cubicBezTo>
                  <a:cubicBezTo>
                    <a:pt x="331" y="210"/>
                    <a:pt x="343" y="196"/>
                    <a:pt x="343" y="178"/>
                  </a:cubicBezTo>
                  <a:cubicBezTo>
                    <a:pt x="343" y="150"/>
                    <a:pt x="343" y="150"/>
                    <a:pt x="343" y="150"/>
                  </a:cubicBezTo>
                  <a:cubicBezTo>
                    <a:pt x="343" y="130"/>
                    <a:pt x="327" y="114"/>
                    <a:pt x="307" y="114"/>
                  </a:cubicBezTo>
                  <a:close/>
                  <a:moveTo>
                    <a:pt x="329" y="178"/>
                  </a:moveTo>
                  <a:cubicBezTo>
                    <a:pt x="329" y="190"/>
                    <a:pt x="319" y="200"/>
                    <a:pt x="307" y="200"/>
                  </a:cubicBezTo>
                  <a:cubicBezTo>
                    <a:pt x="36" y="200"/>
                    <a:pt x="36" y="200"/>
                    <a:pt x="36" y="200"/>
                  </a:cubicBezTo>
                  <a:cubicBezTo>
                    <a:pt x="24" y="200"/>
                    <a:pt x="15" y="190"/>
                    <a:pt x="15" y="178"/>
                  </a:cubicBezTo>
                  <a:cubicBezTo>
                    <a:pt x="15" y="150"/>
                    <a:pt x="15" y="150"/>
                    <a:pt x="15" y="150"/>
                  </a:cubicBezTo>
                  <a:cubicBezTo>
                    <a:pt x="15" y="138"/>
                    <a:pt x="24" y="128"/>
                    <a:pt x="36" y="128"/>
                  </a:cubicBezTo>
                  <a:cubicBezTo>
                    <a:pt x="307" y="128"/>
                    <a:pt x="307" y="128"/>
                    <a:pt x="307" y="128"/>
                  </a:cubicBezTo>
                  <a:cubicBezTo>
                    <a:pt x="319" y="128"/>
                    <a:pt x="329" y="138"/>
                    <a:pt x="329" y="150"/>
                  </a:cubicBezTo>
                  <a:lnTo>
                    <a:pt x="329" y="178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1" name="Oval 75">
              <a:extLst>
                <a:ext uri="{FF2B5EF4-FFF2-40B4-BE49-F238E27FC236}">
                  <a16:creationId xmlns:a16="http://schemas.microsoft.com/office/drawing/2014/main" id="{FB558FCF-1305-52A8-19E6-FD35C4801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3925" y="7827963"/>
              <a:ext cx="109538" cy="1063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2" name="Oval 76">
              <a:extLst>
                <a:ext uri="{FF2B5EF4-FFF2-40B4-BE49-F238E27FC236}">
                  <a16:creationId xmlns:a16="http://schemas.microsoft.com/office/drawing/2014/main" id="{BE1192C6-4B71-D162-DDF9-CC7980362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75850" y="7827963"/>
              <a:ext cx="106363" cy="1063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3" name="Oval 77">
              <a:extLst>
                <a:ext uri="{FF2B5EF4-FFF2-40B4-BE49-F238E27FC236}">
                  <a16:creationId xmlns:a16="http://schemas.microsoft.com/office/drawing/2014/main" id="{BA24136A-CC24-D50B-42A0-EED201771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7775" y="7827963"/>
              <a:ext cx="106363" cy="1063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4" name="Freeform 78">
              <a:extLst>
                <a:ext uri="{FF2B5EF4-FFF2-40B4-BE49-F238E27FC236}">
                  <a16:creationId xmlns:a16="http://schemas.microsoft.com/office/drawing/2014/main" id="{89F5893D-B464-1CB5-CE64-81DB9E923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8613" y="7854951"/>
              <a:ext cx="379413" cy="52388"/>
            </a:xfrm>
            <a:custGeom>
              <a:avLst/>
              <a:gdLst>
                <a:gd name="T0" fmla="*/ 93 w 100"/>
                <a:gd name="T1" fmla="*/ 0 h 14"/>
                <a:gd name="T2" fmla="*/ 7 w 100"/>
                <a:gd name="T3" fmla="*/ 0 h 14"/>
                <a:gd name="T4" fmla="*/ 0 w 100"/>
                <a:gd name="T5" fmla="*/ 7 h 14"/>
                <a:gd name="T6" fmla="*/ 7 w 100"/>
                <a:gd name="T7" fmla="*/ 14 h 14"/>
                <a:gd name="T8" fmla="*/ 93 w 100"/>
                <a:gd name="T9" fmla="*/ 14 h 14"/>
                <a:gd name="T10" fmla="*/ 100 w 100"/>
                <a:gd name="T11" fmla="*/ 7 h 14"/>
                <a:gd name="T12" fmla="*/ 93 w 100"/>
                <a:gd name="T1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14">
                  <a:moveTo>
                    <a:pt x="93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93" y="14"/>
                    <a:pt x="93" y="14"/>
                    <a:pt x="93" y="14"/>
                  </a:cubicBezTo>
                  <a:cubicBezTo>
                    <a:pt x="97" y="14"/>
                    <a:pt x="100" y="11"/>
                    <a:pt x="100" y="7"/>
                  </a:cubicBezTo>
                  <a:cubicBezTo>
                    <a:pt x="100" y="3"/>
                    <a:pt x="97" y="0"/>
                    <a:pt x="93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5" name="Freeform 79">
              <a:extLst>
                <a:ext uri="{FF2B5EF4-FFF2-40B4-BE49-F238E27FC236}">
                  <a16:creationId xmlns:a16="http://schemas.microsoft.com/office/drawing/2014/main" id="{028913B4-6F5F-017D-FD84-7A81F93F6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8025" y="7207251"/>
              <a:ext cx="52388" cy="161925"/>
            </a:xfrm>
            <a:custGeom>
              <a:avLst/>
              <a:gdLst>
                <a:gd name="T0" fmla="*/ 7 w 14"/>
                <a:gd name="T1" fmla="*/ 43 h 43"/>
                <a:gd name="T2" fmla="*/ 14 w 14"/>
                <a:gd name="T3" fmla="*/ 35 h 43"/>
                <a:gd name="T4" fmla="*/ 14 w 14"/>
                <a:gd name="T5" fmla="*/ 7 h 43"/>
                <a:gd name="T6" fmla="*/ 7 w 14"/>
                <a:gd name="T7" fmla="*/ 0 h 43"/>
                <a:gd name="T8" fmla="*/ 0 w 14"/>
                <a:gd name="T9" fmla="*/ 7 h 43"/>
                <a:gd name="T10" fmla="*/ 0 w 14"/>
                <a:gd name="T11" fmla="*/ 35 h 43"/>
                <a:gd name="T12" fmla="*/ 7 w 14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43">
                  <a:moveTo>
                    <a:pt x="7" y="43"/>
                  </a:moveTo>
                  <a:cubicBezTo>
                    <a:pt x="11" y="43"/>
                    <a:pt x="14" y="39"/>
                    <a:pt x="14" y="35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9"/>
                    <a:pt x="3" y="43"/>
                    <a:pt x="7" y="4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6" name="Freeform 80">
              <a:extLst>
                <a:ext uri="{FF2B5EF4-FFF2-40B4-BE49-F238E27FC236}">
                  <a16:creationId xmlns:a16="http://schemas.microsoft.com/office/drawing/2014/main" id="{FA6B6F23-714D-B4CA-4265-48C18375E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4513" y="7150101"/>
              <a:ext cx="53975" cy="273050"/>
            </a:xfrm>
            <a:custGeom>
              <a:avLst/>
              <a:gdLst>
                <a:gd name="T0" fmla="*/ 7 w 14"/>
                <a:gd name="T1" fmla="*/ 72 h 72"/>
                <a:gd name="T2" fmla="*/ 14 w 14"/>
                <a:gd name="T3" fmla="*/ 65 h 72"/>
                <a:gd name="T4" fmla="*/ 14 w 14"/>
                <a:gd name="T5" fmla="*/ 8 h 72"/>
                <a:gd name="T6" fmla="*/ 7 w 14"/>
                <a:gd name="T7" fmla="*/ 0 h 72"/>
                <a:gd name="T8" fmla="*/ 0 w 14"/>
                <a:gd name="T9" fmla="*/ 8 h 72"/>
                <a:gd name="T10" fmla="*/ 0 w 14"/>
                <a:gd name="T11" fmla="*/ 65 h 72"/>
                <a:gd name="T12" fmla="*/ 7 w 14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72">
                  <a:moveTo>
                    <a:pt x="7" y="72"/>
                  </a:moveTo>
                  <a:cubicBezTo>
                    <a:pt x="11" y="72"/>
                    <a:pt x="14" y="69"/>
                    <a:pt x="14" y="65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4"/>
                    <a:pt x="11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9"/>
                    <a:pt x="3" y="72"/>
                    <a:pt x="7" y="7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0" name="Freeform 81">
              <a:extLst>
                <a:ext uri="{FF2B5EF4-FFF2-40B4-BE49-F238E27FC236}">
                  <a16:creationId xmlns:a16="http://schemas.microsoft.com/office/drawing/2014/main" id="{F3810548-9FBF-0C1D-8146-E6AC5975F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2588" y="7096126"/>
              <a:ext cx="55563" cy="379413"/>
            </a:xfrm>
            <a:custGeom>
              <a:avLst/>
              <a:gdLst>
                <a:gd name="T0" fmla="*/ 7 w 15"/>
                <a:gd name="T1" fmla="*/ 100 h 100"/>
                <a:gd name="T2" fmla="*/ 15 w 15"/>
                <a:gd name="T3" fmla="*/ 93 h 100"/>
                <a:gd name="T4" fmla="*/ 15 w 15"/>
                <a:gd name="T5" fmla="*/ 7 h 100"/>
                <a:gd name="T6" fmla="*/ 7 w 15"/>
                <a:gd name="T7" fmla="*/ 0 h 100"/>
                <a:gd name="T8" fmla="*/ 0 w 15"/>
                <a:gd name="T9" fmla="*/ 7 h 100"/>
                <a:gd name="T10" fmla="*/ 0 w 15"/>
                <a:gd name="T11" fmla="*/ 93 h 100"/>
                <a:gd name="T12" fmla="*/ 7 w 15"/>
                <a:gd name="T1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100">
                  <a:moveTo>
                    <a:pt x="7" y="100"/>
                  </a:moveTo>
                  <a:cubicBezTo>
                    <a:pt x="11" y="100"/>
                    <a:pt x="15" y="97"/>
                    <a:pt x="15" y="93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1" y="0"/>
                    <a:pt x="7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7"/>
                    <a:pt x="4" y="100"/>
                    <a:pt x="7" y="10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1" name="Freeform 82">
              <a:extLst>
                <a:ext uri="{FF2B5EF4-FFF2-40B4-BE49-F238E27FC236}">
                  <a16:creationId xmlns:a16="http://schemas.microsoft.com/office/drawing/2014/main" id="{9B939A06-8285-51D0-2326-4A3D22A61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9075" y="7043738"/>
              <a:ext cx="57150" cy="484188"/>
            </a:xfrm>
            <a:custGeom>
              <a:avLst/>
              <a:gdLst>
                <a:gd name="T0" fmla="*/ 8 w 15"/>
                <a:gd name="T1" fmla="*/ 128 h 128"/>
                <a:gd name="T2" fmla="*/ 15 w 15"/>
                <a:gd name="T3" fmla="*/ 121 h 128"/>
                <a:gd name="T4" fmla="*/ 15 w 15"/>
                <a:gd name="T5" fmla="*/ 7 h 128"/>
                <a:gd name="T6" fmla="*/ 8 w 15"/>
                <a:gd name="T7" fmla="*/ 0 h 128"/>
                <a:gd name="T8" fmla="*/ 0 w 15"/>
                <a:gd name="T9" fmla="*/ 7 h 128"/>
                <a:gd name="T10" fmla="*/ 0 w 15"/>
                <a:gd name="T11" fmla="*/ 121 h 128"/>
                <a:gd name="T12" fmla="*/ 8 w 15"/>
                <a:gd name="T13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128">
                  <a:moveTo>
                    <a:pt x="8" y="128"/>
                  </a:moveTo>
                  <a:cubicBezTo>
                    <a:pt x="12" y="128"/>
                    <a:pt x="15" y="125"/>
                    <a:pt x="15" y="121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3"/>
                    <a:pt x="12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5"/>
                    <a:pt x="4" y="128"/>
                    <a:pt x="8" y="12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2" name="Freeform 83">
              <a:extLst>
                <a:ext uri="{FF2B5EF4-FFF2-40B4-BE49-F238E27FC236}">
                  <a16:creationId xmlns:a16="http://schemas.microsoft.com/office/drawing/2014/main" id="{13E7C888-6B1D-74C9-F330-44BD1DC7C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3925" y="7207251"/>
              <a:ext cx="52388" cy="161925"/>
            </a:xfrm>
            <a:custGeom>
              <a:avLst/>
              <a:gdLst>
                <a:gd name="T0" fmla="*/ 7 w 14"/>
                <a:gd name="T1" fmla="*/ 43 h 43"/>
                <a:gd name="T2" fmla="*/ 14 w 14"/>
                <a:gd name="T3" fmla="*/ 35 h 43"/>
                <a:gd name="T4" fmla="*/ 14 w 14"/>
                <a:gd name="T5" fmla="*/ 7 h 43"/>
                <a:gd name="T6" fmla="*/ 7 w 14"/>
                <a:gd name="T7" fmla="*/ 0 h 43"/>
                <a:gd name="T8" fmla="*/ 0 w 14"/>
                <a:gd name="T9" fmla="*/ 7 h 43"/>
                <a:gd name="T10" fmla="*/ 0 w 14"/>
                <a:gd name="T11" fmla="*/ 35 h 43"/>
                <a:gd name="T12" fmla="*/ 7 w 14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43">
                  <a:moveTo>
                    <a:pt x="7" y="43"/>
                  </a:moveTo>
                  <a:cubicBezTo>
                    <a:pt x="11" y="43"/>
                    <a:pt x="14" y="39"/>
                    <a:pt x="14" y="35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9"/>
                    <a:pt x="3" y="43"/>
                    <a:pt x="7" y="4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3" name="Freeform 84">
              <a:extLst>
                <a:ext uri="{FF2B5EF4-FFF2-40B4-BE49-F238E27FC236}">
                  <a16:creationId xmlns:a16="http://schemas.microsoft.com/office/drawing/2014/main" id="{F7E0E05E-0BB0-C6F2-712B-63FA74D0C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5850" y="7150101"/>
              <a:ext cx="52388" cy="273050"/>
            </a:xfrm>
            <a:custGeom>
              <a:avLst/>
              <a:gdLst>
                <a:gd name="T0" fmla="*/ 7 w 14"/>
                <a:gd name="T1" fmla="*/ 72 h 72"/>
                <a:gd name="T2" fmla="*/ 14 w 14"/>
                <a:gd name="T3" fmla="*/ 65 h 72"/>
                <a:gd name="T4" fmla="*/ 14 w 14"/>
                <a:gd name="T5" fmla="*/ 8 h 72"/>
                <a:gd name="T6" fmla="*/ 7 w 14"/>
                <a:gd name="T7" fmla="*/ 0 h 72"/>
                <a:gd name="T8" fmla="*/ 0 w 14"/>
                <a:gd name="T9" fmla="*/ 8 h 72"/>
                <a:gd name="T10" fmla="*/ 0 w 14"/>
                <a:gd name="T11" fmla="*/ 65 h 72"/>
                <a:gd name="T12" fmla="*/ 7 w 14"/>
                <a:gd name="T13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72">
                  <a:moveTo>
                    <a:pt x="7" y="72"/>
                  </a:moveTo>
                  <a:cubicBezTo>
                    <a:pt x="11" y="72"/>
                    <a:pt x="14" y="69"/>
                    <a:pt x="14" y="65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4"/>
                    <a:pt x="11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9"/>
                    <a:pt x="3" y="72"/>
                    <a:pt x="7" y="7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4" name="Freeform 85">
              <a:extLst>
                <a:ext uri="{FF2B5EF4-FFF2-40B4-BE49-F238E27FC236}">
                  <a16:creationId xmlns:a16="http://schemas.microsoft.com/office/drawing/2014/main" id="{88A7BC4F-F1F6-B0B3-C03E-BF4C38319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7775" y="7096126"/>
              <a:ext cx="53975" cy="379413"/>
            </a:xfrm>
            <a:custGeom>
              <a:avLst/>
              <a:gdLst>
                <a:gd name="T0" fmla="*/ 7 w 14"/>
                <a:gd name="T1" fmla="*/ 100 h 100"/>
                <a:gd name="T2" fmla="*/ 14 w 14"/>
                <a:gd name="T3" fmla="*/ 93 h 100"/>
                <a:gd name="T4" fmla="*/ 14 w 14"/>
                <a:gd name="T5" fmla="*/ 7 h 100"/>
                <a:gd name="T6" fmla="*/ 7 w 14"/>
                <a:gd name="T7" fmla="*/ 0 h 100"/>
                <a:gd name="T8" fmla="*/ 0 w 14"/>
                <a:gd name="T9" fmla="*/ 7 h 100"/>
                <a:gd name="T10" fmla="*/ 0 w 14"/>
                <a:gd name="T11" fmla="*/ 93 h 100"/>
                <a:gd name="T12" fmla="*/ 7 w 14"/>
                <a:gd name="T1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00">
                  <a:moveTo>
                    <a:pt x="7" y="100"/>
                  </a:moveTo>
                  <a:cubicBezTo>
                    <a:pt x="11" y="100"/>
                    <a:pt x="14" y="97"/>
                    <a:pt x="14" y="93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7"/>
                    <a:pt x="3" y="100"/>
                    <a:pt x="7" y="10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35" name="Freeform 86">
              <a:extLst>
                <a:ext uri="{FF2B5EF4-FFF2-40B4-BE49-F238E27FC236}">
                  <a16:creationId xmlns:a16="http://schemas.microsoft.com/office/drawing/2014/main" id="{F5EE8B0D-7758-4B76-8EFD-E751F320B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1288" y="7043738"/>
              <a:ext cx="52388" cy="484188"/>
            </a:xfrm>
            <a:custGeom>
              <a:avLst/>
              <a:gdLst>
                <a:gd name="T0" fmla="*/ 7 w 14"/>
                <a:gd name="T1" fmla="*/ 128 h 128"/>
                <a:gd name="T2" fmla="*/ 14 w 14"/>
                <a:gd name="T3" fmla="*/ 121 h 128"/>
                <a:gd name="T4" fmla="*/ 14 w 14"/>
                <a:gd name="T5" fmla="*/ 7 h 128"/>
                <a:gd name="T6" fmla="*/ 7 w 14"/>
                <a:gd name="T7" fmla="*/ 0 h 128"/>
                <a:gd name="T8" fmla="*/ 0 w 14"/>
                <a:gd name="T9" fmla="*/ 7 h 128"/>
                <a:gd name="T10" fmla="*/ 0 w 14"/>
                <a:gd name="T11" fmla="*/ 121 h 128"/>
                <a:gd name="T12" fmla="*/ 7 w 14"/>
                <a:gd name="T13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28">
                  <a:moveTo>
                    <a:pt x="7" y="128"/>
                  </a:moveTo>
                  <a:cubicBezTo>
                    <a:pt x="11" y="128"/>
                    <a:pt x="14" y="125"/>
                    <a:pt x="14" y="121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5"/>
                    <a:pt x="3" y="128"/>
                    <a:pt x="7" y="128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</p:grpSp>
      <p:grpSp>
        <p:nvGrpSpPr>
          <p:cNvPr id="64" name="Group 4">
            <a:extLst>
              <a:ext uri="{FF2B5EF4-FFF2-40B4-BE49-F238E27FC236}">
                <a16:creationId xmlns:a16="http://schemas.microsoft.com/office/drawing/2014/main" id="{E55A8EA1-2D8F-59D5-93F0-C721243463F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30075" y="5089173"/>
            <a:ext cx="380133" cy="398289"/>
            <a:chOff x="448" y="1667"/>
            <a:chExt cx="335" cy="351"/>
          </a:xfrm>
          <a:solidFill>
            <a:schemeClr val="accent1"/>
          </a:solidFill>
        </p:grpSpPr>
        <p:sp>
          <p:nvSpPr>
            <p:cNvPr id="65" name="Freeform 5">
              <a:extLst>
                <a:ext uri="{FF2B5EF4-FFF2-40B4-BE49-F238E27FC236}">
                  <a16:creationId xmlns:a16="http://schemas.microsoft.com/office/drawing/2014/main" id="{54EE6867-8F03-7546-CCB8-A3A019187A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" y="1707"/>
              <a:ext cx="45" cy="46"/>
            </a:xfrm>
            <a:custGeom>
              <a:avLst/>
              <a:gdLst>
                <a:gd name="T0" fmla="*/ 8 w 17"/>
                <a:gd name="T1" fmla="*/ 17 h 17"/>
                <a:gd name="T2" fmla="*/ 17 w 17"/>
                <a:gd name="T3" fmla="*/ 9 h 17"/>
                <a:gd name="T4" fmla="*/ 8 w 17"/>
                <a:gd name="T5" fmla="*/ 0 h 17"/>
                <a:gd name="T6" fmla="*/ 0 w 17"/>
                <a:gd name="T7" fmla="*/ 9 h 17"/>
                <a:gd name="T8" fmla="*/ 8 w 17"/>
                <a:gd name="T9" fmla="*/ 17 h 17"/>
                <a:gd name="T10" fmla="*/ 5 w 17"/>
                <a:gd name="T11" fmla="*/ 9 h 17"/>
                <a:gd name="T12" fmla="*/ 8 w 17"/>
                <a:gd name="T13" fmla="*/ 5 h 17"/>
                <a:gd name="T14" fmla="*/ 12 w 17"/>
                <a:gd name="T15" fmla="*/ 9 h 17"/>
                <a:gd name="T16" fmla="*/ 8 w 17"/>
                <a:gd name="T17" fmla="*/ 12 h 17"/>
                <a:gd name="T18" fmla="*/ 5 w 17"/>
                <a:gd name="T1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lose/>
                  <a:moveTo>
                    <a:pt x="5" y="9"/>
                  </a:moveTo>
                  <a:cubicBezTo>
                    <a:pt x="5" y="7"/>
                    <a:pt x="6" y="5"/>
                    <a:pt x="8" y="5"/>
                  </a:cubicBezTo>
                  <a:cubicBezTo>
                    <a:pt x="10" y="5"/>
                    <a:pt x="12" y="7"/>
                    <a:pt x="12" y="9"/>
                  </a:cubicBez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5" y="10"/>
                    <a:pt x="5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6" name="Freeform 6">
              <a:extLst>
                <a:ext uri="{FF2B5EF4-FFF2-40B4-BE49-F238E27FC236}">
                  <a16:creationId xmlns:a16="http://schemas.microsoft.com/office/drawing/2014/main" id="{3E71D189-67F1-8A96-D859-ED03598442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" y="1707"/>
              <a:ext cx="45" cy="46"/>
            </a:xfrm>
            <a:custGeom>
              <a:avLst/>
              <a:gdLst>
                <a:gd name="T0" fmla="*/ 8 w 17"/>
                <a:gd name="T1" fmla="*/ 0 h 17"/>
                <a:gd name="T2" fmla="*/ 0 w 17"/>
                <a:gd name="T3" fmla="*/ 9 h 17"/>
                <a:gd name="T4" fmla="*/ 8 w 17"/>
                <a:gd name="T5" fmla="*/ 17 h 17"/>
                <a:gd name="T6" fmla="*/ 17 w 17"/>
                <a:gd name="T7" fmla="*/ 9 h 17"/>
                <a:gd name="T8" fmla="*/ 8 w 17"/>
                <a:gd name="T9" fmla="*/ 0 h 17"/>
                <a:gd name="T10" fmla="*/ 12 w 17"/>
                <a:gd name="T11" fmla="*/ 9 h 17"/>
                <a:gd name="T12" fmla="*/ 8 w 17"/>
                <a:gd name="T13" fmla="*/ 12 h 17"/>
                <a:gd name="T14" fmla="*/ 5 w 17"/>
                <a:gd name="T15" fmla="*/ 9 h 17"/>
                <a:gd name="T16" fmla="*/ 8 w 17"/>
                <a:gd name="T17" fmla="*/ 5 h 17"/>
                <a:gd name="T18" fmla="*/ 12 w 17"/>
                <a:gd name="T1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  <a:close/>
                  <a:moveTo>
                    <a:pt x="12" y="9"/>
                  </a:move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5" y="10"/>
                    <a:pt x="5" y="9"/>
                  </a:cubicBezTo>
                  <a:cubicBezTo>
                    <a:pt x="5" y="7"/>
                    <a:pt x="6" y="5"/>
                    <a:pt x="8" y="5"/>
                  </a:cubicBezTo>
                  <a:cubicBezTo>
                    <a:pt x="10" y="5"/>
                    <a:pt x="12" y="7"/>
                    <a:pt x="12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D0FACB73-BBFF-7774-5826-3C05C9EB7E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" y="1932"/>
              <a:ext cx="45" cy="46"/>
            </a:xfrm>
            <a:custGeom>
              <a:avLst/>
              <a:gdLst>
                <a:gd name="T0" fmla="*/ 8 w 17"/>
                <a:gd name="T1" fmla="*/ 0 h 17"/>
                <a:gd name="T2" fmla="*/ 0 w 17"/>
                <a:gd name="T3" fmla="*/ 8 h 17"/>
                <a:gd name="T4" fmla="*/ 8 w 17"/>
                <a:gd name="T5" fmla="*/ 17 h 17"/>
                <a:gd name="T6" fmla="*/ 17 w 17"/>
                <a:gd name="T7" fmla="*/ 8 h 17"/>
                <a:gd name="T8" fmla="*/ 8 w 17"/>
                <a:gd name="T9" fmla="*/ 0 h 17"/>
                <a:gd name="T10" fmla="*/ 12 w 17"/>
                <a:gd name="T11" fmla="*/ 8 h 17"/>
                <a:gd name="T12" fmla="*/ 8 w 17"/>
                <a:gd name="T13" fmla="*/ 12 h 17"/>
                <a:gd name="T14" fmla="*/ 5 w 17"/>
                <a:gd name="T15" fmla="*/ 8 h 17"/>
                <a:gd name="T16" fmla="*/ 8 w 17"/>
                <a:gd name="T17" fmla="*/ 5 h 17"/>
                <a:gd name="T18" fmla="*/ 12 w 17"/>
                <a:gd name="T19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7"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  <a:close/>
                  <a:moveTo>
                    <a:pt x="12" y="8"/>
                  </a:move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5" y="10"/>
                    <a:pt x="5" y="8"/>
                  </a:cubicBezTo>
                  <a:cubicBezTo>
                    <a:pt x="5" y="7"/>
                    <a:pt x="6" y="5"/>
                    <a:pt x="8" y="5"/>
                  </a:cubicBezTo>
                  <a:cubicBezTo>
                    <a:pt x="10" y="5"/>
                    <a:pt x="12" y="7"/>
                    <a:pt x="1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8" name="Freeform 8">
              <a:extLst>
                <a:ext uri="{FF2B5EF4-FFF2-40B4-BE49-F238E27FC236}">
                  <a16:creationId xmlns:a16="http://schemas.microsoft.com/office/drawing/2014/main" id="{ABDD86C5-55C8-3DBF-9636-8F628FD8D9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" y="1667"/>
              <a:ext cx="335" cy="351"/>
            </a:xfrm>
            <a:custGeom>
              <a:avLst/>
              <a:gdLst>
                <a:gd name="T0" fmla="*/ 124 w 125"/>
                <a:gd name="T1" fmla="*/ 84 h 131"/>
                <a:gd name="T2" fmla="*/ 120 w 125"/>
                <a:gd name="T3" fmla="*/ 84 h 131"/>
                <a:gd name="T4" fmla="*/ 100 w 125"/>
                <a:gd name="T5" fmla="*/ 84 h 131"/>
                <a:gd name="T6" fmla="*/ 80 w 125"/>
                <a:gd name="T7" fmla="*/ 66 h 131"/>
                <a:gd name="T8" fmla="*/ 99 w 125"/>
                <a:gd name="T9" fmla="*/ 48 h 131"/>
                <a:gd name="T10" fmla="*/ 100 w 125"/>
                <a:gd name="T11" fmla="*/ 48 h 131"/>
                <a:gd name="T12" fmla="*/ 120 w 125"/>
                <a:gd name="T13" fmla="*/ 47 h 131"/>
                <a:gd name="T14" fmla="*/ 125 w 125"/>
                <a:gd name="T15" fmla="*/ 45 h 131"/>
                <a:gd name="T16" fmla="*/ 119 w 125"/>
                <a:gd name="T17" fmla="*/ 38 h 131"/>
                <a:gd name="T18" fmla="*/ 100 w 125"/>
                <a:gd name="T19" fmla="*/ 0 h 131"/>
                <a:gd name="T20" fmla="*/ 81 w 125"/>
                <a:gd name="T21" fmla="*/ 1 h 131"/>
                <a:gd name="T22" fmla="*/ 77 w 125"/>
                <a:gd name="T23" fmla="*/ 2 h 131"/>
                <a:gd name="T24" fmla="*/ 82 w 125"/>
                <a:gd name="T25" fmla="*/ 8 h 131"/>
                <a:gd name="T26" fmla="*/ 80 w 125"/>
                <a:gd name="T27" fmla="*/ 36 h 131"/>
                <a:gd name="T28" fmla="*/ 44 w 125"/>
                <a:gd name="T29" fmla="*/ 36 h 131"/>
                <a:gd name="T30" fmla="*/ 43 w 125"/>
                <a:gd name="T31" fmla="*/ 8 h 131"/>
                <a:gd name="T32" fmla="*/ 48 w 125"/>
                <a:gd name="T33" fmla="*/ 2 h 131"/>
                <a:gd name="T34" fmla="*/ 43 w 125"/>
                <a:gd name="T35" fmla="*/ 1 h 131"/>
                <a:gd name="T36" fmla="*/ 24 w 125"/>
                <a:gd name="T37" fmla="*/ 0 h 131"/>
                <a:gd name="T38" fmla="*/ 5 w 125"/>
                <a:gd name="T39" fmla="*/ 38 h 131"/>
                <a:gd name="T40" fmla="*/ 0 w 125"/>
                <a:gd name="T41" fmla="*/ 45 h 131"/>
                <a:gd name="T42" fmla="*/ 4 w 125"/>
                <a:gd name="T43" fmla="*/ 47 h 131"/>
                <a:gd name="T44" fmla="*/ 24 w 125"/>
                <a:gd name="T45" fmla="*/ 48 h 131"/>
                <a:gd name="T46" fmla="*/ 25 w 125"/>
                <a:gd name="T47" fmla="*/ 48 h 131"/>
                <a:gd name="T48" fmla="*/ 44 w 125"/>
                <a:gd name="T49" fmla="*/ 66 h 131"/>
                <a:gd name="T50" fmla="*/ 24 w 125"/>
                <a:gd name="T51" fmla="*/ 84 h 131"/>
                <a:gd name="T52" fmla="*/ 4 w 125"/>
                <a:gd name="T53" fmla="*/ 84 h 131"/>
                <a:gd name="T54" fmla="*/ 0 w 125"/>
                <a:gd name="T55" fmla="*/ 86 h 131"/>
                <a:gd name="T56" fmla="*/ 5 w 125"/>
                <a:gd name="T57" fmla="*/ 93 h 131"/>
                <a:gd name="T58" fmla="*/ 24 w 125"/>
                <a:gd name="T59" fmla="*/ 131 h 131"/>
                <a:gd name="T60" fmla="*/ 43 w 125"/>
                <a:gd name="T61" fmla="*/ 130 h 131"/>
                <a:gd name="T62" fmla="*/ 48 w 125"/>
                <a:gd name="T63" fmla="*/ 129 h 131"/>
                <a:gd name="T64" fmla="*/ 43 w 125"/>
                <a:gd name="T65" fmla="*/ 123 h 131"/>
                <a:gd name="T66" fmla="*/ 44 w 125"/>
                <a:gd name="T67" fmla="*/ 95 h 131"/>
                <a:gd name="T68" fmla="*/ 80 w 125"/>
                <a:gd name="T69" fmla="*/ 95 h 131"/>
                <a:gd name="T70" fmla="*/ 82 w 125"/>
                <a:gd name="T71" fmla="*/ 123 h 131"/>
                <a:gd name="T72" fmla="*/ 77 w 125"/>
                <a:gd name="T73" fmla="*/ 129 h 131"/>
                <a:gd name="T74" fmla="*/ 81 w 125"/>
                <a:gd name="T75" fmla="*/ 130 h 131"/>
                <a:gd name="T76" fmla="*/ 100 w 125"/>
                <a:gd name="T77" fmla="*/ 131 h 131"/>
                <a:gd name="T78" fmla="*/ 119 w 125"/>
                <a:gd name="T79" fmla="*/ 93 h 131"/>
                <a:gd name="T80" fmla="*/ 125 w 125"/>
                <a:gd name="T81" fmla="*/ 86 h 131"/>
                <a:gd name="T82" fmla="*/ 24 w 125"/>
                <a:gd name="T83" fmla="*/ 126 h 131"/>
                <a:gd name="T84" fmla="*/ 24 w 125"/>
                <a:gd name="T85" fmla="*/ 89 h 131"/>
                <a:gd name="T86" fmla="*/ 43 w 125"/>
                <a:gd name="T87" fmla="*/ 24 h 131"/>
                <a:gd name="T88" fmla="*/ 5 w 125"/>
                <a:gd name="T89" fmla="*/ 24 h 131"/>
                <a:gd name="T90" fmla="*/ 43 w 125"/>
                <a:gd name="T91" fmla="*/ 24 h 131"/>
                <a:gd name="T92" fmla="*/ 100 w 125"/>
                <a:gd name="T93" fmla="*/ 5 h 131"/>
                <a:gd name="T94" fmla="*/ 100 w 125"/>
                <a:gd name="T95" fmla="*/ 43 h 131"/>
                <a:gd name="T96" fmla="*/ 41 w 125"/>
                <a:gd name="T97" fmla="*/ 91 h 131"/>
                <a:gd name="T98" fmla="*/ 49 w 125"/>
                <a:gd name="T99" fmla="*/ 66 h 131"/>
                <a:gd name="T100" fmla="*/ 41 w 125"/>
                <a:gd name="T101" fmla="*/ 41 h 131"/>
                <a:gd name="T102" fmla="*/ 83 w 125"/>
                <a:gd name="T103" fmla="*/ 41 h 131"/>
                <a:gd name="T104" fmla="*/ 75 w 125"/>
                <a:gd name="T105" fmla="*/ 66 h 131"/>
                <a:gd name="T106" fmla="*/ 83 w 125"/>
                <a:gd name="T107" fmla="*/ 91 h 131"/>
                <a:gd name="T108" fmla="*/ 41 w 125"/>
                <a:gd name="T109" fmla="*/ 91 h 131"/>
                <a:gd name="T110" fmla="*/ 100 w 125"/>
                <a:gd name="T111" fmla="*/ 126 h 131"/>
                <a:gd name="T112" fmla="*/ 100 w 125"/>
                <a:gd name="T113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5" h="131">
                  <a:moveTo>
                    <a:pt x="125" y="86"/>
                  </a:moveTo>
                  <a:cubicBezTo>
                    <a:pt x="125" y="86"/>
                    <a:pt x="124" y="85"/>
                    <a:pt x="124" y="84"/>
                  </a:cubicBezTo>
                  <a:cubicBezTo>
                    <a:pt x="124" y="84"/>
                    <a:pt x="124" y="84"/>
                    <a:pt x="124" y="84"/>
                  </a:cubicBezTo>
                  <a:cubicBezTo>
                    <a:pt x="123" y="83"/>
                    <a:pt x="121" y="83"/>
                    <a:pt x="120" y="84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1" y="85"/>
                    <a:pt x="106" y="84"/>
                    <a:pt x="100" y="84"/>
                  </a:cubicBezTo>
                  <a:cubicBezTo>
                    <a:pt x="98" y="84"/>
                    <a:pt x="97" y="84"/>
                    <a:pt x="95" y="84"/>
                  </a:cubicBezTo>
                  <a:cubicBezTo>
                    <a:pt x="86" y="82"/>
                    <a:pt x="80" y="75"/>
                    <a:pt x="80" y="66"/>
                  </a:cubicBezTo>
                  <a:cubicBezTo>
                    <a:pt x="80" y="56"/>
                    <a:pt x="89" y="48"/>
                    <a:pt x="99" y="48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106" y="48"/>
                    <a:pt x="111" y="46"/>
                    <a:pt x="116" y="42"/>
                  </a:cubicBezTo>
                  <a:cubicBezTo>
                    <a:pt x="120" y="47"/>
                    <a:pt x="120" y="47"/>
                    <a:pt x="120" y="47"/>
                  </a:cubicBezTo>
                  <a:cubicBezTo>
                    <a:pt x="121" y="48"/>
                    <a:pt x="123" y="48"/>
                    <a:pt x="124" y="47"/>
                  </a:cubicBezTo>
                  <a:cubicBezTo>
                    <a:pt x="124" y="46"/>
                    <a:pt x="125" y="45"/>
                    <a:pt x="125" y="45"/>
                  </a:cubicBezTo>
                  <a:cubicBezTo>
                    <a:pt x="125" y="44"/>
                    <a:pt x="124" y="44"/>
                    <a:pt x="124" y="43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2" y="34"/>
                    <a:pt x="124" y="29"/>
                    <a:pt x="124" y="24"/>
                  </a:cubicBezTo>
                  <a:cubicBezTo>
                    <a:pt x="124" y="10"/>
                    <a:pt x="114" y="0"/>
                    <a:pt x="100" y="0"/>
                  </a:cubicBezTo>
                  <a:cubicBezTo>
                    <a:pt x="95" y="0"/>
                    <a:pt x="90" y="1"/>
                    <a:pt x="85" y="5"/>
                  </a:cubicBezTo>
                  <a:cubicBezTo>
                    <a:pt x="81" y="1"/>
                    <a:pt x="81" y="1"/>
                    <a:pt x="81" y="1"/>
                  </a:cubicBezTo>
                  <a:cubicBezTo>
                    <a:pt x="80" y="0"/>
                    <a:pt x="79" y="0"/>
                    <a:pt x="78" y="1"/>
                  </a:cubicBezTo>
                  <a:cubicBezTo>
                    <a:pt x="77" y="1"/>
                    <a:pt x="77" y="2"/>
                    <a:pt x="77" y="2"/>
                  </a:cubicBezTo>
                  <a:cubicBezTo>
                    <a:pt x="77" y="3"/>
                    <a:pt x="77" y="4"/>
                    <a:pt x="78" y="4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78" y="13"/>
                    <a:pt x="76" y="18"/>
                    <a:pt x="76" y="24"/>
                  </a:cubicBezTo>
                  <a:cubicBezTo>
                    <a:pt x="76" y="28"/>
                    <a:pt x="78" y="32"/>
                    <a:pt x="80" y="36"/>
                  </a:cubicBezTo>
                  <a:cubicBezTo>
                    <a:pt x="77" y="44"/>
                    <a:pt x="70" y="49"/>
                    <a:pt x="62" y="49"/>
                  </a:cubicBezTo>
                  <a:cubicBezTo>
                    <a:pt x="54" y="49"/>
                    <a:pt x="47" y="44"/>
                    <a:pt x="44" y="36"/>
                  </a:cubicBezTo>
                  <a:cubicBezTo>
                    <a:pt x="47" y="32"/>
                    <a:pt x="48" y="28"/>
                    <a:pt x="48" y="24"/>
                  </a:cubicBezTo>
                  <a:cubicBezTo>
                    <a:pt x="48" y="18"/>
                    <a:pt x="46" y="13"/>
                    <a:pt x="43" y="8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7" y="4"/>
                    <a:pt x="47" y="3"/>
                    <a:pt x="48" y="2"/>
                  </a:cubicBezTo>
                  <a:cubicBezTo>
                    <a:pt x="48" y="2"/>
                    <a:pt x="47" y="1"/>
                    <a:pt x="47" y="1"/>
                  </a:cubicBezTo>
                  <a:cubicBezTo>
                    <a:pt x="46" y="0"/>
                    <a:pt x="44" y="0"/>
                    <a:pt x="43" y="1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5" y="1"/>
                    <a:pt x="29" y="0"/>
                    <a:pt x="24" y="0"/>
                  </a:cubicBezTo>
                  <a:cubicBezTo>
                    <a:pt x="11" y="0"/>
                    <a:pt x="0" y="10"/>
                    <a:pt x="0" y="24"/>
                  </a:cubicBezTo>
                  <a:cubicBezTo>
                    <a:pt x="0" y="29"/>
                    <a:pt x="2" y="34"/>
                    <a:pt x="5" y="38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0" y="44"/>
                    <a:pt x="0" y="44"/>
                    <a:pt x="0" y="45"/>
                  </a:cubicBezTo>
                  <a:cubicBezTo>
                    <a:pt x="0" y="45"/>
                    <a:pt x="0" y="46"/>
                    <a:pt x="1" y="47"/>
                  </a:cubicBezTo>
                  <a:cubicBezTo>
                    <a:pt x="2" y="48"/>
                    <a:pt x="3" y="48"/>
                    <a:pt x="4" y="47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3" y="46"/>
                    <a:pt x="19" y="48"/>
                    <a:pt x="24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35" y="48"/>
                    <a:pt x="44" y="56"/>
                    <a:pt x="44" y="66"/>
                  </a:cubicBezTo>
                  <a:cubicBezTo>
                    <a:pt x="44" y="75"/>
                    <a:pt x="38" y="82"/>
                    <a:pt x="29" y="84"/>
                  </a:cubicBezTo>
                  <a:cubicBezTo>
                    <a:pt x="28" y="84"/>
                    <a:pt x="26" y="84"/>
                    <a:pt x="24" y="84"/>
                  </a:cubicBezTo>
                  <a:cubicBezTo>
                    <a:pt x="19" y="84"/>
                    <a:pt x="13" y="85"/>
                    <a:pt x="9" y="89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3" y="83"/>
                    <a:pt x="2" y="83"/>
                    <a:pt x="1" y="84"/>
                  </a:cubicBezTo>
                  <a:cubicBezTo>
                    <a:pt x="0" y="85"/>
                    <a:pt x="0" y="86"/>
                    <a:pt x="0" y="86"/>
                  </a:cubicBezTo>
                  <a:cubicBezTo>
                    <a:pt x="0" y="87"/>
                    <a:pt x="0" y="88"/>
                    <a:pt x="1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2" y="97"/>
                    <a:pt x="0" y="102"/>
                    <a:pt x="0" y="107"/>
                  </a:cubicBezTo>
                  <a:cubicBezTo>
                    <a:pt x="0" y="121"/>
                    <a:pt x="11" y="131"/>
                    <a:pt x="24" y="131"/>
                  </a:cubicBezTo>
                  <a:cubicBezTo>
                    <a:pt x="29" y="131"/>
                    <a:pt x="35" y="130"/>
                    <a:pt x="39" y="126"/>
                  </a:cubicBezTo>
                  <a:cubicBezTo>
                    <a:pt x="43" y="130"/>
                    <a:pt x="43" y="130"/>
                    <a:pt x="43" y="130"/>
                  </a:cubicBezTo>
                  <a:cubicBezTo>
                    <a:pt x="44" y="131"/>
                    <a:pt x="46" y="131"/>
                    <a:pt x="47" y="130"/>
                  </a:cubicBezTo>
                  <a:cubicBezTo>
                    <a:pt x="47" y="130"/>
                    <a:pt x="48" y="129"/>
                    <a:pt x="48" y="129"/>
                  </a:cubicBezTo>
                  <a:cubicBezTo>
                    <a:pt x="47" y="128"/>
                    <a:pt x="47" y="127"/>
                    <a:pt x="47" y="127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6" y="118"/>
                    <a:pt x="48" y="113"/>
                    <a:pt x="48" y="107"/>
                  </a:cubicBezTo>
                  <a:cubicBezTo>
                    <a:pt x="48" y="103"/>
                    <a:pt x="47" y="99"/>
                    <a:pt x="44" y="95"/>
                  </a:cubicBezTo>
                  <a:cubicBezTo>
                    <a:pt x="47" y="87"/>
                    <a:pt x="54" y="83"/>
                    <a:pt x="62" y="83"/>
                  </a:cubicBezTo>
                  <a:cubicBezTo>
                    <a:pt x="70" y="83"/>
                    <a:pt x="77" y="87"/>
                    <a:pt x="80" y="95"/>
                  </a:cubicBezTo>
                  <a:cubicBezTo>
                    <a:pt x="78" y="99"/>
                    <a:pt x="76" y="103"/>
                    <a:pt x="76" y="107"/>
                  </a:cubicBezTo>
                  <a:cubicBezTo>
                    <a:pt x="76" y="113"/>
                    <a:pt x="78" y="118"/>
                    <a:pt x="82" y="123"/>
                  </a:cubicBezTo>
                  <a:cubicBezTo>
                    <a:pt x="78" y="127"/>
                    <a:pt x="78" y="127"/>
                    <a:pt x="78" y="127"/>
                  </a:cubicBezTo>
                  <a:cubicBezTo>
                    <a:pt x="77" y="127"/>
                    <a:pt x="77" y="128"/>
                    <a:pt x="77" y="129"/>
                  </a:cubicBezTo>
                  <a:cubicBezTo>
                    <a:pt x="77" y="129"/>
                    <a:pt x="77" y="130"/>
                    <a:pt x="78" y="130"/>
                  </a:cubicBezTo>
                  <a:cubicBezTo>
                    <a:pt x="79" y="131"/>
                    <a:pt x="80" y="131"/>
                    <a:pt x="81" y="130"/>
                  </a:cubicBezTo>
                  <a:cubicBezTo>
                    <a:pt x="85" y="126"/>
                    <a:pt x="85" y="126"/>
                    <a:pt x="85" y="126"/>
                  </a:cubicBezTo>
                  <a:cubicBezTo>
                    <a:pt x="90" y="130"/>
                    <a:pt x="95" y="131"/>
                    <a:pt x="100" y="131"/>
                  </a:cubicBezTo>
                  <a:cubicBezTo>
                    <a:pt x="114" y="131"/>
                    <a:pt x="124" y="121"/>
                    <a:pt x="124" y="107"/>
                  </a:cubicBezTo>
                  <a:cubicBezTo>
                    <a:pt x="124" y="102"/>
                    <a:pt x="122" y="97"/>
                    <a:pt x="119" y="93"/>
                  </a:cubicBezTo>
                  <a:cubicBezTo>
                    <a:pt x="124" y="88"/>
                    <a:pt x="124" y="88"/>
                    <a:pt x="124" y="88"/>
                  </a:cubicBezTo>
                  <a:cubicBezTo>
                    <a:pt x="124" y="88"/>
                    <a:pt x="125" y="87"/>
                    <a:pt x="125" y="86"/>
                  </a:cubicBezTo>
                  <a:close/>
                  <a:moveTo>
                    <a:pt x="43" y="107"/>
                  </a:moveTo>
                  <a:cubicBezTo>
                    <a:pt x="43" y="118"/>
                    <a:pt x="35" y="126"/>
                    <a:pt x="24" y="126"/>
                  </a:cubicBezTo>
                  <a:cubicBezTo>
                    <a:pt x="14" y="126"/>
                    <a:pt x="5" y="118"/>
                    <a:pt x="5" y="107"/>
                  </a:cubicBezTo>
                  <a:cubicBezTo>
                    <a:pt x="5" y="97"/>
                    <a:pt x="14" y="89"/>
                    <a:pt x="24" y="89"/>
                  </a:cubicBezTo>
                  <a:cubicBezTo>
                    <a:pt x="35" y="89"/>
                    <a:pt x="43" y="97"/>
                    <a:pt x="43" y="107"/>
                  </a:cubicBezTo>
                  <a:close/>
                  <a:moveTo>
                    <a:pt x="43" y="24"/>
                  </a:moveTo>
                  <a:cubicBezTo>
                    <a:pt x="43" y="34"/>
                    <a:pt x="35" y="43"/>
                    <a:pt x="24" y="43"/>
                  </a:cubicBezTo>
                  <a:cubicBezTo>
                    <a:pt x="14" y="43"/>
                    <a:pt x="5" y="34"/>
                    <a:pt x="5" y="24"/>
                  </a:cubicBezTo>
                  <a:cubicBezTo>
                    <a:pt x="5" y="13"/>
                    <a:pt x="14" y="5"/>
                    <a:pt x="24" y="5"/>
                  </a:cubicBezTo>
                  <a:cubicBezTo>
                    <a:pt x="35" y="5"/>
                    <a:pt x="43" y="13"/>
                    <a:pt x="43" y="24"/>
                  </a:cubicBezTo>
                  <a:close/>
                  <a:moveTo>
                    <a:pt x="81" y="24"/>
                  </a:moveTo>
                  <a:cubicBezTo>
                    <a:pt x="81" y="13"/>
                    <a:pt x="90" y="5"/>
                    <a:pt x="100" y="5"/>
                  </a:cubicBezTo>
                  <a:cubicBezTo>
                    <a:pt x="111" y="5"/>
                    <a:pt x="119" y="13"/>
                    <a:pt x="119" y="24"/>
                  </a:cubicBezTo>
                  <a:cubicBezTo>
                    <a:pt x="119" y="34"/>
                    <a:pt x="111" y="43"/>
                    <a:pt x="100" y="43"/>
                  </a:cubicBezTo>
                  <a:cubicBezTo>
                    <a:pt x="90" y="43"/>
                    <a:pt x="81" y="34"/>
                    <a:pt x="81" y="24"/>
                  </a:cubicBezTo>
                  <a:close/>
                  <a:moveTo>
                    <a:pt x="41" y="91"/>
                  </a:moveTo>
                  <a:cubicBezTo>
                    <a:pt x="40" y="89"/>
                    <a:pt x="38" y="88"/>
                    <a:pt x="36" y="87"/>
                  </a:cubicBezTo>
                  <a:cubicBezTo>
                    <a:pt x="44" y="83"/>
                    <a:pt x="49" y="75"/>
                    <a:pt x="49" y="66"/>
                  </a:cubicBezTo>
                  <a:cubicBezTo>
                    <a:pt x="49" y="57"/>
                    <a:pt x="43" y="49"/>
                    <a:pt x="35" y="45"/>
                  </a:cubicBezTo>
                  <a:cubicBezTo>
                    <a:pt x="37" y="44"/>
                    <a:pt x="39" y="42"/>
                    <a:pt x="41" y="41"/>
                  </a:cubicBezTo>
                  <a:cubicBezTo>
                    <a:pt x="45" y="49"/>
                    <a:pt x="53" y="54"/>
                    <a:pt x="62" y="54"/>
                  </a:cubicBezTo>
                  <a:cubicBezTo>
                    <a:pt x="71" y="54"/>
                    <a:pt x="79" y="49"/>
                    <a:pt x="83" y="41"/>
                  </a:cubicBezTo>
                  <a:cubicBezTo>
                    <a:pt x="85" y="42"/>
                    <a:pt x="87" y="44"/>
                    <a:pt x="89" y="45"/>
                  </a:cubicBezTo>
                  <a:cubicBezTo>
                    <a:pt x="81" y="49"/>
                    <a:pt x="75" y="57"/>
                    <a:pt x="75" y="66"/>
                  </a:cubicBezTo>
                  <a:cubicBezTo>
                    <a:pt x="75" y="75"/>
                    <a:pt x="80" y="83"/>
                    <a:pt x="88" y="87"/>
                  </a:cubicBezTo>
                  <a:cubicBezTo>
                    <a:pt x="86" y="88"/>
                    <a:pt x="85" y="89"/>
                    <a:pt x="83" y="91"/>
                  </a:cubicBezTo>
                  <a:cubicBezTo>
                    <a:pt x="79" y="82"/>
                    <a:pt x="71" y="78"/>
                    <a:pt x="62" y="78"/>
                  </a:cubicBezTo>
                  <a:cubicBezTo>
                    <a:pt x="53" y="78"/>
                    <a:pt x="45" y="82"/>
                    <a:pt x="41" y="91"/>
                  </a:cubicBezTo>
                  <a:close/>
                  <a:moveTo>
                    <a:pt x="119" y="107"/>
                  </a:moveTo>
                  <a:cubicBezTo>
                    <a:pt x="119" y="118"/>
                    <a:pt x="111" y="126"/>
                    <a:pt x="100" y="126"/>
                  </a:cubicBezTo>
                  <a:cubicBezTo>
                    <a:pt x="90" y="126"/>
                    <a:pt x="81" y="118"/>
                    <a:pt x="81" y="107"/>
                  </a:cubicBezTo>
                  <a:cubicBezTo>
                    <a:pt x="81" y="97"/>
                    <a:pt x="90" y="89"/>
                    <a:pt x="100" y="89"/>
                  </a:cubicBezTo>
                  <a:cubicBezTo>
                    <a:pt x="111" y="89"/>
                    <a:pt x="119" y="97"/>
                    <a:pt x="119" y="10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id="{D81CA2BA-CB9A-62F9-D973-E9DC67181D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" y="1932"/>
              <a:ext cx="45" cy="46"/>
            </a:xfrm>
            <a:custGeom>
              <a:avLst/>
              <a:gdLst>
                <a:gd name="T0" fmla="*/ 8 w 17"/>
                <a:gd name="T1" fmla="*/ 0 h 17"/>
                <a:gd name="T2" fmla="*/ 0 w 17"/>
                <a:gd name="T3" fmla="*/ 8 h 17"/>
                <a:gd name="T4" fmla="*/ 8 w 17"/>
                <a:gd name="T5" fmla="*/ 17 h 17"/>
                <a:gd name="T6" fmla="*/ 17 w 17"/>
                <a:gd name="T7" fmla="*/ 8 h 17"/>
                <a:gd name="T8" fmla="*/ 8 w 17"/>
                <a:gd name="T9" fmla="*/ 0 h 17"/>
                <a:gd name="T10" fmla="*/ 12 w 17"/>
                <a:gd name="T11" fmla="*/ 8 h 17"/>
                <a:gd name="T12" fmla="*/ 8 w 17"/>
                <a:gd name="T13" fmla="*/ 12 h 17"/>
                <a:gd name="T14" fmla="*/ 5 w 17"/>
                <a:gd name="T15" fmla="*/ 8 h 17"/>
                <a:gd name="T16" fmla="*/ 8 w 17"/>
                <a:gd name="T17" fmla="*/ 5 h 17"/>
                <a:gd name="T18" fmla="*/ 12 w 17"/>
                <a:gd name="T19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7"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  <a:close/>
                  <a:moveTo>
                    <a:pt x="12" y="8"/>
                  </a:move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5" y="10"/>
                    <a:pt x="5" y="8"/>
                  </a:cubicBezTo>
                  <a:cubicBezTo>
                    <a:pt x="5" y="7"/>
                    <a:pt x="6" y="5"/>
                    <a:pt x="8" y="5"/>
                  </a:cubicBezTo>
                  <a:cubicBezTo>
                    <a:pt x="10" y="5"/>
                    <a:pt x="12" y="7"/>
                    <a:pt x="1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sp>
        <p:nvSpPr>
          <p:cNvPr id="70" name="Freeform 147">
            <a:extLst>
              <a:ext uri="{FF2B5EF4-FFF2-40B4-BE49-F238E27FC236}">
                <a16:creationId xmlns:a16="http://schemas.microsoft.com/office/drawing/2014/main" id="{145A41BE-74C2-68C3-434A-B623F599DCC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499926" y="2522527"/>
            <a:ext cx="495658" cy="309787"/>
          </a:xfrm>
          <a:custGeom>
            <a:avLst/>
            <a:gdLst>
              <a:gd name="T0" fmla="*/ 54 w 288"/>
              <a:gd name="T1" fmla="*/ 180 h 180"/>
              <a:gd name="T2" fmla="*/ 14 w 288"/>
              <a:gd name="T3" fmla="*/ 164 h 180"/>
              <a:gd name="T4" fmla="*/ 0 w 288"/>
              <a:gd name="T5" fmla="*/ 129 h 180"/>
              <a:gd name="T6" fmla="*/ 19 w 288"/>
              <a:gd name="T7" fmla="*/ 89 h 180"/>
              <a:gd name="T8" fmla="*/ 55 w 288"/>
              <a:gd name="T9" fmla="*/ 78 h 180"/>
              <a:gd name="T10" fmla="*/ 144 w 288"/>
              <a:gd name="T11" fmla="*/ 0 h 180"/>
              <a:gd name="T12" fmla="*/ 224 w 288"/>
              <a:gd name="T13" fmla="*/ 48 h 180"/>
              <a:gd name="T14" fmla="*/ 268 w 288"/>
              <a:gd name="T15" fmla="*/ 66 h 180"/>
              <a:gd name="T16" fmla="*/ 288 w 288"/>
              <a:gd name="T17" fmla="*/ 114 h 180"/>
              <a:gd name="T18" fmla="*/ 229 w 288"/>
              <a:gd name="T19" fmla="*/ 180 h 180"/>
              <a:gd name="T20" fmla="*/ 228 w 288"/>
              <a:gd name="T21" fmla="*/ 180 h 180"/>
              <a:gd name="T22" fmla="*/ 54 w 288"/>
              <a:gd name="T23" fmla="*/ 180 h 180"/>
              <a:gd name="T24" fmla="*/ 54 w 288"/>
              <a:gd name="T25" fmla="*/ 180 h 180"/>
              <a:gd name="T26" fmla="*/ 51 w 288"/>
              <a:gd name="T27" fmla="*/ 90 h 180"/>
              <a:gd name="T28" fmla="*/ 27 w 288"/>
              <a:gd name="T29" fmla="*/ 99 h 180"/>
              <a:gd name="T30" fmla="*/ 12 w 288"/>
              <a:gd name="T31" fmla="*/ 129 h 180"/>
              <a:gd name="T32" fmla="*/ 22 w 288"/>
              <a:gd name="T33" fmla="*/ 156 h 180"/>
              <a:gd name="T34" fmla="*/ 54 w 288"/>
              <a:gd name="T35" fmla="*/ 168 h 180"/>
              <a:gd name="T36" fmla="*/ 54 w 288"/>
              <a:gd name="T37" fmla="*/ 168 h 180"/>
              <a:gd name="T38" fmla="*/ 228 w 288"/>
              <a:gd name="T39" fmla="*/ 168 h 180"/>
              <a:gd name="T40" fmla="*/ 276 w 288"/>
              <a:gd name="T41" fmla="*/ 114 h 180"/>
              <a:gd name="T42" fmla="*/ 260 w 288"/>
              <a:gd name="T43" fmla="*/ 75 h 180"/>
              <a:gd name="T44" fmla="*/ 220 w 288"/>
              <a:gd name="T45" fmla="*/ 60 h 180"/>
              <a:gd name="T46" fmla="*/ 215 w 288"/>
              <a:gd name="T47" fmla="*/ 57 h 180"/>
              <a:gd name="T48" fmla="*/ 144 w 288"/>
              <a:gd name="T49" fmla="*/ 12 h 180"/>
              <a:gd name="T50" fmla="*/ 66 w 288"/>
              <a:gd name="T51" fmla="*/ 85 h 180"/>
              <a:gd name="T52" fmla="*/ 64 w 288"/>
              <a:gd name="T53" fmla="*/ 90 h 180"/>
              <a:gd name="T54" fmla="*/ 59 w 288"/>
              <a:gd name="T55" fmla="*/ 91 h 180"/>
              <a:gd name="T56" fmla="*/ 51 w 288"/>
              <a:gd name="T57" fmla="*/ 90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88" h="180">
                <a:moveTo>
                  <a:pt x="54" y="180"/>
                </a:moveTo>
                <a:cubicBezTo>
                  <a:pt x="51" y="180"/>
                  <a:pt x="29" y="179"/>
                  <a:pt x="14" y="164"/>
                </a:cubicBezTo>
                <a:cubicBezTo>
                  <a:pt x="5" y="156"/>
                  <a:pt x="0" y="144"/>
                  <a:pt x="0" y="129"/>
                </a:cubicBezTo>
                <a:cubicBezTo>
                  <a:pt x="0" y="113"/>
                  <a:pt x="7" y="99"/>
                  <a:pt x="19" y="89"/>
                </a:cubicBezTo>
                <a:cubicBezTo>
                  <a:pt x="29" y="81"/>
                  <a:pt x="42" y="77"/>
                  <a:pt x="55" y="78"/>
                </a:cubicBezTo>
                <a:cubicBezTo>
                  <a:pt x="61" y="34"/>
                  <a:pt x="99" y="0"/>
                  <a:pt x="144" y="0"/>
                </a:cubicBezTo>
                <a:cubicBezTo>
                  <a:pt x="177" y="0"/>
                  <a:pt x="208" y="19"/>
                  <a:pt x="224" y="48"/>
                </a:cubicBezTo>
                <a:cubicBezTo>
                  <a:pt x="240" y="48"/>
                  <a:pt x="256" y="55"/>
                  <a:pt x="268" y="66"/>
                </a:cubicBezTo>
                <a:cubicBezTo>
                  <a:pt x="281" y="79"/>
                  <a:pt x="288" y="96"/>
                  <a:pt x="288" y="114"/>
                </a:cubicBezTo>
                <a:cubicBezTo>
                  <a:pt x="288" y="171"/>
                  <a:pt x="230" y="180"/>
                  <a:pt x="229" y="180"/>
                </a:cubicBezTo>
                <a:cubicBezTo>
                  <a:pt x="229" y="180"/>
                  <a:pt x="228" y="180"/>
                  <a:pt x="228" y="180"/>
                </a:cubicBezTo>
                <a:cubicBezTo>
                  <a:pt x="54" y="180"/>
                  <a:pt x="54" y="180"/>
                  <a:pt x="54" y="180"/>
                </a:cubicBezTo>
                <a:cubicBezTo>
                  <a:pt x="54" y="180"/>
                  <a:pt x="54" y="180"/>
                  <a:pt x="54" y="180"/>
                </a:cubicBezTo>
                <a:close/>
                <a:moveTo>
                  <a:pt x="51" y="90"/>
                </a:moveTo>
                <a:cubicBezTo>
                  <a:pt x="42" y="90"/>
                  <a:pt x="34" y="93"/>
                  <a:pt x="27" y="99"/>
                </a:cubicBezTo>
                <a:cubicBezTo>
                  <a:pt x="17" y="106"/>
                  <a:pt x="12" y="117"/>
                  <a:pt x="12" y="129"/>
                </a:cubicBezTo>
                <a:cubicBezTo>
                  <a:pt x="12" y="140"/>
                  <a:pt x="16" y="149"/>
                  <a:pt x="22" y="156"/>
                </a:cubicBezTo>
                <a:cubicBezTo>
                  <a:pt x="34" y="168"/>
                  <a:pt x="53" y="168"/>
                  <a:pt x="54" y="168"/>
                </a:cubicBezTo>
                <a:cubicBezTo>
                  <a:pt x="54" y="168"/>
                  <a:pt x="54" y="168"/>
                  <a:pt x="54" y="168"/>
                </a:cubicBezTo>
                <a:cubicBezTo>
                  <a:pt x="228" y="168"/>
                  <a:pt x="228" y="168"/>
                  <a:pt x="228" y="168"/>
                </a:cubicBezTo>
                <a:cubicBezTo>
                  <a:pt x="233" y="167"/>
                  <a:pt x="276" y="159"/>
                  <a:pt x="276" y="114"/>
                </a:cubicBezTo>
                <a:cubicBezTo>
                  <a:pt x="276" y="99"/>
                  <a:pt x="270" y="85"/>
                  <a:pt x="260" y="75"/>
                </a:cubicBezTo>
                <a:cubicBezTo>
                  <a:pt x="249" y="65"/>
                  <a:pt x="235" y="59"/>
                  <a:pt x="220" y="60"/>
                </a:cubicBezTo>
                <a:cubicBezTo>
                  <a:pt x="218" y="60"/>
                  <a:pt x="216" y="59"/>
                  <a:pt x="215" y="57"/>
                </a:cubicBezTo>
                <a:cubicBezTo>
                  <a:pt x="202" y="29"/>
                  <a:pt x="174" y="12"/>
                  <a:pt x="144" y="12"/>
                </a:cubicBezTo>
                <a:cubicBezTo>
                  <a:pt x="103" y="12"/>
                  <a:pt x="69" y="44"/>
                  <a:pt x="66" y="85"/>
                </a:cubicBezTo>
                <a:cubicBezTo>
                  <a:pt x="66" y="87"/>
                  <a:pt x="66" y="88"/>
                  <a:pt x="64" y="90"/>
                </a:cubicBezTo>
                <a:cubicBezTo>
                  <a:pt x="63" y="91"/>
                  <a:pt x="61" y="91"/>
                  <a:pt x="59" y="91"/>
                </a:cubicBezTo>
                <a:cubicBezTo>
                  <a:pt x="57" y="90"/>
                  <a:pt x="54" y="90"/>
                  <a:pt x="51" y="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71" name="Group 144">
            <a:extLst>
              <a:ext uri="{FF2B5EF4-FFF2-40B4-BE49-F238E27FC236}">
                <a16:creationId xmlns:a16="http://schemas.microsoft.com/office/drawing/2014/main" id="{B7EBBC6F-E517-D37F-89CF-D3FEB8E4F50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38858" y="4447032"/>
            <a:ext cx="455378" cy="398289"/>
            <a:chOff x="4508" y="2711"/>
            <a:chExt cx="343" cy="300"/>
          </a:xfrm>
          <a:solidFill>
            <a:schemeClr val="accent1"/>
          </a:solidFill>
        </p:grpSpPr>
        <p:sp>
          <p:nvSpPr>
            <p:cNvPr id="72" name="Freeform 145">
              <a:extLst>
                <a:ext uri="{FF2B5EF4-FFF2-40B4-BE49-F238E27FC236}">
                  <a16:creationId xmlns:a16="http://schemas.microsoft.com/office/drawing/2014/main" id="{C4BE4C75-A3DC-9504-D248-DBD913E7DA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8" y="2804"/>
              <a:ext cx="343" cy="114"/>
            </a:xfrm>
            <a:custGeom>
              <a:avLst/>
              <a:gdLst>
                <a:gd name="T0" fmla="*/ 282 w 288"/>
                <a:gd name="T1" fmla="*/ 96 h 96"/>
                <a:gd name="T2" fmla="*/ 6 w 288"/>
                <a:gd name="T3" fmla="*/ 96 h 96"/>
                <a:gd name="T4" fmla="*/ 0 w 288"/>
                <a:gd name="T5" fmla="*/ 90 h 96"/>
                <a:gd name="T6" fmla="*/ 0 w 288"/>
                <a:gd name="T7" fmla="*/ 6 h 96"/>
                <a:gd name="T8" fmla="*/ 6 w 288"/>
                <a:gd name="T9" fmla="*/ 0 h 96"/>
                <a:gd name="T10" fmla="*/ 282 w 288"/>
                <a:gd name="T11" fmla="*/ 0 h 96"/>
                <a:gd name="T12" fmla="*/ 288 w 288"/>
                <a:gd name="T13" fmla="*/ 6 h 96"/>
                <a:gd name="T14" fmla="*/ 288 w 288"/>
                <a:gd name="T15" fmla="*/ 90 h 96"/>
                <a:gd name="T16" fmla="*/ 282 w 288"/>
                <a:gd name="T17" fmla="*/ 96 h 96"/>
                <a:gd name="T18" fmla="*/ 12 w 288"/>
                <a:gd name="T19" fmla="*/ 84 h 96"/>
                <a:gd name="T20" fmla="*/ 276 w 288"/>
                <a:gd name="T21" fmla="*/ 84 h 96"/>
                <a:gd name="T22" fmla="*/ 276 w 288"/>
                <a:gd name="T23" fmla="*/ 12 h 96"/>
                <a:gd name="T24" fmla="*/ 12 w 288"/>
                <a:gd name="T25" fmla="*/ 12 h 96"/>
                <a:gd name="T26" fmla="*/ 12 w 288"/>
                <a:gd name="T27" fmla="*/ 8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96">
                  <a:moveTo>
                    <a:pt x="282" y="96"/>
                  </a:moveTo>
                  <a:cubicBezTo>
                    <a:pt x="6" y="96"/>
                    <a:pt x="6" y="96"/>
                    <a:pt x="6" y="96"/>
                  </a:cubicBezTo>
                  <a:cubicBezTo>
                    <a:pt x="3" y="96"/>
                    <a:pt x="0" y="94"/>
                    <a:pt x="0" y="9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3"/>
                    <a:pt x="288" y="6"/>
                  </a:cubicBezTo>
                  <a:cubicBezTo>
                    <a:pt x="288" y="90"/>
                    <a:pt x="288" y="90"/>
                    <a:pt x="288" y="90"/>
                  </a:cubicBezTo>
                  <a:cubicBezTo>
                    <a:pt x="288" y="94"/>
                    <a:pt x="286" y="96"/>
                    <a:pt x="282" y="96"/>
                  </a:cubicBezTo>
                  <a:close/>
                  <a:moveTo>
                    <a:pt x="12" y="84"/>
                  </a:moveTo>
                  <a:cubicBezTo>
                    <a:pt x="276" y="84"/>
                    <a:pt x="276" y="84"/>
                    <a:pt x="276" y="84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3" name="Freeform 146">
              <a:extLst>
                <a:ext uri="{FF2B5EF4-FFF2-40B4-BE49-F238E27FC236}">
                  <a16:creationId xmlns:a16="http://schemas.microsoft.com/office/drawing/2014/main" id="{2F9091FC-52DD-27DD-4BDB-96226EB16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8" y="2711"/>
              <a:ext cx="284" cy="102"/>
            </a:xfrm>
            <a:custGeom>
              <a:avLst/>
              <a:gdLst>
                <a:gd name="T0" fmla="*/ 226 w 238"/>
                <a:gd name="T1" fmla="*/ 86 h 86"/>
                <a:gd name="T2" fmla="*/ 119 w 238"/>
                <a:gd name="T3" fmla="*/ 12 h 86"/>
                <a:gd name="T4" fmla="*/ 115 w 238"/>
                <a:gd name="T5" fmla="*/ 12 h 86"/>
                <a:gd name="T6" fmla="*/ 12 w 238"/>
                <a:gd name="T7" fmla="*/ 86 h 86"/>
                <a:gd name="T8" fmla="*/ 0 w 238"/>
                <a:gd name="T9" fmla="*/ 82 h 86"/>
                <a:gd name="T10" fmla="*/ 114 w 238"/>
                <a:gd name="T11" fmla="*/ 0 h 86"/>
                <a:gd name="T12" fmla="*/ 119 w 238"/>
                <a:gd name="T13" fmla="*/ 0 h 86"/>
                <a:gd name="T14" fmla="*/ 238 w 238"/>
                <a:gd name="T15" fmla="*/ 82 h 86"/>
                <a:gd name="T16" fmla="*/ 226 w 238"/>
                <a:gd name="T17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8" h="86">
                  <a:moveTo>
                    <a:pt x="226" y="86"/>
                  </a:moveTo>
                  <a:cubicBezTo>
                    <a:pt x="210" y="42"/>
                    <a:pt x="167" y="12"/>
                    <a:pt x="119" y="12"/>
                  </a:cubicBezTo>
                  <a:cubicBezTo>
                    <a:pt x="118" y="12"/>
                    <a:pt x="116" y="12"/>
                    <a:pt x="115" y="12"/>
                  </a:cubicBezTo>
                  <a:cubicBezTo>
                    <a:pt x="67" y="14"/>
                    <a:pt x="27" y="43"/>
                    <a:pt x="12" y="86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17" y="35"/>
                    <a:pt x="62" y="2"/>
                    <a:pt x="114" y="0"/>
                  </a:cubicBezTo>
                  <a:cubicBezTo>
                    <a:pt x="116" y="0"/>
                    <a:pt x="118" y="0"/>
                    <a:pt x="119" y="0"/>
                  </a:cubicBezTo>
                  <a:cubicBezTo>
                    <a:pt x="172" y="0"/>
                    <a:pt x="220" y="33"/>
                    <a:pt x="238" y="82"/>
                  </a:cubicBezTo>
                  <a:lnTo>
                    <a:pt x="226" y="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4" name="Freeform 147">
              <a:extLst>
                <a:ext uri="{FF2B5EF4-FFF2-40B4-BE49-F238E27FC236}">
                  <a16:creationId xmlns:a16="http://schemas.microsoft.com/office/drawing/2014/main" id="{8636619D-8D45-F663-27ED-34B092E36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2909"/>
              <a:ext cx="280" cy="102"/>
            </a:xfrm>
            <a:custGeom>
              <a:avLst/>
              <a:gdLst>
                <a:gd name="T0" fmla="*/ 117 w 235"/>
                <a:gd name="T1" fmla="*/ 86 h 86"/>
                <a:gd name="T2" fmla="*/ 0 w 235"/>
                <a:gd name="T3" fmla="*/ 4 h 86"/>
                <a:gd name="T4" fmla="*/ 11 w 235"/>
                <a:gd name="T5" fmla="*/ 0 h 86"/>
                <a:gd name="T6" fmla="*/ 117 w 235"/>
                <a:gd name="T7" fmla="*/ 74 h 86"/>
                <a:gd name="T8" fmla="*/ 224 w 235"/>
                <a:gd name="T9" fmla="*/ 0 h 86"/>
                <a:gd name="T10" fmla="*/ 235 w 235"/>
                <a:gd name="T11" fmla="*/ 4 h 86"/>
                <a:gd name="T12" fmla="*/ 117 w 235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5" h="86">
                  <a:moveTo>
                    <a:pt x="117" y="86"/>
                  </a:moveTo>
                  <a:cubicBezTo>
                    <a:pt x="66" y="86"/>
                    <a:pt x="19" y="53"/>
                    <a:pt x="0" y="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28" y="44"/>
                    <a:pt x="71" y="74"/>
                    <a:pt x="117" y="74"/>
                  </a:cubicBezTo>
                  <a:cubicBezTo>
                    <a:pt x="164" y="74"/>
                    <a:pt x="207" y="44"/>
                    <a:pt x="224" y="0"/>
                  </a:cubicBezTo>
                  <a:cubicBezTo>
                    <a:pt x="235" y="4"/>
                    <a:pt x="235" y="4"/>
                    <a:pt x="235" y="4"/>
                  </a:cubicBezTo>
                  <a:cubicBezTo>
                    <a:pt x="217" y="53"/>
                    <a:pt x="169" y="86"/>
                    <a:pt x="117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5" name="Freeform 148">
              <a:extLst>
                <a:ext uri="{FF2B5EF4-FFF2-40B4-BE49-F238E27FC236}">
                  <a16:creationId xmlns:a16="http://schemas.microsoft.com/office/drawing/2014/main" id="{07E29F44-1643-B1C6-9A44-ED07FB2E3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910"/>
              <a:ext cx="61" cy="99"/>
            </a:xfrm>
            <a:custGeom>
              <a:avLst/>
              <a:gdLst>
                <a:gd name="T0" fmla="*/ 41 w 51"/>
                <a:gd name="T1" fmla="*/ 83 h 83"/>
                <a:gd name="T2" fmla="*/ 0 w 51"/>
                <a:gd name="T3" fmla="*/ 3 h 83"/>
                <a:gd name="T4" fmla="*/ 12 w 51"/>
                <a:gd name="T5" fmla="*/ 0 h 83"/>
                <a:gd name="T6" fmla="*/ 51 w 51"/>
                <a:gd name="T7" fmla="*/ 76 h 83"/>
                <a:gd name="T8" fmla="*/ 41 w 51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83">
                  <a:moveTo>
                    <a:pt x="41" y="83"/>
                  </a:moveTo>
                  <a:cubicBezTo>
                    <a:pt x="22" y="57"/>
                    <a:pt x="8" y="30"/>
                    <a:pt x="0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25"/>
                    <a:pt x="32" y="51"/>
                    <a:pt x="51" y="76"/>
                  </a:cubicBezTo>
                  <a:lnTo>
                    <a:pt x="41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6" name="Freeform 149">
              <a:extLst>
                <a:ext uri="{FF2B5EF4-FFF2-40B4-BE49-F238E27FC236}">
                  <a16:creationId xmlns:a16="http://schemas.microsoft.com/office/drawing/2014/main" id="{B3817B8C-726A-7AD7-6201-8A45159D4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2713"/>
              <a:ext cx="63" cy="100"/>
            </a:xfrm>
            <a:custGeom>
              <a:avLst/>
              <a:gdLst>
                <a:gd name="T0" fmla="*/ 11 w 53"/>
                <a:gd name="T1" fmla="*/ 84 h 84"/>
                <a:gd name="T2" fmla="*/ 0 w 53"/>
                <a:gd name="T3" fmla="*/ 81 h 84"/>
                <a:gd name="T4" fmla="*/ 44 w 53"/>
                <a:gd name="T5" fmla="*/ 0 h 84"/>
                <a:gd name="T6" fmla="*/ 53 w 53"/>
                <a:gd name="T7" fmla="*/ 8 h 84"/>
                <a:gd name="T8" fmla="*/ 11 w 53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84">
                  <a:moveTo>
                    <a:pt x="11" y="84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7" y="52"/>
                    <a:pt x="21" y="25"/>
                    <a:pt x="44" y="0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32" y="31"/>
                    <a:pt x="18" y="56"/>
                    <a:pt x="11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7" name="Freeform 150">
              <a:extLst>
                <a:ext uri="{FF2B5EF4-FFF2-40B4-BE49-F238E27FC236}">
                  <a16:creationId xmlns:a16="http://schemas.microsoft.com/office/drawing/2014/main" id="{4DDBFC61-2A72-CD10-7DBB-5F8FE11D5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2910"/>
              <a:ext cx="61" cy="99"/>
            </a:xfrm>
            <a:custGeom>
              <a:avLst/>
              <a:gdLst>
                <a:gd name="T0" fmla="*/ 10 w 51"/>
                <a:gd name="T1" fmla="*/ 83 h 83"/>
                <a:gd name="T2" fmla="*/ 0 w 51"/>
                <a:gd name="T3" fmla="*/ 76 h 83"/>
                <a:gd name="T4" fmla="*/ 39 w 51"/>
                <a:gd name="T5" fmla="*/ 0 h 83"/>
                <a:gd name="T6" fmla="*/ 51 w 51"/>
                <a:gd name="T7" fmla="*/ 3 h 83"/>
                <a:gd name="T8" fmla="*/ 10 w 51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83">
                  <a:moveTo>
                    <a:pt x="10" y="83"/>
                  </a:moveTo>
                  <a:cubicBezTo>
                    <a:pt x="0" y="76"/>
                    <a:pt x="0" y="76"/>
                    <a:pt x="0" y="76"/>
                  </a:cubicBezTo>
                  <a:cubicBezTo>
                    <a:pt x="19" y="51"/>
                    <a:pt x="32" y="25"/>
                    <a:pt x="39" y="0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43" y="30"/>
                    <a:pt x="29" y="57"/>
                    <a:pt x="10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8" name="Freeform 151">
              <a:extLst>
                <a:ext uri="{FF2B5EF4-FFF2-40B4-BE49-F238E27FC236}">
                  <a16:creationId xmlns:a16="http://schemas.microsoft.com/office/drawing/2014/main" id="{0A56E6D6-4719-3FD9-ED71-0F9210B84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2713"/>
              <a:ext cx="63" cy="100"/>
            </a:xfrm>
            <a:custGeom>
              <a:avLst/>
              <a:gdLst>
                <a:gd name="T0" fmla="*/ 42 w 53"/>
                <a:gd name="T1" fmla="*/ 84 h 84"/>
                <a:gd name="T2" fmla="*/ 0 w 53"/>
                <a:gd name="T3" fmla="*/ 8 h 84"/>
                <a:gd name="T4" fmla="*/ 9 w 53"/>
                <a:gd name="T5" fmla="*/ 0 h 84"/>
                <a:gd name="T6" fmla="*/ 53 w 53"/>
                <a:gd name="T7" fmla="*/ 81 h 84"/>
                <a:gd name="T8" fmla="*/ 42 w 53"/>
                <a:gd name="T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84">
                  <a:moveTo>
                    <a:pt x="42" y="84"/>
                  </a:moveTo>
                  <a:cubicBezTo>
                    <a:pt x="35" y="56"/>
                    <a:pt x="21" y="31"/>
                    <a:pt x="0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32" y="25"/>
                    <a:pt x="46" y="52"/>
                    <a:pt x="53" y="81"/>
                  </a:cubicBezTo>
                  <a:lnTo>
                    <a:pt x="42" y="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79" name="Rectangle 152">
              <a:extLst>
                <a:ext uri="{FF2B5EF4-FFF2-40B4-BE49-F238E27FC236}">
                  <a16:creationId xmlns:a16="http://schemas.microsoft.com/office/drawing/2014/main" id="{8A8E31B2-1A55-7752-B9E8-844A4BC93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" y="2933"/>
              <a:ext cx="237" cy="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0" name="Rectangle 153">
              <a:extLst>
                <a:ext uri="{FF2B5EF4-FFF2-40B4-BE49-F238E27FC236}">
                  <a16:creationId xmlns:a16="http://schemas.microsoft.com/office/drawing/2014/main" id="{5ECDE07C-C327-EAD7-E345-DB6B2B4C8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1" y="2775"/>
              <a:ext cx="237" cy="1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1" name="Freeform 154">
              <a:extLst>
                <a:ext uri="{FF2B5EF4-FFF2-40B4-BE49-F238E27FC236}">
                  <a16:creationId xmlns:a16="http://schemas.microsoft.com/office/drawing/2014/main" id="{AE723E2E-1105-FDFB-1223-2EC4FC473A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2832"/>
              <a:ext cx="33" cy="58"/>
            </a:xfrm>
            <a:custGeom>
              <a:avLst/>
              <a:gdLst>
                <a:gd name="T0" fmla="*/ 22 w 28"/>
                <a:gd name="T1" fmla="*/ 48 h 48"/>
                <a:gd name="T2" fmla="*/ 6 w 28"/>
                <a:gd name="T3" fmla="*/ 48 h 48"/>
                <a:gd name="T4" fmla="*/ 0 w 28"/>
                <a:gd name="T5" fmla="*/ 42 h 48"/>
                <a:gd name="T6" fmla="*/ 0 w 28"/>
                <a:gd name="T7" fmla="*/ 6 h 48"/>
                <a:gd name="T8" fmla="*/ 6 w 28"/>
                <a:gd name="T9" fmla="*/ 0 h 48"/>
                <a:gd name="T10" fmla="*/ 22 w 28"/>
                <a:gd name="T11" fmla="*/ 0 h 48"/>
                <a:gd name="T12" fmla="*/ 28 w 28"/>
                <a:gd name="T13" fmla="*/ 6 h 48"/>
                <a:gd name="T14" fmla="*/ 22 w 28"/>
                <a:gd name="T15" fmla="*/ 12 h 48"/>
                <a:gd name="T16" fmla="*/ 12 w 28"/>
                <a:gd name="T17" fmla="*/ 12 h 48"/>
                <a:gd name="T18" fmla="*/ 12 w 28"/>
                <a:gd name="T19" fmla="*/ 36 h 48"/>
                <a:gd name="T20" fmla="*/ 22 w 28"/>
                <a:gd name="T21" fmla="*/ 36 h 48"/>
                <a:gd name="T22" fmla="*/ 28 w 28"/>
                <a:gd name="T23" fmla="*/ 42 h 48"/>
                <a:gd name="T24" fmla="*/ 22 w 28"/>
                <a:gd name="T25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48">
                  <a:moveTo>
                    <a:pt x="22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8" y="3"/>
                    <a:pt x="28" y="6"/>
                  </a:cubicBezTo>
                  <a:cubicBezTo>
                    <a:pt x="28" y="10"/>
                    <a:pt x="25" y="12"/>
                    <a:pt x="2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5" y="36"/>
                    <a:pt x="28" y="39"/>
                    <a:pt x="28" y="42"/>
                  </a:cubicBezTo>
                  <a:cubicBezTo>
                    <a:pt x="28" y="46"/>
                    <a:pt x="25" y="48"/>
                    <a:pt x="22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2" name="Freeform 155">
              <a:extLst>
                <a:ext uri="{FF2B5EF4-FFF2-40B4-BE49-F238E27FC236}">
                  <a16:creationId xmlns:a16="http://schemas.microsoft.com/office/drawing/2014/main" id="{D3228E61-F43B-C55B-01DB-53D273082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2854"/>
              <a:ext cx="29" cy="14"/>
            </a:xfrm>
            <a:custGeom>
              <a:avLst/>
              <a:gdLst>
                <a:gd name="T0" fmla="*/ 18 w 24"/>
                <a:gd name="T1" fmla="*/ 12 h 12"/>
                <a:gd name="T2" fmla="*/ 6 w 24"/>
                <a:gd name="T3" fmla="*/ 12 h 12"/>
                <a:gd name="T4" fmla="*/ 0 w 24"/>
                <a:gd name="T5" fmla="*/ 6 h 12"/>
                <a:gd name="T6" fmla="*/ 6 w 24"/>
                <a:gd name="T7" fmla="*/ 0 h 12"/>
                <a:gd name="T8" fmla="*/ 18 w 24"/>
                <a:gd name="T9" fmla="*/ 0 h 12"/>
                <a:gd name="T10" fmla="*/ 24 w 24"/>
                <a:gd name="T11" fmla="*/ 6 h 12"/>
                <a:gd name="T12" fmla="*/ 18 w 2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12">
                  <a:moveTo>
                    <a:pt x="1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1" y="0"/>
                    <a:pt x="24" y="3"/>
                    <a:pt x="24" y="6"/>
                  </a:cubicBezTo>
                  <a:cubicBezTo>
                    <a:pt x="24" y="10"/>
                    <a:pt x="21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3" name="Freeform 156">
              <a:extLst>
                <a:ext uri="{FF2B5EF4-FFF2-40B4-BE49-F238E27FC236}">
                  <a16:creationId xmlns:a16="http://schemas.microsoft.com/office/drawing/2014/main" id="{EDFC36BF-C0FD-B834-209D-F7977686C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7" y="2832"/>
              <a:ext cx="14" cy="58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6"/>
                    <a:pt x="10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4" name="Freeform 157">
              <a:extLst>
                <a:ext uri="{FF2B5EF4-FFF2-40B4-BE49-F238E27FC236}">
                  <a16:creationId xmlns:a16="http://schemas.microsoft.com/office/drawing/2014/main" id="{8B190E6F-C68B-3A51-C2F2-782C7477A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2832"/>
              <a:ext cx="36" cy="58"/>
            </a:xfrm>
            <a:custGeom>
              <a:avLst/>
              <a:gdLst>
                <a:gd name="T0" fmla="*/ 24 w 30"/>
                <a:gd name="T1" fmla="*/ 48 h 48"/>
                <a:gd name="T2" fmla="*/ 6 w 30"/>
                <a:gd name="T3" fmla="*/ 48 h 48"/>
                <a:gd name="T4" fmla="*/ 0 w 30"/>
                <a:gd name="T5" fmla="*/ 42 h 48"/>
                <a:gd name="T6" fmla="*/ 0 w 30"/>
                <a:gd name="T7" fmla="*/ 6 h 48"/>
                <a:gd name="T8" fmla="*/ 6 w 30"/>
                <a:gd name="T9" fmla="*/ 0 h 48"/>
                <a:gd name="T10" fmla="*/ 12 w 30"/>
                <a:gd name="T11" fmla="*/ 6 h 48"/>
                <a:gd name="T12" fmla="*/ 12 w 30"/>
                <a:gd name="T13" fmla="*/ 36 h 48"/>
                <a:gd name="T14" fmla="*/ 24 w 30"/>
                <a:gd name="T15" fmla="*/ 36 h 48"/>
                <a:gd name="T16" fmla="*/ 30 w 30"/>
                <a:gd name="T17" fmla="*/ 42 h 48"/>
                <a:gd name="T18" fmla="*/ 24 w 30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8">
                  <a:moveTo>
                    <a:pt x="2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7" y="36"/>
                    <a:pt x="30" y="39"/>
                    <a:pt x="30" y="42"/>
                  </a:cubicBezTo>
                  <a:cubicBezTo>
                    <a:pt x="30" y="46"/>
                    <a:pt x="27" y="48"/>
                    <a:pt x="24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5" name="Freeform 158">
              <a:extLst>
                <a:ext uri="{FF2B5EF4-FFF2-40B4-BE49-F238E27FC236}">
                  <a16:creationId xmlns:a16="http://schemas.microsoft.com/office/drawing/2014/main" id="{5766A9D2-6B3E-ADC7-F42C-E8BE64964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2832"/>
              <a:ext cx="40" cy="58"/>
            </a:xfrm>
            <a:custGeom>
              <a:avLst/>
              <a:gdLst>
                <a:gd name="T0" fmla="*/ 17 w 34"/>
                <a:gd name="T1" fmla="*/ 48 h 48"/>
                <a:gd name="T2" fmla="*/ 11 w 34"/>
                <a:gd name="T3" fmla="*/ 44 h 48"/>
                <a:gd name="T4" fmla="*/ 1 w 34"/>
                <a:gd name="T5" fmla="*/ 8 h 48"/>
                <a:gd name="T6" fmla="*/ 5 w 34"/>
                <a:gd name="T7" fmla="*/ 0 h 48"/>
                <a:gd name="T8" fmla="*/ 13 w 34"/>
                <a:gd name="T9" fmla="*/ 5 h 48"/>
                <a:gd name="T10" fmla="*/ 17 w 34"/>
                <a:gd name="T11" fmla="*/ 20 h 48"/>
                <a:gd name="T12" fmla="*/ 22 w 34"/>
                <a:gd name="T13" fmla="*/ 5 h 48"/>
                <a:gd name="T14" fmla="*/ 29 w 34"/>
                <a:gd name="T15" fmla="*/ 0 h 48"/>
                <a:gd name="T16" fmla="*/ 33 w 34"/>
                <a:gd name="T17" fmla="*/ 8 h 48"/>
                <a:gd name="T18" fmla="*/ 23 w 34"/>
                <a:gd name="T19" fmla="*/ 44 h 48"/>
                <a:gd name="T20" fmla="*/ 17 w 34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" h="48">
                  <a:moveTo>
                    <a:pt x="17" y="48"/>
                  </a:moveTo>
                  <a:cubicBezTo>
                    <a:pt x="14" y="48"/>
                    <a:pt x="12" y="46"/>
                    <a:pt x="11" y="44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5"/>
                    <a:pt x="2" y="1"/>
                    <a:pt x="5" y="0"/>
                  </a:cubicBezTo>
                  <a:cubicBezTo>
                    <a:pt x="9" y="0"/>
                    <a:pt x="12" y="1"/>
                    <a:pt x="13" y="5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1"/>
                    <a:pt x="26" y="0"/>
                    <a:pt x="29" y="0"/>
                  </a:cubicBezTo>
                  <a:cubicBezTo>
                    <a:pt x="32" y="1"/>
                    <a:pt x="34" y="5"/>
                    <a:pt x="33" y="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2" y="46"/>
                    <a:pt x="20" y="48"/>
                    <a:pt x="17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86" name="Group 167">
            <a:extLst>
              <a:ext uri="{FF2B5EF4-FFF2-40B4-BE49-F238E27FC236}">
                <a16:creationId xmlns:a16="http://schemas.microsoft.com/office/drawing/2014/main" id="{4E92223F-D511-3D9E-0D24-70661B0F29B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566892" y="1762982"/>
            <a:ext cx="438257" cy="438257"/>
            <a:chOff x="2056" y="2689"/>
            <a:chExt cx="344" cy="344"/>
          </a:xfrm>
          <a:solidFill>
            <a:schemeClr val="accent1"/>
          </a:solidFill>
        </p:grpSpPr>
        <p:sp>
          <p:nvSpPr>
            <p:cNvPr id="87" name="Freeform 168">
              <a:extLst>
                <a:ext uri="{FF2B5EF4-FFF2-40B4-BE49-F238E27FC236}">
                  <a16:creationId xmlns:a16="http://schemas.microsoft.com/office/drawing/2014/main" id="{EA86DE7D-4C71-BCCC-C3B9-08ADDE6F8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2804"/>
              <a:ext cx="129" cy="14"/>
            </a:xfrm>
            <a:custGeom>
              <a:avLst/>
              <a:gdLst>
                <a:gd name="T0" fmla="*/ 102 w 108"/>
                <a:gd name="T1" fmla="*/ 12 h 12"/>
                <a:gd name="T2" fmla="*/ 6 w 108"/>
                <a:gd name="T3" fmla="*/ 12 h 12"/>
                <a:gd name="T4" fmla="*/ 0 w 108"/>
                <a:gd name="T5" fmla="*/ 6 h 12"/>
                <a:gd name="T6" fmla="*/ 6 w 108"/>
                <a:gd name="T7" fmla="*/ 0 h 12"/>
                <a:gd name="T8" fmla="*/ 102 w 108"/>
                <a:gd name="T9" fmla="*/ 0 h 12"/>
                <a:gd name="T10" fmla="*/ 108 w 108"/>
                <a:gd name="T11" fmla="*/ 6 h 12"/>
                <a:gd name="T12" fmla="*/ 102 w 10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12">
                  <a:moveTo>
                    <a:pt x="10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6" y="0"/>
                    <a:pt x="108" y="3"/>
                    <a:pt x="108" y="6"/>
                  </a:cubicBezTo>
                  <a:cubicBezTo>
                    <a:pt x="108" y="10"/>
                    <a:pt x="106" y="12"/>
                    <a:pt x="10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8" name="Freeform 169">
              <a:extLst>
                <a:ext uri="{FF2B5EF4-FFF2-40B4-BE49-F238E27FC236}">
                  <a16:creationId xmlns:a16="http://schemas.microsoft.com/office/drawing/2014/main" id="{87348992-67E2-1664-4543-4020EFD9C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2904"/>
              <a:ext cx="129" cy="14"/>
            </a:xfrm>
            <a:custGeom>
              <a:avLst/>
              <a:gdLst>
                <a:gd name="T0" fmla="*/ 102 w 108"/>
                <a:gd name="T1" fmla="*/ 12 h 12"/>
                <a:gd name="T2" fmla="*/ 6 w 108"/>
                <a:gd name="T3" fmla="*/ 12 h 12"/>
                <a:gd name="T4" fmla="*/ 0 w 108"/>
                <a:gd name="T5" fmla="*/ 6 h 12"/>
                <a:gd name="T6" fmla="*/ 6 w 108"/>
                <a:gd name="T7" fmla="*/ 0 h 12"/>
                <a:gd name="T8" fmla="*/ 102 w 108"/>
                <a:gd name="T9" fmla="*/ 0 h 12"/>
                <a:gd name="T10" fmla="*/ 108 w 108"/>
                <a:gd name="T11" fmla="*/ 6 h 12"/>
                <a:gd name="T12" fmla="*/ 102 w 10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" h="12">
                  <a:moveTo>
                    <a:pt x="10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6" y="0"/>
                    <a:pt x="108" y="3"/>
                    <a:pt x="108" y="6"/>
                  </a:cubicBezTo>
                  <a:cubicBezTo>
                    <a:pt x="108" y="10"/>
                    <a:pt x="106" y="12"/>
                    <a:pt x="10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89" name="Freeform 170">
              <a:extLst>
                <a:ext uri="{FF2B5EF4-FFF2-40B4-BE49-F238E27FC236}">
                  <a16:creationId xmlns:a16="http://schemas.microsoft.com/office/drawing/2014/main" id="{D9553D03-9E0F-D573-B336-EA270FB9F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2761"/>
              <a:ext cx="59" cy="100"/>
            </a:xfrm>
            <a:custGeom>
              <a:avLst/>
              <a:gdLst>
                <a:gd name="T0" fmla="*/ 6 w 49"/>
                <a:gd name="T1" fmla="*/ 84 h 84"/>
                <a:gd name="T2" fmla="*/ 2 w 49"/>
                <a:gd name="T3" fmla="*/ 82 h 84"/>
                <a:gd name="T4" fmla="*/ 2 w 49"/>
                <a:gd name="T5" fmla="*/ 74 h 84"/>
                <a:gd name="T6" fmla="*/ 34 w 49"/>
                <a:gd name="T7" fmla="*/ 42 h 84"/>
                <a:gd name="T8" fmla="*/ 2 w 49"/>
                <a:gd name="T9" fmla="*/ 10 h 84"/>
                <a:gd name="T10" fmla="*/ 2 w 49"/>
                <a:gd name="T11" fmla="*/ 2 h 84"/>
                <a:gd name="T12" fmla="*/ 11 w 49"/>
                <a:gd name="T13" fmla="*/ 2 h 84"/>
                <a:gd name="T14" fmla="*/ 47 w 49"/>
                <a:gd name="T15" fmla="*/ 38 h 84"/>
                <a:gd name="T16" fmla="*/ 47 w 49"/>
                <a:gd name="T17" fmla="*/ 46 h 84"/>
                <a:gd name="T18" fmla="*/ 11 w 49"/>
                <a:gd name="T19" fmla="*/ 82 h 84"/>
                <a:gd name="T20" fmla="*/ 6 w 49"/>
                <a:gd name="T2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84">
                  <a:moveTo>
                    <a:pt x="6" y="84"/>
                  </a:moveTo>
                  <a:cubicBezTo>
                    <a:pt x="5" y="84"/>
                    <a:pt x="3" y="84"/>
                    <a:pt x="2" y="82"/>
                  </a:cubicBezTo>
                  <a:cubicBezTo>
                    <a:pt x="0" y="80"/>
                    <a:pt x="0" y="76"/>
                    <a:pt x="2" y="74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9" y="40"/>
                    <a:pt x="49" y="44"/>
                    <a:pt x="47" y="46"/>
                  </a:cubicBezTo>
                  <a:cubicBezTo>
                    <a:pt x="11" y="82"/>
                    <a:pt x="11" y="82"/>
                    <a:pt x="11" y="82"/>
                  </a:cubicBezTo>
                  <a:cubicBezTo>
                    <a:pt x="10" y="84"/>
                    <a:pt x="8" y="84"/>
                    <a:pt x="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90" name="Freeform 171">
              <a:extLst>
                <a:ext uri="{FF2B5EF4-FFF2-40B4-BE49-F238E27FC236}">
                  <a16:creationId xmlns:a16="http://schemas.microsoft.com/office/drawing/2014/main" id="{8A3C313F-4445-C36E-175C-EC7FCC6F8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2861"/>
              <a:ext cx="59" cy="100"/>
            </a:xfrm>
            <a:custGeom>
              <a:avLst/>
              <a:gdLst>
                <a:gd name="T0" fmla="*/ 42 w 49"/>
                <a:gd name="T1" fmla="*/ 84 h 84"/>
                <a:gd name="T2" fmla="*/ 38 w 49"/>
                <a:gd name="T3" fmla="*/ 82 h 84"/>
                <a:gd name="T4" fmla="*/ 2 w 49"/>
                <a:gd name="T5" fmla="*/ 46 h 84"/>
                <a:gd name="T6" fmla="*/ 2 w 49"/>
                <a:gd name="T7" fmla="*/ 38 h 84"/>
                <a:gd name="T8" fmla="*/ 38 w 49"/>
                <a:gd name="T9" fmla="*/ 2 h 84"/>
                <a:gd name="T10" fmla="*/ 47 w 49"/>
                <a:gd name="T11" fmla="*/ 2 h 84"/>
                <a:gd name="T12" fmla="*/ 47 w 49"/>
                <a:gd name="T13" fmla="*/ 10 h 84"/>
                <a:gd name="T14" fmla="*/ 15 w 49"/>
                <a:gd name="T15" fmla="*/ 42 h 84"/>
                <a:gd name="T16" fmla="*/ 47 w 49"/>
                <a:gd name="T17" fmla="*/ 74 h 84"/>
                <a:gd name="T18" fmla="*/ 47 w 49"/>
                <a:gd name="T19" fmla="*/ 82 h 84"/>
                <a:gd name="T20" fmla="*/ 42 w 49"/>
                <a:gd name="T21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84">
                  <a:moveTo>
                    <a:pt x="42" y="84"/>
                  </a:moveTo>
                  <a:cubicBezTo>
                    <a:pt x="41" y="84"/>
                    <a:pt x="39" y="84"/>
                    <a:pt x="38" y="82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0" y="44"/>
                    <a:pt x="0" y="40"/>
                    <a:pt x="2" y="38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41" y="0"/>
                    <a:pt x="44" y="0"/>
                    <a:pt x="47" y="2"/>
                  </a:cubicBezTo>
                  <a:cubicBezTo>
                    <a:pt x="49" y="4"/>
                    <a:pt x="49" y="8"/>
                    <a:pt x="47" y="10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9" y="76"/>
                    <a:pt x="49" y="80"/>
                    <a:pt x="47" y="82"/>
                  </a:cubicBezTo>
                  <a:cubicBezTo>
                    <a:pt x="46" y="84"/>
                    <a:pt x="44" y="84"/>
                    <a:pt x="4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91" name="Freeform 172">
              <a:extLst>
                <a:ext uri="{FF2B5EF4-FFF2-40B4-BE49-F238E27FC236}">
                  <a16:creationId xmlns:a16="http://schemas.microsoft.com/office/drawing/2014/main" id="{36D442AD-72DE-DA84-F106-4D74BE7413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56" y="2689"/>
              <a:ext cx="344" cy="344"/>
            </a:xfrm>
            <a:custGeom>
              <a:avLst/>
              <a:gdLst>
                <a:gd name="T0" fmla="*/ 144 w 288"/>
                <a:gd name="T1" fmla="*/ 288 h 288"/>
                <a:gd name="T2" fmla="*/ 0 w 288"/>
                <a:gd name="T3" fmla="*/ 144 h 288"/>
                <a:gd name="T4" fmla="*/ 144 w 288"/>
                <a:gd name="T5" fmla="*/ 0 h 288"/>
                <a:gd name="T6" fmla="*/ 288 w 288"/>
                <a:gd name="T7" fmla="*/ 144 h 288"/>
                <a:gd name="T8" fmla="*/ 144 w 288"/>
                <a:gd name="T9" fmla="*/ 288 h 288"/>
                <a:gd name="T10" fmla="*/ 144 w 288"/>
                <a:gd name="T11" fmla="*/ 12 h 288"/>
                <a:gd name="T12" fmla="*/ 12 w 288"/>
                <a:gd name="T13" fmla="*/ 144 h 288"/>
                <a:gd name="T14" fmla="*/ 144 w 288"/>
                <a:gd name="T15" fmla="*/ 276 h 288"/>
                <a:gd name="T16" fmla="*/ 276 w 288"/>
                <a:gd name="T17" fmla="*/ 144 h 288"/>
                <a:gd name="T18" fmla="*/ 144 w 288"/>
                <a:gd name="T19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65" y="288"/>
                    <a:pt x="0" y="224"/>
                    <a:pt x="0" y="144"/>
                  </a:cubicBezTo>
                  <a:cubicBezTo>
                    <a:pt x="0" y="65"/>
                    <a:pt x="65" y="0"/>
                    <a:pt x="144" y="0"/>
                  </a:cubicBezTo>
                  <a:cubicBezTo>
                    <a:pt x="224" y="0"/>
                    <a:pt x="288" y="65"/>
                    <a:pt x="288" y="144"/>
                  </a:cubicBezTo>
                  <a:cubicBezTo>
                    <a:pt x="288" y="224"/>
                    <a:pt x="224" y="288"/>
                    <a:pt x="144" y="288"/>
                  </a:cubicBezTo>
                  <a:close/>
                  <a:moveTo>
                    <a:pt x="144" y="12"/>
                  </a:moveTo>
                  <a:cubicBezTo>
                    <a:pt x="72" y="12"/>
                    <a:pt x="12" y="71"/>
                    <a:pt x="12" y="144"/>
                  </a:cubicBezTo>
                  <a:cubicBezTo>
                    <a:pt x="12" y="217"/>
                    <a:pt x="72" y="276"/>
                    <a:pt x="144" y="276"/>
                  </a:cubicBezTo>
                  <a:cubicBezTo>
                    <a:pt x="217" y="276"/>
                    <a:pt x="276" y="217"/>
                    <a:pt x="276" y="144"/>
                  </a:cubicBezTo>
                  <a:cubicBezTo>
                    <a:pt x="276" y="71"/>
                    <a:pt x="217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A8E4B48-DB8B-682B-622B-80EE003FF5D1}"/>
              </a:ext>
            </a:extLst>
          </p:cNvPr>
          <p:cNvGrpSpPr>
            <a:grpSpLocks noChangeAspect="1"/>
          </p:cNvGrpSpPr>
          <p:nvPr/>
        </p:nvGrpSpPr>
        <p:grpSpPr>
          <a:xfrm>
            <a:off x="2609223" y="3112332"/>
            <a:ext cx="291229" cy="499685"/>
            <a:chOff x="-125413" y="1563688"/>
            <a:chExt cx="754063" cy="1293812"/>
          </a:xfrm>
          <a:solidFill>
            <a:schemeClr val="accent1"/>
          </a:solidFill>
        </p:grpSpPr>
        <p:sp>
          <p:nvSpPr>
            <p:cNvPr id="93" name="Freeform 37">
              <a:extLst>
                <a:ext uri="{FF2B5EF4-FFF2-40B4-BE49-F238E27FC236}">
                  <a16:creationId xmlns:a16="http://schemas.microsoft.com/office/drawing/2014/main" id="{89C95D43-6958-CE84-0429-637B95B9BB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25413" y="1563688"/>
              <a:ext cx="754063" cy="1293812"/>
            </a:xfrm>
            <a:custGeom>
              <a:avLst/>
              <a:gdLst>
                <a:gd name="T0" fmla="*/ 165 w 201"/>
                <a:gd name="T1" fmla="*/ 0 h 345"/>
                <a:gd name="T2" fmla="*/ 36 w 201"/>
                <a:gd name="T3" fmla="*/ 0 h 345"/>
                <a:gd name="T4" fmla="*/ 0 w 201"/>
                <a:gd name="T5" fmla="*/ 36 h 345"/>
                <a:gd name="T6" fmla="*/ 0 w 201"/>
                <a:gd name="T7" fmla="*/ 309 h 345"/>
                <a:gd name="T8" fmla="*/ 36 w 201"/>
                <a:gd name="T9" fmla="*/ 345 h 345"/>
                <a:gd name="T10" fmla="*/ 165 w 201"/>
                <a:gd name="T11" fmla="*/ 345 h 345"/>
                <a:gd name="T12" fmla="*/ 201 w 201"/>
                <a:gd name="T13" fmla="*/ 309 h 345"/>
                <a:gd name="T14" fmla="*/ 201 w 201"/>
                <a:gd name="T15" fmla="*/ 36 h 345"/>
                <a:gd name="T16" fmla="*/ 165 w 201"/>
                <a:gd name="T17" fmla="*/ 0 h 345"/>
                <a:gd name="T18" fmla="*/ 14 w 201"/>
                <a:gd name="T19" fmla="*/ 72 h 345"/>
                <a:gd name="T20" fmla="*/ 187 w 201"/>
                <a:gd name="T21" fmla="*/ 72 h 345"/>
                <a:gd name="T22" fmla="*/ 187 w 201"/>
                <a:gd name="T23" fmla="*/ 273 h 345"/>
                <a:gd name="T24" fmla="*/ 14 w 201"/>
                <a:gd name="T25" fmla="*/ 273 h 345"/>
                <a:gd name="T26" fmla="*/ 14 w 201"/>
                <a:gd name="T27" fmla="*/ 72 h 345"/>
                <a:gd name="T28" fmla="*/ 36 w 201"/>
                <a:gd name="T29" fmla="*/ 15 h 345"/>
                <a:gd name="T30" fmla="*/ 165 w 201"/>
                <a:gd name="T31" fmla="*/ 15 h 345"/>
                <a:gd name="T32" fmla="*/ 187 w 201"/>
                <a:gd name="T33" fmla="*/ 36 h 345"/>
                <a:gd name="T34" fmla="*/ 187 w 201"/>
                <a:gd name="T35" fmla="*/ 58 h 345"/>
                <a:gd name="T36" fmla="*/ 14 w 201"/>
                <a:gd name="T37" fmla="*/ 58 h 345"/>
                <a:gd name="T38" fmla="*/ 14 w 201"/>
                <a:gd name="T39" fmla="*/ 36 h 345"/>
                <a:gd name="T40" fmla="*/ 36 w 201"/>
                <a:gd name="T41" fmla="*/ 15 h 345"/>
                <a:gd name="T42" fmla="*/ 165 w 201"/>
                <a:gd name="T43" fmla="*/ 330 h 345"/>
                <a:gd name="T44" fmla="*/ 36 w 201"/>
                <a:gd name="T45" fmla="*/ 330 h 345"/>
                <a:gd name="T46" fmla="*/ 14 w 201"/>
                <a:gd name="T47" fmla="*/ 309 h 345"/>
                <a:gd name="T48" fmla="*/ 14 w 201"/>
                <a:gd name="T49" fmla="*/ 287 h 345"/>
                <a:gd name="T50" fmla="*/ 187 w 201"/>
                <a:gd name="T51" fmla="*/ 287 h 345"/>
                <a:gd name="T52" fmla="*/ 187 w 201"/>
                <a:gd name="T53" fmla="*/ 309 h 345"/>
                <a:gd name="T54" fmla="*/ 165 w 201"/>
                <a:gd name="T55" fmla="*/ 33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01" h="345">
                  <a:moveTo>
                    <a:pt x="165" y="0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309"/>
                    <a:pt x="0" y="309"/>
                    <a:pt x="0" y="309"/>
                  </a:cubicBezTo>
                  <a:cubicBezTo>
                    <a:pt x="0" y="329"/>
                    <a:pt x="16" y="345"/>
                    <a:pt x="36" y="345"/>
                  </a:cubicBezTo>
                  <a:cubicBezTo>
                    <a:pt x="165" y="345"/>
                    <a:pt x="165" y="345"/>
                    <a:pt x="165" y="345"/>
                  </a:cubicBezTo>
                  <a:cubicBezTo>
                    <a:pt x="185" y="345"/>
                    <a:pt x="201" y="329"/>
                    <a:pt x="201" y="309"/>
                  </a:cubicBezTo>
                  <a:cubicBezTo>
                    <a:pt x="201" y="36"/>
                    <a:pt x="201" y="36"/>
                    <a:pt x="201" y="36"/>
                  </a:cubicBezTo>
                  <a:cubicBezTo>
                    <a:pt x="201" y="16"/>
                    <a:pt x="185" y="0"/>
                    <a:pt x="165" y="0"/>
                  </a:cubicBezTo>
                  <a:close/>
                  <a:moveTo>
                    <a:pt x="14" y="72"/>
                  </a:moveTo>
                  <a:cubicBezTo>
                    <a:pt x="187" y="72"/>
                    <a:pt x="187" y="72"/>
                    <a:pt x="187" y="72"/>
                  </a:cubicBezTo>
                  <a:cubicBezTo>
                    <a:pt x="187" y="273"/>
                    <a:pt x="187" y="273"/>
                    <a:pt x="187" y="273"/>
                  </a:cubicBezTo>
                  <a:cubicBezTo>
                    <a:pt x="14" y="273"/>
                    <a:pt x="14" y="273"/>
                    <a:pt x="14" y="273"/>
                  </a:cubicBezTo>
                  <a:lnTo>
                    <a:pt x="14" y="72"/>
                  </a:lnTo>
                  <a:close/>
                  <a:moveTo>
                    <a:pt x="36" y="15"/>
                  </a:moveTo>
                  <a:cubicBezTo>
                    <a:pt x="165" y="15"/>
                    <a:pt x="165" y="15"/>
                    <a:pt x="165" y="15"/>
                  </a:cubicBezTo>
                  <a:cubicBezTo>
                    <a:pt x="177" y="15"/>
                    <a:pt x="187" y="24"/>
                    <a:pt x="187" y="36"/>
                  </a:cubicBezTo>
                  <a:cubicBezTo>
                    <a:pt x="187" y="58"/>
                    <a:pt x="187" y="58"/>
                    <a:pt x="187" y="58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24"/>
                    <a:pt x="24" y="15"/>
                    <a:pt x="36" y="15"/>
                  </a:cubicBezTo>
                  <a:close/>
                  <a:moveTo>
                    <a:pt x="165" y="330"/>
                  </a:moveTo>
                  <a:cubicBezTo>
                    <a:pt x="36" y="330"/>
                    <a:pt x="36" y="330"/>
                    <a:pt x="36" y="330"/>
                  </a:cubicBezTo>
                  <a:cubicBezTo>
                    <a:pt x="24" y="330"/>
                    <a:pt x="14" y="321"/>
                    <a:pt x="14" y="309"/>
                  </a:cubicBezTo>
                  <a:cubicBezTo>
                    <a:pt x="14" y="287"/>
                    <a:pt x="14" y="287"/>
                    <a:pt x="14" y="287"/>
                  </a:cubicBezTo>
                  <a:cubicBezTo>
                    <a:pt x="187" y="287"/>
                    <a:pt x="187" y="287"/>
                    <a:pt x="187" y="287"/>
                  </a:cubicBezTo>
                  <a:cubicBezTo>
                    <a:pt x="187" y="309"/>
                    <a:pt x="187" y="309"/>
                    <a:pt x="187" y="309"/>
                  </a:cubicBezTo>
                  <a:cubicBezTo>
                    <a:pt x="187" y="321"/>
                    <a:pt x="177" y="330"/>
                    <a:pt x="165" y="3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38">
              <a:extLst>
                <a:ext uri="{FF2B5EF4-FFF2-40B4-BE49-F238E27FC236}">
                  <a16:creationId xmlns:a16="http://schemas.microsoft.com/office/drawing/2014/main" id="{95FCEFB4-6E6A-B61D-785D-CFD6FBC1B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00" y="1671638"/>
              <a:ext cx="322263" cy="52387"/>
            </a:xfrm>
            <a:custGeom>
              <a:avLst/>
              <a:gdLst>
                <a:gd name="T0" fmla="*/ 8 w 86"/>
                <a:gd name="T1" fmla="*/ 14 h 14"/>
                <a:gd name="T2" fmla="*/ 79 w 86"/>
                <a:gd name="T3" fmla="*/ 14 h 14"/>
                <a:gd name="T4" fmla="*/ 86 w 86"/>
                <a:gd name="T5" fmla="*/ 7 h 14"/>
                <a:gd name="T6" fmla="*/ 79 w 86"/>
                <a:gd name="T7" fmla="*/ 0 h 14"/>
                <a:gd name="T8" fmla="*/ 8 w 86"/>
                <a:gd name="T9" fmla="*/ 0 h 14"/>
                <a:gd name="T10" fmla="*/ 0 w 86"/>
                <a:gd name="T11" fmla="*/ 7 h 14"/>
                <a:gd name="T12" fmla="*/ 8 w 86"/>
                <a:gd name="T1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" h="14">
                  <a:moveTo>
                    <a:pt x="8" y="14"/>
                  </a:moveTo>
                  <a:cubicBezTo>
                    <a:pt x="79" y="14"/>
                    <a:pt x="79" y="14"/>
                    <a:pt x="79" y="14"/>
                  </a:cubicBezTo>
                  <a:cubicBezTo>
                    <a:pt x="83" y="14"/>
                    <a:pt x="86" y="11"/>
                    <a:pt x="86" y="7"/>
                  </a:cubicBezTo>
                  <a:cubicBezTo>
                    <a:pt x="86" y="3"/>
                    <a:pt x="83" y="0"/>
                    <a:pt x="79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3"/>
                    <a:pt x="0" y="7"/>
                  </a:cubicBezTo>
                  <a:cubicBezTo>
                    <a:pt x="0" y="11"/>
                    <a:pt x="4" y="14"/>
                    <a:pt x="8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39">
              <a:extLst>
                <a:ext uri="{FF2B5EF4-FFF2-40B4-BE49-F238E27FC236}">
                  <a16:creationId xmlns:a16="http://schemas.microsoft.com/office/drawing/2014/main" id="{79A1EEE9-BF9B-EFF7-8EBD-39DBD6912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37" y="2670175"/>
              <a:ext cx="107950" cy="10477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40">
              <a:extLst>
                <a:ext uri="{FF2B5EF4-FFF2-40B4-BE49-F238E27FC236}">
                  <a16:creationId xmlns:a16="http://schemas.microsoft.com/office/drawing/2014/main" id="{EF4BCD4D-09EC-2E04-8FDF-D0F4247030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25" y="1941513"/>
              <a:ext cx="458788" cy="374650"/>
            </a:xfrm>
            <a:custGeom>
              <a:avLst/>
              <a:gdLst>
                <a:gd name="T0" fmla="*/ 115 w 122"/>
                <a:gd name="T1" fmla="*/ 29 h 100"/>
                <a:gd name="T2" fmla="*/ 36 w 122"/>
                <a:gd name="T3" fmla="*/ 29 h 100"/>
                <a:gd name="T4" fmla="*/ 36 w 122"/>
                <a:gd name="T5" fmla="*/ 7 h 100"/>
                <a:gd name="T6" fmla="*/ 29 w 122"/>
                <a:gd name="T7" fmla="*/ 0 h 100"/>
                <a:gd name="T8" fmla="*/ 7 w 122"/>
                <a:gd name="T9" fmla="*/ 0 h 100"/>
                <a:gd name="T10" fmla="*/ 0 w 122"/>
                <a:gd name="T11" fmla="*/ 7 h 100"/>
                <a:gd name="T12" fmla="*/ 7 w 122"/>
                <a:gd name="T13" fmla="*/ 14 h 100"/>
                <a:gd name="T14" fmla="*/ 21 w 122"/>
                <a:gd name="T15" fmla="*/ 14 h 100"/>
                <a:gd name="T16" fmla="*/ 21 w 122"/>
                <a:gd name="T17" fmla="*/ 93 h 100"/>
                <a:gd name="T18" fmla="*/ 29 w 122"/>
                <a:gd name="T19" fmla="*/ 100 h 100"/>
                <a:gd name="T20" fmla="*/ 115 w 122"/>
                <a:gd name="T21" fmla="*/ 100 h 100"/>
                <a:gd name="T22" fmla="*/ 122 w 122"/>
                <a:gd name="T23" fmla="*/ 93 h 100"/>
                <a:gd name="T24" fmla="*/ 122 w 122"/>
                <a:gd name="T25" fmla="*/ 36 h 100"/>
                <a:gd name="T26" fmla="*/ 115 w 122"/>
                <a:gd name="T27" fmla="*/ 29 h 100"/>
                <a:gd name="T28" fmla="*/ 107 w 122"/>
                <a:gd name="T29" fmla="*/ 86 h 100"/>
                <a:gd name="T30" fmla="*/ 36 w 122"/>
                <a:gd name="T31" fmla="*/ 86 h 100"/>
                <a:gd name="T32" fmla="*/ 36 w 122"/>
                <a:gd name="T33" fmla="*/ 43 h 100"/>
                <a:gd name="T34" fmla="*/ 107 w 122"/>
                <a:gd name="T35" fmla="*/ 43 h 100"/>
                <a:gd name="T36" fmla="*/ 107 w 122"/>
                <a:gd name="T37" fmla="*/ 8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2" h="100">
                  <a:moveTo>
                    <a:pt x="115" y="29"/>
                  </a:moveTo>
                  <a:cubicBezTo>
                    <a:pt x="36" y="29"/>
                    <a:pt x="36" y="29"/>
                    <a:pt x="36" y="29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3"/>
                    <a:pt x="32" y="0"/>
                    <a:pt x="29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1"/>
                    <a:pt x="3" y="14"/>
                    <a:pt x="7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21" y="97"/>
                    <a:pt x="25" y="100"/>
                    <a:pt x="29" y="100"/>
                  </a:cubicBezTo>
                  <a:cubicBezTo>
                    <a:pt x="115" y="100"/>
                    <a:pt x="115" y="100"/>
                    <a:pt x="115" y="100"/>
                  </a:cubicBezTo>
                  <a:cubicBezTo>
                    <a:pt x="119" y="100"/>
                    <a:pt x="122" y="97"/>
                    <a:pt x="122" y="93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2" y="32"/>
                    <a:pt x="119" y="29"/>
                    <a:pt x="115" y="29"/>
                  </a:cubicBezTo>
                  <a:close/>
                  <a:moveTo>
                    <a:pt x="107" y="86"/>
                  </a:moveTo>
                  <a:cubicBezTo>
                    <a:pt x="36" y="86"/>
                    <a:pt x="36" y="86"/>
                    <a:pt x="36" y="8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107" y="43"/>
                    <a:pt x="107" y="43"/>
                    <a:pt x="107" y="43"/>
                  </a:cubicBezTo>
                  <a:lnTo>
                    <a:pt x="107" y="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41">
              <a:extLst>
                <a:ext uri="{FF2B5EF4-FFF2-40B4-BE49-F238E27FC236}">
                  <a16:creationId xmlns:a16="http://schemas.microsoft.com/office/drawing/2014/main" id="{737D93FB-3FB8-F97A-A14E-D0C5BFFEF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062" y="2343150"/>
              <a:ext cx="104775" cy="10953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Oval 42">
              <a:extLst>
                <a:ext uri="{FF2B5EF4-FFF2-40B4-BE49-F238E27FC236}">
                  <a16:creationId xmlns:a16="http://schemas.microsoft.com/office/drawing/2014/main" id="{62E86B9C-8973-FE06-4310-09AB4F3F4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75" y="2343150"/>
              <a:ext cx="107950" cy="10953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9" name="Group 126">
            <a:extLst>
              <a:ext uri="{FF2B5EF4-FFF2-40B4-BE49-F238E27FC236}">
                <a16:creationId xmlns:a16="http://schemas.microsoft.com/office/drawing/2014/main" id="{4CD76FFF-2C32-6FA4-93D1-7A02A4D09F7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13666" y="5072417"/>
            <a:ext cx="544513" cy="431800"/>
            <a:chOff x="1252" y="2727"/>
            <a:chExt cx="343" cy="272"/>
          </a:xfrm>
          <a:solidFill>
            <a:schemeClr val="accent1"/>
          </a:solidFill>
        </p:grpSpPr>
        <p:sp>
          <p:nvSpPr>
            <p:cNvPr id="100" name="Freeform 127">
              <a:extLst>
                <a:ext uri="{FF2B5EF4-FFF2-40B4-BE49-F238E27FC236}">
                  <a16:creationId xmlns:a16="http://schemas.microsoft.com/office/drawing/2014/main" id="{746186F0-C3A9-9517-CB41-334FD2039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" y="2927"/>
              <a:ext cx="129" cy="43"/>
            </a:xfrm>
            <a:custGeom>
              <a:avLst/>
              <a:gdLst>
                <a:gd name="T0" fmla="*/ 87 w 108"/>
                <a:gd name="T1" fmla="*/ 36 h 36"/>
                <a:gd name="T2" fmla="*/ 6 w 108"/>
                <a:gd name="T3" fmla="*/ 36 h 36"/>
                <a:gd name="T4" fmla="*/ 0 w 108"/>
                <a:gd name="T5" fmla="*/ 30 h 36"/>
                <a:gd name="T6" fmla="*/ 6 w 108"/>
                <a:gd name="T7" fmla="*/ 24 h 36"/>
                <a:gd name="T8" fmla="*/ 87 w 108"/>
                <a:gd name="T9" fmla="*/ 24 h 36"/>
                <a:gd name="T10" fmla="*/ 96 w 108"/>
                <a:gd name="T11" fmla="*/ 18 h 36"/>
                <a:gd name="T12" fmla="*/ 87 w 108"/>
                <a:gd name="T13" fmla="*/ 12 h 36"/>
                <a:gd name="T14" fmla="*/ 42 w 108"/>
                <a:gd name="T15" fmla="*/ 12 h 36"/>
                <a:gd name="T16" fmla="*/ 36 w 108"/>
                <a:gd name="T17" fmla="*/ 6 h 36"/>
                <a:gd name="T18" fmla="*/ 42 w 108"/>
                <a:gd name="T19" fmla="*/ 0 h 36"/>
                <a:gd name="T20" fmla="*/ 87 w 108"/>
                <a:gd name="T21" fmla="*/ 0 h 36"/>
                <a:gd name="T22" fmla="*/ 108 w 108"/>
                <a:gd name="T23" fmla="*/ 18 h 36"/>
                <a:gd name="T24" fmla="*/ 87 w 108"/>
                <a:gd name="T2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8" h="36">
                  <a:moveTo>
                    <a:pt x="87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2" y="36"/>
                    <a:pt x="0" y="33"/>
                    <a:pt x="0" y="30"/>
                  </a:cubicBezTo>
                  <a:cubicBezTo>
                    <a:pt x="0" y="26"/>
                    <a:pt x="2" y="24"/>
                    <a:pt x="6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93" y="24"/>
                    <a:pt x="96" y="21"/>
                    <a:pt x="96" y="18"/>
                  </a:cubicBezTo>
                  <a:cubicBezTo>
                    <a:pt x="96" y="15"/>
                    <a:pt x="93" y="12"/>
                    <a:pt x="87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38" y="12"/>
                    <a:pt x="36" y="9"/>
                    <a:pt x="36" y="6"/>
                  </a:cubicBezTo>
                  <a:cubicBezTo>
                    <a:pt x="36" y="2"/>
                    <a:pt x="38" y="0"/>
                    <a:pt x="42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100" y="0"/>
                    <a:pt x="108" y="9"/>
                    <a:pt x="108" y="18"/>
                  </a:cubicBezTo>
                  <a:cubicBezTo>
                    <a:pt x="108" y="27"/>
                    <a:pt x="100" y="36"/>
                    <a:pt x="87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1" name="Freeform 128">
              <a:extLst>
                <a:ext uri="{FF2B5EF4-FFF2-40B4-BE49-F238E27FC236}">
                  <a16:creationId xmlns:a16="http://schemas.microsoft.com/office/drawing/2014/main" id="{FC030745-DE91-24FF-0D25-691AA3B32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2841"/>
              <a:ext cx="272" cy="158"/>
            </a:xfrm>
            <a:custGeom>
              <a:avLst/>
              <a:gdLst>
                <a:gd name="T0" fmla="*/ 201 w 228"/>
                <a:gd name="T1" fmla="*/ 132 h 132"/>
                <a:gd name="T2" fmla="*/ 165 w 228"/>
                <a:gd name="T3" fmla="*/ 132 h 132"/>
                <a:gd name="T4" fmla="*/ 111 w 228"/>
                <a:gd name="T5" fmla="*/ 108 h 132"/>
                <a:gd name="T6" fmla="*/ 6 w 228"/>
                <a:gd name="T7" fmla="*/ 108 h 132"/>
                <a:gd name="T8" fmla="*/ 0 w 228"/>
                <a:gd name="T9" fmla="*/ 102 h 132"/>
                <a:gd name="T10" fmla="*/ 0 w 228"/>
                <a:gd name="T11" fmla="*/ 18 h 132"/>
                <a:gd name="T12" fmla="*/ 6 w 228"/>
                <a:gd name="T13" fmla="*/ 12 h 132"/>
                <a:gd name="T14" fmla="*/ 112 w 228"/>
                <a:gd name="T15" fmla="*/ 12 h 132"/>
                <a:gd name="T16" fmla="*/ 165 w 228"/>
                <a:gd name="T17" fmla="*/ 0 h 132"/>
                <a:gd name="T18" fmla="*/ 204 w 228"/>
                <a:gd name="T19" fmla="*/ 0 h 132"/>
                <a:gd name="T20" fmla="*/ 210 w 228"/>
                <a:gd name="T21" fmla="*/ 6 h 132"/>
                <a:gd name="T22" fmla="*/ 204 w 228"/>
                <a:gd name="T23" fmla="*/ 12 h 132"/>
                <a:gd name="T24" fmla="*/ 165 w 228"/>
                <a:gd name="T25" fmla="*/ 12 h 132"/>
                <a:gd name="T26" fmla="*/ 117 w 228"/>
                <a:gd name="T27" fmla="*/ 23 h 132"/>
                <a:gd name="T28" fmla="*/ 114 w 228"/>
                <a:gd name="T29" fmla="*/ 24 h 132"/>
                <a:gd name="T30" fmla="*/ 12 w 228"/>
                <a:gd name="T31" fmla="*/ 24 h 132"/>
                <a:gd name="T32" fmla="*/ 12 w 228"/>
                <a:gd name="T33" fmla="*/ 96 h 132"/>
                <a:gd name="T34" fmla="*/ 114 w 228"/>
                <a:gd name="T35" fmla="*/ 96 h 132"/>
                <a:gd name="T36" fmla="*/ 118 w 228"/>
                <a:gd name="T37" fmla="*/ 97 h 132"/>
                <a:gd name="T38" fmla="*/ 165 w 228"/>
                <a:gd name="T39" fmla="*/ 120 h 132"/>
                <a:gd name="T40" fmla="*/ 201 w 228"/>
                <a:gd name="T41" fmla="*/ 120 h 132"/>
                <a:gd name="T42" fmla="*/ 216 w 228"/>
                <a:gd name="T43" fmla="*/ 108 h 132"/>
                <a:gd name="T44" fmla="*/ 216 w 228"/>
                <a:gd name="T45" fmla="*/ 102 h 132"/>
                <a:gd name="T46" fmla="*/ 222 w 228"/>
                <a:gd name="T47" fmla="*/ 96 h 132"/>
                <a:gd name="T48" fmla="*/ 228 w 228"/>
                <a:gd name="T49" fmla="*/ 102 h 132"/>
                <a:gd name="T50" fmla="*/ 228 w 228"/>
                <a:gd name="T51" fmla="*/ 108 h 132"/>
                <a:gd name="T52" fmla="*/ 201 w 228"/>
                <a:gd name="T53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8" h="132">
                  <a:moveTo>
                    <a:pt x="201" y="132"/>
                  </a:moveTo>
                  <a:cubicBezTo>
                    <a:pt x="165" y="132"/>
                    <a:pt x="165" y="132"/>
                    <a:pt x="165" y="132"/>
                  </a:cubicBezTo>
                  <a:cubicBezTo>
                    <a:pt x="142" y="132"/>
                    <a:pt x="118" y="113"/>
                    <a:pt x="111" y="108"/>
                  </a:cubicBezTo>
                  <a:cubicBezTo>
                    <a:pt x="6" y="108"/>
                    <a:pt x="6" y="108"/>
                    <a:pt x="6" y="108"/>
                  </a:cubicBezTo>
                  <a:cubicBezTo>
                    <a:pt x="2" y="108"/>
                    <a:pt x="0" y="105"/>
                    <a:pt x="0" y="10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4"/>
                    <a:pt x="2" y="12"/>
                    <a:pt x="6" y="12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7" y="9"/>
                    <a:pt x="135" y="0"/>
                    <a:pt x="165" y="0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207" y="0"/>
                    <a:pt x="210" y="2"/>
                    <a:pt x="210" y="6"/>
                  </a:cubicBezTo>
                  <a:cubicBezTo>
                    <a:pt x="210" y="9"/>
                    <a:pt x="207" y="12"/>
                    <a:pt x="204" y="12"/>
                  </a:cubicBezTo>
                  <a:cubicBezTo>
                    <a:pt x="165" y="12"/>
                    <a:pt x="165" y="12"/>
                    <a:pt x="165" y="12"/>
                  </a:cubicBezTo>
                  <a:cubicBezTo>
                    <a:pt x="134" y="12"/>
                    <a:pt x="117" y="23"/>
                    <a:pt x="117" y="23"/>
                  </a:cubicBezTo>
                  <a:cubicBezTo>
                    <a:pt x="116" y="23"/>
                    <a:pt x="115" y="24"/>
                    <a:pt x="114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14" y="96"/>
                    <a:pt x="114" y="96"/>
                    <a:pt x="114" y="96"/>
                  </a:cubicBezTo>
                  <a:cubicBezTo>
                    <a:pt x="115" y="96"/>
                    <a:pt x="116" y="96"/>
                    <a:pt x="118" y="97"/>
                  </a:cubicBezTo>
                  <a:cubicBezTo>
                    <a:pt x="118" y="97"/>
                    <a:pt x="143" y="120"/>
                    <a:pt x="165" y="120"/>
                  </a:cubicBezTo>
                  <a:cubicBezTo>
                    <a:pt x="201" y="120"/>
                    <a:pt x="201" y="120"/>
                    <a:pt x="201" y="120"/>
                  </a:cubicBezTo>
                  <a:cubicBezTo>
                    <a:pt x="207" y="120"/>
                    <a:pt x="216" y="114"/>
                    <a:pt x="216" y="108"/>
                  </a:cubicBezTo>
                  <a:cubicBezTo>
                    <a:pt x="216" y="102"/>
                    <a:pt x="216" y="102"/>
                    <a:pt x="216" y="102"/>
                  </a:cubicBezTo>
                  <a:cubicBezTo>
                    <a:pt x="216" y="98"/>
                    <a:pt x="218" y="96"/>
                    <a:pt x="222" y="96"/>
                  </a:cubicBezTo>
                  <a:cubicBezTo>
                    <a:pt x="225" y="96"/>
                    <a:pt x="228" y="98"/>
                    <a:pt x="228" y="102"/>
                  </a:cubicBezTo>
                  <a:cubicBezTo>
                    <a:pt x="228" y="108"/>
                    <a:pt x="228" y="108"/>
                    <a:pt x="228" y="108"/>
                  </a:cubicBezTo>
                  <a:cubicBezTo>
                    <a:pt x="228" y="121"/>
                    <a:pt x="213" y="132"/>
                    <a:pt x="201" y="1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2" name="Freeform 129">
              <a:extLst>
                <a:ext uri="{FF2B5EF4-FFF2-40B4-BE49-F238E27FC236}">
                  <a16:creationId xmlns:a16="http://schemas.microsoft.com/office/drawing/2014/main" id="{6ABB2C19-1742-FF79-1693-585B856B2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" y="2898"/>
              <a:ext cx="78" cy="43"/>
            </a:xfrm>
            <a:custGeom>
              <a:avLst/>
              <a:gdLst>
                <a:gd name="T0" fmla="*/ 51 w 65"/>
                <a:gd name="T1" fmla="*/ 36 h 36"/>
                <a:gd name="T2" fmla="*/ 6 w 65"/>
                <a:gd name="T3" fmla="*/ 36 h 36"/>
                <a:gd name="T4" fmla="*/ 0 w 65"/>
                <a:gd name="T5" fmla="*/ 30 h 36"/>
                <a:gd name="T6" fmla="*/ 6 w 65"/>
                <a:gd name="T7" fmla="*/ 24 h 36"/>
                <a:gd name="T8" fmla="*/ 51 w 65"/>
                <a:gd name="T9" fmla="*/ 24 h 36"/>
                <a:gd name="T10" fmla="*/ 53 w 65"/>
                <a:gd name="T11" fmla="*/ 18 h 36"/>
                <a:gd name="T12" fmla="*/ 51 w 65"/>
                <a:gd name="T13" fmla="*/ 12 h 36"/>
                <a:gd name="T14" fmla="*/ 6 w 65"/>
                <a:gd name="T15" fmla="*/ 12 h 36"/>
                <a:gd name="T16" fmla="*/ 0 w 65"/>
                <a:gd name="T17" fmla="*/ 6 h 36"/>
                <a:gd name="T18" fmla="*/ 6 w 65"/>
                <a:gd name="T19" fmla="*/ 0 h 36"/>
                <a:gd name="T20" fmla="*/ 51 w 65"/>
                <a:gd name="T21" fmla="*/ 0 h 36"/>
                <a:gd name="T22" fmla="*/ 65 w 65"/>
                <a:gd name="T23" fmla="*/ 18 h 36"/>
                <a:gd name="T24" fmla="*/ 62 w 65"/>
                <a:gd name="T25" fmla="*/ 29 h 36"/>
                <a:gd name="T26" fmla="*/ 51 w 65"/>
                <a:gd name="T2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5" h="36">
                  <a:moveTo>
                    <a:pt x="51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2" y="36"/>
                    <a:pt x="0" y="33"/>
                    <a:pt x="0" y="30"/>
                  </a:cubicBezTo>
                  <a:cubicBezTo>
                    <a:pt x="0" y="26"/>
                    <a:pt x="2" y="24"/>
                    <a:pt x="6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52" y="24"/>
                    <a:pt x="53" y="21"/>
                    <a:pt x="53" y="18"/>
                  </a:cubicBezTo>
                  <a:cubicBezTo>
                    <a:pt x="53" y="14"/>
                    <a:pt x="52" y="12"/>
                    <a:pt x="51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9" y="0"/>
                    <a:pt x="65" y="7"/>
                    <a:pt x="65" y="18"/>
                  </a:cubicBezTo>
                  <a:cubicBezTo>
                    <a:pt x="65" y="22"/>
                    <a:pt x="64" y="26"/>
                    <a:pt x="62" y="29"/>
                  </a:cubicBezTo>
                  <a:cubicBezTo>
                    <a:pt x="59" y="33"/>
                    <a:pt x="55" y="36"/>
                    <a:pt x="51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3" name="Freeform 130">
              <a:extLst>
                <a:ext uri="{FF2B5EF4-FFF2-40B4-BE49-F238E27FC236}">
                  <a16:creationId xmlns:a16="http://schemas.microsoft.com/office/drawing/2014/main" id="{4E235A43-1057-BAAB-83AD-62EFA50E1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" y="2870"/>
              <a:ext cx="78" cy="43"/>
            </a:xfrm>
            <a:custGeom>
              <a:avLst/>
              <a:gdLst>
                <a:gd name="T0" fmla="*/ 51 w 65"/>
                <a:gd name="T1" fmla="*/ 36 h 36"/>
                <a:gd name="T2" fmla="*/ 6 w 65"/>
                <a:gd name="T3" fmla="*/ 36 h 36"/>
                <a:gd name="T4" fmla="*/ 0 w 65"/>
                <a:gd name="T5" fmla="*/ 30 h 36"/>
                <a:gd name="T6" fmla="*/ 6 w 65"/>
                <a:gd name="T7" fmla="*/ 24 h 36"/>
                <a:gd name="T8" fmla="*/ 51 w 65"/>
                <a:gd name="T9" fmla="*/ 24 h 36"/>
                <a:gd name="T10" fmla="*/ 52 w 65"/>
                <a:gd name="T11" fmla="*/ 23 h 36"/>
                <a:gd name="T12" fmla="*/ 53 w 65"/>
                <a:gd name="T13" fmla="*/ 18 h 36"/>
                <a:gd name="T14" fmla="*/ 51 w 65"/>
                <a:gd name="T15" fmla="*/ 12 h 36"/>
                <a:gd name="T16" fmla="*/ 6 w 65"/>
                <a:gd name="T17" fmla="*/ 12 h 36"/>
                <a:gd name="T18" fmla="*/ 0 w 65"/>
                <a:gd name="T19" fmla="*/ 6 h 36"/>
                <a:gd name="T20" fmla="*/ 6 w 65"/>
                <a:gd name="T21" fmla="*/ 0 h 36"/>
                <a:gd name="T22" fmla="*/ 51 w 65"/>
                <a:gd name="T23" fmla="*/ 0 h 36"/>
                <a:gd name="T24" fmla="*/ 65 w 65"/>
                <a:gd name="T25" fmla="*/ 18 h 36"/>
                <a:gd name="T26" fmla="*/ 62 w 65"/>
                <a:gd name="T27" fmla="*/ 29 h 36"/>
                <a:gd name="T28" fmla="*/ 51 w 65"/>
                <a:gd name="T2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" h="36">
                  <a:moveTo>
                    <a:pt x="51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2" y="36"/>
                    <a:pt x="0" y="33"/>
                    <a:pt x="0" y="30"/>
                  </a:cubicBezTo>
                  <a:cubicBezTo>
                    <a:pt x="0" y="26"/>
                    <a:pt x="2" y="24"/>
                    <a:pt x="6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51" y="24"/>
                    <a:pt x="52" y="24"/>
                    <a:pt x="52" y="23"/>
                  </a:cubicBezTo>
                  <a:cubicBezTo>
                    <a:pt x="53" y="22"/>
                    <a:pt x="53" y="20"/>
                    <a:pt x="53" y="18"/>
                  </a:cubicBezTo>
                  <a:cubicBezTo>
                    <a:pt x="53" y="15"/>
                    <a:pt x="52" y="12"/>
                    <a:pt x="51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9" y="0"/>
                    <a:pt x="65" y="7"/>
                    <a:pt x="65" y="18"/>
                  </a:cubicBezTo>
                  <a:cubicBezTo>
                    <a:pt x="65" y="22"/>
                    <a:pt x="64" y="26"/>
                    <a:pt x="62" y="29"/>
                  </a:cubicBezTo>
                  <a:cubicBezTo>
                    <a:pt x="59" y="33"/>
                    <a:pt x="55" y="36"/>
                    <a:pt x="51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4" name="Freeform 131">
              <a:extLst>
                <a:ext uri="{FF2B5EF4-FFF2-40B4-BE49-F238E27FC236}">
                  <a16:creationId xmlns:a16="http://schemas.microsoft.com/office/drawing/2014/main" id="{C7C38C8B-D9C0-D2C8-13B6-23352F251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" y="2841"/>
              <a:ext cx="100" cy="43"/>
            </a:xfrm>
            <a:custGeom>
              <a:avLst/>
              <a:gdLst>
                <a:gd name="T0" fmla="*/ 63 w 84"/>
                <a:gd name="T1" fmla="*/ 36 h 36"/>
                <a:gd name="T2" fmla="*/ 30 w 84"/>
                <a:gd name="T3" fmla="*/ 36 h 36"/>
                <a:gd name="T4" fmla="*/ 24 w 84"/>
                <a:gd name="T5" fmla="*/ 30 h 36"/>
                <a:gd name="T6" fmla="*/ 30 w 84"/>
                <a:gd name="T7" fmla="*/ 24 h 36"/>
                <a:gd name="T8" fmla="*/ 63 w 84"/>
                <a:gd name="T9" fmla="*/ 24 h 36"/>
                <a:gd name="T10" fmla="*/ 72 w 84"/>
                <a:gd name="T11" fmla="*/ 18 h 36"/>
                <a:gd name="T12" fmla="*/ 63 w 84"/>
                <a:gd name="T13" fmla="*/ 12 h 36"/>
                <a:gd name="T14" fmla="*/ 6 w 84"/>
                <a:gd name="T15" fmla="*/ 12 h 36"/>
                <a:gd name="T16" fmla="*/ 0 w 84"/>
                <a:gd name="T17" fmla="*/ 6 h 36"/>
                <a:gd name="T18" fmla="*/ 6 w 84"/>
                <a:gd name="T19" fmla="*/ 0 h 36"/>
                <a:gd name="T20" fmla="*/ 63 w 84"/>
                <a:gd name="T21" fmla="*/ 0 h 36"/>
                <a:gd name="T22" fmla="*/ 78 w 84"/>
                <a:gd name="T23" fmla="*/ 5 h 36"/>
                <a:gd name="T24" fmla="*/ 84 w 84"/>
                <a:gd name="T25" fmla="*/ 18 h 36"/>
                <a:gd name="T26" fmla="*/ 63 w 84"/>
                <a:gd name="T2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36">
                  <a:moveTo>
                    <a:pt x="63" y="36"/>
                  </a:moveTo>
                  <a:cubicBezTo>
                    <a:pt x="30" y="36"/>
                    <a:pt x="30" y="36"/>
                    <a:pt x="30" y="36"/>
                  </a:cubicBezTo>
                  <a:cubicBezTo>
                    <a:pt x="26" y="36"/>
                    <a:pt x="24" y="33"/>
                    <a:pt x="24" y="30"/>
                  </a:cubicBezTo>
                  <a:cubicBezTo>
                    <a:pt x="24" y="26"/>
                    <a:pt x="26" y="24"/>
                    <a:pt x="30" y="24"/>
                  </a:cubicBezTo>
                  <a:cubicBezTo>
                    <a:pt x="63" y="24"/>
                    <a:pt x="63" y="24"/>
                    <a:pt x="63" y="24"/>
                  </a:cubicBezTo>
                  <a:cubicBezTo>
                    <a:pt x="69" y="24"/>
                    <a:pt x="72" y="21"/>
                    <a:pt x="72" y="18"/>
                  </a:cubicBezTo>
                  <a:cubicBezTo>
                    <a:pt x="72" y="15"/>
                    <a:pt x="69" y="12"/>
                    <a:pt x="63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9" y="0"/>
                    <a:pt x="74" y="2"/>
                    <a:pt x="78" y="5"/>
                  </a:cubicBezTo>
                  <a:cubicBezTo>
                    <a:pt x="81" y="8"/>
                    <a:pt x="84" y="13"/>
                    <a:pt x="84" y="18"/>
                  </a:cubicBezTo>
                  <a:cubicBezTo>
                    <a:pt x="84" y="27"/>
                    <a:pt x="76" y="36"/>
                    <a:pt x="63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5" name="Freeform 132">
              <a:extLst>
                <a:ext uri="{FF2B5EF4-FFF2-40B4-BE49-F238E27FC236}">
                  <a16:creationId xmlns:a16="http://schemas.microsoft.com/office/drawing/2014/main" id="{5A373BF9-2A3F-7987-33B6-227B2CA1BA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0" y="2884"/>
              <a:ext cx="71" cy="57"/>
            </a:xfrm>
            <a:custGeom>
              <a:avLst/>
              <a:gdLst>
                <a:gd name="T0" fmla="*/ 54 w 60"/>
                <a:gd name="T1" fmla="*/ 48 h 48"/>
                <a:gd name="T2" fmla="*/ 6 w 60"/>
                <a:gd name="T3" fmla="*/ 48 h 48"/>
                <a:gd name="T4" fmla="*/ 0 w 60"/>
                <a:gd name="T5" fmla="*/ 42 h 48"/>
                <a:gd name="T6" fmla="*/ 0 w 60"/>
                <a:gd name="T7" fmla="*/ 6 h 48"/>
                <a:gd name="T8" fmla="*/ 6 w 60"/>
                <a:gd name="T9" fmla="*/ 0 h 48"/>
                <a:gd name="T10" fmla="*/ 54 w 60"/>
                <a:gd name="T11" fmla="*/ 0 h 48"/>
                <a:gd name="T12" fmla="*/ 60 w 60"/>
                <a:gd name="T13" fmla="*/ 6 h 48"/>
                <a:gd name="T14" fmla="*/ 60 w 60"/>
                <a:gd name="T15" fmla="*/ 42 h 48"/>
                <a:gd name="T16" fmla="*/ 54 w 60"/>
                <a:gd name="T17" fmla="*/ 48 h 48"/>
                <a:gd name="T18" fmla="*/ 12 w 60"/>
                <a:gd name="T19" fmla="*/ 36 h 48"/>
                <a:gd name="T20" fmla="*/ 48 w 60"/>
                <a:gd name="T21" fmla="*/ 36 h 48"/>
                <a:gd name="T22" fmla="*/ 48 w 60"/>
                <a:gd name="T23" fmla="*/ 12 h 48"/>
                <a:gd name="T24" fmla="*/ 12 w 60"/>
                <a:gd name="T25" fmla="*/ 12 h 48"/>
                <a:gd name="T26" fmla="*/ 12 w 6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48">
                  <a:moveTo>
                    <a:pt x="5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2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2"/>
                    <a:pt x="60" y="6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5"/>
                    <a:pt x="57" y="48"/>
                    <a:pt x="54" y="48"/>
                  </a:cubicBezTo>
                  <a:close/>
                  <a:moveTo>
                    <a:pt x="12" y="36"/>
                  </a:moveTo>
                  <a:cubicBezTo>
                    <a:pt x="48" y="36"/>
                    <a:pt x="48" y="36"/>
                    <a:pt x="48" y="36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6" name="Freeform 133">
              <a:extLst>
                <a:ext uri="{FF2B5EF4-FFF2-40B4-BE49-F238E27FC236}">
                  <a16:creationId xmlns:a16="http://schemas.microsoft.com/office/drawing/2014/main" id="{246A533D-90E5-36A5-9505-F022DE889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" y="2855"/>
              <a:ext cx="14" cy="4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9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7" name="Freeform 134">
              <a:extLst>
                <a:ext uri="{FF2B5EF4-FFF2-40B4-BE49-F238E27FC236}">
                  <a16:creationId xmlns:a16="http://schemas.microsoft.com/office/drawing/2014/main" id="{D19DE769-CD2A-68EE-0BA3-E54FB88EE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" y="2927"/>
              <a:ext cx="14" cy="4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9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8" name="Freeform 135">
              <a:extLst>
                <a:ext uri="{FF2B5EF4-FFF2-40B4-BE49-F238E27FC236}">
                  <a16:creationId xmlns:a16="http://schemas.microsoft.com/office/drawing/2014/main" id="{5D359C33-6A9F-193D-3F8B-56F819795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2855"/>
              <a:ext cx="14" cy="4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9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9" name="Freeform 136">
              <a:extLst>
                <a:ext uri="{FF2B5EF4-FFF2-40B4-BE49-F238E27FC236}">
                  <a16:creationId xmlns:a16="http://schemas.microsoft.com/office/drawing/2014/main" id="{D57FA724-11DE-954B-E823-B52DEA7C8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2927"/>
              <a:ext cx="14" cy="43"/>
            </a:xfrm>
            <a:custGeom>
              <a:avLst/>
              <a:gdLst>
                <a:gd name="T0" fmla="*/ 6 w 12"/>
                <a:gd name="T1" fmla="*/ 36 h 36"/>
                <a:gd name="T2" fmla="*/ 0 w 12"/>
                <a:gd name="T3" fmla="*/ 30 h 36"/>
                <a:gd name="T4" fmla="*/ 0 w 12"/>
                <a:gd name="T5" fmla="*/ 6 h 36"/>
                <a:gd name="T6" fmla="*/ 6 w 12"/>
                <a:gd name="T7" fmla="*/ 0 h 36"/>
                <a:gd name="T8" fmla="*/ 12 w 12"/>
                <a:gd name="T9" fmla="*/ 6 h 36"/>
                <a:gd name="T10" fmla="*/ 12 w 12"/>
                <a:gd name="T11" fmla="*/ 30 h 36"/>
                <a:gd name="T12" fmla="*/ 6 w 12"/>
                <a:gd name="T13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36">
                  <a:moveTo>
                    <a:pt x="6" y="36"/>
                  </a:move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3"/>
                    <a:pt x="9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0" name="Freeform 137">
              <a:extLst>
                <a:ext uri="{FF2B5EF4-FFF2-40B4-BE49-F238E27FC236}">
                  <a16:creationId xmlns:a16="http://schemas.microsoft.com/office/drawing/2014/main" id="{7BCF8C68-1AAB-9096-277A-AA07B669E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" y="2727"/>
              <a:ext cx="152" cy="36"/>
            </a:xfrm>
            <a:custGeom>
              <a:avLst/>
              <a:gdLst>
                <a:gd name="T0" fmla="*/ 120 w 127"/>
                <a:gd name="T1" fmla="*/ 29 h 30"/>
                <a:gd name="T2" fmla="*/ 117 w 127"/>
                <a:gd name="T3" fmla="*/ 28 h 30"/>
                <a:gd name="T4" fmla="*/ 64 w 127"/>
                <a:gd name="T5" fmla="*/ 12 h 30"/>
                <a:gd name="T6" fmla="*/ 10 w 127"/>
                <a:gd name="T7" fmla="*/ 28 h 30"/>
                <a:gd name="T8" fmla="*/ 2 w 127"/>
                <a:gd name="T9" fmla="*/ 27 h 30"/>
                <a:gd name="T10" fmla="*/ 4 w 127"/>
                <a:gd name="T11" fmla="*/ 18 h 30"/>
                <a:gd name="T12" fmla="*/ 64 w 127"/>
                <a:gd name="T13" fmla="*/ 0 h 30"/>
                <a:gd name="T14" fmla="*/ 123 w 127"/>
                <a:gd name="T15" fmla="*/ 18 h 30"/>
                <a:gd name="T16" fmla="*/ 125 w 127"/>
                <a:gd name="T17" fmla="*/ 27 h 30"/>
                <a:gd name="T18" fmla="*/ 120 w 127"/>
                <a:gd name="T19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7" h="30">
                  <a:moveTo>
                    <a:pt x="120" y="29"/>
                  </a:moveTo>
                  <a:cubicBezTo>
                    <a:pt x="119" y="29"/>
                    <a:pt x="118" y="29"/>
                    <a:pt x="117" y="28"/>
                  </a:cubicBezTo>
                  <a:cubicBezTo>
                    <a:pt x="101" y="18"/>
                    <a:pt x="83" y="12"/>
                    <a:pt x="64" y="12"/>
                  </a:cubicBezTo>
                  <a:cubicBezTo>
                    <a:pt x="45" y="12"/>
                    <a:pt x="26" y="18"/>
                    <a:pt x="10" y="28"/>
                  </a:cubicBezTo>
                  <a:cubicBezTo>
                    <a:pt x="8" y="30"/>
                    <a:pt x="4" y="29"/>
                    <a:pt x="2" y="27"/>
                  </a:cubicBezTo>
                  <a:cubicBezTo>
                    <a:pt x="0" y="24"/>
                    <a:pt x="1" y="20"/>
                    <a:pt x="4" y="18"/>
                  </a:cubicBezTo>
                  <a:cubicBezTo>
                    <a:pt x="21" y="6"/>
                    <a:pt x="42" y="0"/>
                    <a:pt x="64" y="0"/>
                  </a:cubicBezTo>
                  <a:cubicBezTo>
                    <a:pt x="85" y="0"/>
                    <a:pt x="106" y="6"/>
                    <a:pt x="123" y="18"/>
                  </a:cubicBezTo>
                  <a:cubicBezTo>
                    <a:pt x="126" y="20"/>
                    <a:pt x="127" y="24"/>
                    <a:pt x="125" y="27"/>
                  </a:cubicBezTo>
                  <a:cubicBezTo>
                    <a:pt x="124" y="28"/>
                    <a:pt x="122" y="29"/>
                    <a:pt x="120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1" name="Freeform 138">
              <a:extLst>
                <a:ext uri="{FF2B5EF4-FFF2-40B4-BE49-F238E27FC236}">
                  <a16:creationId xmlns:a16="http://schemas.microsoft.com/office/drawing/2014/main" id="{58A175E1-4C39-46ED-66D3-A20491305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756"/>
              <a:ext cx="120" cy="31"/>
            </a:xfrm>
            <a:custGeom>
              <a:avLst/>
              <a:gdLst>
                <a:gd name="T0" fmla="*/ 94 w 101"/>
                <a:gd name="T1" fmla="*/ 25 h 26"/>
                <a:gd name="T2" fmla="*/ 90 w 101"/>
                <a:gd name="T3" fmla="*/ 24 h 26"/>
                <a:gd name="T4" fmla="*/ 51 w 101"/>
                <a:gd name="T5" fmla="*/ 12 h 26"/>
                <a:gd name="T6" fmla="*/ 11 w 101"/>
                <a:gd name="T7" fmla="*/ 24 h 26"/>
                <a:gd name="T8" fmla="*/ 2 w 101"/>
                <a:gd name="T9" fmla="*/ 23 h 26"/>
                <a:gd name="T10" fmla="*/ 4 w 101"/>
                <a:gd name="T11" fmla="*/ 14 h 26"/>
                <a:gd name="T12" fmla="*/ 51 w 101"/>
                <a:gd name="T13" fmla="*/ 0 h 26"/>
                <a:gd name="T14" fmla="*/ 97 w 101"/>
                <a:gd name="T15" fmla="*/ 14 h 26"/>
                <a:gd name="T16" fmla="*/ 99 w 101"/>
                <a:gd name="T17" fmla="*/ 23 h 26"/>
                <a:gd name="T18" fmla="*/ 94 w 101"/>
                <a:gd name="T19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1" h="26">
                  <a:moveTo>
                    <a:pt x="94" y="25"/>
                  </a:moveTo>
                  <a:cubicBezTo>
                    <a:pt x="93" y="25"/>
                    <a:pt x="92" y="25"/>
                    <a:pt x="90" y="24"/>
                  </a:cubicBezTo>
                  <a:cubicBezTo>
                    <a:pt x="79" y="16"/>
                    <a:pt x="65" y="12"/>
                    <a:pt x="51" y="12"/>
                  </a:cubicBezTo>
                  <a:cubicBezTo>
                    <a:pt x="36" y="12"/>
                    <a:pt x="22" y="16"/>
                    <a:pt x="11" y="24"/>
                  </a:cubicBezTo>
                  <a:cubicBezTo>
                    <a:pt x="8" y="26"/>
                    <a:pt x="4" y="25"/>
                    <a:pt x="2" y="23"/>
                  </a:cubicBezTo>
                  <a:cubicBezTo>
                    <a:pt x="0" y="20"/>
                    <a:pt x="1" y="16"/>
                    <a:pt x="4" y="14"/>
                  </a:cubicBezTo>
                  <a:cubicBezTo>
                    <a:pt x="18" y="5"/>
                    <a:pt x="34" y="0"/>
                    <a:pt x="51" y="0"/>
                  </a:cubicBezTo>
                  <a:cubicBezTo>
                    <a:pt x="67" y="0"/>
                    <a:pt x="83" y="5"/>
                    <a:pt x="97" y="14"/>
                  </a:cubicBezTo>
                  <a:cubicBezTo>
                    <a:pt x="100" y="16"/>
                    <a:pt x="101" y="20"/>
                    <a:pt x="99" y="23"/>
                  </a:cubicBezTo>
                  <a:cubicBezTo>
                    <a:pt x="98" y="24"/>
                    <a:pt x="96" y="25"/>
                    <a:pt x="94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2" name="Freeform 139">
              <a:extLst>
                <a:ext uri="{FF2B5EF4-FFF2-40B4-BE49-F238E27FC236}">
                  <a16:creationId xmlns:a16="http://schemas.microsoft.com/office/drawing/2014/main" id="{802EE55B-A438-BBC0-EB49-CCF1F3BF6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8" y="2785"/>
              <a:ext cx="88" cy="26"/>
            </a:xfrm>
            <a:custGeom>
              <a:avLst/>
              <a:gdLst>
                <a:gd name="T0" fmla="*/ 67 w 73"/>
                <a:gd name="T1" fmla="*/ 21 h 22"/>
                <a:gd name="T2" fmla="*/ 63 w 73"/>
                <a:gd name="T3" fmla="*/ 20 h 22"/>
                <a:gd name="T4" fmla="*/ 37 w 73"/>
                <a:gd name="T5" fmla="*/ 12 h 22"/>
                <a:gd name="T6" fmla="*/ 10 w 73"/>
                <a:gd name="T7" fmla="*/ 20 h 22"/>
                <a:gd name="T8" fmla="*/ 2 w 73"/>
                <a:gd name="T9" fmla="*/ 19 h 22"/>
                <a:gd name="T10" fmla="*/ 3 w 73"/>
                <a:gd name="T11" fmla="*/ 10 h 22"/>
                <a:gd name="T12" fmla="*/ 37 w 73"/>
                <a:gd name="T13" fmla="*/ 0 h 22"/>
                <a:gd name="T14" fmla="*/ 70 w 73"/>
                <a:gd name="T15" fmla="*/ 10 h 22"/>
                <a:gd name="T16" fmla="*/ 72 w 73"/>
                <a:gd name="T17" fmla="*/ 19 h 22"/>
                <a:gd name="T18" fmla="*/ 67 w 73"/>
                <a:gd name="T19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3" h="22">
                  <a:moveTo>
                    <a:pt x="67" y="21"/>
                  </a:moveTo>
                  <a:cubicBezTo>
                    <a:pt x="65" y="21"/>
                    <a:pt x="64" y="21"/>
                    <a:pt x="63" y="20"/>
                  </a:cubicBezTo>
                  <a:cubicBezTo>
                    <a:pt x="55" y="15"/>
                    <a:pt x="46" y="12"/>
                    <a:pt x="37" y="12"/>
                  </a:cubicBezTo>
                  <a:cubicBezTo>
                    <a:pt x="27" y="12"/>
                    <a:pt x="18" y="15"/>
                    <a:pt x="10" y="20"/>
                  </a:cubicBezTo>
                  <a:cubicBezTo>
                    <a:pt x="7" y="22"/>
                    <a:pt x="3" y="21"/>
                    <a:pt x="2" y="19"/>
                  </a:cubicBezTo>
                  <a:cubicBezTo>
                    <a:pt x="0" y="16"/>
                    <a:pt x="1" y="12"/>
                    <a:pt x="3" y="10"/>
                  </a:cubicBezTo>
                  <a:cubicBezTo>
                    <a:pt x="13" y="4"/>
                    <a:pt x="25" y="0"/>
                    <a:pt x="37" y="0"/>
                  </a:cubicBezTo>
                  <a:cubicBezTo>
                    <a:pt x="48" y="0"/>
                    <a:pt x="60" y="4"/>
                    <a:pt x="70" y="10"/>
                  </a:cubicBezTo>
                  <a:cubicBezTo>
                    <a:pt x="73" y="12"/>
                    <a:pt x="73" y="16"/>
                    <a:pt x="72" y="19"/>
                  </a:cubicBezTo>
                  <a:cubicBezTo>
                    <a:pt x="70" y="20"/>
                    <a:pt x="68" y="21"/>
                    <a:pt x="67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13" name="Group 28">
            <a:extLst>
              <a:ext uri="{FF2B5EF4-FFF2-40B4-BE49-F238E27FC236}">
                <a16:creationId xmlns:a16="http://schemas.microsoft.com/office/drawing/2014/main" id="{9246EE01-5596-11DF-271C-4AC5F840393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188901" y="1786215"/>
            <a:ext cx="546100" cy="295275"/>
            <a:chOff x="2100" y="775"/>
            <a:chExt cx="344" cy="186"/>
          </a:xfrm>
          <a:solidFill>
            <a:schemeClr val="accent1"/>
          </a:solidFill>
        </p:grpSpPr>
        <p:sp>
          <p:nvSpPr>
            <p:cNvPr id="114" name="Freeform 29">
              <a:extLst>
                <a:ext uri="{FF2B5EF4-FFF2-40B4-BE49-F238E27FC236}">
                  <a16:creationId xmlns:a16="http://schemas.microsoft.com/office/drawing/2014/main" id="{CCF1E1ED-46D5-8E74-BEA9-E3C80933FB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00" y="775"/>
              <a:ext cx="344" cy="186"/>
            </a:xfrm>
            <a:custGeom>
              <a:avLst/>
              <a:gdLst>
                <a:gd name="T0" fmla="*/ 258 w 288"/>
                <a:gd name="T1" fmla="*/ 156 h 156"/>
                <a:gd name="T2" fmla="*/ 30 w 288"/>
                <a:gd name="T3" fmla="*/ 156 h 156"/>
                <a:gd name="T4" fmla="*/ 0 w 288"/>
                <a:gd name="T5" fmla="*/ 126 h 156"/>
                <a:gd name="T6" fmla="*/ 0 w 288"/>
                <a:gd name="T7" fmla="*/ 30 h 156"/>
                <a:gd name="T8" fmla="*/ 30 w 288"/>
                <a:gd name="T9" fmla="*/ 0 h 156"/>
                <a:gd name="T10" fmla="*/ 258 w 288"/>
                <a:gd name="T11" fmla="*/ 0 h 156"/>
                <a:gd name="T12" fmla="*/ 288 w 288"/>
                <a:gd name="T13" fmla="*/ 30 h 156"/>
                <a:gd name="T14" fmla="*/ 288 w 288"/>
                <a:gd name="T15" fmla="*/ 126 h 156"/>
                <a:gd name="T16" fmla="*/ 258 w 288"/>
                <a:gd name="T17" fmla="*/ 156 h 156"/>
                <a:gd name="T18" fmla="*/ 30 w 288"/>
                <a:gd name="T19" fmla="*/ 12 h 156"/>
                <a:gd name="T20" fmla="*/ 12 w 288"/>
                <a:gd name="T21" fmla="*/ 30 h 156"/>
                <a:gd name="T22" fmla="*/ 12 w 288"/>
                <a:gd name="T23" fmla="*/ 126 h 156"/>
                <a:gd name="T24" fmla="*/ 30 w 288"/>
                <a:gd name="T25" fmla="*/ 144 h 156"/>
                <a:gd name="T26" fmla="*/ 258 w 288"/>
                <a:gd name="T27" fmla="*/ 144 h 156"/>
                <a:gd name="T28" fmla="*/ 276 w 288"/>
                <a:gd name="T29" fmla="*/ 126 h 156"/>
                <a:gd name="T30" fmla="*/ 276 w 288"/>
                <a:gd name="T31" fmla="*/ 30 h 156"/>
                <a:gd name="T32" fmla="*/ 258 w 288"/>
                <a:gd name="T33" fmla="*/ 12 h 156"/>
                <a:gd name="T34" fmla="*/ 30 w 288"/>
                <a:gd name="T35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156">
                  <a:moveTo>
                    <a:pt x="258" y="156"/>
                  </a:moveTo>
                  <a:cubicBezTo>
                    <a:pt x="30" y="156"/>
                    <a:pt x="30" y="156"/>
                    <a:pt x="30" y="156"/>
                  </a:cubicBezTo>
                  <a:cubicBezTo>
                    <a:pt x="13" y="156"/>
                    <a:pt x="0" y="143"/>
                    <a:pt x="0" y="12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258" y="0"/>
                    <a:pt x="258" y="0"/>
                    <a:pt x="258" y="0"/>
                  </a:cubicBezTo>
                  <a:cubicBezTo>
                    <a:pt x="274" y="0"/>
                    <a:pt x="288" y="14"/>
                    <a:pt x="288" y="30"/>
                  </a:cubicBezTo>
                  <a:cubicBezTo>
                    <a:pt x="288" y="126"/>
                    <a:pt x="288" y="126"/>
                    <a:pt x="288" y="126"/>
                  </a:cubicBezTo>
                  <a:cubicBezTo>
                    <a:pt x="288" y="143"/>
                    <a:pt x="274" y="156"/>
                    <a:pt x="258" y="156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126"/>
                    <a:pt x="12" y="126"/>
                    <a:pt x="12" y="126"/>
                  </a:cubicBezTo>
                  <a:cubicBezTo>
                    <a:pt x="12" y="136"/>
                    <a:pt x="20" y="144"/>
                    <a:pt x="30" y="144"/>
                  </a:cubicBezTo>
                  <a:cubicBezTo>
                    <a:pt x="258" y="144"/>
                    <a:pt x="258" y="144"/>
                    <a:pt x="258" y="144"/>
                  </a:cubicBezTo>
                  <a:cubicBezTo>
                    <a:pt x="268" y="144"/>
                    <a:pt x="276" y="136"/>
                    <a:pt x="276" y="126"/>
                  </a:cubicBezTo>
                  <a:cubicBezTo>
                    <a:pt x="276" y="30"/>
                    <a:pt x="276" y="30"/>
                    <a:pt x="276" y="30"/>
                  </a:cubicBezTo>
                  <a:cubicBezTo>
                    <a:pt x="276" y="20"/>
                    <a:pt x="268" y="12"/>
                    <a:pt x="258" y="12"/>
                  </a:cubicBezTo>
                  <a:lnTo>
                    <a:pt x="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5" name="Freeform 30">
              <a:extLst>
                <a:ext uri="{FF2B5EF4-FFF2-40B4-BE49-F238E27FC236}">
                  <a16:creationId xmlns:a16="http://schemas.microsoft.com/office/drawing/2014/main" id="{A761234C-8BA5-AEE0-E40B-104B9724B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832"/>
              <a:ext cx="50" cy="72"/>
            </a:xfrm>
            <a:custGeom>
              <a:avLst/>
              <a:gdLst>
                <a:gd name="T0" fmla="*/ 36 w 42"/>
                <a:gd name="T1" fmla="*/ 60 h 60"/>
                <a:gd name="T2" fmla="*/ 6 w 42"/>
                <a:gd name="T3" fmla="*/ 60 h 60"/>
                <a:gd name="T4" fmla="*/ 0 w 42"/>
                <a:gd name="T5" fmla="*/ 54 h 60"/>
                <a:gd name="T6" fmla="*/ 0 w 42"/>
                <a:gd name="T7" fmla="*/ 6 h 60"/>
                <a:gd name="T8" fmla="*/ 6 w 42"/>
                <a:gd name="T9" fmla="*/ 0 h 60"/>
                <a:gd name="T10" fmla="*/ 36 w 42"/>
                <a:gd name="T11" fmla="*/ 0 h 60"/>
                <a:gd name="T12" fmla="*/ 42 w 42"/>
                <a:gd name="T13" fmla="*/ 6 h 60"/>
                <a:gd name="T14" fmla="*/ 36 w 42"/>
                <a:gd name="T15" fmla="*/ 12 h 60"/>
                <a:gd name="T16" fmla="*/ 12 w 42"/>
                <a:gd name="T17" fmla="*/ 12 h 60"/>
                <a:gd name="T18" fmla="*/ 12 w 42"/>
                <a:gd name="T19" fmla="*/ 48 h 60"/>
                <a:gd name="T20" fmla="*/ 36 w 42"/>
                <a:gd name="T21" fmla="*/ 48 h 60"/>
                <a:gd name="T22" fmla="*/ 42 w 42"/>
                <a:gd name="T23" fmla="*/ 54 h 60"/>
                <a:gd name="T24" fmla="*/ 36 w 42"/>
                <a:gd name="T25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60">
                  <a:moveTo>
                    <a:pt x="36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2" y="60"/>
                    <a:pt x="0" y="58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9" y="0"/>
                    <a:pt x="42" y="3"/>
                    <a:pt x="42" y="6"/>
                  </a:cubicBezTo>
                  <a:cubicBezTo>
                    <a:pt x="42" y="10"/>
                    <a:pt x="39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9" y="48"/>
                    <a:pt x="42" y="51"/>
                    <a:pt x="42" y="54"/>
                  </a:cubicBezTo>
                  <a:cubicBezTo>
                    <a:pt x="42" y="58"/>
                    <a:pt x="39" y="60"/>
                    <a:pt x="3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6" name="Freeform 31">
              <a:extLst>
                <a:ext uri="{FF2B5EF4-FFF2-40B4-BE49-F238E27FC236}">
                  <a16:creationId xmlns:a16="http://schemas.microsoft.com/office/drawing/2014/main" id="{4564A62D-60D7-B5AA-2953-F23B9C077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861"/>
              <a:ext cx="50" cy="14"/>
            </a:xfrm>
            <a:custGeom>
              <a:avLst/>
              <a:gdLst>
                <a:gd name="T0" fmla="*/ 36 w 42"/>
                <a:gd name="T1" fmla="*/ 12 h 12"/>
                <a:gd name="T2" fmla="*/ 6 w 42"/>
                <a:gd name="T3" fmla="*/ 12 h 12"/>
                <a:gd name="T4" fmla="*/ 0 w 42"/>
                <a:gd name="T5" fmla="*/ 6 h 12"/>
                <a:gd name="T6" fmla="*/ 6 w 42"/>
                <a:gd name="T7" fmla="*/ 0 h 12"/>
                <a:gd name="T8" fmla="*/ 36 w 42"/>
                <a:gd name="T9" fmla="*/ 0 h 12"/>
                <a:gd name="T10" fmla="*/ 42 w 42"/>
                <a:gd name="T11" fmla="*/ 6 h 12"/>
                <a:gd name="T12" fmla="*/ 36 w 4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12">
                  <a:moveTo>
                    <a:pt x="3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9" y="0"/>
                    <a:pt x="42" y="3"/>
                    <a:pt x="42" y="6"/>
                  </a:cubicBezTo>
                  <a:cubicBezTo>
                    <a:pt x="42" y="10"/>
                    <a:pt x="39" y="12"/>
                    <a:pt x="3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7" name="Freeform 32">
              <a:extLst>
                <a:ext uri="{FF2B5EF4-FFF2-40B4-BE49-F238E27FC236}">
                  <a16:creationId xmlns:a16="http://schemas.microsoft.com/office/drawing/2014/main" id="{32C953D3-636E-532D-BAC7-1E66CA6BA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" y="831"/>
              <a:ext cx="60" cy="73"/>
            </a:xfrm>
            <a:custGeom>
              <a:avLst/>
              <a:gdLst>
                <a:gd name="T0" fmla="*/ 43 w 50"/>
                <a:gd name="T1" fmla="*/ 61 h 61"/>
                <a:gd name="T2" fmla="*/ 38 w 50"/>
                <a:gd name="T3" fmla="*/ 59 h 61"/>
                <a:gd name="T4" fmla="*/ 2 w 50"/>
                <a:gd name="T5" fmla="*/ 11 h 61"/>
                <a:gd name="T6" fmla="*/ 4 w 50"/>
                <a:gd name="T7" fmla="*/ 2 h 61"/>
                <a:gd name="T8" fmla="*/ 12 w 50"/>
                <a:gd name="T9" fmla="*/ 4 h 61"/>
                <a:gd name="T10" fmla="*/ 48 w 50"/>
                <a:gd name="T11" fmla="*/ 52 h 61"/>
                <a:gd name="T12" fmla="*/ 46 w 50"/>
                <a:gd name="T13" fmla="*/ 60 h 61"/>
                <a:gd name="T14" fmla="*/ 43 w 50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61">
                  <a:moveTo>
                    <a:pt x="43" y="61"/>
                  </a:moveTo>
                  <a:cubicBezTo>
                    <a:pt x="41" y="61"/>
                    <a:pt x="39" y="60"/>
                    <a:pt x="38" y="59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1" y="4"/>
                    <a:pt x="4" y="2"/>
                  </a:cubicBezTo>
                  <a:cubicBezTo>
                    <a:pt x="6" y="0"/>
                    <a:pt x="10" y="1"/>
                    <a:pt x="12" y="4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50" y="54"/>
                    <a:pt x="49" y="58"/>
                    <a:pt x="46" y="60"/>
                  </a:cubicBezTo>
                  <a:cubicBezTo>
                    <a:pt x="45" y="61"/>
                    <a:pt x="44" y="61"/>
                    <a:pt x="43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8" name="Freeform 33">
              <a:extLst>
                <a:ext uri="{FF2B5EF4-FFF2-40B4-BE49-F238E27FC236}">
                  <a16:creationId xmlns:a16="http://schemas.microsoft.com/office/drawing/2014/main" id="{30B6651A-1037-C4B4-7B9C-1C74178D8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" y="831"/>
              <a:ext cx="60" cy="73"/>
            </a:xfrm>
            <a:custGeom>
              <a:avLst/>
              <a:gdLst>
                <a:gd name="T0" fmla="*/ 7 w 50"/>
                <a:gd name="T1" fmla="*/ 61 h 61"/>
                <a:gd name="T2" fmla="*/ 4 w 50"/>
                <a:gd name="T3" fmla="*/ 60 h 61"/>
                <a:gd name="T4" fmla="*/ 2 w 50"/>
                <a:gd name="T5" fmla="*/ 52 h 61"/>
                <a:gd name="T6" fmla="*/ 38 w 50"/>
                <a:gd name="T7" fmla="*/ 4 h 61"/>
                <a:gd name="T8" fmla="*/ 46 w 50"/>
                <a:gd name="T9" fmla="*/ 2 h 61"/>
                <a:gd name="T10" fmla="*/ 48 w 50"/>
                <a:gd name="T11" fmla="*/ 11 h 61"/>
                <a:gd name="T12" fmla="*/ 12 w 50"/>
                <a:gd name="T13" fmla="*/ 59 h 61"/>
                <a:gd name="T14" fmla="*/ 7 w 50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61">
                  <a:moveTo>
                    <a:pt x="7" y="61"/>
                  </a:moveTo>
                  <a:cubicBezTo>
                    <a:pt x="6" y="61"/>
                    <a:pt x="5" y="61"/>
                    <a:pt x="4" y="60"/>
                  </a:cubicBezTo>
                  <a:cubicBezTo>
                    <a:pt x="1" y="58"/>
                    <a:pt x="0" y="54"/>
                    <a:pt x="2" y="52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0" y="1"/>
                    <a:pt x="44" y="0"/>
                    <a:pt x="46" y="2"/>
                  </a:cubicBezTo>
                  <a:cubicBezTo>
                    <a:pt x="49" y="4"/>
                    <a:pt x="50" y="8"/>
                    <a:pt x="48" y="11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60"/>
                    <a:pt x="9" y="61"/>
                    <a:pt x="7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9" name="Freeform 34">
              <a:extLst>
                <a:ext uri="{FF2B5EF4-FFF2-40B4-BE49-F238E27FC236}">
                  <a16:creationId xmlns:a16="http://schemas.microsoft.com/office/drawing/2014/main" id="{E64373EC-4E79-7452-51D6-45323A6CD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1" y="832"/>
              <a:ext cx="14" cy="72"/>
            </a:xfrm>
            <a:custGeom>
              <a:avLst/>
              <a:gdLst>
                <a:gd name="T0" fmla="*/ 6 w 12"/>
                <a:gd name="T1" fmla="*/ 60 h 60"/>
                <a:gd name="T2" fmla="*/ 0 w 12"/>
                <a:gd name="T3" fmla="*/ 54 h 60"/>
                <a:gd name="T4" fmla="*/ 0 w 12"/>
                <a:gd name="T5" fmla="*/ 6 h 60"/>
                <a:gd name="T6" fmla="*/ 6 w 12"/>
                <a:gd name="T7" fmla="*/ 0 h 60"/>
                <a:gd name="T8" fmla="*/ 12 w 12"/>
                <a:gd name="T9" fmla="*/ 6 h 60"/>
                <a:gd name="T10" fmla="*/ 12 w 12"/>
                <a:gd name="T11" fmla="*/ 54 h 60"/>
                <a:gd name="T12" fmla="*/ 6 w 12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0">
                  <a:moveTo>
                    <a:pt x="6" y="60"/>
                  </a:moveTo>
                  <a:cubicBezTo>
                    <a:pt x="2" y="60"/>
                    <a:pt x="0" y="58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8"/>
                    <a:pt x="9" y="60"/>
                    <a:pt x="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0" name="Freeform 35">
              <a:extLst>
                <a:ext uri="{FF2B5EF4-FFF2-40B4-BE49-F238E27FC236}">
                  <a16:creationId xmlns:a16="http://schemas.microsoft.com/office/drawing/2014/main" id="{0DD778DA-4F12-97BA-9B08-5AA1161F9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832"/>
              <a:ext cx="14" cy="72"/>
            </a:xfrm>
            <a:custGeom>
              <a:avLst/>
              <a:gdLst>
                <a:gd name="T0" fmla="*/ 6 w 12"/>
                <a:gd name="T1" fmla="*/ 60 h 60"/>
                <a:gd name="T2" fmla="*/ 0 w 12"/>
                <a:gd name="T3" fmla="*/ 54 h 60"/>
                <a:gd name="T4" fmla="*/ 0 w 12"/>
                <a:gd name="T5" fmla="*/ 6 h 60"/>
                <a:gd name="T6" fmla="*/ 6 w 12"/>
                <a:gd name="T7" fmla="*/ 0 h 60"/>
                <a:gd name="T8" fmla="*/ 12 w 12"/>
                <a:gd name="T9" fmla="*/ 6 h 60"/>
                <a:gd name="T10" fmla="*/ 12 w 12"/>
                <a:gd name="T11" fmla="*/ 54 h 60"/>
                <a:gd name="T12" fmla="*/ 6 w 12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0">
                  <a:moveTo>
                    <a:pt x="6" y="60"/>
                  </a:moveTo>
                  <a:cubicBezTo>
                    <a:pt x="2" y="60"/>
                    <a:pt x="0" y="58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8"/>
                    <a:pt x="9" y="60"/>
                    <a:pt x="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1" name="Freeform 36">
              <a:extLst>
                <a:ext uri="{FF2B5EF4-FFF2-40B4-BE49-F238E27FC236}">
                  <a16:creationId xmlns:a16="http://schemas.microsoft.com/office/drawing/2014/main" id="{E474DBC7-6066-270A-DAA1-B997F447D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" y="832"/>
              <a:ext cx="43" cy="15"/>
            </a:xfrm>
            <a:custGeom>
              <a:avLst/>
              <a:gdLst>
                <a:gd name="T0" fmla="*/ 30 w 36"/>
                <a:gd name="T1" fmla="*/ 12 h 12"/>
                <a:gd name="T2" fmla="*/ 6 w 36"/>
                <a:gd name="T3" fmla="*/ 12 h 12"/>
                <a:gd name="T4" fmla="*/ 0 w 36"/>
                <a:gd name="T5" fmla="*/ 6 h 12"/>
                <a:gd name="T6" fmla="*/ 6 w 36"/>
                <a:gd name="T7" fmla="*/ 0 h 12"/>
                <a:gd name="T8" fmla="*/ 30 w 36"/>
                <a:gd name="T9" fmla="*/ 0 h 12"/>
                <a:gd name="T10" fmla="*/ 36 w 36"/>
                <a:gd name="T11" fmla="*/ 6 h 12"/>
                <a:gd name="T12" fmla="*/ 30 w 3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">
                  <a:moveTo>
                    <a:pt x="3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6" y="3"/>
                    <a:pt x="36" y="6"/>
                  </a:cubicBezTo>
                  <a:cubicBezTo>
                    <a:pt x="36" y="10"/>
                    <a:pt x="33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30" name="Group 84">
            <a:extLst>
              <a:ext uri="{FF2B5EF4-FFF2-40B4-BE49-F238E27FC236}">
                <a16:creationId xmlns:a16="http://schemas.microsoft.com/office/drawing/2014/main" id="{559430F1-F5E8-38FC-A499-A37D78BB554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40343" y="1743052"/>
            <a:ext cx="398534" cy="399745"/>
            <a:chOff x="2078" y="1666"/>
            <a:chExt cx="329" cy="330"/>
          </a:xfrm>
          <a:solidFill>
            <a:schemeClr val="accent1"/>
          </a:solidFill>
        </p:grpSpPr>
        <p:sp>
          <p:nvSpPr>
            <p:cNvPr id="131" name="Freeform 85">
              <a:extLst>
                <a:ext uri="{FF2B5EF4-FFF2-40B4-BE49-F238E27FC236}">
                  <a16:creationId xmlns:a16="http://schemas.microsoft.com/office/drawing/2014/main" id="{4F954838-81BE-D5E4-2838-B26568513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1824"/>
              <a:ext cx="229" cy="14"/>
            </a:xfrm>
            <a:custGeom>
              <a:avLst/>
              <a:gdLst>
                <a:gd name="T0" fmla="*/ 186 w 192"/>
                <a:gd name="T1" fmla="*/ 12 h 12"/>
                <a:gd name="T2" fmla="*/ 6 w 192"/>
                <a:gd name="T3" fmla="*/ 12 h 12"/>
                <a:gd name="T4" fmla="*/ 0 w 192"/>
                <a:gd name="T5" fmla="*/ 6 h 12"/>
                <a:gd name="T6" fmla="*/ 6 w 192"/>
                <a:gd name="T7" fmla="*/ 0 h 12"/>
                <a:gd name="T8" fmla="*/ 186 w 192"/>
                <a:gd name="T9" fmla="*/ 0 h 12"/>
                <a:gd name="T10" fmla="*/ 192 w 192"/>
                <a:gd name="T11" fmla="*/ 6 h 12"/>
                <a:gd name="T12" fmla="*/ 186 w 19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2" h="12">
                  <a:moveTo>
                    <a:pt x="18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89" y="0"/>
                    <a:pt x="192" y="3"/>
                    <a:pt x="192" y="6"/>
                  </a:cubicBezTo>
                  <a:cubicBezTo>
                    <a:pt x="192" y="10"/>
                    <a:pt x="189" y="12"/>
                    <a:pt x="18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2" name="Freeform 86">
              <a:extLst>
                <a:ext uri="{FF2B5EF4-FFF2-40B4-BE49-F238E27FC236}">
                  <a16:creationId xmlns:a16="http://schemas.microsoft.com/office/drawing/2014/main" id="{816201EA-99EC-39BD-9813-4F2AE688B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" y="1767"/>
              <a:ext cx="74" cy="128"/>
            </a:xfrm>
            <a:custGeom>
              <a:avLst/>
              <a:gdLst>
                <a:gd name="T0" fmla="*/ 55 w 62"/>
                <a:gd name="T1" fmla="*/ 108 h 108"/>
                <a:gd name="T2" fmla="*/ 51 w 62"/>
                <a:gd name="T3" fmla="*/ 106 h 108"/>
                <a:gd name="T4" fmla="*/ 3 w 62"/>
                <a:gd name="T5" fmla="*/ 58 h 108"/>
                <a:gd name="T6" fmla="*/ 3 w 62"/>
                <a:gd name="T7" fmla="*/ 50 h 108"/>
                <a:gd name="T8" fmla="*/ 51 w 62"/>
                <a:gd name="T9" fmla="*/ 2 h 108"/>
                <a:gd name="T10" fmla="*/ 59 w 62"/>
                <a:gd name="T11" fmla="*/ 2 h 108"/>
                <a:gd name="T12" fmla="*/ 59 w 62"/>
                <a:gd name="T13" fmla="*/ 10 h 108"/>
                <a:gd name="T14" fmla="*/ 16 w 62"/>
                <a:gd name="T15" fmla="*/ 54 h 108"/>
                <a:gd name="T16" fmla="*/ 59 w 62"/>
                <a:gd name="T17" fmla="*/ 98 h 108"/>
                <a:gd name="T18" fmla="*/ 59 w 62"/>
                <a:gd name="T19" fmla="*/ 106 h 108"/>
                <a:gd name="T20" fmla="*/ 55 w 62"/>
                <a:gd name="T2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2" h="108">
                  <a:moveTo>
                    <a:pt x="55" y="108"/>
                  </a:moveTo>
                  <a:cubicBezTo>
                    <a:pt x="54" y="108"/>
                    <a:pt x="52" y="108"/>
                    <a:pt x="51" y="106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0" y="56"/>
                    <a:pt x="0" y="52"/>
                    <a:pt x="3" y="50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0"/>
                    <a:pt x="57" y="0"/>
                    <a:pt x="59" y="2"/>
                  </a:cubicBezTo>
                  <a:cubicBezTo>
                    <a:pt x="62" y="4"/>
                    <a:pt x="62" y="8"/>
                    <a:pt x="59" y="10"/>
                  </a:cubicBezTo>
                  <a:cubicBezTo>
                    <a:pt x="16" y="54"/>
                    <a:pt x="16" y="54"/>
                    <a:pt x="16" y="54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62" y="100"/>
                    <a:pt x="62" y="104"/>
                    <a:pt x="59" y="106"/>
                  </a:cubicBezTo>
                  <a:cubicBezTo>
                    <a:pt x="58" y="108"/>
                    <a:pt x="57" y="108"/>
                    <a:pt x="55" y="1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3" name="Freeform 87">
              <a:extLst>
                <a:ext uri="{FF2B5EF4-FFF2-40B4-BE49-F238E27FC236}">
                  <a16:creationId xmlns:a16="http://schemas.microsoft.com/office/drawing/2014/main" id="{53BC1945-A5A2-FE89-05A3-A0C31DE92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1666"/>
              <a:ext cx="316" cy="330"/>
            </a:xfrm>
            <a:custGeom>
              <a:avLst/>
              <a:gdLst>
                <a:gd name="T0" fmla="*/ 138 w 265"/>
                <a:gd name="T1" fmla="*/ 276 h 276"/>
                <a:gd name="T2" fmla="*/ 0 w 265"/>
                <a:gd name="T3" fmla="*/ 138 h 276"/>
                <a:gd name="T4" fmla="*/ 138 w 265"/>
                <a:gd name="T5" fmla="*/ 0 h 276"/>
                <a:gd name="T6" fmla="*/ 264 w 265"/>
                <a:gd name="T7" fmla="*/ 81 h 276"/>
                <a:gd name="T8" fmla="*/ 261 w 265"/>
                <a:gd name="T9" fmla="*/ 89 h 276"/>
                <a:gd name="T10" fmla="*/ 253 w 265"/>
                <a:gd name="T11" fmla="*/ 86 h 276"/>
                <a:gd name="T12" fmla="*/ 138 w 265"/>
                <a:gd name="T13" fmla="*/ 12 h 276"/>
                <a:gd name="T14" fmla="*/ 12 w 265"/>
                <a:gd name="T15" fmla="*/ 138 h 276"/>
                <a:gd name="T16" fmla="*/ 138 w 265"/>
                <a:gd name="T17" fmla="*/ 264 h 276"/>
                <a:gd name="T18" fmla="*/ 253 w 265"/>
                <a:gd name="T19" fmla="*/ 190 h 276"/>
                <a:gd name="T20" fmla="*/ 261 w 265"/>
                <a:gd name="T21" fmla="*/ 187 h 276"/>
                <a:gd name="T22" fmla="*/ 264 w 265"/>
                <a:gd name="T23" fmla="*/ 195 h 276"/>
                <a:gd name="T24" fmla="*/ 138 w 265"/>
                <a:gd name="T25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65" h="276">
                  <a:moveTo>
                    <a:pt x="138" y="276"/>
                  </a:moveTo>
                  <a:cubicBezTo>
                    <a:pt x="62" y="276"/>
                    <a:pt x="0" y="214"/>
                    <a:pt x="0" y="138"/>
                  </a:cubicBezTo>
                  <a:cubicBezTo>
                    <a:pt x="0" y="62"/>
                    <a:pt x="62" y="0"/>
                    <a:pt x="138" y="0"/>
                  </a:cubicBezTo>
                  <a:cubicBezTo>
                    <a:pt x="192" y="0"/>
                    <a:pt x="241" y="32"/>
                    <a:pt x="264" y="81"/>
                  </a:cubicBezTo>
                  <a:cubicBezTo>
                    <a:pt x="265" y="84"/>
                    <a:pt x="264" y="88"/>
                    <a:pt x="261" y="89"/>
                  </a:cubicBezTo>
                  <a:cubicBezTo>
                    <a:pt x="258" y="90"/>
                    <a:pt x="254" y="89"/>
                    <a:pt x="253" y="86"/>
                  </a:cubicBezTo>
                  <a:cubicBezTo>
                    <a:pt x="232" y="41"/>
                    <a:pt x="187" y="12"/>
                    <a:pt x="138" y="12"/>
                  </a:cubicBezTo>
                  <a:cubicBezTo>
                    <a:pt x="69" y="12"/>
                    <a:pt x="12" y="69"/>
                    <a:pt x="12" y="138"/>
                  </a:cubicBezTo>
                  <a:cubicBezTo>
                    <a:pt x="12" y="208"/>
                    <a:pt x="69" y="264"/>
                    <a:pt x="138" y="264"/>
                  </a:cubicBezTo>
                  <a:cubicBezTo>
                    <a:pt x="188" y="264"/>
                    <a:pt x="233" y="235"/>
                    <a:pt x="253" y="190"/>
                  </a:cubicBezTo>
                  <a:cubicBezTo>
                    <a:pt x="254" y="187"/>
                    <a:pt x="258" y="185"/>
                    <a:pt x="261" y="187"/>
                  </a:cubicBezTo>
                  <a:cubicBezTo>
                    <a:pt x="264" y="188"/>
                    <a:pt x="265" y="192"/>
                    <a:pt x="264" y="195"/>
                  </a:cubicBezTo>
                  <a:cubicBezTo>
                    <a:pt x="242" y="244"/>
                    <a:pt x="192" y="276"/>
                    <a:pt x="138" y="2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BF6B2ED-8FAC-DEA3-63E2-F49E4388DD31}"/>
              </a:ext>
            </a:extLst>
          </p:cNvPr>
          <p:cNvGrpSpPr>
            <a:grpSpLocks noChangeAspect="1"/>
          </p:cNvGrpSpPr>
          <p:nvPr/>
        </p:nvGrpSpPr>
        <p:grpSpPr>
          <a:xfrm>
            <a:off x="2030075" y="2465162"/>
            <a:ext cx="321044" cy="367152"/>
            <a:chOff x="3775076" y="1674813"/>
            <a:chExt cx="1193800" cy="1365250"/>
          </a:xfrm>
          <a:solidFill>
            <a:schemeClr val="accent1"/>
          </a:solidFill>
        </p:grpSpPr>
        <p:sp>
          <p:nvSpPr>
            <p:cNvPr id="135" name="Freeform 46">
              <a:extLst>
                <a:ext uri="{FF2B5EF4-FFF2-40B4-BE49-F238E27FC236}">
                  <a16:creationId xmlns:a16="http://schemas.microsoft.com/office/drawing/2014/main" id="{56EED0DF-76CF-8476-C826-4FACEE2D9D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6113" y="2243138"/>
              <a:ext cx="512763" cy="796925"/>
            </a:xfrm>
            <a:custGeom>
              <a:avLst/>
              <a:gdLst>
                <a:gd name="T0" fmla="*/ 108 w 645"/>
                <a:gd name="T1" fmla="*/ 71 h 1002"/>
                <a:gd name="T2" fmla="*/ 94 w 645"/>
                <a:gd name="T3" fmla="*/ 74 h 1002"/>
                <a:gd name="T4" fmla="*/ 82 w 645"/>
                <a:gd name="T5" fmla="*/ 82 h 1002"/>
                <a:gd name="T6" fmla="*/ 75 w 645"/>
                <a:gd name="T7" fmla="*/ 92 h 1002"/>
                <a:gd name="T8" fmla="*/ 72 w 645"/>
                <a:gd name="T9" fmla="*/ 107 h 1002"/>
                <a:gd name="T10" fmla="*/ 72 w 645"/>
                <a:gd name="T11" fmla="*/ 894 h 1002"/>
                <a:gd name="T12" fmla="*/ 75 w 645"/>
                <a:gd name="T13" fmla="*/ 909 h 1002"/>
                <a:gd name="T14" fmla="*/ 82 w 645"/>
                <a:gd name="T15" fmla="*/ 920 h 1002"/>
                <a:gd name="T16" fmla="*/ 94 w 645"/>
                <a:gd name="T17" fmla="*/ 927 h 1002"/>
                <a:gd name="T18" fmla="*/ 108 w 645"/>
                <a:gd name="T19" fmla="*/ 930 h 1002"/>
                <a:gd name="T20" fmla="*/ 537 w 645"/>
                <a:gd name="T21" fmla="*/ 930 h 1002"/>
                <a:gd name="T22" fmla="*/ 552 w 645"/>
                <a:gd name="T23" fmla="*/ 927 h 1002"/>
                <a:gd name="T24" fmla="*/ 562 w 645"/>
                <a:gd name="T25" fmla="*/ 920 h 1002"/>
                <a:gd name="T26" fmla="*/ 570 w 645"/>
                <a:gd name="T27" fmla="*/ 909 h 1002"/>
                <a:gd name="T28" fmla="*/ 573 w 645"/>
                <a:gd name="T29" fmla="*/ 894 h 1002"/>
                <a:gd name="T30" fmla="*/ 573 w 645"/>
                <a:gd name="T31" fmla="*/ 107 h 1002"/>
                <a:gd name="T32" fmla="*/ 570 w 645"/>
                <a:gd name="T33" fmla="*/ 92 h 1002"/>
                <a:gd name="T34" fmla="*/ 562 w 645"/>
                <a:gd name="T35" fmla="*/ 82 h 1002"/>
                <a:gd name="T36" fmla="*/ 552 w 645"/>
                <a:gd name="T37" fmla="*/ 74 h 1002"/>
                <a:gd name="T38" fmla="*/ 537 w 645"/>
                <a:gd name="T39" fmla="*/ 71 h 1002"/>
                <a:gd name="T40" fmla="*/ 108 w 645"/>
                <a:gd name="T41" fmla="*/ 71 h 1002"/>
                <a:gd name="T42" fmla="*/ 108 w 645"/>
                <a:gd name="T43" fmla="*/ 0 h 1002"/>
                <a:gd name="T44" fmla="*/ 537 w 645"/>
                <a:gd name="T45" fmla="*/ 0 h 1002"/>
                <a:gd name="T46" fmla="*/ 565 w 645"/>
                <a:gd name="T47" fmla="*/ 3 h 1002"/>
                <a:gd name="T48" fmla="*/ 591 w 645"/>
                <a:gd name="T49" fmla="*/ 15 h 1002"/>
                <a:gd name="T50" fmla="*/ 613 w 645"/>
                <a:gd name="T51" fmla="*/ 31 h 1002"/>
                <a:gd name="T52" fmla="*/ 630 w 645"/>
                <a:gd name="T53" fmla="*/ 53 h 1002"/>
                <a:gd name="T54" fmla="*/ 642 w 645"/>
                <a:gd name="T55" fmla="*/ 79 h 1002"/>
                <a:gd name="T56" fmla="*/ 645 w 645"/>
                <a:gd name="T57" fmla="*/ 107 h 1002"/>
                <a:gd name="T58" fmla="*/ 645 w 645"/>
                <a:gd name="T59" fmla="*/ 894 h 1002"/>
                <a:gd name="T60" fmla="*/ 642 w 645"/>
                <a:gd name="T61" fmla="*/ 923 h 1002"/>
                <a:gd name="T62" fmla="*/ 630 w 645"/>
                <a:gd name="T63" fmla="*/ 950 h 1002"/>
                <a:gd name="T64" fmla="*/ 613 w 645"/>
                <a:gd name="T65" fmla="*/ 971 h 1002"/>
                <a:gd name="T66" fmla="*/ 591 w 645"/>
                <a:gd name="T67" fmla="*/ 987 h 1002"/>
                <a:gd name="T68" fmla="*/ 565 w 645"/>
                <a:gd name="T69" fmla="*/ 999 h 1002"/>
                <a:gd name="T70" fmla="*/ 537 w 645"/>
                <a:gd name="T71" fmla="*/ 1002 h 1002"/>
                <a:gd name="T72" fmla="*/ 108 w 645"/>
                <a:gd name="T73" fmla="*/ 1002 h 1002"/>
                <a:gd name="T74" fmla="*/ 79 w 645"/>
                <a:gd name="T75" fmla="*/ 999 h 1002"/>
                <a:gd name="T76" fmla="*/ 54 w 645"/>
                <a:gd name="T77" fmla="*/ 987 h 1002"/>
                <a:gd name="T78" fmla="*/ 31 w 645"/>
                <a:gd name="T79" fmla="*/ 971 h 1002"/>
                <a:gd name="T80" fmla="*/ 15 w 645"/>
                <a:gd name="T81" fmla="*/ 950 h 1002"/>
                <a:gd name="T82" fmla="*/ 4 w 645"/>
                <a:gd name="T83" fmla="*/ 923 h 1002"/>
                <a:gd name="T84" fmla="*/ 0 w 645"/>
                <a:gd name="T85" fmla="*/ 894 h 1002"/>
                <a:gd name="T86" fmla="*/ 0 w 645"/>
                <a:gd name="T87" fmla="*/ 107 h 1002"/>
                <a:gd name="T88" fmla="*/ 4 w 645"/>
                <a:gd name="T89" fmla="*/ 79 h 1002"/>
                <a:gd name="T90" fmla="*/ 15 w 645"/>
                <a:gd name="T91" fmla="*/ 53 h 1002"/>
                <a:gd name="T92" fmla="*/ 31 w 645"/>
                <a:gd name="T93" fmla="*/ 31 h 1002"/>
                <a:gd name="T94" fmla="*/ 54 w 645"/>
                <a:gd name="T95" fmla="*/ 15 h 1002"/>
                <a:gd name="T96" fmla="*/ 79 w 645"/>
                <a:gd name="T97" fmla="*/ 3 h 1002"/>
                <a:gd name="T98" fmla="*/ 108 w 645"/>
                <a:gd name="T99" fmla="*/ 0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45" h="1002">
                  <a:moveTo>
                    <a:pt x="108" y="71"/>
                  </a:moveTo>
                  <a:lnTo>
                    <a:pt x="94" y="74"/>
                  </a:lnTo>
                  <a:lnTo>
                    <a:pt x="82" y="82"/>
                  </a:lnTo>
                  <a:lnTo>
                    <a:pt x="75" y="92"/>
                  </a:lnTo>
                  <a:lnTo>
                    <a:pt x="72" y="107"/>
                  </a:lnTo>
                  <a:lnTo>
                    <a:pt x="72" y="894"/>
                  </a:lnTo>
                  <a:lnTo>
                    <a:pt x="75" y="909"/>
                  </a:lnTo>
                  <a:lnTo>
                    <a:pt x="82" y="920"/>
                  </a:lnTo>
                  <a:lnTo>
                    <a:pt x="94" y="927"/>
                  </a:lnTo>
                  <a:lnTo>
                    <a:pt x="108" y="930"/>
                  </a:lnTo>
                  <a:lnTo>
                    <a:pt x="537" y="930"/>
                  </a:lnTo>
                  <a:lnTo>
                    <a:pt x="552" y="927"/>
                  </a:lnTo>
                  <a:lnTo>
                    <a:pt x="562" y="920"/>
                  </a:lnTo>
                  <a:lnTo>
                    <a:pt x="570" y="909"/>
                  </a:lnTo>
                  <a:lnTo>
                    <a:pt x="573" y="894"/>
                  </a:lnTo>
                  <a:lnTo>
                    <a:pt x="573" y="107"/>
                  </a:lnTo>
                  <a:lnTo>
                    <a:pt x="570" y="92"/>
                  </a:lnTo>
                  <a:lnTo>
                    <a:pt x="562" y="82"/>
                  </a:lnTo>
                  <a:lnTo>
                    <a:pt x="552" y="74"/>
                  </a:lnTo>
                  <a:lnTo>
                    <a:pt x="537" y="71"/>
                  </a:lnTo>
                  <a:lnTo>
                    <a:pt x="108" y="71"/>
                  </a:lnTo>
                  <a:close/>
                  <a:moveTo>
                    <a:pt x="108" y="0"/>
                  </a:moveTo>
                  <a:lnTo>
                    <a:pt x="537" y="0"/>
                  </a:lnTo>
                  <a:lnTo>
                    <a:pt x="565" y="3"/>
                  </a:lnTo>
                  <a:lnTo>
                    <a:pt x="591" y="15"/>
                  </a:lnTo>
                  <a:lnTo>
                    <a:pt x="613" y="31"/>
                  </a:lnTo>
                  <a:lnTo>
                    <a:pt x="630" y="53"/>
                  </a:lnTo>
                  <a:lnTo>
                    <a:pt x="642" y="79"/>
                  </a:lnTo>
                  <a:lnTo>
                    <a:pt x="645" y="107"/>
                  </a:lnTo>
                  <a:lnTo>
                    <a:pt x="645" y="894"/>
                  </a:lnTo>
                  <a:lnTo>
                    <a:pt x="642" y="923"/>
                  </a:lnTo>
                  <a:lnTo>
                    <a:pt x="630" y="950"/>
                  </a:lnTo>
                  <a:lnTo>
                    <a:pt x="613" y="971"/>
                  </a:lnTo>
                  <a:lnTo>
                    <a:pt x="591" y="987"/>
                  </a:lnTo>
                  <a:lnTo>
                    <a:pt x="565" y="999"/>
                  </a:lnTo>
                  <a:lnTo>
                    <a:pt x="537" y="1002"/>
                  </a:lnTo>
                  <a:lnTo>
                    <a:pt x="108" y="1002"/>
                  </a:lnTo>
                  <a:lnTo>
                    <a:pt x="79" y="999"/>
                  </a:lnTo>
                  <a:lnTo>
                    <a:pt x="54" y="987"/>
                  </a:lnTo>
                  <a:lnTo>
                    <a:pt x="31" y="971"/>
                  </a:lnTo>
                  <a:lnTo>
                    <a:pt x="15" y="950"/>
                  </a:lnTo>
                  <a:lnTo>
                    <a:pt x="4" y="923"/>
                  </a:lnTo>
                  <a:lnTo>
                    <a:pt x="0" y="894"/>
                  </a:lnTo>
                  <a:lnTo>
                    <a:pt x="0" y="107"/>
                  </a:lnTo>
                  <a:lnTo>
                    <a:pt x="4" y="79"/>
                  </a:lnTo>
                  <a:lnTo>
                    <a:pt x="15" y="53"/>
                  </a:lnTo>
                  <a:lnTo>
                    <a:pt x="31" y="31"/>
                  </a:lnTo>
                  <a:lnTo>
                    <a:pt x="54" y="15"/>
                  </a:lnTo>
                  <a:lnTo>
                    <a:pt x="79" y="3"/>
                  </a:lnTo>
                  <a:lnTo>
                    <a:pt x="1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47">
              <a:extLst>
                <a:ext uri="{FF2B5EF4-FFF2-40B4-BE49-F238E27FC236}">
                  <a16:creationId xmlns:a16="http://schemas.microsoft.com/office/drawing/2014/main" id="{B48C06A2-F4D9-F29B-A1FE-9B785D763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6113" y="2813050"/>
              <a:ext cx="512763" cy="57150"/>
            </a:xfrm>
            <a:custGeom>
              <a:avLst/>
              <a:gdLst>
                <a:gd name="T0" fmla="*/ 36 w 645"/>
                <a:gd name="T1" fmla="*/ 0 h 72"/>
                <a:gd name="T2" fmla="*/ 609 w 645"/>
                <a:gd name="T3" fmla="*/ 0 h 72"/>
                <a:gd name="T4" fmla="*/ 622 w 645"/>
                <a:gd name="T5" fmla="*/ 3 h 72"/>
                <a:gd name="T6" fmla="*/ 634 w 645"/>
                <a:gd name="T7" fmla="*/ 11 h 72"/>
                <a:gd name="T8" fmla="*/ 642 w 645"/>
                <a:gd name="T9" fmla="*/ 21 h 72"/>
                <a:gd name="T10" fmla="*/ 645 w 645"/>
                <a:gd name="T11" fmla="*/ 36 h 72"/>
                <a:gd name="T12" fmla="*/ 642 w 645"/>
                <a:gd name="T13" fmla="*/ 50 h 72"/>
                <a:gd name="T14" fmla="*/ 634 w 645"/>
                <a:gd name="T15" fmla="*/ 62 h 72"/>
                <a:gd name="T16" fmla="*/ 622 w 645"/>
                <a:gd name="T17" fmla="*/ 69 h 72"/>
                <a:gd name="T18" fmla="*/ 609 w 645"/>
                <a:gd name="T19" fmla="*/ 72 h 72"/>
                <a:gd name="T20" fmla="*/ 36 w 645"/>
                <a:gd name="T21" fmla="*/ 72 h 72"/>
                <a:gd name="T22" fmla="*/ 22 w 645"/>
                <a:gd name="T23" fmla="*/ 69 h 72"/>
                <a:gd name="T24" fmla="*/ 10 w 645"/>
                <a:gd name="T25" fmla="*/ 62 h 72"/>
                <a:gd name="T26" fmla="*/ 3 w 645"/>
                <a:gd name="T27" fmla="*/ 50 h 72"/>
                <a:gd name="T28" fmla="*/ 0 w 645"/>
                <a:gd name="T29" fmla="*/ 36 h 72"/>
                <a:gd name="T30" fmla="*/ 3 w 645"/>
                <a:gd name="T31" fmla="*/ 21 h 72"/>
                <a:gd name="T32" fmla="*/ 10 w 645"/>
                <a:gd name="T33" fmla="*/ 11 h 72"/>
                <a:gd name="T34" fmla="*/ 22 w 645"/>
                <a:gd name="T35" fmla="*/ 3 h 72"/>
                <a:gd name="T36" fmla="*/ 36 w 645"/>
                <a:gd name="T3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45" h="72">
                  <a:moveTo>
                    <a:pt x="36" y="0"/>
                  </a:moveTo>
                  <a:lnTo>
                    <a:pt x="609" y="0"/>
                  </a:lnTo>
                  <a:lnTo>
                    <a:pt x="622" y="3"/>
                  </a:lnTo>
                  <a:lnTo>
                    <a:pt x="634" y="11"/>
                  </a:lnTo>
                  <a:lnTo>
                    <a:pt x="642" y="21"/>
                  </a:lnTo>
                  <a:lnTo>
                    <a:pt x="645" y="36"/>
                  </a:lnTo>
                  <a:lnTo>
                    <a:pt x="642" y="50"/>
                  </a:lnTo>
                  <a:lnTo>
                    <a:pt x="634" y="62"/>
                  </a:lnTo>
                  <a:lnTo>
                    <a:pt x="622" y="69"/>
                  </a:lnTo>
                  <a:lnTo>
                    <a:pt x="609" y="72"/>
                  </a:lnTo>
                  <a:lnTo>
                    <a:pt x="36" y="72"/>
                  </a:lnTo>
                  <a:lnTo>
                    <a:pt x="22" y="69"/>
                  </a:lnTo>
                  <a:lnTo>
                    <a:pt x="10" y="62"/>
                  </a:lnTo>
                  <a:lnTo>
                    <a:pt x="3" y="50"/>
                  </a:lnTo>
                  <a:lnTo>
                    <a:pt x="0" y="36"/>
                  </a:lnTo>
                  <a:lnTo>
                    <a:pt x="3" y="21"/>
                  </a:lnTo>
                  <a:lnTo>
                    <a:pt x="10" y="11"/>
                  </a:lnTo>
                  <a:lnTo>
                    <a:pt x="22" y="3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48">
              <a:extLst>
                <a:ext uri="{FF2B5EF4-FFF2-40B4-BE49-F238E27FC236}">
                  <a16:creationId xmlns:a16="http://schemas.microsoft.com/office/drawing/2014/main" id="{333F2BE5-DB01-D2CA-9572-6278C795E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4713" y="2897188"/>
              <a:ext cx="57150" cy="57150"/>
            </a:xfrm>
            <a:custGeom>
              <a:avLst/>
              <a:gdLst>
                <a:gd name="T0" fmla="*/ 36 w 72"/>
                <a:gd name="T1" fmla="*/ 0 h 71"/>
                <a:gd name="T2" fmla="*/ 50 w 72"/>
                <a:gd name="T3" fmla="*/ 3 h 71"/>
                <a:gd name="T4" fmla="*/ 62 w 72"/>
                <a:gd name="T5" fmla="*/ 10 h 71"/>
                <a:gd name="T6" fmla="*/ 69 w 72"/>
                <a:gd name="T7" fmla="*/ 22 h 71"/>
                <a:gd name="T8" fmla="*/ 72 w 72"/>
                <a:gd name="T9" fmla="*/ 36 h 71"/>
                <a:gd name="T10" fmla="*/ 69 w 72"/>
                <a:gd name="T11" fmla="*/ 51 h 71"/>
                <a:gd name="T12" fmla="*/ 62 w 72"/>
                <a:gd name="T13" fmla="*/ 61 h 71"/>
                <a:gd name="T14" fmla="*/ 50 w 72"/>
                <a:gd name="T15" fmla="*/ 68 h 71"/>
                <a:gd name="T16" fmla="*/ 36 w 72"/>
                <a:gd name="T17" fmla="*/ 71 h 71"/>
                <a:gd name="T18" fmla="*/ 21 w 72"/>
                <a:gd name="T19" fmla="*/ 68 h 71"/>
                <a:gd name="T20" fmla="*/ 11 w 72"/>
                <a:gd name="T21" fmla="*/ 61 h 71"/>
                <a:gd name="T22" fmla="*/ 3 w 72"/>
                <a:gd name="T23" fmla="*/ 51 h 71"/>
                <a:gd name="T24" fmla="*/ 0 w 72"/>
                <a:gd name="T25" fmla="*/ 36 h 71"/>
                <a:gd name="T26" fmla="*/ 3 w 72"/>
                <a:gd name="T27" fmla="*/ 22 h 71"/>
                <a:gd name="T28" fmla="*/ 11 w 72"/>
                <a:gd name="T29" fmla="*/ 10 h 71"/>
                <a:gd name="T30" fmla="*/ 21 w 72"/>
                <a:gd name="T31" fmla="*/ 3 h 71"/>
                <a:gd name="T32" fmla="*/ 36 w 72"/>
                <a:gd name="T3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2" h="71">
                  <a:moveTo>
                    <a:pt x="36" y="0"/>
                  </a:moveTo>
                  <a:lnTo>
                    <a:pt x="50" y="3"/>
                  </a:lnTo>
                  <a:lnTo>
                    <a:pt x="62" y="10"/>
                  </a:lnTo>
                  <a:lnTo>
                    <a:pt x="69" y="22"/>
                  </a:lnTo>
                  <a:lnTo>
                    <a:pt x="72" y="36"/>
                  </a:lnTo>
                  <a:lnTo>
                    <a:pt x="69" y="51"/>
                  </a:lnTo>
                  <a:lnTo>
                    <a:pt x="62" y="61"/>
                  </a:lnTo>
                  <a:lnTo>
                    <a:pt x="50" y="68"/>
                  </a:lnTo>
                  <a:lnTo>
                    <a:pt x="36" y="71"/>
                  </a:lnTo>
                  <a:lnTo>
                    <a:pt x="21" y="68"/>
                  </a:lnTo>
                  <a:lnTo>
                    <a:pt x="11" y="61"/>
                  </a:lnTo>
                  <a:lnTo>
                    <a:pt x="3" y="51"/>
                  </a:lnTo>
                  <a:lnTo>
                    <a:pt x="0" y="36"/>
                  </a:lnTo>
                  <a:lnTo>
                    <a:pt x="3" y="22"/>
                  </a:lnTo>
                  <a:lnTo>
                    <a:pt x="11" y="10"/>
                  </a:lnTo>
                  <a:lnTo>
                    <a:pt x="21" y="3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49">
              <a:extLst>
                <a:ext uri="{FF2B5EF4-FFF2-40B4-BE49-F238E27FC236}">
                  <a16:creationId xmlns:a16="http://schemas.microsoft.com/office/drawing/2014/main" id="{D03B0ABE-E811-A451-A5C7-DEECA16852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3501" y="1674813"/>
              <a:ext cx="593725" cy="533400"/>
            </a:xfrm>
            <a:custGeom>
              <a:avLst/>
              <a:gdLst>
                <a:gd name="T0" fmla="*/ 120 w 748"/>
                <a:gd name="T1" fmla="*/ 87 h 672"/>
                <a:gd name="T2" fmla="*/ 99 w 748"/>
                <a:gd name="T3" fmla="*/ 129 h 672"/>
                <a:gd name="T4" fmla="*/ 84 w 748"/>
                <a:gd name="T5" fmla="*/ 172 h 672"/>
                <a:gd name="T6" fmla="*/ 75 w 748"/>
                <a:gd name="T7" fmla="*/ 217 h 672"/>
                <a:gd name="T8" fmla="*/ 72 w 748"/>
                <a:gd name="T9" fmla="*/ 263 h 672"/>
                <a:gd name="T10" fmla="*/ 75 w 748"/>
                <a:gd name="T11" fmla="*/ 310 h 672"/>
                <a:gd name="T12" fmla="*/ 84 w 748"/>
                <a:gd name="T13" fmla="*/ 353 h 672"/>
                <a:gd name="T14" fmla="*/ 99 w 748"/>
                <a:gd name="T15" fmla="*/ 395 h 672"/>
                <a:gd name="T16" fmla="*/ 120 w 748"/>
                <a:gd name="T17" fmla="*/ 434 h 672"/>
                <a:gd name="T18" fmla="*/ 144 w 748"/>
                <a:gd name="T19" fmla="*/ 470 h 672"/>
                <a:gd name="T20" fmla="*/ 174 w 748"/>
                <a:gd name="T21" fmla="*/ 503 h 672"/>
                <a:gd name="T22" fmla="*/ 208 w 748"/>
                <a:gd name="T23" fmla="*/ 533 h 672"/>
                <a:gd name="T24" fmla="*/ 255 w 748"/>
                <a:gd name="T25" fmla="*/ 561 h 672"/>
                <a:gd name="T26" fmla="*/ 302 w 748"/>
                <a:gd name="T27" fmla="*/ 582 h 672"/>
                <a:gd name="T28" fmla="*/ 353 w 748"/>
                <a:gd name="T29" fmla="*/ 595 h 672"/>
                <a:gd name="T30" fmla="*/ 407 w 748"/>
                <a:gd name="T31" fmla="*/ 601 h 672"/>
                <a:gd name="T32" fmla="*/ 460 w 748"/>
                <a:gd name="T33" fmla="*/ 597 h 672"/>
                <a:gd name="T34" fmla="*/ 506 w 748"/>
                <a:gd name="T35" fmla="*/ 588 h 672"/>
                <a:gd name="T36" fmla="*/ 549 w 748"/>
                <a:gd name="T37" fmla="*/ 571 h 672"/>
                <a:gd name="T38" fmla="*/ 590 w 748"/>
                <a:gd name="T39" fmla="*/ 551 h 672"/>
                <a:gd name="T40" fmla="*/ 627 w 748"/>
                <a:gd name="T41" fmla="*/ 524 h 672"/>
                <a:gd name="T42" fmla="*/ 660 w 748"/>
                <a:gd name="T43" fmla="*/ 492 h 672"/>
                <a:gd name="T44" fmla="*/ 120 w 748"/>
                <a:gd name="T45" fmla="*/ 87 h 672"/>
                <a:gd name="T46" fmla="*/ 106 w 748"/>
                <a:gd name="T47" fmla="*/ 0 h 672"/>
                <a:gd name="T48" fmla="*/ 120 w 748"/>
                <a:gd name="T49" fmla="*/ 1 h 672"/>
                <a:gd name="T50" fmla="*/ 133 w 748"/>
                <a:gd name="T51" fmla="*/ 7 h 672"/>
                <a:gd name="T52" fmla="*/ 733 w 748"/>
                <a:gd name="T53" fmla="*/ 456 h 672"/>
                <a:gd name="T54" fmla="*/ 739 w 748"/>
                <a:gd name="T55" fmla="*/ 462 h 672"/>
                <a:gd name="T56" fmla="*/ 742 w 748"/>
                <a:gd name="T57" fmla="*/ 467 h 672"/>
                <a:gd name="T58" fmla="*/ 745 w 748"/>
                <a:gd name="T59" fmla="*/ 474 h 672"/>
                <a:gd name="T60" fmla="*/ 748 w 748"/>
                <a:gd name="T61" fmla="*/ 480 h 672"/>
                <a:gd name="T62" fmla="*/ 747 w 748"/>
                <a:gd name="T63" fmla="*/ 495 h 672"/>
                <a:gd name="T64" fmla="*/ 741 w 748"/>
                <a:gd name="T65" fmla="*/ 507 h 672"/>
                <a:gd name="T66" fmla="*/ 705 w 748"/>
                <a:gd name="T67" fmla="*/ 549 h 672"/>
                <a:gd name="T68" fmla="*/ 666 w 748"/>
                <a:gd name="T69" fmla="*/ 585 h 672"/>
                <a:gd name="T70" fmla="*/ 621 w 748"/>
                <a:gd name="T71" fmla="*/ 615 h 672"/>
                <a:gd name="T72" fmla="*/ 573 w 748"/>
                <a:gd name="T73" fmla="*/ 639 h 672"/>
                <a:gd name="T74" fmla="*/ 524 w 748"/>
                <a:gd name="T75" fmla="*/ 657 h 672"/>
                <a:gd name="T76" fmla="*/ 470 w 748"/>
                <a:gd name="T77" fmla="*/ 669 h 672"/>
                <a:gd name="T78" fmla="*/ 412 w 748"/>
                <a:gd name="T79" fmla="*/ 672 h 672"/>
                <a:gd name="T80" fmla="*/ 359 w 748"/>
                <a:gd name="T81" fmla="*/ 669 h 672"/>
                <a:gd name="T82" fmla="*/ 307 w 748"/>
                <a:gd name="T83" fmla="*/ 658 h 672"/>
                <a:gd name="T84" fmla="*/ 258 w 748"/>
                <a:gd name="T85" fmla="*/ 642 h 672"/>
                <a:gd name="T86" fmla="*/ 210 w 748"/>
                <a:gd name="T87" fmla="*/ 619 h 672"/>
                <a:gd name="T88" fmla="*/ 165 w 748"/>
                <a:gd name="T89" fmla="*/ 589 h 672"/>
                <a:gd name="T90" fmla="*/ 124 w 748"/>
                <a:gd name="T91" fmla="*/ 555 h 672"/>
                <a:gd name="T92" fmla="*/ 88 w 748"/>
                <a:gd name="T93" fmla="*/ 515 h 672"/>
                <a:gd name="T94" fmla="*/ 57 w 748"/>
                <a:gd name="T95" fmla="*/ 471 h 672"/>
                <a:gd name="T96" fmla="*/ 33 w 748"/>
                <a:gd name="T97" fmla="*/ 423 h 672"/>
                <a:gd name="T98" fmla="*/ 15 w 748"/>
                <a:gd name="T99" fmla="*/ 372 h 672"/>
                <a:gd name="T100" fmla="*/ 5 w 748"/>
                <a:gd name="T101" fmla="*/ 320 h 672"/>
                <a:gd name="T102" fmla="*/ 0 w 748"/>
                <a:gd name="T103" fmla="*/ 265 h 672"/>
                <a:gd name="T104" fmla="*/ 3 w 748"/>
                <a:gd name="T105" fmla="*/ 212 h 672"/>
                <a:gd name="T106" fmla="*/ 14 w 748"/>
                <a:gd name="T107" fmla="*/ 160 h 672"/>
                <a:gd name="T108" fmla="*/ 30 w 748"/>
                <a:gd name="T109" fmla="*/ 109 h 672"/>
                <a:gd name="T110" fmla="*/ 53 w 748"/>
                <a:gd name="T111" fmla="*/ 60 h 672"/>
                <a:gd name="T112" fmla="*/ 82 w 748"/>
                <a:gd name="T113" fmla="*/ 15 h 672"/>
                <a:gd name="T114" fmla="*/ 93 w 748"/>
                <a:gd name="T115" fmla="*/ 4 h 672"/>
                <a:gd name="T116" fmla="*/ 106 w 748"/>
                <a:gd name="T11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8" h="672">
                  <a:moveTo>
                    <a:pt x="120" y="87"/>
                  </a:moveTo>
                  <a:lnTo>
                    <a:pt x="99" y="129"/>
                  </a:lnTo>
                  <a:lnTo>
                    <a:pt x="84" y="172"/>
                  </a:lnTo>
                  <a:lnTo>
                    <a:pt x="75" y="217"/>
                  </a:lnTo>
                  <a:lnTo>
                    <a:pt x="72" y="263"/>
                  </a:lnTo>
                  <a:lnTo>
                    <a:pt x="75" y="310"/>
                  </a:lnTo>
                  <a:lnTo>
                    <a:pt x="84" y="353"/>
                  </a:lnTo>
                  <a:lnTo>
                    <a:pt x="99" y="395"/>
                  </a:lnTo>
                  <a:lnTo>
                    <a:pt x="120" y="434"/>
                  </a:lnTo>
                  <a:lnTo>
                    <a:pt x="144" y="470"/>
                  </a:lnTo>
                  <a:lnTo>
                    <a:pt x="174" y="503"/>
                  </a:lnTo>
                  <a:lnTo>
                    <a:pt x="208" y="533"/>
                  </a:lnTo>
                  <a:lnTo>
                    <a:pt x="255" y="561"/>
                  </a:lnTo>
                  <a:lnTo>
                    <a:pt x="302" y="582"/>
                  </a:lnTo>
                  <a:lnTo>
                    <a:pt x="353" y="595"/>
                  </a:lnTo>
                  <a:lnTo>
                    <a:pt x="407" y="601"/>
                  </a:lnTo>
                  <a:lnTo>
                    <a:pt x="460" y="597"/>
                  </a:lnTo>
                  <a:lnTo>
                    <a:pt x="506" y="588"/>
                  </a:lnTo>
                  <a:lnTo>
                    <a:pt x="549" y="571"/>
                  </a:lnTo>
                  <a:lnTo>
                    <a:pt x="590" y="551"/>
                  </a:lnTo>
                  <a:lnTo>
                    <a:pt x="627" y="524"/>
                  </a:lnTo>
                  <a:lnTo>
                    <a:pt x="660" y="492"/>
                  </a:lnTo>
                  <a:lnTo>
                    <a:pt x="120" y="87"/>
                  </a:lnTo>
                  <a:close/>
                  <a:moveTo>
                    <a:pt x="106" y="0"/>
                  </a:moveTo>
                  <a:lnTo>
                    <a:pt x="120" y="1"/>
                  </a:lnTo>
                  <a:lnTo>
                    <a:pt x="133" y="7"/>
                  </a:lnTo>
                  <a:lnTo>
                    <a:pt x="733" y="456"/>
                  </a:lnTo>
                  <a:lnTo>
                    <a:pt x="739" y="462"/>
                  </a:lnTo>
                  <a:lnTo>
                    <a:pt x="742" y="467"/>
                  </a:lnTo>
                  <a:lnTo>
                    <a:pt x="745" y="474"/>
                  </a:lnTo>
                  <a:lnTo>
                    <a:pt x="748" y="480"/>
                  </a:lnTo>
                  <a:lnTo>
                    <a:pt x="747" y="495"/>
                  </a:lnTo>
                  <a:lnTo>
                    <a:pt x="741" y="507"/>
                  </a:lnTo>
                  <a:lnTo>
                    <a:pt x="705" y="549"/>
                  </a:lnTo>
                  <a:lnTo>
                    <a:pt x="666" y="585"/>
                  </a:lnTo>
                  <a:lnTo>
                    <a:pt x="621" y="615"/>
                  </a:lnTo>
                  <a:lnTo>
                    <a:pt x="573" y="639"/>
                  </a:lnTo>
                  <a:lnTo>
                    <a:pt x="524" y="657"/>
                  </a:lnTo>
                  <a:lnTo>
                    <a:pt x="470" y="669"/>
                  </a:lnTo>
                  <a:lnTo>
                    <a:pt x="412" y="672"/>
                  </a:lnTo>
                  <a:lnTo>
                    <a:pt x="359" y="669"/>
                  </a:lnTo>
                  <a:lnTo>
                    <a:pt x="307" y="658"/>
                  </a:lnTo>
                  <a:lnTo>
                    <a:pt x="258" y="642"/>
                  </a:lnTo>
                  <a:lnTo>
                    <a:pt x="210" y="619"/>
                  </a:lnTo>
                  <a:lnTo>
                    <a:pt x="165" y="589"/>
                  </a:lnTo>
                  <a:lnTo>
                    <a:pt x="124" y="555"/>
                  </a:lnTo>
                  <a:lnTo>
                    <a:pt x="88" y="515"/>
                  </a:lnTo>
                  <a:lnTo>
                    <a:pt x="57" y="471"/>
                  </a:lnTo>
                  <a:lnTo>
                    <a:pt x="33" y="423"/>
                  </a:lnTo>
                  <a:lnTo>
                    <a:pt x="15" y="372"/>
                  </a:lnTo>
                  <a:lnTo>
                    <a:pt x="5" y="320"/>
                  </a:lnTo>
                  <a:lnTo>
                    <a:pt x="0" y="265"/>
                  </a:lnTo>
                  <a:lnTo>
                    <a:pt x="3" y="212"/>
                  </a:lnTo>
                  <a:lnTo>
                    <a:pt x="14" y="160"/>
                  </a:lnTo>
                  <a:lnTo>
                    <a:pt x="30" y="109"/>
                  </a:lnTo>
                  <a:lnTo>
                    <a:pt x="53" y="60"/>
                  </a:lnTo>
                  <a:lnTo>
                    <a:pt x="82" y="15"/>
                  </a:lnTo>
                  <a:lnTo>
                    <a:pt x="93" y="4"/>
                  </a:lnTo>
                  <a:lnTo>
                    <a:pt x="1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50">
              <a:extLst>
                <a:ext uri="{FF2B5EF4-FFF2-40B4-BE49-F238E27FC236}">
                  <a16:creationId xmlns:a16="http://schemas.microsoft.com/office/drawing/2014/main" id="{0C594808-8654-5BAD-99D5-B3018FE1E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1951" y="1744663"/>
              <a:ext cx="138113" cy="165100"/>
            </a:xfrm>
            <a:custGeom>
              <a:avLst/>
              <a:gdLst>
                <a:gd name="T0" fmla="*/ 134 w 175"/>
                <a:gd name="T1" fmla="*/ 0 h 208"/>
                <a:gd name="T2" fmla="*/ 148 w 175"/>
                <a:gd name="T3" fmla="*/ 0 h 208"/>
                <a:gd name="T4" fmla="*/ 160 w 175"/>
                <a:gd name="T5" fmla="*/ 6 h 208"/>
                <a:gd name="T6" fmla="*/ 170 w 175"/>
                <a:gd name="T7" fmla="*/ 17 h 208"/>
                <a:gd name="T8" fmla="*/ 175 w 175"/>
                <a:gd name="T9" fmla="*/ 30 h 208"/>
                <a:gd name="T10" fmla="*/ 173 w 175"/>
                <a:gd name="T11" fmla="*/ 44 h 208"/>
                <a:gd name="T12" fmla="*/ 167 w 175"/>
                <a:gd name="T13" fmla="*/ 57 h 208"/>
                <a:gd name="T14" fmla="*/ 64 w 175"/>
                <a:gd name="T15" fmla="*/ 195 h 208"/>
                <a:gd name="T16" fmla="*/ 57 w 175"/>
                <a:gd name="T17" fmla="*/ 202 h 208"/>
                <a:gd name="T18" fmla="*/ 46 w 175"/>
                <a:gd name="T19" fmla="*/ 207 h 208"/>
                <a:gd name="T20" fmla="*/ 36 w 175"/>
                <a:gd name="T21" fmla="*/ 208 h 208"/>
                <a:gd name="T22" fmla="*/ 28 w 175"/>
                <a:gd name="T23" fmla="*/ 208 h 208"/>
                <a:gd name="T24" fmla="*/ 21 w 175"/>
                <a:gd name="T25" fmla="*/ 205 h 208"/>
                <a:gd name="T26" fmla="*/ 15 w 175"/>
                <a:gd name="T27" fmla="*/ 202 h 208"/>
                <a:gd name="T28" fmla="*/ 4 w 175"/>
                <a:gd name="T29" fmla="*/ 192 h 208"/>
                <a:gd name="T30" fmla="*/ 0 w 175"/>
                <a:gd name="T31" fmla="*/ 178 h 208"/>
                <a:gd name="T32" fmla="*/ 1 w 175"/>
                <a:gd name="T33" fmla="*/ 165 h 208"/>
                <a:gd name="T34" fmla="*/ 7 w 175"/>
                <a:gd name="T35" fmla="*/ 151 h 208"/>
                <a:gd name="T36" fmla="*/ 110 w 175"/>
                <a:gd name="T37" fmla="*/ 14 h 208"/>
                <a:gd name="T38" fmla="*/ 121 w 175"/>
                <a:gd name="T39" fmla="*/ 5 h 208"/>
                <a:gd name="T40" fmla="*/ 134 w 175"/>
                <a:gd name="T41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5" h="208">
                  <a:moveTo>
                    <a:pt x="134" y="0"/>
                  </a:moveTo>
                  <a:lnTo>
                    <a:pt x="148" y="0"/>
                  </a:lnTo>
                  <a:lnTo>
                    <a:pt x="160" y="6"/>
                  </a:lnTo>
                  <a:lnTo>
                    <a:pt x="170" y="17"/>
                  </a:lnTo>
                  <a:lnTo>
                    <a:pt x="175" y="30"/>
                  </a:lnTo>
                  <a:lnTo>
                    <a:pt x="173" y="44"/>
                  </a:lnTo>
                  <a:lnTo>
                    <a:pt x="167" y="57"/>
                  </a:lnTo>
                  <a:lnTo>
                    <a:pt x="64" y="195"/>
                  </a:lnTo>
                  <a:lnTo>
                    <a:pt x="57" y="202"/>
                  </a:lnTo>
                  <a:lnTo>
                    <a:pt x="46" y="207"/>
                  </a:lnTo>
                  <a:lnTo>
                    <a:pt x="36" y="208"/>
                  </a:lnTo>
                  <a:lnTo>
                    <a:pt x="28" y="208"/>
                  </a:lnTo>
                  <a:lnTo>
                    <a:pt x="21" y="205"/>
                  </a:lnTo>
                  <a:lnTo>
                    <a:pt x="15" y="202"/>
                  </a:lnTo>
                  <a:lnTo>
                    <a:pt x="4" y="192"/>
                  </a:lnTo>
                  <a:lnTo>
                    <a:pt x="0" y="178"/>
                  </a:lnTo>
                  <a:lnTo>
                    <a:pt x="1" y="165"/>
                  </a:lnTo>
                  <a:lnTo>
                    <a:pt x="7" y="151"/>
                  </a:lnTo>
                  <a:lnTo>
                    <a:pt x="110" y="14"/>
                  </a:lnTo>
                  <a:lnTo>
                    <a:pt x="121" y="5"/>
                  </a:lnTo>
                  <a:lnTo>
                    <a:pt x="1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51">
              <a:extLst>
                <a:ext uri="{FF2B5EF4-FFF2-40B4-BE49-F238E27FC236}">
                  <a16:creationId xmlns:a16="http://schemas.microsoft.com/office/drawing/2014/main" id="{717FB646-AEC8-6819-7AE9-9C7870A62B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6" y="2068513"/>
              <a:ext cx="436563" cy="288925"/>
            </a:xfrm>
            <a:custGeom>
              <a:avLst/>
              <a:gdLst>
                <a:gd name="T0" fmla="*/ 275 w 551"/>
                <a:gd name="T1" fmla="*/ 91 h 363"/>
                <a:gd name="T2" fmla="*/ 111 w 551"/>
                <a:gd name="T3" fmla="*/ 291 h 363"/>
                <a:gd name="T4" fmla="*/ 440 w 551"/>
                <a:gd name="T5" fmla="*/ 291 h 363"/>
                <a:gd name="T6" fmla="*/ 275 w 551"/>
                <a:gd name="T7" fmla="*/ 91 h 363"/>
                <a:gd name="T8" fmla="*/ 275 w 551"/>
                <a:gd name="T9" fmla="*/ 0 h 363"/>
                <a:gd name="T10" fmla="*/ 290 w 551"/>
                <a:gd name="T11" fmla="*/ 3 h 363"/>
                <a:gd name="T12" fmla="*/ 304 w 551"/>
                <a:gd name="T13" fmla="*/ 12 h 363"/>
                <a:gd name="T14" fmla="*/ 543 w 551"/>
                <a:gd name="T15" fmla="*/ 305 h 363"/>
                <a:gd name="T16" fmla="*/ 549 w 551"/>
                <a:gd name="T17" fmla="*/ 315 h 363"/>
                <a:gd name="T18" fmla="*/ 551 w 551"/>
                <a:gd name="T19" fmla="*/ 329 h 363"/>
                <a:gd name="T20" fmla="*/ 548 w 551"/>
                <a:gd name="T21" fmla="*/ 342 h 363"/>
                <a:gd name="T22" fmla="*/ 540 w 551"/>
                <a:gd name="T23" fmla="*/ 353 h 363"/>
                <a:gd name="T24" fmla="*/ 528 w 551"/>
                <a:gd name="T25" fmla="*/ 360 h 363"/>
                <a:gd name="T26" fmla="*/ 515 w 551"/>
                <a:gd name="T27" fmla="*/ 363 h 363"/>
                <a:gd name="T28" fmla="*/ 36 w 551"/>
                <a:gd name="T29" fmla="*/ 363 h 363"/>
                <a:gd name="T30" fmla="*/ 22 w 551"/>
                <a:gd name="T31" fmla="*/ 360 h 363"/>
                <a:gd name="T32" fmla="*/ 12 w 551"/>
                <a:gd name="T33" fmla="*/ 353 h 363"/>
                <a:gd name="T34" fmla="*/ 3 w 551"/>
                <a:gd name="T35" fmla="*/ 342 h 363"/>
                <a:gd name="T36" fmla="*/ 0 w 551"/>
                <a:gd name="T37" fmla="*/ 329 h 363"/>
                <a:gd name="T38" fmla="*/ 1 w 551"/>
                <a:gd name="T39" fmla="*/ 315 h 363"/>
                <a:gd name="T40" fmla="*/ 7 w 551"/>
                <a:gd name="T41" fmla="*/ 305 h 363"/>
                <a:gd name="T42" fmla="*/ 248 w 551"/>
                <a:gd name="T43" fmla="*/ 12 h 363"/>
                <a:gd name="T44" fmla="*/ 260 w 551"/>
                <a:gd name="T45" fmla="*/ 3 h 363"/>
                <a:gd name="T46" fmla="*/ 275 w 551"/>
                <a:gd name="T47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1" h="363">
                  <a:moveTo>
                    <a:pt x="275" y="91"/>
                  </a:moveTo>
                  <a:lnTo>
                    <a:pt x="111" y="291"/>
                  </a:lnTo>
                  <a:lnTo>
                    <a:pt x="440" y="291"/>
                  </a:lnTo>
                  <a:lnTo>
                    <a:pt x="275" y="91"/>
                  </a:lnTo>
                  <a:close/>
                  <a:moveTo>
                    <a:pt x="275" y="0"/>
                  </a:moveTo>
                  <a:lnTo>
                    <a:pt x="290" y="3"/>
                  </a:lnTo>
                  <a:lnTo>
                    <a:pt x="304" y="12"/>
                  </a:lnTo>
                  <a:lnTo>
                    <a:pt x="543" y="305"/>
                  </a:lnTo>
                  <a:lnTo>
                    <a:pt x="549" y="315"/>
                  </a:lnTo>
                  <a:lnTo>
                    <a:pt x="551" y="329"/>
                  </a:lnTo>
                  <a:lnTo>
                    <a:pt x="548" y="342"/>
                  </a:lnTo>
                  <a:lnTo>
                    <a:pt x="540" y="353"/>
                  </a:lnTo>
                  <a:lnTo>
                    <a:pt x="528" y="360"/>
                  </a:lnTo>
                  <a:lnTo>
                    <a:pt x="515" y="363"/>
                  </a:lnTo>
                  <a:lnTo>
                    <a:pt x="36" y="363"/>
                  </a:lnTo>
                  <a:lnTo>
                    <a:pt x="22" y="360"/>
                  </a:lnTo>
                  <a:lnTo>
                    <a:pt x="12" y="353"/>
                  </a:lnTo>
                  <a:lnTo>
                    <a:pt x="3" y="342"/>
                  </a:lnTo>
                  <a:lnTo>
                    <a:pt x="0" y="329"/>
                  </a:lnTo>
                  <a:lnTo>
                    <a:pt x="1" y="315"/>
                  </a:lnTo>
                  <a:lnTo>
                    <a:pt x="7" y="305"/>
                  </a:lnTo>
                  <a:lnTo>
                    <a:pt x="248" y="12"/>
                  </a:lnTo>
                  <a:lnTo>
                    <a:pt x="260" y="3"/>
                  </a:lnTo>
                  <a:lnTo>
                    <a:pt x="2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52">
              <a:extLst>
                <a:ext uri="{FF2B5EF4-FFF2-40B4-BE49-F238E27FC236}">
                  <a16:creationId xmlns:a16="http://schemas.microsoft.com/office/drawing/2014/main" id="{3E8E1259-09E7-96B3-FDCA-2DD09D496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538" y="1846263"/>
              <a:ext cx="427038" cy="339725"/>
            </a:xfrm>
            <a:custGeom>
              <a:avLst/>
              <a:gdLst>
                <a:gd name="T0" fmla="*/ 36 w 537"/>
                <a:gd name="T1" fmla="*/ 0 h 430"/>
                <a:gd name="T2" fmla="*/ 501 w 537"/>
                <a:gd name="T3" fmla="*/ 0 h 430"/>
                <a:gd name="T4" fmla="*/ 516 w 537"/>
                <a:gd name="T5" fmla="*/ 3 h 430"/>
                <a:gd name="T6" fmla="*/ 527 w 537"/>
                <a:gd name="T7" fmla="*/ 11 h 430"/>
                <a:gd name="T8" fmla="*/ 534 w 537"/>
                <a:gd name="T9" fmla="*/ 21 h 430"/>
                <a:gd name="T10" fmla="*/ 537 w 537"/>
                <a:gd name="T11" fmla="*/ 36 h 430"/>
                <a:gd name="T12" fmla="*/ 537 w 537"/>
                <a:gd name="T13" fmla="*/ 394 h 430"/>
                <a:gd name="T14" fmla="*/ 534 w 537"/>
                <a:gd name="T15" fmla="*/ 407 h 430"/>
                <a:gd name="T16" fmla="*/ 527 w 537"/>
                <a:gd name="T17" fmla="*/ 419 h 430"/>
                <a:gd name="T18" fmla="*/ 516 w 537"/>
                <a:gd name="T19" fmla="*/ 427 h 430"/>
                <a:gd name="T20" fmla="*/ 501 w 537"/>
                <a:gd name="T21" fmla="*/ 430 h 430"/>
                <a:gd name="T22" fmla="*/ 488 w 537"/>
                <a:gd name="T23" fmla="*/ 427 h 430"/>
                <a:gd name="T24" fmla="*/ 476 w 537"/>
                <a:gd name="T25" fmla="*/ 419 h 430"/>
                <a:gd name="T26" fmla="*/ 468 w 537"/>
                <a:gd name="T27" fmla="*/ 407 h 430"/>
                <a:gd name="T28" fmla="*/ 465 w 537"/>
                <a:gd name="T29" fmla="*/ 394 h 430"/>
                <a:gd name="T30" fmla="*/ 465 w 537"/>
                <a:gd name="T31" fmla="*/ 72 h 430"/>
                <a:gd name="T32" fmla="*/ 36 w 537"/>
                <a:gd name="T33" fmla="*/ 72 h 430"/>
                <a:gd name="T34" fmla="*/ 22 w 537"/>
                <a:gd name="T35" fmla="*/ 69 h 430"/>
                <a:gd name="T36" fmla="*/ 10 w 537"/>
                <a:gd name="T37" fmla="*/ 62 h 430"/>
                <a:gd name="T38" fmla="*/ 3 w 537"/>
                <a:gd name="T39" fmla="*/ 50 h 430"/>
                <a:gd name="T40" fmla="*/ 0 w 537"/>
                <a:gd name="T41" fmla="*/ 36 h 430"/>
                <a:gd name="T42" fmla="*/ 3 w 537"/>
                <a:gd name="T43" fmla="*/ 21 h 430"/>
                <a:gd name="T44" fmla="*/ 10 w 537"/>
                <a:gd name="T45" fmla="*/ 11 h 430"/>
                <a:gd name="T46" fmla="*/ 22 w 537"/>
                <a:gd name="T47" fmla="*/ 3 h 430"/>
                <a:gd name="T48" fmla="*/ 36 w 537"/>
                <a:gd name="T49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37" h="430">
                  <a:moveTo>
                    <a:pt x="36" y="0"/>
                  </a:moveTo>
                  <a:lnTo>
                    <a:pt x="501" y="0"/>
                  </a:lnTo>
                  <a:lnTo>
                    <a:pt x="516" y="3"/>
                  </a:lnTo>
                  <a:lnTo>
                    <a:pt x="527" y="11"/>
                  </a:lnTo>
                  <a:lnTo>
                    <a:pt x="534" y="21"/>
                  </a:lnTo>
                  <a:lnTo>
                    <a:pt x="537" y="36"/>
                  </a:lnTo>
                  <a:lnTo>
                    <a:pt x="537" y="394"/>
                  </a:lnTo>
                  <a:lnTo>
                    <a:pt x="534" y="407"/>
                  </a:lnTo>
                  <a:lnTo>
                    <a:pt x="527" y="419"/>
                  </a:lnTo>
                  <a:lnTo>
                    <a:pt x="516" y="427"/>
                  </a:lnTo>
                  <a:lnTo>
                    <a:pt x="501" y="430"/>
                  </a:lnTo>
                  <a:lnTo>
                    <a:pt x="488" y="427"/>
                  </a:lnTo>
                  <a:lnTo>
                    <a:pt x="476" y="419"/>
                  </a:lnTo>
                  <a:lnTo>
                    <a:pt x="468" y="407"/>
                  </a:lnTo>
                  <a:lnTo>
                    <a:pt x="465" y="394"/>
                  </a:lnTo>
                  <a:lnTo>
                    <a:pt x="465" y="72"/>
                  </a:lnTo>
                  <a:lnTo>
                    <a:pt x="36" y="72"/>
                  </a:lnTo>
                  <a:lnTo>
                    <a:pt x="22" y="69"/>
                  </a:lnTo>
                  <a:lnTo>
                    <a:pt x="10" y="62"/>
                  </a:lnTo>
                  <a:lnTo>
                    <a:pt x="3" y="50"/>
                  </a:lnTo>
                  <a:lnTo>
                    <a:pt x="0" y="36"/>
                  </a:lnTo>
                  <a:lnTo>
                    <a:pt x="3" y="21"/>
                  </a:lnTo>
                  <a:lnTo>
                    <a:pt x="10" y="11"/>
                  </a:lnTo>
                  <a:lnTo>
                    <a:pt x="22" y="3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53">
              <a:extLst>
                <a:ext uri="{FF2B5EF4-FFF2-40B4-BE49-F238E27FC236}">
                  <a16:creationId xmlns:a16="http://schemas.microsoft.com/office/drawing/2014/main" id="{006F26BB-76D1-CE18-B5DC-C91885B8A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938" y="2439988"/>
              <a:ext cx="427038" cy="430213"/>
            </a:xfrm>
            <a:custGeom>
              <a:avLst/>
              <a:gdLst>
                <a:gd name="T0" fmla="*/ 36 w 537"/>
                <a:gd name="T1" fmla="*/ 0 h 541"/>
                <a:gd name="T2" fmla="*/ 51 w 537"/>
                <a:gd name="T3" fmla="*/ 3 h 541"/>
                <a:gd name="T4" fmla="*/ 61 w 537"/>
                <a:gd name="T5" fmla="*/ 10 h 541"/>
                <a:gd name="T6" fmla="*/ 69 w 537"/>
                <a:gd name="T7" fmla="*/ 22 h 541"/>
                <a:gd name="T8" fmla="*/ 72 w 537"/>
                <a:gd name="T9" fmla="*/ 35 h 541"/>
                <a:gd name="T10" fmla="*/ 72 w 537"/>
                <a:gd name="T11" fmla="*/ 469 h 541"/>
                <a:gd name="T12" fmla="*/ 501 w 537"/>
                <a:gd name="T13" fmla="*/ 469 h 541"/>
                <a:gd name="T14" fmla="*/ 516 w 537"/>
                <a:gd name="T15" fmla="*/ 472 h 541"/>
                <a:gd name="T16" fmla="*/ 527 w 537"/>
                <a:gd name="T17" fmla="*/ 480 h 541"/>
                <a:gd name="T18" fmla="*/ 536 w 537"/>
                <a:gd name="T19" fmla="*/ 490 h 541"/>
                <a:gd name="T20" fmla="*/ 537 w 537"/>
                <a:gd name="T21" fmla="*/ 505 h 541"/>
                <a:gd name="T22" fmla="*/ 536 w 537"/>
                <a:gd name="T23" fmla="*/ 519 h 541"/>
                <a:gd name="T24" fmla="*/ 527 w 537"/>
                <a:gd name="T25" fmla="*/ 531 h 541"/>
                <a:gd name="T26" fmla="*/ 516 w 537"/>
                <a:gd name="T27" fmla="*/ 538 h 541"/>
                <a:gd name="T28" fmla="*/ 501 w 537"/>
                <a:gd name="T29" fmla="*/ 541 h 541"/>
                <a:gd name="T30" fmla="*/ 36 w 537"/>
                <a:gd name="T31" fmla="*/ 541 h 541"/>
                <a:gd name="T32" fmla="*/ 22 w 537"/>
                <a:gd name="T33" fmla="*/ 538 h 541"/>
                <a:gd name="T34" fmla="*/ 10 w 537"/>
                <a:gd name="T35" fmla="*/ 531 h 541"/>
                <a:gd name="T36" fmla="*/ 3 w 537"/>
                <a:gd name="T37" fmla="*/ 519 h 541"/>
                <a:gd name="T38" fmla="*/ 0 w 537"/>
                <a:gd name="T39" fmla="*/ 505 h 541"/>
                <a:gd name="T40" fmla="*/ 0 w 537"/>
                <a:gd name="T41" fmla="*/ 35 h 541"/>
                <a:gd name="T42" fmla="*/ 3 w 537"/>
                <a:gd name="T43" fmla="*/ 22 h 541"/>
                <a:gd name="T44" fmla="*/ 10 w 537"/>
                <a:gd name="T45" fmla="*/ 10 h 541"/>
                <a:gd name="T46" fmla="*/ 22 w 537"/>
                <a:gd name="T47" fmla="*/ 3 h 541"/>
                <a:gd name="T48" fmla="*/ 36 w 537"/>
                <a:gd name="T49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37" h="541">
                  <a:moveTo>
                    <a:pt x="36" y="0"/>
                  </a:moveTo>
                  <a:lnTo>
                    <a:pt x="51" y="3"/>
                  </a:lnTo>
                  <a:lnTo>
                    <a:pt x="61" y="10"/>
                  </a:lnTo>
                  <a:lnTo>
                    <a:pt x="69" y="22"/>
                  </a:lnTo>
                  <a:lnTo>
                    <a:pt x="72" y="35"/>
                  </a:lnTo>
                  <a:lnTo>
                    <a:pt x="72" y="469"/>
                  </a:lnTo>
                  <a:lnTo>
                    <a:pt x="501" y="469"/>
                  </a:lnTo>
                  <a:lnTo>
                    <a:pt x="516" y="472"/>
                  </a:lnTo>
                  <a:lnTo>
                    <a:pt x="527" y="480"/>
                  </a:lnTo>
                  <a:lnTo>
                    <a:pt x="536" y="490"/>
                  </a:lnTo>
                  <a:lnTo>
                    <a:pt x="537" y="505"/>
                  </a:lnTo>
                  <a:lnTo>
                    <a:pt x="536" y="519"/>
                  </a:lnTo>
                  <a:lnTo>
                    <a:pt x="527" y="531"/>
                  </a:lnTo>
                  <a:lnTo>
                    <a:pt x="516" y="538"/>
                  </a:lnTo>
                  <a:lnTo>
                    <a:pt x="501" y="541"/>
                  </a:lnTo>
                  <a:lnTo>
                    <a:pt x="36" y="541"/>
                  </a:lnTo>
                  <a:lnTo>
                    <a:pt x="22" y="538"/>
                  </a:lnTo>
                  <a:lnTo>
                    <a:pt x="10" y="531"/>
                  </a:lnTo>
                  <a:lnTo>
                    <a:pt x="3" y="519"/>
                  </a:lnTo>
                  <a:lnTo>
                    <a:pt x="0" y="505"/>
                  </a:lnTo>
                  <a:lnTo>
                    <a:pt x="0" y="35"/>
                  </a:lnTo>
                  <a:lnTo>
                    <a:pt x="3" y="22"/>
                  </a:lnTo>
                  <a:lnTo>
                    <a:pt x="10" y="10"/>
                  </a:lnTo>
                  <a:lnTo>
                    <a:pt x="22" y="3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3" name="Group 141">
            <a:extLst>
              <a:ext uri="{FF2B5EF4-FFF2-40B4-BE49-F238E27FC236}">
                <a16:creationId xmlns:a16="http://schemas.microsoft.com/office/drawing/2014/main" id="{B801DA51-7642-BE82-86BB-6460356D1A4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98062" y="3248137"/>
            <a:ext cx="402801" cy="318494"/>
            <a:chOff x="3725" y="1714"/>
            <a:chExt cx="344" cy="272"/>
          </a:xfrm>
          <a:solidFill>
            <a:schemeClr val="accent1"/>
          </a:solidFill>
        </p:grpSpPr>
        <p:sp>
          <p:nvSpPr>
            <p:cNvPr id="144" name="Freeform 142">
              <a:extLst>
                <a:ext uri="{FF2B5EF4-FFF2-40B4-BE49-F238E27FC236}">
                  <a16:creationId xmlns:a16="http://schemas.microsoft.com/office/drawing/2014/main" id="{1E72EE39-C151-D119-D916-414B9E2301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5" y="1714"/>
              <a:ext cx="344" cy="272"/>
            </a:xfrm>
            <a:custGeom>
              <a:avLst/>
              <a:gdLst>
                <a:gd name="T0" fmla="*/ 258 w 288"/>
                <a:gd name="T1" fmla="*/ 228 h 228"/>
                <a:gd name="T2" fmla="*/ 30 w 288"/>
                <a:gd name="T3" fmla="*/ 228 h 228"/>
                <a:gd name="T4" fmla="*/ 0 w 288"/>
                <a:gd name="T5" fmla="*/ 198 h 228"/>
                <a:gd name="T6" fmla="*/ 0 w 288"/>
                <a:gd name="T7" fmla="*/ 30 h 228"/>
                <a:gd name="T8" fmla="*/ 30 w 288"/>
                <a:gd name="T9" fmla="*/ 0 h 228"/>
                <a:gd name="T10" fmla="*/ 258 w 288"/>
                <a:gd name="T11" fmla="*/ 0 h 228"/>
                <a:gd name="T12" fmla="*/ 288 w 288"/>
                <a:gd name="T13" fmla="*/ 30 h 228"/>
                <a:gd name="T14" fmla="*/ 288 w 288"/>
                <a:gd name="T15" fmla="*/ 198 h 228"/>
                <a:gd name="T16" fmla="*/ 258 w 288"/>
                <a:gd name="T17" fmla="*/ 228 h 228"/>
                <a:gd name="T18" fmla="*/ 30 w 288"/>
                <a:gd name="T19" fmla="*/ 12 h 228"/>
                <a:gd name="T20" fmla="*/ 12 w 288"/>
                <a:gd name="T21" fmla="*/ 30 h 228"/>
                <a:gd name="T22" fmla="*/ 12 w 288"/>
                <a:gd name="T23" fmla="*/ 198 h 228"/>
                <a:gd name="T24" fmla="*/ 30 w 288"/>
                <a:gd name="T25" fmla="*/ 216 h 228"/>
                <a:gd name="T26" fmla="*/ 258 w 288"/>
                <a:gd name="T27" fmla="*/ 216 h 228"/>
                <a:gd name="T28" fmla="*/ 276 w 288"/>
                <a:gd name="T29" fmla="*/ 198 h 228"/>
                <a:gd name="T30" fmla="*/ 276 w 288"/>
                <a:gd name="T31" fmla="*/ 30 h 228"/>
                <a:gd name="T32" fmla="*/ 258 w 288"/>
                <a:gd name="T33" fmla="*/ 12 h 228"/>
                <a:gd name="T34" fmla="*/ 30 w 288"/>
                <a:gd name="T35" fmla="*/ 12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28">
                  <a:moveTo>
                    <a:pt x="258" y="228"/>
                  </a:moveTo>
                  <a:cubicBezTo>
                    <a:pt x="30" y="228"/>
                    <a:pt x="30" y="228"/>
                    <a:pt x="30" y="228"/>
                  </a:cubicBezTo>
                  <a:cubicBezTo>
                    <a:pt x="13" y="228"/>
                    <a:pt x="0" y="214"/>
                    <a:pt x="0" y="19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258" y="0"/>
                    <a:pt x="258" y="0"/>
                    <a:pt x="258" y="0"/>
                  </a:cubicBezTo>
                  <a:cubicBezTo>
                    <a:pt x="275" y="0"/>
                    <a:pt x="288" y="13"/>
                    <a:pt x="288" y="30"/>
                  </a:cubicBezTo>
                  <a:cubicBezTo>
                    <a:pt x="288" y="198"/>
                    <a:pt x="288" y="198"/>
                    <a:pt x="288" y="198"/>
                  </a:cubicBezTo>
                  <a:cubicBezTo>
                    <a:pt x="288" y="214"/>
                    <a:pt x="275" y="228"/>
                    <a:pt x="258" y="228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198"/>
                    <a:pt x="12" y="198"/>
                    <a:pt x="12" y="198"/>
                  </a:cubicBezTo>
                  <a:cubicBezTo>
                    <a:pt x="12" y="208"/>
                    <a:pt x="20" y="216"/>
                    <a:pt x="30" y="216"/>
                  </a:cubicBezTo>
                  <a:cubicBezTo>
                    <a:pt x="258" y="216"/>
                    <a:pt x="258" y="216"/>
                    <a:pt x="258" y="216"/>
                  </a:cubicBezTo>
                  <a:cubicBezTo>
                    <a:pt x="268" y="216"/>
                    <a:pt x="276" y="208"/>
                    <a:pt x="276" y="198"/>
                  </a:cubicBezTo>
                  <a:cubicBezTo>
                    <a:pt x="276" y="30"/>
                    <a:pt x="276" y="30"/>
                    <a:pt x="276" y="30"/>
                  </a:cubicBezTo>
                  <a:cubicBezTo>
                    <a:pt x="276" y="20"/>
                    <a:pt x="268" y="12"/>
                    <a:pt x="258" y="12"/>
                  </a:cubicBezTo>
                  <a:lnTo>
                    <a:pt x="3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5" name="Freeform 143">
              <a:extLst>
                <a:ext uri="{FF2B5EF4-FFF2-40B4-BE49-F238E27FC236}">
                  <a16:creationId xmlns:a16="http://schemas.microsoft.com/office/drawing/2014/main" id="{90430DE1-25B4-92C0-6776-A2DE93B35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" y="1786"/>
              <a:ext cx="344" cy="14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9"/>
                    <a:pt x="285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6" name="Oval 144">
              <a:extLst>
                <a:ext uri="{FF2B5EF4-FFF2-40B4-BE49-F238E27FC236}">
                  <a16:creationId xmlns:a16="http://schemas.microsoft.com/office/drawing/2014/main" id="{14CC1A7F-4CFC-AD81-214C-4E01B97A7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743"/>
              <a:ext cx="29" cy="2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7" name="Oval 145">
              <a:extLst>
                <a:ext uri="{FF2B5EF4-FFF2-40B4-BE49-F238E27FC236}">
                  <a16:creationId xmlns:a16="http://schemas.microsoft.com/office/drawing/2014/main" id="{FA176AFD-AD73-9734-C7FF-1EBD100A7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" y="1743"/>
              <a:ext cx="28" cy="2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8" name="Oval 146">
              <a:extLst>
                <a:ext uri="{FF2B5EF4-FFF2-40B4-BE49-F238E27FC236}">
                  <a16:creationId xmlns:a16="http://schemas.microsoft.com/office/drawing/2014/main" id="{F0617C27-2D70-75D2-E0AE-E7484C6AB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" y="1743"/>
              <a:ext cx="28" cy="2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9" name="Freeform 147">
              <a:extLst>
                <a:ext uri="{FF2B5EF4-FFF2-40B4-BE49-F238E27FC236}">
                  <a16:creationId xmlns:a16="http://schemas.microsoft.com/office/drawing/2014/main" id="{BDF42DA6-E968-660C-55F1-4DBD8A1FE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1830"/>
              <a:ext cx="62" cy="111"/>
            </a:xfrm>
            <a:custGeom>
              <a:avLst/>
              <a:gdLst>
                <a:gd name="T0" fmla="*/ 26 w 52"/>
                <a:gd name="T1" fmla="*/ 93 h 93"/>
                <a:gd name="T2" fmla="*/ 0 w 52"/>
                <a:gd name="T3" fmla="*/ 67 h 93"/>
                <a:gd name="T4" fmla="*/ 6 w 52"/>
                <a:gd name="T5" fmla="*/ 61 h 93"/>
                <a:gd name="T6" fmla="*/ 12 w 52"/>
                <a:gd name="T7" fmla="*/ 67 h 93"/>
                <a:gd name="T8" fmla="*/ 26 w 52"/>
                <a:gd name="T9" fmla="*/ 81 h 93"/>
                <a:gd name="T10" fmla="*/ 40 w 52"/>
                <a:gd name="T11" fmla="*/ 67 h 93"/>
                <a:gd name="T12" fmla="*/ 26 w 52"/>
                <a:gd name="T13" fmla="*/ 53 h 93"/>
                <a:gd name="T14" fmla="*/ 0 w 52"/>
                <a:gd name="T15" fmla="*/ 27 h 93"/>
                <a:gd name="T16" fmla="*/ 26 w 52"/>
                <a:gd name="T17" fmla="*/ 0 h 93"/>
                <a:gd name="T18" fmla="*/ 52 w 52"/>
                <a:gd name="T19" fmla="*/ 27 h 93"/>
                <a:gd name="T20" fmla="*/ 46 w 52"/>
                <a:gd name="T21" fmla="*/ 33 h 93"/>
                <a:gd name="T22" fmla="*/ 40 w 52"/>
                <a:gd name="T23" fmla="*/ 27 h 93"/>
                <a:gd name="T24" fmla="*/ 26 w 52"/>
                <a:gd name="T25" fmla="*/ 12 h 93"/>
                <a:gd name="T26" fmla="*/ 12 w 52"/>
                <a:gd name="T27" fmla="*/ 27 h 93"/>
                <a:gd name="T28" fmla="*/ 26 w 52"/>
                <a:gd name="T29" fmla="*/ 41 h 93"/>
                <a:gd name="T30" fmla="*/ 52 w 52"/>
                <a:gd name="T31" fmla="*/ 67 h 93"/>
                <a:gd name="T32" fmla="*/ 26 w 52"/>
                <a:gd name="T3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" h="93">
                  <a:moveTo>
                    <a:pt x="26" y="93"/>
                  </a:moveTo>
                  <a:cubicBezTo>
                    <a:pt x="12" y="93"/>
                    <a:pt x="0" y="82"/>
                    <a:pt x="0" y="67"/>
                  </a:cubicBezTo>
                  <a:cubicBezTo>
                    <a:pt x="0" y="64"/>
                    <a:pt x="2" y="61"/>
                    <a:pt x="6" y="61"/>
                  </a:cubicBezTo>
                  <a:cubicBezTo>
                    <a:pt x="9" y="61"/>
                    <a:pt x="12" y="64"/>
                    <a:pt x="12" y="67"/>
                  </a:cubicBezTo>
                  <a:cubicBezTo>
                    <a:pt x="12" y="75"/>
                    <a:pt x="18" y="81"/>
                    <a:pt x="26" y="81"/>
                  </a:cubicBezTo>
                  <a:cubicBezTo>
                    <a:pt x="34" y="81"/>
                    <a:pt x="40" y="75"/>
                    <a:pt x="40" y="67"/>
                  </a:cubicBezTo>
                  <a:cubicBezTo>
                    <a:pt x="40" y="59"/>
                    <a:pt x="34" y="53"/>
                    <a:pt x="26" y="53"/>
                  </a:cubicBez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2" y="12"/>
                    <a:pt x="52" y="27"/>
                  </a:cubicBezTo>
                  <a:cubicBezTo>
                    <a:pt x="52" y="30"/>
                    <a:pt x="50" y="33"/>
                    <a:pt x="46" y="33"/>
                  </a:cubicBezTo>
                  <a:cubicBezTo>
                    <a:pt x="43" y="33"/>
                    <a:pt x="40" y="30"/>
                    <a:pt x="40" y="27"/>
                  </a:cubicBezTo>
                  <a:cubicBezTo>
                    <a:pt x="40" y="19"/>
                    <a:pt x="34" y="12"/>
                    <a:pt x="26" y="12"/>
                  </a:cubicBezTo>
                  <a:cubicBezTo>
                    <a:pt x="18" y="12"/>
                    <a:pt x="12" y="19"/>
                    <a:pt x="12" y="27"/>
                  </a:cubicBezTo>
                  <a:cubicBezTo>
                    <a:pt x="12" y="34"/>
                    <a:pt x="18" y="41"/>
                    <a:pt x="26" y="41"/>
                  </a:cubicBezTo>
                  <a:cubicBezTo>
                    <a:pt x="41" y="41"/>
                    <a:pt x="52" y="53"/>
                    <a:pt x="52" y="67"/>
                  </a:cubicBezTo>
                  <a:cubicBezTo>
                    <a:pt x="52" y="82"/>
                    <a:pt x="41" y="93"/>
                    <a:pt x="26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0" name="Freeform 148">
              <a:extLst>
                <a:ext uri="{FF2B5EF4-FFF2-40B4-BE49-F238E27FC236}">
                  <a16:creationId xmlns:a16="http://schemas.microsoft.com/office/drawing/2014/main" id="{9A5F41A6-A378-56FF-BFF9-3D0BC2232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1927"/>
              <a:ext cx="15" cy="31"/>
            </a:xfrm>
            <a:custGeom>
              <a:avLst/>
              <a:gdLst>
                <a:gd name="T0" fmla="*/ 6 w 12"/>
                <a:gd name="T1" fmla="*/ 26 h 26"/>
                <a:gd name="T2" fmla="*/ 0 w 12"/>
                <a:gd name="T3" fmla="*/ 20 h 26"/>
                <a:gd name="T4" fmla="*/ 0 w 12"/>
                <a:gd name="T5" fmla="*/ 6 h 26"/>
                <a:gd name="T6" fmla="*/ 6 w 12"/>
                <a:gd name="T7" fmla="*/ 0 h 26"/>
                <a:gd name="T8" fmla="*/ 12 w 12"/>
                <a:gd name="T9" fmla="*/ 6 h 26"/>
                <a:gd name="T10" fmla="*/ 12 w 12"/>
                <a:gd name="T11" fmla="*/ 20 h 26"/>
                <a:gd name="T12" fmla="*/ 6 w 12"/>
                <a:gd name="T1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6">
                  <a:moveTo>
                    <a:pt x="6" y="26"/>
                  </a:moveTo>
                  <a:cubicBezTo>
                    <a:pt x="3" y="26"/>
                    <a:pt x="0" y="23"/>
                    <a:pt x="0" y="2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3"/>
                    <a:pt x="9" y="26"/>
                    <a:pt x="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1" name="Freeform 149">
              <a:extLst>
                <a:ext uri="{FF2B5EF4-FFF2-40B4-BE49-F238E27FC236}">
                  <a16:creationId xmlns:a16="http://schemas.microsoft.com/office/drawing/2014/main" id="{FE9C8E99-8A50-F1D0-3E7C-2C7530BE0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1814"/>
              <a:ext cx="15" cy="30"/>
            </a:xfrm>
            <a:custGeom>
              <a:avLst/>
              <a:gdLst>
                <a:gd name="T0" fmla="*/ 6 w 12"/>
                <a:gd name="T1" fmla="*/ 25 h 25"/>
                <a:gd name="T2" fmla="*/ 0 w 12"/>
                <a:gd name="T3" fmla="*/ 19 h 25"/>
                <a:gd name="T4" fmla="*/ 0 w 12"/>
                <a:gd name="T5" fmla="*/ 6 h 25"/>
                <a:gd name="T6" fmla="*/ 6 w 12"/>
                <a:gd name="T7" fmla="*/ 0 h 25"/>
                <a:gd name="T8" fmla="*/ 12 w 12"/>
                <a:gd name="T9" fmla="*/ 6 h 25"/>
                <a:gd name="T10" fmla="*/ 12 w 12"/>
                <a:gd name="T11" fmla="*/ 19 h 25"/>
                <a:gd name="T12" fmla="*/ 6 w 12"/>
                <a:gd name="T1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5">
                  <a:moveTo>
                    <a:pt x="6" y="25"/>
                  </a:moveTo>
                  <a:cubicBezTo>
                    <a:pt x="3" y="25"/>
                    <a:pt x="0" y="23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3"/>
                    <a:pt x="9" y="25"/>
                    <a:pt x="6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  <p:grpSp>
        <p:nvGrpSpPr>
          <p:cNvPr id="163" name="Group 248">
            <a:extLst>
              <a:ext uri="{FF2B5EF4-FFF2-40B4-BE49-F238E27FC236}">
                <a16:creationId xmlns:a16="http://schemas.microsoft.com/office/drawing/2014/main" id="{88523156-2401-B8DA-FB7E-6566B6A33AD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15419" y="3860074"/>
            <a:ext cx="317691" cy="316207"/>
            <a:chOff x="351" y="438"/>
            <a:chExt cx="428" cy="426"/>
          </a:xfrm>
          <a:solidFill>
            <a:schemeClr val="accent1"/>
          </a:solidFill>
        </p:grpSpPr>
        <p:sp>
          <p:nvSpPr>
            <p:cNvPr id="164" name="Freeform 249">
              <a:extLst>
                <a:ext uri="{FF2B5EF4-FFF2-40B4-BE49-F238E27FC236}">
                  <a16:creationId xmlns:a16="http://schemas.microsoft.com/office/drawing/2014/main" id="{1AAB2232-AFF6-CBE9-1709-23BEA29E23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" y="527"/>
              <a:ext cx="426" cy="124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282 w 288"/>
                <a:gd name="T11" fmla="*/ 0 h 84"/>
                <a:gd name="T12" fmla="*/ 288 w 288"/>
                <a:gd name="T13" fmla="*/ 6 h 84"/>
                <a:gd name="T14" fmla="*/ 288 w 288"/>
                <a:gd name="T15" fmla="*/ 78 h 84"/>
                <a:gd name="T16" fmla="*/ 282 w 288"/>
                <a:gd name="T17" fmla="*/ 84 h 84"/>
                <a:gd name="T18" fmla="*/ 12 w 288"/>
                <a:gd name="T19" fmla="*/ 72 h 84"/>
                <a:gd name="T20" fmla="*/ 276 w 288"/>
                <a:gd name="T21" fmla="*/ 72 h 84"/>
                <a:gd name="T22" fmla="*/ 276 w 288"/>
                <a:gd name="T23" fmla="*/ 12 h 84"/>
                <a:gd name="T24" fmla="*/ 12 w 288"/>
                <a:gd name="T25" fmla="*/ 12 h 84"/>
                <a:gd name="T26" fmla="*/ 12 w 288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  <a:moveTo>
                    <a:pt x="12" y="72"/>
                  </a:moveTo>
                  <a:cubicBezTo>
                    <a:pt x="276" y="72"/>
                    <a:pt x="276" y="72"/>
                    <a:pt x="276" y="72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65" name="Freeform 250">
              <a:extLst>
                <a:ext uri="{FF2B5EF4-FFF2-40B4-BE49-F238E27FC236}">
                  <a16:creationId xmlns:a16="http://schemas.microsoft.com/office/drawing/2014/main" id="{16353E0B-38A4-FB9C-5B72-8339710F2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438"/>
              <a:ext cx="428" cy="106"/>
            </a:xfrm>
            <a:custGeom>
              <a:avLst/>
              <a:gdLst>
                <a:gd name="T0" fmla="*/ 282 w 289"/>
                <a:gd name="T1" fmla="*/ 72 h 72"/>
                <a:gd name="T2" fmla="*/ 278 w 289"/>
                <a:gd name="T3" fmla="*/ 70 h 72"/>
                <a:gd name="T4" fmla="*/ 208 w 289"/>
                <a:gd name="T5" fmla="*/ 12 h 72"/>
                <a:gd name="T6" fmla="*/ 80 w 289"/>
                <a:gd name="T7" fmla="*/ 12 h 72"/>
                <a:gd name="T8" fmla="*/ 10 w 289"/>
                <a:gd name="T9" fmla="*/ 70 h 72"/>
                <a:gd name="T10" fmla="*/ 2 w 289"/>
                <a:gd name="T11" fmla="*/ 69 h 72"/>
                <a:gd name="T12" fmla="*/ 2 w 289"/>
                <a:gd name="T13" fmla="*/ 61 h 72"/>
                <a:gd name="T14" fmla="*/ 74 w 289"/>
                <a:gd name="T15" fmla="*/ 1 h 72"/>
                <a:gd name="T16" fmla="*/ 78 w 289"/>
                <a:gd name="T17" fmla="*/ 0 h 72"/>
                <a:gd name="T18" fmla="*/ 210 w 289"/>
                <a:gd name="T19" fmla="*/ 0 h 72"/>
                <a:gd name="T20" fmla="*/ 214 w 289"/>
                <a:gd name="T21" fmla="*/ 1 h 72"/>
                <a:gd name="T22" fmla="*/ 286 w 289"/>
                <a:gd name="T23" fmla="*/ 61 h 72"/>
                <a:gd name="T24" fmla="*/ 287 w 289"/>
                <a:gd name="T25" fmla="*/ 69 h 72"/>
                <a:gd name="T26" fmla="*/ 282 w 289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9" h="72">
                  <a:moveTo>
                    <a:pt x="282" y="72"/>
                  </a:moveTo>
                  <a:cubicBezTo>
                    <a:pt x="281" y="72"/>
                    <a:pt x="280" y="71"/>
                    <a:pt x="278" y="70"/>
                  </a:cubicBezTo>
                  <a:cubicBezTo>
                    <a:pt x="208" y="12"/>
                    <a:pt x="208" y="12"/>
                    <a:pt x="208" y="12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10" y="70"/>
                    <a:pt x="10" y="70"/>
                    <a:pt x="10" y="70"/>
                  </a:cubicBezTo>
                  <a:cubicBezTo>
                    <a:pt x="8" y="72"/>
                    <a:pt x="4" y="72"/>
                    <a:pt x="2" y="69"/>
                  </a:cubicBezTo>
                  <a:cubicBezTo>
                    <a:pt x="0" y="67"/>
                    <a:pt x="0" y="63"/>
                    <a:pt x="2" y="61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5" y="0"/>
                    <a:pt x="77" y="0"/>
                    <a:pt x="78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2" y="0"/>
                    <a:pt x="213" y="0"/>
                    <a:pt x="214" y="1"/>
                  </a:cubicBezTo>
                  <a:cubicBezTo>
                    <a:pt x="286" y="61"/>
                    <a:pt x="286" y="61"/>
                    <a:pt x="286" y="61"/>
                  </a:cubicBezTo>
                  <a:cubicBezTo>
                    <a:pt x="289" y="63"/>
                    <a:pt x="289" y="67"/>
                    <a:pt x="287" y="69"/>
                  </a:cubicBezTo>
                  <a:cubicBezTo>
                    <a:pt x="286" y="71"/>
                    <a:pt x="284" y="72"/>
                    <a:pt x="282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66" name="Oval 251">
              <a:extLst>
                <a:ext uri="{FF2B5EF4-FFF2-40B4-BE49-F238E27FC236}">
                  <a16:creationId xmlns:a16="http://schemas.microsoft.com/office/drawing/2014/main" id="{6BE9E0E2-06FC-607C-C4B3-CC81A6C27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571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67" name="Oval 252">
              <a:extLst>
                <a:ext uri="{FF2B5EF4-FFF2-40B4-BE49-F238E27FC236}">
                  <a16:creationId xmlns:a16="http://schemas.microsoft.com/office/drawing/2014/main" id="{2DCE4800-0803-FEAA-768D-D216B1D79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68" name="Oval 253">
              <a:extLst>
                <a:ext uri="{FF2B5EF4-FFF2-40B4-BE49-F238E27FC236}">
                  <a16:creationId xmlns:a16="http://schemas.microsoft.com/office/drawing/2014/main" id="{0A43A0BC-0526-4E92-D7C2-4944136AF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571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69" name="Freeform 254">
              <a:extLst>
                <a:ext uri="{FF2B5EF4-FFF2-40B4-BE49-F238E27FC236}">
                  <a16:creationId xmlns:a16="http://schemas.microsoft.com/office/drawing/2014/main" id="{866E46D7-156F-1F8C-9DE1-55ECAD7F17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562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0" name="Freeform 255">
              <a:extLst>
                <a:ext uri="{FF2B5EF4-FFF2-40B4-BE49-F238E27FC236}">
                  <a16:creationId xmlns:a16="http://schemas.microsoft.com/office/drawing/2014/main" id="{8EC3405C-6A09-42B5-E25A-757F271CC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633"/>
              <a:ext cx="426" cy="125"/>
            </a:xfrm>
            <a:custGeom>
              <a:avLst/>
              <a:gdLst>
                <a:gd name="T0" fmla="*/ 282 w 288"/>
                <a:gd name="T1" fmla="*/ 84 h 84"/>
                <a:gd name="T2" fmla="*/ 6 w 288"/>
                <a:gd name="T3" fmla="*/ 84 h 84"/>
                <a:gd name="T4" fmla="*/ 0 w 288"/>
                <a:gd name="T5" fmla="*/ 78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72 h 84"/>
                <a:gd name="T14" fmla="*/ 276 w 288"/>
                <a:gd name="T15" fmla="*/ 72 h 84"/>
                <a:gd name="T16" fmla="*/ 276 w 288"/>
                <a:gd name="T17" fmla="*/ 6 h 84"/>
                <a:gd name="T18" fmla="*/ 282 w 288"/>
                <a:gd name="T19" fmla="*/ 0 h 84"/>
                <a:gd name="T20" fmla="*/ 288 w 288"/>
                <a:gd name="T21" fmla="*/ 6 h 84"/>
                <a:gd name="T22" fmla="*/ 288 w 288"/>
                <a:gd name="T23" fmla="*/ 78 h 84"/>
                <a:gd name="T24" fmla="*/ 282 w 288"/>
                <a:gd name="T25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8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276" y="72"/>
                    <a:pt x="276" y="72"/>
                    <a:pt x="276" y="72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78"/>
                    <a:pt x="288" y="78"/>
                    <a:pt x="288" y="78"/>
                  </a:cubicBezTo>
                  <a:cubicBezTo>
                    <a:pt x="288" y="81"/>
                    <a:pt x="286" y="84"/>
                    <a:pt x="28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1" name="Oval 256">
              <a:extLst>
                <a:ext uri="{FF2B5EF4-FFF2-40B4-BE49-F238E27FC236}">
                  <a16:creationId xmlns:a16="http://schemas.microsoft.com/office/drawing/2014/main" id="{B9445AD8-129F-54B7-EB4B-48BF43B24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678"/>
              <a:ext cx="35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2" name="Oval 257">
              <a:extLst>
                <a:ext uri="{FF2B5EF4-FFF2-40B4-BE49-F238E27FC236}">
                  <a16:creationId xmlns:a16="http://schemas.microsoft.com/office/drawing/2014/main" id="{9166DFD4-A58D-858F-3FF0-AFE7F75C7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3" name="Oval 258">
              <a:extLst>
                <a:ext uri="{FF2B5EF4-FFF2-40B4-BE49-F238E27FC236}">
                  <a16:creationId xmlns:a16="http://schemas.microsoft.com/office/drawing/2014/main" id="{C52D4D3F-18C4-50A1-D237-DB4FE79BF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678"/>
              <a:ext cx="36" cy="3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4" name="Freeform 259">
              <a:extLst>
                <a:ext uri="{FF2B5EF4-FFF2-40B4-BE49-F238E27FC236}">
                  <a16:creationId xmlns:a16="http://schemas.microsoft.com/office/drawing/2014/main" id="{84450508-C5A0-B8DE-774C-65FC7C9748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669"/>
              <a:ext cx="54" cy="53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5" name="Freeform 260">
              <a:extLst>
                <a:ext uri="{FF2B5EF4-FFF2-40B4-BE49-F238E27FC236}">
                  <a16:creationId xmlns:a16="http://schemas.microsoft.com/office/drawing/2014/main" id="{849B4597-A568-3E8C-0C7C-AFCB5FEA5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740"/>
              <a:ext cx="426" cy="124"/>
            </a:xfrm>
            <a:custGeom>
              <a:avLst/>
              <a:gdLst>
                <a:gd name="T0" fmla="*/ 258 w 288"/>
                <a:gd name="T1" fmla="*/ 84 h 84"/>
                <a:gd name="T2" fmla="*/ 30 w 288"/>
                <a:gd name="T3" fmla="*/ 84 h 84"/>
                <a:gd name="T4" fmla="*/ 0 w 288"/>
                <a:gd name="T5" fmla="*/ 54 h 84"/>
                <a:gd name="T6" fmla="*/ 0 w 288"/>
                <a:gd name="T7" fmla="*/ 6 h 84"/>
                <a:gd name="T8" fmla="*/ 6 w 288"/>
                <a:gd name="T9" fmla="*/ 0 h 84"/>
                <a:gd name="T10" fmla="*/ 12 w 288"/>
                <a:gd name="T11" fmla="*/ 6 h 84"/>
                <a:gd name="T12" fmla="*/ 12 w 288"/>
                <a:gd name="T13" fmla="*/ 54 h 84"/>
                <a:gd name="T14" fmla="*/ 30 w 288"/>
                <a:gd name="T15" fmla="*/ 72 h 84"/>
                <a:gd name="T16" fmla="*/ 258 w 288"/>
                <a:gd name="T17" fmla="*/ 72 h 84"/>
                <a:gd name="T18" fmla="*/ 276 w 288"/>
                <a:gd name="T19" fmla="*/ 54 h 84"/>
                <a:gd name="T20" fmla="*/ 276 w 288"/>
                <a:gd name="T21" fmla="*/ 6 h 84"/>
                <a:gd name="T22" fmla="*/ 282 w 288"/>
                <a:gd name="T23" fmla="*/ 0 h 84"/>
                <a:gd name="T24" fmla="*/ 288 w 288"/>
                <a:gd name="T25" fmla="*/ 6 h 84"/>
                <a:gd name="T26" fmla="*/ 288 w 288"/>
                <a:gd name="T27" fmla="*/ 54 h 84"/>
                <a:gd name="T28" fmla="*/ 258 w 288"/>
                <a:gd name="T2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8" h="84">
                  <a:moveTo>
                    <a:pt x="258" y="84"/>
                  </a:moveTo>
                  <a:cubicBezTo>
                    <a:pt x="30" y="84"/>
                    <a:pt x="30" y="84"/>
                    <a:pt x="30" y="84"/>
                  </a:cubicBezTo>
                  <a:cubicBezTo>
                    <a:pt x="14" y="84"/>
                    <a:pt x="0" y="70"/>
                    <a:pt x="0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64"/>
                    <a:pt x="20" y="72"/>
                    <a:pt x="30" y="72"/>
                  </a:cubicBezTo>
                  <a:cubicBezTo>
                    <a:pt x="258" y="72"/>
                    <a:pt x="258" y="72"/>
                    <a:pt x="258" y="72"/>
                  </a:cubicBezTo>
                  <a:cubicBezTo>
                    <a:pt x="268" y="72"/>
                    <a:pt x="276" y="64"/>
                    <a:pt x="276" y="54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76" y="2"/>
                    <a:pt x="279" y="0"/>
                    <a:pt x="282" y="0"/>
                  </a:cubicBezTo>
                  <a:cubicBezTo>
                    <a:pt x="286" y="0"/>
                    <a:pt x="288" y="2"/>
                    <a:pt x="288" y="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70"/>
                    <a:pt x="275" y="84"/>
                    <a:pt x="25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6" name="Oval 261">
              <a:extLst>
                <a:ext uri="{FF2B5EF4-FFF2-40B4-BE49-F238E27FC236}">
                  <a16:creationId xmlns:a16="http://schemas.microsoft.com/office/drawing/2014/main" id="{7795C71C-B505-2347-1562-96A4E410C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784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7" name="Oval 262">
              <a:extLst>
                <a:ext uri="{FF2B5EF4-FFF2-40B4-BE49-F238E27FC236}">
                  <a16:creationId xmlns:a16="http://schemas.microsoft.com/office/drawing/2014/main" id="{43DD99EE-7351-AA4F-D75C-D30146137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8" name="Oval 263">
              <a:extLst>
                <a:ext uri="{FF2B5EF4-FFF2-40B4-BE49-F238E27FC236}">
                  <a16:creationId xmlns:a16="http://schemas.microsoft.com/office/drawing/2014/main" id="{783BAECF-8735-D684-4D63-2D3A9C6BD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" y="784"/>
              <a:ext cx="36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79" name="Freeform 264">
              <a:extLst>
                <a:ext uri="{FF2B5EF4-FFF2-40B4-BE49-F238E27FC236}">
                  <a16:creationId xmlns:a16="http://schemas.microsoft.com/office/drawing/2014/main" id="{54D6E68E-7FC8-4ECE-FE71-7B23ED483C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" y="775"/>
              <a:ext cx="54" cy="54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8" y="0"/>
                    <a:pt x="36" y="8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4"/>
                    <a:pt x="12" y="18"/>
                  </a:cubicBezTo>
                  <a:cubicBezTo>
                    <a:pt x="12" y="21"/>
                    <a:pt x="15" y="24"/>
                    <a:pt x="18" y="24"/>
                  </a:cubicBezTo>
                  <a:cubicBezTo>
                    <a:pt x="22" y="24"/>
                    <a:pt x="24" y="21"/>
                    <a:pt x="24" y="18"/>
                  </a:cubicBezTo>
                  <a:cubicBezTo>
                    <a:pt x="24" y="14"/>
                    <a:pt x="22" y="12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A20778E-5072-51FC-F953-5E35057A9F25}"/>
              </a:ext>
            </a:extLst>
          </p:cNvPr>
          <p:cNvGrpSpPr>
            <a:grpSpLocks noChangeAspect="1"/>
          </p:cNvGrpSpPr>
          <p:nvPr/>
        </p:nvGrpSpPr>
        <p:grpSpPr>
          <a:xfrm>
            <a:off x="1998062" y="4490311"/>
            <a:ext cx="328004" cy="391725"/>
            <a:chOff x="9513888" y="2841625"/>
            <a:chExt cx="498475" cy="595313"/>
          </a:xfrm>
          <a:solidFill>
            <a:schemeClr val="accent1"/>
          </a:solidFill>
        </p:grpSpPr>
        <p:sp>
          <p:nvSpPr>
            <p:cNvPr id="181" name="Freeform 70">
              <a:extLst>
                <a:ext uri="{FF2B5EF4-FFF2-40B4-BE49-F238E27FC236}">
                  <a16:creationId xmlns:a16="http://schemas.microsoft.com/office/drawing/2014/main" id="{32AAF32D-4C99-5434-DC19-4A14D94FB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8525" y="3167063"/>
              <a:ext cx="157163" cy="269875"/>
            </a:xfrm>
            <a:custGeom>
              <a:avLst/>
              <a:gdLst>
                <a:gd name="T0" fmla="*/ 14 w 24"/>
                <a:gd name="T1" fmla="*/ 0 h 40"/>
                <a:gd name="T2" fmla="*/ 10 w 24"/>
                <a:gd name="T3" fmla="*/ 0 h 40"/>
                <a:gd name="T4" fmla="*/ 0 w 24"/>
                <a:gd name="T5" fmla="*/ 10 h 40"/>
                <a:gd name="T6" fmla="*/ 0 w 24"/>
                <a:gd name="T7" fmla="*/ 30 h 40"/>
                <a:gd name="T8" fmla="*/ 10 w 24"/>
                <a:gd name="T9" fmla="*/ 40 h 40"/>
                <a:gd name="T10" fmla="*/ 14 w 24"/>
                <a:gd name="T11" fmla="*/ 40 h 40"/>
                <a:gd name="T12" fmla="*/ 24 w 24"/>
                <a:gd name="T13" fmla="*/ 30 h 40"/>
                <a:gd name="T14" fmla="*/ 24 w 24"/>
                <a:gd name="T15" fmla="*/ 22 h 40"/>
                <a:gd name="T16" fmla="*/ 22 w 24"/>
                <a:gd name="T17" fmla="*/ 20 h 40"/>
                <a:gd name="T18" fmla="*/ 10 w 24"/>
                <a:gd name="T19" fmla="*/ 20 h 40"/>
                <a:gd name="T20" fmla="*/ 8 w 24"/>
                <a:gd name="T21" fmla="*/ 22 h 40"/>
                <a:gd name="T22" fmla="*/ 10 w 24"/>
                <a:gd name="T23" fmla="*/ 24 h 40"/>
                <a:gd name="T24" fmla="*/ 20 w 24"/>
                <a:gd name="T25" fmla="*/ 24 h 40"/>
                <a:gd name="T26" fmla="*/ 20 w 24"/>
                <a:gd name="T27" fmla="*/ 30 h 40"/>
                <a:gd name="T28" fmla="*/ 14 w 24"/>
                <a:gd name="T29" fmla="*/ 36 h 40"/>
                <a:gd name="T30" fmla="*/ 10 w 24"/>
                <a:gd name="T31" fmla="*/ 36 h 40"/>
                <a:gd name="T32" fmla="*/ 4 w 24"/>
                <a:gd name="T33" fmla="*/ 30 h 40"/>
                <a:gd name="T34" fmla="*/ 4 w 24"/>
                <a:gd name="T35" fmla="*/ 10 h 40"/>
                <a:gd name="T36" fmla="*/ 10 w 24"/>
                <a:gd name="T37" fmla="*/ 4 h 40"/>
                <a:gd name="T38" fmla="*/ 14 w 24"/>
                <a:gd name="T39" fmla="*/ 4 h 40"/>
                <a:gd name="T40" fmla="*/ 20 w 24"/>
                <a:gd name="T41" fmla="*/ 10 h 40"/>
                <a:gd name="T42" fmla="*/ 20 w 24"/>
                <a:gd name="T43" fmla="*/ 14 h 40"/>
                <a:gd name="T44" fmla="*/ 22 w 24"/>
                <a:gd name="T45" fmla="*/ 16 h 40"/>
                <a:gd name="T46" fmla="*/ 24 w 24"/>
                <a:gd name="T47" fmla="*/ 14 h 40"/>
                <a:gd name="T48" fmla="*/ 24 w 24"/>
                <a:gd name="T49" fmla="*/ 10 h 40"/>
                <a:gd name="T50" fmla="*/ 14 w 24"/>
                <a:gd name="T5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40">
                  <a:moveTo>
                    <a:pt x="14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4" y="40"/>
                    <a:pt x="10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20" y="40"/>
                    <a:pt x="24" y="36"/>
                    <a:pt x="24" y="30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1"/>
                    <a:pt x="23" y="20"/>
                    <a:pt x="22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0"/>
                    <a:pt x="8" y="21"/>
                    <a:pt x="8" y="22"/>
                  </a:cubicBezTo>
                  <a:cubicBezTo>
                    <a:pt x="8" y="23"/>
                    <a:pt x="9" y="24"/>
                    <a:pt x="1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3"/>
                    <a:pt x="17" y="36"/>
                    <a:pt x="14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7" y="36"/>
                    <a:pt x="4" y="33"/>
                    <a:pt x="4" y="3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7" y="4"/>
                    <a:pt x="20" y="7"/>
                    <a:pt x="20" y="10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5"/>
                    <a:pt x="21" y="16"/>
                    <a:pt x="22" y="16"/>
                  </a:cubicBezTo>
                  <a:cubicBezTo>
                    <a:pt x="23" y="16"/>
                    <a:pt x="24" y="15"/>
                    <a:pt x="24" y="14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4"/>
                    <a:pt x="20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2" name="Freeform 71">
              <a:extLst>
                <a:ext uri="{FF2B5EF4-FFF2-40B4-BE49-F238E27FC236}">
                  <a16:creationId xmlns:a16="http://schemas.microsoft.com/office/drawing/2014/main" id="{82CBDDC0-03F1-1247-90E2-7F7ED1822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8975" y="3167063"/>
              <a:ext cx="144463" cy="269875"/>
            </a:xfrm>
            <a:custGeom>
              <a:avLst/>
              <a:gdLst>
                <a:gd name="T0" fmla="*/ 20 w 22"/>
                <a:gd name="T1" fmla="*/ 4 h 40"/>
                <a:gd name="T2" fmla="*/ 22 w 22"/>
                <a:gd name="T3" fmla="*/ 2 h 40"/>
                <a:gd name="T4" fmla="*/ 20 w 22"/>
                <a:gd name="T5" fmla="*/ 0 h 40"/>
                <a:gd name="T6" fmla="*/ 2 w 22"/>
                <a:gd name="T7" fmla="*/ 0 h 40"/>
                <a:gd name="T8" fmla="*/ 0 w 22"/>
                <a:gd name="T9" fmla="*/ 2 h 40"/>
                <a:gd name="T10" fmla="*/ 0 w 22"/>
                <a:gd name="T11" fmla="*/ 18 h 40"/>
                <a:gd name="T12" fmla="*/ 1 w 22"/>
                <a:gd name="T13" fmla="*/ 19 h 40"/>
                <a:gd name="T14" fmla="*/ 2 w 22"/>
                <a:gd name="T15" fmla="*/ 20 h 40"/>
                <a:gd name="T16" fmla="*/ 2 w 22"/>
                <a:gd name="T17" fmla="*/ 20 h 40"/>
                <a:gd name="T18" fmla="*/ 12 w 22"/>
                <a:gd name="T19" fmla="*/ 20 h 40"/>
                <a:gd name="T20" fmla="*/ 18 w 22"/>
                <a:gd name="T21" fmla="*/ 28 h 40"/>
                <a:gd name="T22" fmla="*/ 12 w 22"/>
                <a:gd name="T23" fmla="*/ 36 h 40"/>
                <a:gd name="T24" fmla="*/ 2 w 22"/>
                <a:gd name="T25" fmla="*/ 36 h 40"/>
                <a:gd name="T26" fmla="*/ 0 w 22"/>
                <a:gd name="T27" fmla="*/ 38 h 40"/>
                <a:gd name="T28" fmla="*/ 2 w 22"/>
                <a:gd name="T29" fmla="*/ 40 h 40"/>
                <a:gd name="T30" fmla="*/ 12 w 22"/>
                <a:gd name="T31" fmla="*/ 40 h 40"/>
                <a:gd name="T32" fmla="*/ 22 w 22"/>
                <a:gd name="T33" fmla="*/ 28 h 40"/>
                <a:gd name="T34" fmla="*/ 12 w 22"/>
                <a:gd name="T35" fmla="*/ 16 h 40"/>
                <a:gd name="T36" fmla="*/ 4 w 22"/>
                <a:gd name="T37" fmla="*/ 16 h 40"/>
                <a:gd name="T38" fmla="*/ 4 w 22"/>
                <a:gd name="T39" fmla="*/ 4 h 40"/>
                <a:gd name="T40" fmla="*/ 20 w 22"/>
                <a:gd name="T41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40">
                  <a:moveTo>
                    <a:pt x="20" y="4"/>
                  </a:moveTo>
                  <a:cubicBezTo>
                    <a:pt x="21" y="4"/>
                    <a:pt x="22" y="3"/>
                    <a:pt x="22" y="2"/>
                  </a:cubicBezTo>
                  <a:cubicBezTo>
                    <a:pt x="22" y="1"/>
                    <a:pt x="21" y="0"/>
                    <a:pt x="2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ubicBezTo>
                    <a:pt x="1" y="20"/>
                    <a:pt x="1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7" y="20"/>
                    <a:pt x="18" y="25"/>
                    <a:pt x="18" y="28"/>
                  </a:cubicBezTo>
                  <a:cubicBezTo>
                    <a:pt x="18" y="30"/>
                    <a:pt x="18" y="36"/>
                    <a:pt x="1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1" y="36"/>
                    <a:pt x="0" y="37"/>
                    <a:pt x="0" y="38"/>
                  </a:cubicBezTo>
                  <a:cubicBezTo>
                    <a:pt x="0" y="39"/>
                    <a:pt x="1" y="40"/>
                    <a:pt x="2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9" y="40"/>
                    <a:pt x="22" y="33"/>
                    <a:pt x="22" y="28"/>
                  </a:cubicBezTo>
                  <a:cubicBezTo>
                    <a:pt x="22" y="22"/>
                    <a:pt x="19" y="16"/>
                    <a:pt x="12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2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3" name="Freeform 72">
              <a:extLst>
                <a:ext uri="{FF2B5EF4-FFF2-40B4-BE49-F238E27FC236}">
                  <a16:creationId xmlns:a16="http://schemas.microsoft.com/office/drawing/2014/main" id="{AFDF5AF0-9F8D-30DB-7A60-F1F19EF3C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2313" y="3003550"/>
              <a:ext cx="301625" cy="95250"/>
            </a:xfrm>
            <a:custGeom>
              <a:avLst/>
              <a:gdLst>
                <a:gd name="T0" fmla="*/ 42 w 46"/>
                <a:gd name="T1" fmla="*/ 13 h 14"/>
                <a:gd name="T2" fmla="*/ 44 w 46"/>
                <a:gd name="T3" fmla="*/ 14 h 14"/>
                <a:gd name="T4" fmla="*/ 45 w 46"/>
                <a:gd name="T5" fmla="*/ 14 h 14"/>
                <a:gd name="T6" fmla="*/ 45 w 46"/>
                <a:gd name="T7" fmla="*/ 11 h 14"/>
                <a:gd name="T8" fmla="*/ 23 w 46"/>
                <a:gd name="T9" fmla="*/ 0 h 14"/>
                <a:gd name="T10" fmla="*/ 1 w 46"/>
                <a:gd name="T11" fmla="*/ 11 h 14"/>
                <a:gd name="T12" fmla="*/ 1 w 46"/>
                <a:gd name="T13" fmla="*/ 14 h 14"/>
                <a:gd name="T14" fmla="*/ 4 w 46"/>
                <a:gd name="T15" fmla="*/ 13 h 14"/>
                <a:gd name="T16" fmla="*/ 23 w 46"/>
                <a:gd name="T17" fmla="*/ 4 h 14"/>
                <a:gd name="T18" fmla="*/ 42 w 46"/>
                <a:gd name="T1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14">
                  <a:moveTo>
                    <a:pt x="42" y="13"/>
                  </a:moveTo>
                  <a:cubicBezTo>
                    <a:pt x="42" y="14"/>
                    <a:pt x="43" y="14"/>
                    <a:pt x="44" y="14"/>
                  </a:cubicBezTo>
                  <a:cubicBezTo>
                    <a:pt x="44" y="14"/>
                    <a:pt x="44" y="14"/>
                    <a:pt x="45" y="14"/>
                  </a:cubicBezTo>
                  <a:cubicBezTo>
                    <a:pt x="46" y="13"/>
                    <a:pt x="46" y="12"/>
                    <a:pt x="45" y="11"/>
                  </a:cubicBezTo>
                  <a:cubicBezTo>
                    <a:pt x="40" y="4"/>
                    <a:pt x="32" y="0"/>
                    <a:pt x="23" y="0"/>
                  </a:cubicBezTo>
                  <a:cubicBezTo>
                    <a:pt x="14" y="0"/>
                    <a:pt x="6" y="4"/>
                    <a:pt x="1" y="11"/>
                  </a:cubicBezTo>
                  <a:cubicBezTo>
                    <a:pt x="0" y="12"/>
                    <a:pt x="0" y="13"/>
                    <a:pt x="1" y="14"/>
                  </a:cubicBezTo>
                  <a:cubicBezTo>
                    <a:pt x="2" y="14"/>
                    <a:pt x="3" y="14"/>
                    <a:pt x="4" y="13"/>
                  </a:cubicBezTo>
                  <a:cubicBezTo>
                    <a:pt x="9" y="7"/>
                    <a:pt x="16" y="4"/>
                    <a:pt x="23" y="4"/>
                  </a:cubicBezTo>
                  <a:cubicBezTo>
                    <a:pt x="31" y="4"/>
                    <a:pt x="37" y="7"/>
                    <a:pt x="4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4" name="Freeform 73">
              <a:extLst>
                <a:ext uri="{FF2B5EF4-FFF2-40B4-BE49-F238E27FC236}">
                  <a16:creationId xmlns:a16="http://schemas.microsoft.com/office/drawing/2014/main" id="{ED80D64B-3292-0496-AD95-F3A89702D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6275" y="2922588"/>
              <a:ext cx="392113" cy="122238"/>
            </a:xfrm>
            <a:custGeom>
              <a:avLst/>
              <a:gdLst>
                <a:gd name="T0" fmla="*/ 30 w 60"/>
                <a:gd name="T1" fmla="*/ 0 h 18"/>
                <a:gd name="T2" fmla="*/ 0 w 60"/>
                <a:gd name="T3" fmla="*/ 14 h 18"/>
                <a:gd name="T4" fmla="*/ 1 w 60"/>
                <a:gd name="T5" fmla="*/ 17 h 18"/>
                <a:gd name="T6" fmla="*/ 2 w 60"/>
                <a:gd name="T7" fmla="*/ 17 h 18"/>
                <a:gd name="T8" fmla="*/ 4 w 60"/>
                <a:gd name="T9" fmla="*/ 17 h 18"/>
                <a:gd name="T10" fmla="*/ 30 w 60"/>
                <a:gd name="T11" fmla="*/ 4 h 18"/>
                <a:gd name="T12" fmla="*/ 57 w 60"/>
                <a:gd name="T13" fmla="*/ 17 h 18"/>
                <a:gd name="T14" fmla="*/ 59 w 60"/>
                <a:gd name="T15" fmla="*/ 17 h 18"/>
                <a:gd name="T16" fmla="*/ 60 w 60"/>
                <a:gd name="T17" fmla="*/ 14 h 18"/>
                <a:gd name="T18" fmla="*/ 30 w 60"/>
                <a:gd name="T1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18">
                  <a:moveTo>
                    <a:pt x="30" y="0"/>
                  </a:moveTo>
                  <a:cubicBezTo>
                    <a:pt x="18" y="0"/>
                    <a:pt x="8" y="5"/>
                    <a:pt x="0" y="14"/>
                  </a:cubicBezTo>
                  <a:cubicBezTo>
                    <a:pt x="0" y="15"/>
                    <a:pt x="0" y="16"/>
                    <a:pt x="1" y="17"/>
                  </a:cubicBezTo>
                  <a:cubicBezTo>
                    <a:pt x="1" y="17"/>
                    <a:pt x="2" y="17"/>
                    <a:pt x="2" y="17"/>
                  </a:cubicBezTo>
                  <a:cubicBezTo>
                    <a:pt x="3" y="17"/>
                    <a:pt x="3" y="17"/>
                    <a:pt x="4" y="17"/>
                  </a:cubicBezTo>
                  <a:cubicBezTo>
                    <a:pt x="10" y="9"/>
                    <a:pt x="20" y="4"/>
                    <a:pt x="30" y="4"/>
                  </a:cubicBezTo>
                  <a:cubicBezTo>
                    <a:pt x="40" y="4"/>
                    <a:pt x="50" y="9"/>
                    <a:pt x="57" y="17"/>
                  </a:cubicBezTo>
                  <a:cubicBezTo>
                    <a:pt x="57" y="17"/>
                    <a:pt x="58" y="18"/>
                    <a:pt x="59" y="17"/>
                  </a:cubicBezTo>
                  <a:cubicBezTo>
                    <a:pt x="60" y="16"/>
                    <a:pt x="60" y="15"/>
                    <a:pt x="60" y="14"/>
                  </a:cubicBezTo>
                  <a:cubicBezTo>
                    <a:pt x="52" y="5"/>
                    <a:pt x="42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5" name="Freeform 74">
              <a:extLst>
                <a:ext uri="{FF2B5EF4-FFF2-40B4-BE49-F238E27FC236}">
                  <a16:creationId xmlns:a16="http://schemas.microsoft.com/office/drawing/2014/main" id="{19ABD213-E435-B271-C46A-9A103C5BF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3888" y="2841625"/>
              <a:ext cx="498475" cy="149225"/>
            </a:xfrm>
            <a:custGeom>
              <a:avLst/>
              <a:gdLst>
                <a:gd name="T0" fmla="*/ 76 w 76"/>
                <a:gd name="T1" fmla="*/ 18 h 22"/>
                <a:gd name="T2" fmla="*/ 38 w 76"/>
                <a:gd name="T3" fmla="*/ 0 h 22"/>
                <a:gd name="T4" fmla="*/ 0 w 76"/>
                <a:gd name="T5" fmla="*/ 18 h 22"/>
                <a:gd name="T6" fmla="*/ 1 w 76"/>
                <a:gd name="T7" fmla="*/ 21 h 22"/>
                <a:gd name="T8" fmla="*/ 4 w 76"/>
                <a:gd name="T9" fmla="*/ 21 h 22"/>
                <a:gd name="T10" fmla="*/ 38 w 76"/>
                <a:gd name="T11" fmla="*/ 4 h 22"/>
                <a:gd name="T12" fmla="*/ 73 w 76"/>
                <a:gd name="T13" fmla="*/ 21 h 22"/>
                <a:gd name="T14" fmla="*/ 74 w 76"/>
                <a:gd name="T15" fmla="*/ 21 h 22"/>
                <a:gd name="T16" fmla="*/ 75 w 76"/>
                <a:gd name="T17" fmla="*/ 21 h 22"/>
                <a:gd name="T18" fmla="*/ 76 w 76"/>
                <a:gd name="T19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22">
                  <a:moveTo>
                    <a:pt x="76" y="18"/>
                  </a:moveTo>
                  <a:cubicBezTo>
                    <a:pt x="67" y="7"/>
                    <a:pt x="53" y="0"/>
                    <a:pt x="38" y="0"/>
                  </a:cubicBezTo>
                  <a:cubicBezTo>
                    <a:pt x="23" y="0"/>
                    <a:pt x="10" y="7"/>
                    <a:pt x="0" y="18"/>
                  </a:cubicBezTo>
                  <a:cubicBezTo>
                    <a:pt x="0" y="19"/>
                    <a:pt x="0" y="20"/>
                    <a:pt x="1" y="21"/>
                  </a:cubicBezTo>
                  <a:cubicBezTo>
                    <a:pt x="2" y="22"/>
                    <a:pt x="3" y="22"/>
                    <a:pt x="4" y="21"/>
                  </a:cubicBezTo>
                  <a:cubicBezTo>
                    <a:pt x="12" y="10"/>
                    <a:pt x="25" y="4"/>
                    <a:pt x="38" y="4"/>
                  </a:cubicBezTo>
                  <a:cubicBezTo>
                    <a:pt x="52" y="4"/>
                    <a:pt x="64" y="10"/>
                    <a:pt x="73" y="21"/>
                  </a:cubicBezTo>
                  <a:cubicBezTo>
                    <a:pt x="73" y="21"/>
                    <a:pt x="74" y="21"/>
                    <a:pt x="74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6" y="20"/>
                    <a:pt x="76" y="19"/>
                    <a:pt x="7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186" name="Group 211">
            <a:extLst>
              <a:ext uri="{FF2B5EF4-FFF2-40B4-BE49-F238E27FC236}">
                <a16:creationId xmlns:a16="http://schemas.microsoft.com/office/drawing/2014/main" id="{B666DD6C-E6B7-380E-F77B-A9B2C9DA3F0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96000" y="1694145"/>
            <a:ext cx="444913" cy="402193"/>
            <a:chOff x="1375" y="3018"/>
            <a:chExt cx="427" cy="386"/>
          </a:xfrm>
          <a:solidFill>
            <a:schemeClr val="accent1"/>
          </a:solidFill>
        </p:grpSpPr>
        <p:sp>
          <p:nvSpPr>
            <p:cNvPr id="187" name="Freeform 212">
              <a:extLst>
                <a:ext uri="{FF2B5EF4-FFF2-40B4-BE49-F238E27FC236}">
                  <a16:creationId xmlns:a16="http://schemas.microsoft.com/office/drawing/2014/main" id="{9BC81DC8-D6CE-186C-4FD2-2110D2D8EF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3" y="3351"/>
              <a:ext cx="71" cy="53"/>
            </a:xfrm>
            <a:custGeom>
              <a:avLst/>
              <a:gdLst>
                <a:gd name="T0" fmla="*/ 42 w 48"/>
                <a:gd name="T1" fmla="*/ 36 h 36"/>
                <a:gd name="T2" fmla="*/ 6 w 48"/>
                <a:gd name="T3" fmla="*/ 36 h 36"/>
                <a:gd name="T4" fmla="*/ 0 w 48"/>
                <a:gd name="T5" fmla="*/ 30 h 36"/>
                <a:gd name="T6" fmla="*/ 0 w 48"/>
                <a:gd name="T7" fmla="*/ 6 h 36"/>
                <a:gd name="T8" fmla="*/ 6 w 48"/>
                <a:gd name="T9" fmla="*/ 0 h 36"/>
                <a:gd name="T10" fmla="*/ 42 w 48"/>
                <a:gd name="T11" fmla="*/ 0 h 36"/>
                <a:gd name="T12" fmla="*/ 48 w 48"/>
                <a:gd name="T13" fmla="*/ 6 h 36"/>
                <a:gd name="T14" fmla="*/ 48 w 48"/>
                <a:gd name="T15" fmla="*/ 30 h 36"/>
                <a:gd name="T16" fmla="*/ 42 w 48"/>
                <a:gd name="T17" fmla="*/ 36 h 36"/>
                <a:gd name="T18" fmla="*/ 12 w 48"/>
                <a:gd name="T19" fmla="*/ 24 h 36"/>
                <a:gd name="T20" fmla="*/ 36 w 48"/>
                <a:gd name="T21" fmla="*/ 24 h 36"/>
                <a:gd name="T22" fmla="*/ 36 w 48"/>
                <a:gd name="T23" fmla="*/ 12 h 36"/>
                <a:gd name="T24" fmla="*/ 12 w 48"/>
                <a:gd name="T25" fmla="*/ 12 h 36"/>
                <a:gd name="T26" fmla="*/ 12 w 48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36">
                  <a:moveTo>
                    <a:pt x="42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4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8" y="34"/>
                    <a:pt x="45" y="36"/>
                    <a:pt x="42" y="36"/>
                  </a:cubicBezTo>
                  <a:close/>
                  <a:moveTo>
                    <a:pt x="12" y="24"/>
                  </a:moveTo>
                  <a:cubicBezTo>
                    <a:pt x="36" y="24"/>
                    <a:pt x="36" y="24"/>
                    <a:pt x="36" y="24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8" name="Freeform 213">
              <a:extLst>
                <a:ext uri="{FF2B5EF4-FFF2-40B4-BE49-F238E27FC236}">
                  <a16:creationId xmlns:a16="http://schemas.microsoft.com/office/drawing/2014/main" id="{7D10608B-36D0-F993-FA15-CBBD2CEE14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8" y="3351"/>
              <a:ext cx="72" cy="53"/>
            </a:xfrm>
            <a:custGeom>
              <a:avLst/>
              <a:gdLst>
                <a:gd name="T0" fmla="*/ 42 w 48"/>
                <a:gd name="T1" fmla="*/ 36 h 36"/>
                <a:gd name="T2" fmla="*/ 6 w 48"/>
                <a:gd name="T3" fmla="*/ 36 h 36"/>
                <a:gd name="T4" fmla="*/ 0 w 48"/>
                <a:gd name="T5" fmla="*/ 30 h 36"/>
                <a:gd name="T6" fmla="*/ 0 w 48"/>
                <a:gd name="T7" fmla="*/ 6 h 36"/>
                <a:gd name="T8" fmla="*/ 6 w 48"/>
                <a:gd name="T9" fmla="*/ 0 h 36"/>
                <a:gd name="T10" fmla="*/ 42 w 48"/>
                <a:gd name="T11" fmla="*/ 0 h 36"/>
                <a:gd name="T12" fmla="*/ 48 w 48"/>
                <a:gd name="T13" fmla="*/ 6 h 36"/>
                <a:gd name="T14" fmla="*/ 48 w 48"/>
                <a:gd name="T15" fmla="*/ 30 h 36"/>
                <a:gd name="T16" fmla="*/ 42 w 48"/>
                <a:gd name="T17" fmla="*/ 36 h 36"/>
                <a:gd name="T18" fmla="*/ 12 w 48"/>
                <a:gd name="T19" fmla="*/ 24 h 36"/>
                <a:gd name="T20" fmla="*/ 36 w 48"/>
                <a:gd name="T21" fmla="*/ 24 h 36"/>
                <a:gd name="T22" fmla="*/ 36 w 48"/>
                <a:gd name="T23" fmla="*/ 12 h 36"/>
                <a:gd name="T24" fmla="*/ 12 w 48"/>
                <a:gd name="T25" fmla="*/ 12 h 36"/>
                <a:gd name="T26" fmla="*/ 12 w 48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36">
                  <a:moveTo>
                    <a:pt x="42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4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8" y="34"/>
                    <a:pt x="45" y="36"/>
                    <a:pt x="42" y="36"/>
                  </a:cubicBezTo>
                  <a:close/>
                  <a:moveTo>
                    <a:pt x="12" y="24"/>
                  </a:moveTo>
                  <a:cubicBezTo>
                    <a:pt x="36" y="24"/>
                    <a:pt x="36" y="24"/>
                    <a:pt x="36" y="24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89" name="Freeform 214">
              <a:extLst>
                <a:ext uri="{FF2B5EF4-FFF2-40B4-BE49-F238E27FC236}">
                  <a16:creationId xmlns:a16="http://schemas.microsoft.com/office/drawing/2014/main" id="{54D631C5-0AB1-8F9B-2196-B58FA3B550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5" y="3262"/>
              <a:ext cx="302" cy="106"/>
            </a:xfrm>
            <a:custGeom>
              <a:avLst/>
              <a:gdLst>
                <a:gd name="T0" fmla="*/ 198 w 204"/>
                <a:gd name="T1" fmla="*/ 72 h 72"/>
                <a:gd name="T2" fmla="*/ 6 w 204"/>
                <a:gd name="T3" fmla="*/ 72 h 72"/>
                <a:gd name="T4" fmla="*/ 0 w 204"/>
                <a:gd name="T5" fmla="*/ 66 h 72"/>
                <a:gd name="T6" fmla="*/ 0 w 204"/>
                <a:gd name="T7" fmla="*/ 30 h 72"/>
                <a:gd name="T8" fmla="*/ 2 w 204"/>
                <a:gd name="T9" fmla="*/ 26 h 72"/>
                <a:gd name="T10" fmla="*/ 26 w 204"/>
                <a:gd name="T11" fmla="*/ 2 h 72"/>
                <a:gd name="T12" fmla="*/ 30 w 204"/>
                <a:gd name="T13" fmla="*/ 0 h 72"/>
                <a:gd name="T14" fmla="*/ 174 w 204"/>
                <a:gd name="T15" fmla="*/ 0 h 72"/>
                <a:gd name="T16" fmla="*/ 178 w 204"/>
                <a:gd name="T17" fmla="*/ 2 h 72"/>
                <a:gd name="T18" fmla="*/ 202 w 204"/>
                <a:gd name="T19" fmla="*/ 26 h 72"/>
                <a:gd name="T20" fmla="*/ 204 w 204"/>
                <a:gd name="T21" fmla="*/ 30 h 72"/>
                <a:gd name="T22" fmla="*/ 204 w 204"/>
                <a:gd name="T23" fmla="*/ 66 h 72"/>
                <a:gd name="T24" fmla="*/ 198 w 204"/>
                <a:gd name="T25" fmla="*/ 72 h 72"/>
                <a:gd name="T26" fmla="*/ 12 w 204"/>
                <a:gd name="T27" fmla="*/ 60 h 72"/>
                <a:gd name="T28" fmla="*/ 192 w 204"/>
                <a:gd name="T29" fmla="*/ 60 h 72"/>
                <a:gd name="T30" fmla="*/ 192 w 204"/>
                <a:gd name="T31" fmla="*/ 33 h 72"/>
                <a:gd name="T32" fmla="*/ 171 w 204"/>
                <a:gd name="T33" fmla="*/ 12 h 72"/>
                <a:gd name="T34" fmla="*/ 32 w 204"/>
                <a:gd name="T35" fmla="*/ 12 h 72"/>
                <a:gd name="T36" fmla="*/ 12 w 204"/>
                <a:gd name="T37" fmla="*/ 33 h 72"/>
                <a:gd name="T38" fmla="*/ 12 w 204"/>
                <a:gd name="T39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4" h="72">
                  <a:moveTo>
                    <a:pt x="198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6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9"/>
                    <a:pt x="0" y="27"/>
                    <a:pt x="2" y="26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7" y="1"/>
                    <a:pt x="28" y="0"/>
                    <a:pt x="30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5" y="0"/>
                    <a:pt x="177" y="1"/>
                    <a:pt x="178" y="2"/>
                  </a:cubicBezTo>
                  <a:cubicBezTo>
                    <a:pt x="202" y="26"/>
                    <a:pt x="202" y="26"/>
                    <a:pt x="202" y="26"/>
                  </a:cubicBezTo>
                  <a:cubicBezTo>
                    <a:pt x="203" y="27"/>
                    <a:pt x="204" y="29"/>
                    <a:pt x="204" y="30"/>
                  </a:cubicBezTo>
                  <a:cubicBezTo>
                    <a:pt x="204" y="66"/>
                    <a:pt x="204" y="66"/>
                    <a:pt x="204" y="66"/>
                  </a:cubicBezTo>
                  <a:cubicBezTo>
                    <a:pt x="204" y="70"/>
                    <a:pt x="201" y="72"/>
                    <a:pt x="198" y="72"/>
                  </a:cubicBezTo>
                  <a:close/>
                  <a:moveTo>
                    <a:pt x="12" y="60"/>
                  </a:moveTo>
                  <a:cubicBezTo>
                    <a:pt x="192" y="60"/>
                    <a:pt x="192" y="60"/>
                    <a:pt x="192" y="60"/>
                  </a:cubicBezTo>
                  <a:cubicBezTo>
                    <a:pt x="192" y="33"/>
                    <a:pt x="192" y="33"/>
                    <a:pt x="192" y="33"/>
                  </a:cubicBezTo>
                  <a:cubicBezTo>
                    <a:pt x="171" y="12"/>
                    <a:pt x="171" y="12"/>
                    <a:pt x="171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12" y="33"/>
                    <a:pt x="12" y="33"/>
                    <a:pt x="12" y="33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0" name="Freeform 215">
              <a:extLst>
                <a:ext uri="{FF2B5EF4-FFF2-40B4-BE49-F238E27FC236}">
                  <a16:creationId xmlns:a16="http://schemas.microsoft.com/office/drawing/2014/main" id="{24C055F5-1BFD-A802-4C38-EB1E6ADFC8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1" y="3173"/>
              <a:ext cx="231" cy="107"/>
            </a:xfrm>
            <a:custGeom>
              <a:avLst/>
              <a:gdLst>
                <a:gd name="T0" fmla="*/ 150 w 156"/>
                <a:gd name="T1" fmla="*/ 72 h 72"/>
                <a:gd name="T2" fmla="*/ 6 w 156"/>
                <a:gd name="T3" fmla="*/ 72 h 72"/>
                <a:gd name="T4" fmla="*/ 1 w 156"/>
                <a:gd name="T5" fmla="*/ 70 h 72"/>
                <a:gd name="T6" fmla="*/ 0 w 156"/>
                <a:gd name="T7" fmla="*/ 64 h 72"/>
                <a:gd name="T8" fmla="*/ 24 w 156"/>
                <a:gd name="T9" fmla="*/ 4 h 72"/>
                <a:gd name="T10" fmla="*/ 30 w 156"/>
                <a:gd name="T11" fmla="*/ 0 h 72"/>
                <a:gd name="T12" fmla="*/ 126 w 156"/>
                <a:gd name="T13" fmla="*/ 0 h 72"/>
                <a:gd name="T14" fmla="*/ 131 w 156"/>
                <a:gd name="T15" fmla="*/ 4 h 72"/>
                <a:gd name="T16" fmla="*/ 155 w 156"/>
                <a:gd name="T17" fmla="*/ 64 h 72"/>
                <a:gd name="T18" fmla="*/ 155 w 156"/>
                <a:gd name="T19" fmla="*/ 70 h 72"/>
                <a:gd name="T20" fmla="*/ 150 w 156"/>
                <a:gd name="T21" fmla="*/ 72 h 72"/>
                <a:gd name="T22" fmla="*/ 15 w 156"/>
                <a:gd name="T23" fmla="*/ 60 h 72"/>
                <a:gd name="T24" fmla="*/ 141 w 156"/>
                <a:gd name="T25" fmla="*/ 60 h 72"/>
                <a:gd name="T26" fmla="*/ 122 w 156"/>
                <a:gd name="T27" fmla="*/ 12 h 72"/>
                <a:gd name="T28" fmla="*/ 34 w 156"/>
                <a:gd name="T29" fmla="*/ 12 h 72"/>
                <a:gd name="T30" fmla="*/ 15 w 156"/>
                <a:gd name="T31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6" h="72">
                  <a:moveTo>
                    <a:pt x="150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4" y="72"/>
                    <a:pt x="2" y="71"/>
                    <a:pt x="1" y="70"/>
                  </a:cubicBezTo>
                  <a:cubicBezTo>
                    <a:pt x="0" y="68"/>
                    <a:pt x="0" y="66"/>
                    <a:pt x="0" y="6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5" y="2"/>
                    <a:pt x="27" y="0"/>
                    <a:pt x="30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8" y="0"/>
                    <a:pt x="131" y="2"/>
                    <a:pt x="131" y="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6"/>
                    <a:pt x="156" y="68"/>
                    <a:pt x="155" y="70"/>
                  </a:cubicBezTo>
                  <a:cubicBezTo>
                    <a:pt x="154" y="71"/>
                    <a:pt x="152" y="72"/>
                    <a:pt x="150" y="72"/>
                  </a:cubicBezTo>
                  <a:close/>
                  <a:moveTo>
                    <a:pt x="15" y="60"/>
                  </a:moveTo>
                  <a:cubicBezTo>
                    <a:pt x="141" y="60"/>
                    <a:pt x="141" y="60"/>
                    <a:pt x="141" y="60"/>
                  </a:cubicBezTo>
                  <a:cubicBezTo>
                    <a:pt x="122" y="12"/>
                    <a:pt x="122" y="12"/>
                    <a:pt x="122" y="12"/>
                  </a:cubicBezTo>
                  <a:cubicBezTo>
                    <a:pt x="34" y="12"/>
                    <a:pt x="34" y="12"/>
                    <a:pt x="34" y="12"/>
                  </a:cubicBezTo>
                  <a:lnTo>
                    <a:pt x="15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1" name="Freeform 216">
              <a:extLst>
                <a:ext uri="{FF2B5EF4-FFF2-40B4-BE49-F238E27FC236}">
                  <a16:creationId xmlns:a16="http://schemas.microsoft.com/office/drawing/2014/main" id="{13793BB8-5F7A-A79F-235D-8B1A0ED8F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3315"/>
              <a:ext cx="98" cy="18"/>
            </a:xfrm>
            <a:custGeom>
              <a:avLst/>
              <a:gdLst>
                <a:gd name="T0" fmla="*/ 60 w 66"/>
                <a:gd name="T1" fmla="*/ 12 h 12"/>
                <a:gd name="T2" fmla="*/ 6 w 66"/>
                <a:gd name="T3" fmla="*/ 12 h 12"/>
                <a:gd name="T4" fmla="*/ 0 w 66"/>
                <a:gd name="T5" fmla="*/ 6 h 12"/>
                <a:gd name="T6" fmla="*/ 6 w 66"/>
                <a:gd name="T7" fmla="*/ 0 h 12"/>
                <a:gd name="T8" fmla="*/ 60 w 66"/>
                <a:gd name="T9" fmla="*/ 0 h 12"/>
                <a:gd name="T10" fmla="*/ 66 w 66"/>
                <a:gd name="T11" fmla="*/ 6 h 12"/>
                <a:gd name="T12" fmla="*/ 60 w 6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2">
                  <a:moveTo>
                    <a:pt x="6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3" y="0"/>
                    <a:pt x="66" y="3"/>
                    <a:pt x="66" y="6"/>
                  </a:cubicBezTo>
                  <a:cubicBezTo>
                    <a:pt x="66" y="10"/>
                    <a:pt x="63" y="12"/>
                    <a:pt x="6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2" name="Freeform 217">
              <a:extLst>
                <a:ext uri="{FF2B5EF4-FFF2-40B4-BE49-F238E27FC236}">
                  <a16:creationId xmlns:a16="http://schemas.microsoft.com/office/drawing/2014/main" id="{483361DC-434F-46B2-7B4B-C0D625311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3315"/>
              <a:ext cx="97" cy="18"/>
            </a:xfrm>
            <a:custGeom>
              <a:avLst/>
              <a:gdLst>
                <a:gd name="T0" fmla="*/ 60 w 66"/>
                <a:gd name="T1" fmla="*/ 12 h 12"/>
                <a:gd name="T2" fmla="*/ 6 w 66"/>
                <a:gd name="T3" fmla="*/ 12 h 12"/>
                <a:gd name="T4" fmla="*/ 0 w 66"/>
                <a:gd name="T5" fmla="*/ 6 h 12"/>
                <a:gd name="T6" fmla="*/ 6 w 66"/>
                <a:gd name="T7" fmla="*/ 0 h 12"/>
                <a:gd name="T8" fmla="*/ 60 w 66"/>
                <a:gd name="T9" fmla="*/ 0 h 12"/>
                <a:gd name="T10" fmla="*/ 66 w 66"/>
                <a:gd name="T11" fmla="*/ 6 h 12"/>
                <a:gd name="T12" fmla="*/ 60 w 6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2">
                  <a:moveTo>
                    <a:pt x="6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3" y="0"/>
                    <a:pt x="66" y="3"/>
                    <a:pt x="66" y="6"/>
                  </a:cubicBezTo>
                  <a:cubicBezTo>
                    <a:pt x="66" y="10"/>
                    <a:pt x="63" y="12"/>
                    <a:pt x="6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3" name="Freeform 218">
              <a:extLst>
                <a:ext uri="{FF2B5EF4-FFF2-40B4-BE49-F238E27FC236}">
                  <a16:creationId xmlns:a16="http://schemas.microsoft.com/office/drawing/2014/main" id="{9790156E-FBA4-7953-C02C-BB18067A56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3" y="3191"/>
              <a:ext cx="89" cy="213"/>
            </a:xfrm>
            <a:custGeom>
              <a:avLst/>
              <a:gdLst>
                <a:gd name="T0" fmla="*/ 54 w 60"/>
                <a:gd name="T1" fmla="*/ 144 h 144"/>
                <a:gd name="T2" fmla="*/ 6 w 60"/>
                <a:gd name="T3" fmla="*/ 144 h 144"/>
                <a:gd name="T4" fmla="*/ 0 w 60"/>
                <a:gd name="T5" fmla="*/ 138 h 144"/>
                <a:gd name="T6" fmla="*/ 0 w 60"/>
                <a:gd name="T7" fmla="*/ 6 h 144"/>
                <a:gd name="T8" fmla="*/ 6 w 60"/>
                <a:gd name="T9" fmla="*/ 0 h 144"/>
                <a:gd name="T10" fmla="*/ 54 w 60"/>
                <a:gd name="T11" fmla="*/ 0 h 144"/>
                <a:gd name="T12" fmla="*/ 60 w 60"/>
                <a:gd name="T13" fmla="*/ 6 h 144"/>
                <a:gd name="T14" fmla="*/ 60 w 60"/>
                <a:gd name="T15" fmla="*/ 138 h 144"/>
                <a:gd name="T16" fmla="*/ 54 w 60"/>
                <a:gd name="T17" fmla="*/ 144 h 144"/>
                <a:gd name="T18" fmla="*/ 12 w 60"/>
                <a:gd name="T19" fmla="*/ 132 h 144"/>
                <a:gd name="T20" fmla="*/ 48 w 60"/>
                <a:gd name="T21" fmla="*/ 132 h 144"/>
                <a:gd name="T22" fmla="*/ 48 w 60"/>
                <a:gd name="T23" fmla="*/ 12 h 144"/>
                <a:gd name="T24" fmla="*/ 12 w 60"/>
                <a:gd name="T25" fmla="*/ 12 h 144"/>
                <a:gd name="T26" fmla="*/ 12 w 60"/>
                <a:gd name="T27" fmla="*/ 13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144">
                  <a:moveTo>
                    <a:pt x="54" y="144"/>
                  </a:moveTo>
                  <a:cubicBezTo>
                    <a:pt x="6" y="144"/>
                    <a:pt x="6" y="144"/>
                    <a:pt x="6" y="144"/>
                  </a:cubicBezTo>
                  <a:cubicBezTo>
                    <a:pt x="3" y="144"/>
                    <a:pt x="0" y="142"/>
                    <a:pt x="0" y="13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138"/>
                    <a:pt x="60" y="138"/>
                    <a:pt x="60" y="138"/>
                  </a:cubicBezTo>
                  <a:cubicBezTo>
                    <a:pt x="60" y="142"/>
                    <a:pt x="57" y="144"/>
                    <a:pt x="54" y="144"/>
                  </a:cubicBezTo>
                  <a:close/>
                  <a:moveTo>
                    <a:pt x="12" y="132"/>
                  </a:moveTo>
                  <a:cubicBezTo>
                    <a:pt x="48" y="132"/>
                    <a:pt x="48" y="132"/>
                    <a:pt x="48" y="13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4" name="Freeform 219">
              <a:extLst>
                <a:ext uri="{FF2B5EF4-FFF2-40B4-BE49-F238E27FC236}">
                  <a16:creationId xmlns:a16="http://schemas.microsoft.com/office/drawing/2014/main" id="{554F551D-069D-03B6-D813-BBE6A022F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0" y="3018"/>
              <a:ext cx="222" cy="190"/>
            </a:xfrm>
            <a:custGeom>
              <a:avLst/>
              <a:gdLst>
                <a:gd name="T0" fmla="*/ 143 w 150"/>
                <a:gd name="T1" fmla="*/ 129 h 129"/>
                <a:gd name="T2" fmla="*/ 139 w 150"/>
                <a:gd name="T3" fmla="*/ 128 h 129"/>
                <a:gd name="T4" fmla="*/ 2 w 150"/>
                <a:gd name="T5" fmla="*/ 11 h 129"/>
                <a:gd name="T6" fmla="*/ 2 w 150"/>
                <a:gd name="T7" fmla="*/ 2 h 129"/>
                <a:gd name="T8" fmla="*/ 10 w 150"/>
                <a:gd name="T9" fmla="*/ 2 h 129"/>
                <a:gd name="T10" fmla="*/ 147 w 150"/>
                <a:gd name="T11" fmla="*/ 119 h 129"/>
                <a:gd name="T12" fmla="*/ 147 w 150"/>
                <a:gd name="T13" fmla="*/ 127 h 129"/>
                <a:gd name="T14" fmla="*/ 143 w 150"/>
                <a:gd name="T15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" h="129">
                  <a:moveTo>
                    <a:pt x="143" y="129"/>
                  </a:moveTo>
                  <a:cubicBezTo>
                    <a:pt x="141" y="129"/>
                    <a:pt x="140" y="129"/>
                    <a:pt x="139" y="128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4" y="0"/>
                    <a:pt x="8" y="0"/>
                    <a:pt x="10" y="2"/>
                  </a:cubicBezTo>
                  <a:cubicBezTo>
                    <a:pt x="147" y="119"/>
                    <a:pt x="147" y="119"/>
                    <a:pt x="147" y="119"/>
                  </a:cubicBezTo>
                  <a:cubicBezTo>
                    <a:pt x="149" y="121"/>
                    <a:pt x="150" y="125"/>
                    <a:pt x="147" y="127"/>
                  </a:cubicBezTo>
                  <a:cubicBezTo>
                    <a:pt x="146" y="129"/>
                    <a:pt x="145" y="129"/>
                    <a:pt x="143" y="1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5" name="Freeform 220">
              <a:extLst>
                <a:ext uri="{FF2B5EF4-FFF2-40B4-BE49-F238E27FC236}">
                  <a16:creationId xmlns:a16="http://schemas.microsoft.com/office/drawing/2014/main" id="{8EED7B1F-9F3A-19EA-DFF7-304792AF1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3191"/>
              <a:ext cx="82" cy="80"/>
            </a:xfrm>
            <a:custGeom>
              <a:avLst/>
              <a:gdLst>
                <a:gd name="T0" fmla="*/ 7 w 55"/>
                <a:gd name="T1" fmla="*/ 54 h 54"/>
                <a:gd name="T2" fmla="*/ 3 w 55"/>
                <a:gd name="T3" fmla="*/ 53 h 54"/>
                <a:gd name="T4" fmla="*/ 3 w 55"/>
                <a:gd name="T5" fmla="*/ 44 h 54"/>
                <a:gd name="T6" fmla="*/ 44 w 55"/>
                <a:gd name="T7" fmla="*/ 2 h 54"/>
                <a:gd name="T8" fmla="*/ 53 w 55"/>
                <a:gd name="T9" fmla="*/ 2 h 54"/>
                <a:gd name="T10" fmla="*/ 53 w 55"/>
                <a:gd name="T11" fmla="*/ 11 h 54"/>
                <a:gd name="T12" fmla="*/ 11 w 55"/>
                <a:gd name="T13" fmla="*/ 53 h 54"/>
                <a:gd name="T14" fmla="*/ 7 w 55"/>
                <a:gd name="T1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54">
                  <a:moveTo>
                    <a:pt x="7" y="54"/>
                  </a:moveTo>
                  <a:cubicBezTo>
                    <a:pt x="5" y="54"/>
                    <a:pt x="4" y="54"/>
                    <a:pt x="3" y="53"/>
                  </a:cubicBezTo>
                  <a:cubicBezTo>
                    <a:pt x="0" y="50"/>
                    <a:pt x="0" y="46"/>
                    <a:pt x="3" y="44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7" y="0"/>
                    <a:pt x="50" y="0"/>
                    <a:pt x="53" y="2"/>
                  </a:cubicBezTo>
                  <a:cubicBezTo>
                    <a:pt x="55" y="4"/>
                    <a:pt x="55" y="8"/>
                    <a:pt x="53" y="11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0" y="54"/>
                    <a:pt x="8" y="54"/>
                    <a:pt x="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6" name="Freeform 221">
              <a:extLst>
                <a:ext uri="{FF2B5EF4-FFF2-40B4-BE49-F238E27FC236}">
                  <a16:creationId xmlns:a16="http://schemas.microsoft.com/office/drawing/2014/main" id="{3D8C4660-8372-9733-AD33-6B5F1ED5B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3248"/>
              <a:ext cx="91" cy="89"/>
            </a:xfrm>
            <a:custGeom>
              <a:avLst/>
              <a:gdLst>
                <a:gd name="T0" fmla="*/ 7 w 61"/>
                <a:gd name="T1" fmla="*/ 60 h 60"/>
                <a:gd name="T2" fmla="*/ 3 w 61"/>
                <a:gd name="T3" fmla="*/ 59 h 60"/>
                <a:gd name="T4" fmla="*/ 3 w 61"/>
                <a:gd name="T5" fmla="*/ 50 h 60"/>
                <a:gd name="T6" fmla="*/ 51 w 61"/>
                <a:gd name="T7" fmla="*/ 2 h 60"/>
                <a:gd name="T8" fmla="*/ 59 w 61"/>
                <a:gd name="T9" fmla="*/ 2 h 60"/>
                <a:gd name="T10" fmla="*/ 59 w 61"/>
                <a:gd name="T11" fmla="*/ 11 h 60"/>
                <a:gd name="T12" fmla="*/ 11 w 61"/>
                <a:gd name="T13" fmla="*/ 59 h 60"/>
                <a:gd name="T14" fmla="*/ 7 w 61"/>
                <a:gd name="T15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0">
                  <a:moveTo>
                    <a:pt x="7" y="60"/>
                  </a:moveTo>
                  <a:cubicBezTo>
                    <a:pt x="5" y="60"/>
                    <a:pt x="4" y="60"/>
                    <a:pt x="3" y="59"/>
                  </a:cubicBezTo>
                  <a:cubicBezTo>
                    <a:pt x="0" y="56"/>
                    <a:pt x="0" y="52"/>
                    <a:pt x="3" y="50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0"/>
                    <a:pt x="57" y="0"/>
                    <a:pt x="59" y="2"/>
                  </a:cubicBezTo>
                  <a:cubicBezTo>
                    <a:pt x="61" y="4"/>
                    <a:pt x="61" y="8"/>
                    <a:pt x="59" y="11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10" y="60"/>
                    <a:pt x="8" y="60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197" name="Freeform 222">
              <a:extLst>
                <a:ext uri="{FF2B5EF4-FFF2-40B4-BE49-F238E27FC236}">
                  <a16:creationId xmlns:a16="http://schemas.microsoft.com/office/drawing/2014/main" id="{BBBDA1FC-BB73-BC99-8E6D-354F4961D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3315"/>
              <a:ext cx="91" cy="89"/>
            </a:xfrm>
            <a:custGeom>
              <a:avLst/>
              <a:gdLst>
                <a:gd name="T0" fmla="*/ 7 w 61"/>
                <a:gd name="T1" fmla="*/ 60 h 60"/>
                <a:gd name="T2" fmla="*/ 3 w 61"/>
                <a:gd name="T3" fmla="*/ 59 h 60"/>
                <a:gd name="T4" fmla="*/ 3 w 61"/>
                <a:gd name="T5" fmla="*/ 50 h 60"/>
                <a:gd name="T6" fmla="*/ 51 w 61"/>
                <a:gd name="T7" fmla="*/ 2 h 60"/>
                <a:gd name="T8" fmla="*/ 59 w 61"/>
                <a:gd name="T9" fmla="*/ 2 h 60"/>
                <a:gd name="T10" fmla="*/ 59 w 61"/>
                <a:gd name="T11" fmla="*/ 11 h 60"/>
                <a:gd name="T12" fmla="*/ 11 w 61"/>
                <a:gd name="T13" fmla="*/ 59 h 60"/>
                <a:gd name="T14" fmla="*/ 7 w 61"/>
                <a:gd name="T15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0">
                  <a:moveTo>
                    <a:pt x="7" y="60"/>
                  </a:moveTo>
                  <a:cubicBezTo>
                    <a:pt x="5" y="60"/>
                    <a:pt x="4" y="60"/>
                    <a:pt x="3" y="59"/>
                  </a:cubicBezTo>
                  <a:cubicBezTo>
                    <a:pt x="0" y="56"/>
                    <a:pt x="0" y="52"/>
                    <a:pt x="3" y="50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0"/>
                    <a:pt x="57" y="0"/>
                    <a:pt x="59" y="2"/>
                  </a:cubicBezTo>
                  <a:cubicBezTo>
                    <a:pt x="61" y="4"/>
                    <a:pt x="61" y="8"/>
                    <a:pt x="59" y="11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10" y="60"/>
                    <a:pt x="8" y="60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198" name="Group 39">
            <a:extLst>
              <a:ext uri="{FF2B5EF4-FFF2-40B4-BE49-F238E27FC236}">
                <a16:creationId xmlns:a16="http://schemas.microsoft.com/office/drawing/2014/main" id="{C4EEB0B9-AFC3-B978-A9E9-CFF189A6990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835058" y="1777438"/>
            <a:ext cx="428048" cy="410926"/>
            <a:chOff x="3425" y="429"/>
            <a:chExt cx="450" cy="432"/>
          </a:xfrm>
          <a:solidFill>
            <a:schemeClr val="accent1"/>
          </a:solidFill>
        </p:grpSpPr>
        <p:sp>
          <p:nvSpPr>
            <p:cNvPr id="199" name="Freeform 40">
              <a:extLst>
                <a:ext uri="{FF2B5EF4-FFF2-40B4-BE49-F238E27FC236}">
                  <a16:creationId xmlns:a16="http://schemas.microsoft.com/office/drawing/2014/main" id="{EDA28DB7-BB46-14AC-5AA5-43BEBE332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494"/>
              <a:ext cx="302" cy="302"/>
            </a:xfrm>
            <a:custGeom>
              <a:avLst/>
              <a:gdLst>
                <a:gd name="T0" fmla="*/ 7 w 204"/>
                <a:gd name="T1" fmla="*/ 203 h 204"/>
                <a:gd name="T2" fmla="*/ 20 w 204"/>
                <a:gd name="T3" fmla="*/ 172 h 204"/>
                <a:gd name="T4" fmla="*/ 32 w 204"/>
                <a:gd name="T5" fmla="*/ 177 h 204"/>
                <a:gd name="T6" fmla="*/ 41 w 204"/>
                <a:gd name="T7" fmla="*/ 169 h 204"/>
                <a:gd name="T8" fmla="*/ 41 w 204"/>
                <a:gd name="T9" fmla="*/ 143 h 204"/>
                <a:gd name="T10" fmla="*/ 71 w 204"/>
                <a:gd name="T11" fmla="*/ 145 h 204"/>
                <a:gd name="T12" fmla="*/ 75 w 204"/>
                <a:gd name="T13" fmla="*/ 143 h 204"/>
                <a:gd name="T14" fmla="*/ 75 w 204"/>
                <a:gd name="T15" fmla="*/ 135 h 204"/>
                <a:gd name="T16" fmla="*/ 88 w 204"/>
                <a:gd name="T17" fmla="*/ 104 h 204"/>
                <a:gd name="T18" fmla="*/ 100 w 204"/>
                <a:gd name="T19" fmla="*/ 109 h 204"/>
                <a:gd name="T20" fmla="*/ 105 w 204"/>
                <a:gd name="T21" fmla="*/ 111 h 204"/>
                <a:gd name="T22" fmla="*/ 111 w 204"/>
                <a:gd name="T23" fmla="*/ 105 h 204"/>
                <a:gd name="T24" fmla="*/ 109 w 204"/>
                <a:gd name="T25" fmla="*/ 75 h 204"/>
                <a:gd name="T26" fmla="*/ 143 w 204"/>
                <a:gd name="T27" fmla="*/ 75 h 204"/>
                <a:gd name="T28" fmla="*/ 143 w 204"/>
                <a:gd name="T29" fmla="*/ 41 h 204"/>
                <a:gd name="T30" fmla="*/ 177 w 204"/>
                <a:gd name="T31" fmla="*/ 41 h 204"/>
                <a:gd name="T32" fmla="*/ 177 w 204"/>
                <a:gd name="T33" fmla="*/ 33 h 204"/>
                <a:gd name="T34" fmla="*/ 202 w 204"/>
                <a:gd name="T35" fmla="*/ 8 h 204"/>
                <a:gd name="T36" fmla="*/ 194 w 204"/>
                <a:gd name="T37" fmla="*/ 16 h 204"/>
                <a:gd name="T38" fmla="*/ 185 w 204"/>
                <a:gd name="T39" fmla="*/ 24 h 204"/>
                <a:gd name="T40" fmla="*/ 185 w 204"/>
                <a:gd name="T41" fmla="*/ 50 h 204"/>
                <a:gd name="T42" fmla="*/ 160 w 204"/>
                <a:gd name="T43" fmla="*/ 50 h 204"/>
                <a:gd name="T44" fmla="*/ 151 w 204"/>
                <a:gd name="T45" fmla="*/ 58 h 204"/>
                <a:gd name="T46" fmla="*/ 139 w 204"/>
                <a:gd name="T47" fmla="*/ 89 h 204"/>
                <a:gd name="T48" fmla="*/ 117 w 204"/>
                <a:gd name="T49" fmla="*/ 84 h 204"/>
                <a:gd name="T50" fmla="*/ 123 w 204"/>
                <a:gd name="T51" fmla="*/ 105 h 204"/>
                <a:gd name="T52" fmla="*/ 105 w 204"/>
                <a:gd name="T53" fmla="*/ 123 h 204"/>
                <a:gd name="T54" fmla="*/ 92 w 204"/>
                <a:gd name="T55" fmla="*/ 118 h 204"/>
                <a:gd name="T56" fmla="*/ 88 w 204"/>
                <a:gd name="T57" fmla="*/ 116 h 204"/>
                <a:gd name="T58" fmla="*/ 83 w 204"/>
                <a:gd name="T59" fmla="*/ 126 h 204"/>
                <a:gd name="T60" fmla="*/ 83 w 204"/>
                <a:gd name="T61" fmla="*/ 152 h 204"/>
                <a:gd name="T62" fmla="*/ 71 w 204"/>
                <a:gd name="T63" fmla="*/ 157 h 204"/>
                <a:gd name="T64" fmla="*/ 49 w 204"/>
                <a:gd name="T65" fmla="*/ 152 h 204"/>
                <a:gd name="T66" fmla="*/ 49 w 204"/>
                <a:gd name="T67" fmla="*/ 160 h 204"/>
                <a:gd name="T68" fmla="*/ 24 w 204"/>
                <a:gd name="T69" fmla="*/ 186 h 204"/>
                <a:gd name="T70" fmla="*/ 20 w 204"/>
                <a:gd name="T71" fmla="*/ 184 h 204"/>
                <a:gd name="T72" fmla="*/ 15 w 204"/>
                <a:gd name="T73" fmla="*/ 194 h 204"/>
                <a:gd name="T74" fmla="*/ 11 w 204"/>
                <a:gd name="T75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4" h="204">
                  <a:moveTo>
                    <a:pt x="11" y="204"/>
                  </a:moveTo>
                  <a:cubicBezTo>
                    <a:pt x="10" y="204"/>
                    <a:pt x="8" y="204"/>
                    <a:pt x="7" y="203"/>
                  </a:cubicBezTo>
                  <a:cubicBezTo>
                    <a:pt x="0" y="196"/>
                    <a:pt x="0" y="184"/>
                    <a:pt x="7" y="177"/>
                  </a:cubicBezTo>
                  <a:cubicBezTo>
                    <a:pt x="10" y="174"/>
                    <a:pt x="15" y="172"/>
                    <a:pt x="20" y="172"/>
                  </a:cubicBezTo>
                  <a:cubicBezTo>
                    <a:pt x="20" y="172"/>
                    <a:pt x="20" y="172"/>
                    <a:pt x="20" y="172"/>
                  </a:cubicBezTo>
                  <a:cubicBezTo>
                    <a:pt x="25" y="172"/>
                    <a:pt x="29" y="174"/>
                    <a:pt x="32" y="177"/>
                  </a:cubicBezTo>
                  <a:cubicBezTo>
                    <a:pt x="35" y="180"/>
                    <a:pt x="39" y="180"/>
                    <a:pt x="41" y="177"/>
                  </a:cubicBezTo>
                  <a:cubicBezTo>
                    <a:pt x="43" y="175"/>
                    <a:pt x="43" y="171"/>
                    <a:pt x="41" y="169"/>
                  </a:cubicBezTo>
                  <a:cubicBezTo>
                    <a:pt x="38" y="165"/>
                    <a:pt x="36" y="161"/>
                    <a:pt x="36" y="156"/>
                  </a:cubicBezTo>
                  <a:cubicBezTo>
                    <a:pt x="36" y="151"/>
                    <a:pt x="38" y="147"/>
                    <a:pt x="41" y="143"/>
                  </a:cubicBezTo>
                  <a:cubicBezTo>
                    <a:pt x="48" y="136"/>
                    <a:pt x="59" y="136"/>
                    <a:pt x="66" y="143"/>
                  </a:cubicBezTo>
                  <a:cubicBezTo>
                    <a:pt x="68" y="144"/>
                    <a:pt x="69" y="145"/>
                    <a:pt x="71" y="145"/>
                  </a:cubicBezTo>
                  <a:cubicBezTo>
                    <a:pt x="71" y="145"/>
                    <a:pt x="71" y="145"/>
                    <a:pt x="71" y="145"/>
                  </a:cubicBezTo>
                  <a:cubicBezTo>
                    <a:pt x="72" y="145"/>
                    <a:pt x="74" y="144"/>
                    <a:pt x="75" y="143"/>
                  </a:cubicBezTo>
                  <a:cubicBezTo>
                    <a:pt x="76" y="142"/>
                    <a:pt x="77" y="141"/>
                    <a:pt x="77" y="139"/>
                  </a:cubicBezTo>
                  <a:cubicBezTo>
                    <a:pt x="77" y="137"/>
                    <a:pt x="76" y="136"/>
                    <a:pt x="75" y="135"/>
                  </a:cubicBezTo>
                  <a:cubicBezTo>
                    <a:pt x="68" y="128"/>
                    <a:pt x="68" y="116"/>
                    <a:pt x="75" y="109"/>
                  </a:cubicBezTo>
                  <a:cubicBezTo>
                    <a:pt x="78" y="106"/>
                    <a:pt x="83" y="104"/>
                    <a:pt x="88" y="104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92" y="104"/>
                    <a:pt x="97" y="106"/>
                    <a:pt x="100" y="109"/>
                  </a:cubicBezTo>
                  <a:cubicBezTo>
                    <a:pt x="101" y="110"/>
                    <a:pt x="103" y="111"/>
                    <a:pt x="105" y="111"/>
                  </a:cubicBezTo>
                  <a:cubicBezTo>
                    <a:pt x="105" y="111"/>
                    <a:pt x="105" y="111"/>
                    <a:pt x="105" y="111"/>
                  </a:cubicBezTo>
                  <a:cubicBezTo>
                    <a:pt x="106" y="111"/>
                    <a:pt x="108" y="110"/>
                    <a:pt x="109" y="109"/>
                  </a:cubicBezTo>
                  <a:cubicBezTo>
                    <a:pt x="110" y="108"/>
                    <a:pt x="111" y="107"/>
                    <a:pt x="111" y="105"/>
                  </a:cubicBezTo>
                  <a:cubicBezTo>
                    <a:pt x="111" y="103"/>
                    <a:pt x="110" y="102"/>
                    <a:pt x="109" y="101"/>
                  </a:cubicBezTo>
                  <a:cubicBezTo>
                    <a:pt x="102" y="94"/>
                    <a:pt x="102" y="82"/>
                    <a:pt x="109" y="75"/>
                  </a:cubicBezTo>
                  <a:cubicBezTo>
                    <a:pt x="116" y="68"/>
                    <a:pt x="127" y="68"/>
                    <a:pt x="134" y="75"/>
                  </a:cubicBezTo>
                  <a:cubicBezTo>
                    <a:pt x="137" y="78"/>
                    <a:pt x="140" y="78"/>
                    <a:pt x="143" y="75"/>
                  </a:cubicBezTo>
                  <a:cubicBezTo>
                    <a:pt x="145" y="73"/>
                    <a:pt x="145" y="69"/>
                    <a:pt x="143" y="67"/>
                  </a:cubicBezTo>
                  <a:cubicBezTo>
                    <a:pt x="136" y="60"/>
                    <a:pt x="136" y="48"/>
                    <a:pt x="143" y="41"/>
                  </a:cubicBezTo>
                  <a:cubicBezTo>
                    <a:pt x="150" y="34"/>
                    <a:pt x="161" y="34"/>
                    <a:pt x="168" y="41"/>
                  </a:cubicBezTo>
                  <a:cubicBezTo>
                    <a:pt x="170" y="44"/>
                    <a:pt x="174" y="44"/>
                    <a:pt x="177" y="41"/>
                  </a:cubicBezTo>
                  <a:cubicBezTo>
                    <a:pt x="178" y="40"/>
                    <a:pt x="178" y="39"/>
                    <a:pt x="178" y="37"/>
                  </a:cubicBezTo>
                  <a:cubicBezTo>
                    <a:pt x="178" y="36"/>
                    <a:pt x="178" y="34"/>
                    <a:pt x="177" y="33"/>
                  </a:cubicBezTo>
                  <a:cubicBezTo>
                    <a:pt x="170" y="26"/>
                    <a:pt x="170" y="15"/>
                    <a:pt x="177" y="8"/>
                  </a:cubicBezTo>
                  <a:cubicBezTo>
                    <a:pt x="184" y="0"/>
                    <a:pt x="195" y="0"/>
                    <a:pt x="202" y="8"/>
                  </a:cubicBezTo>
                  <a:cubicBezTo>
                    <a:pt x="204" y="10"/>
                    <a:pt x="204" y="14"/>
                    <a:pt x="202" y="16"/>
                  </a:cubicBezTo>
                  <a:cubicBezTo>
                    <a:pt x="200" y="18"/>
                    <a:pt x="196" y="18"/>
                    <a:pt x="194" y="16"/>
                  </a:cubicBezTo>
                  <a:cubicBezTo>
                    <a:pt x="191" y="14"/>
                    <a:pt x="188" y="14"/>
                    <a:pt x="185" y="16"/>
                  </a:cubicBezTo>
                  <a:cubicBezTo>
                    <a:pt x="183" y="18"/>
                    <a:pt x="183" y="22"/>
                    <a:pt x="185" y="24"/>
                  </a:cubicBezTo>
                  <a:cubicBezTo>
                    <a:pt x="189" y="28"/>
                    <a:pt x="190" y="32"/>
                    <a:pt x="190" y="37"/>
                  </a:cubicBezTo>
                  <a:cubicBezTo>
                    <a:pt x="190" y="42"/>
                    <a:pt x="189" y="47"/>
                    <a:pt x="185" y="50"/>
                  </a:cubicBezTo>
                  <a:cubicBezTo>
                    <a:pt x="182" y="53"/>
                    <a:pt x="177" y="55"/>
                    <a:pt x="172" y="55"/>
                  </a:cubicBezTo>
                  <a:cubicBezTo>
                    <a:pt x="168" y="55"/>
                    <a:pt x="163" y="53"/>
                    <a:pt x="160" y="50"/>
                  </a:cubicBezTo>
                  <a:cubicBezTo>
                    <a:pt x="157" y="48"/>
                    <a:pt x="154" y="48"/>
                    <a:pt x="151" y="50"/>
                  </a:cubicBezTo>
                  <a:cubicBezTo>
                    <a:pt x="149" y="52"/>
                    <a:pt x="149" y="56"/>
                    <a:pt x="151" y="58"/>
                  </a:cubicBezTo>
                  <a:cubicBezTo>
                    <a:pt x="158" y="65"/>
                    <a:pt x="158" y="77"/>
                    <a:pt x="151" y="84"/>
                  </a:cubicBezTo>
                  <a:cubicBezTo>
                    <a:pt x="148" y="87"/>
                    <a:pt x="143" y="89"/>
                    <a:pt x="139" y="89"/>
                  </a:cubicBezTo>
                  <a:cubicBezTo>
                    <a:pt x="134" y="89"/>
                    <a:pt x="129" y="87"/>
                    <a:pt x="126" y="84"/>
                  </a:cubicBezTo>
                  <a:cubicBezTo>
                    <a:pt x="123" y="82"/>
                    <a:pt x="120" y="82"/>
                    <a:pt x="117" y="84"/>
                  </a:cubicBezTo>
                  <a:cubicBezTo>
                    <a:pt x="115" y="86"/>
                    <a:pt x="115" y="90"/>
                    <a:pt x="117" y="92"/>
                  </a:cubicBezTo>
                  <a:cubicBezTo>
                    <a:pt x="121" y="96"/>
                    <a:pt x="123" y="100"/>
                    <a:pt x="123" y="105"/>
                  </a:cubicBezTo>
                  <a:cubicBezTo>
                    <a:pt x="123" y="110"/>
                    <a:pt x="121" y="114"/>
                    <a:pt x="117" y="118"/>
                  </a:cubicBezTo>
                  <a:cubicBezTo>
                    <a:pt x="114" y="121"/>
                    <a:pt x="109" y="123"/>
                    <a:pt x="105" y="123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00" y="123"/>
                    <a:pt x="95" y="121"/>
                    <a:pt x="92" y="118"/>
                  </a:cubicBezTo>
                  <a:cubicBezTo>
                    <a:pt x="91" y="117"/>
                    <a:pt x="89" y="116"/>
                    <a:pt x="88" y="116"/>
                  </a:cubicBezTo>
                  <a:cubicBezTo>
                    <a:pt x="88" y="116"/>
                    <a:pt x="88" y="116"/>
                    <a:pt x="88" y="116"/>
                  </a:cubicBezTo>
                  <a:cubicBezTo>
                    <a:pt x="86" y="116"/>
                    <a:pt x="84" y="117"/>
                    <a:pt x="83" y="118"/>
                  </a:cubicBezTo>
                  <a:cubicBezTo>
                    <a:pt x="81" y="120"/>
                    <a:pt x="81" y="124"/>
                    <a:pt x="83" y="126"/>
                  </a:cubicBezTo>
                  <a:cubicBezTo>
                    <a:pt x="87" y="130"/>
                    <a:pt x="89" y="134"/>
                    <a:pt x="89" y="139"/>
                  </a:cubicBezTo>
                  <a:cubicBezTo>
                    <a:pt x="89" y="144"/>
                    <a:pt x="87" y="148"/>
                    <a:pt x="83" y="152"/>
                  </a:cubicBezTo>
                  <a:cubicBezTo>
                    <a:pt x="80" y="155"/>
                    <a:pt x="75" y="157"/>
                    <a:pt x="71" y="157"/>
                  </a:cubicBezTo>
                  <a:cubicBezTo>
                    <a:pt x="71" y="157"/>
                    <a:pt x="71" y="157"/>
                    <a:pt x="71" y="157"/>
                  </a:cubicBezTo>
                  <a:cubicBezTo>
                    <a:pt x="66" y="157"/>
                    <a:pt x="61" y="155"/>
                    <a:pt x="58" y="152"/>
                  </a:cubicBezTo>
                  <a:cubicBezTo>
                    <a:pt x="56" y="149"/>
                    <a:pt x="52" y="149"/>
                    <a:pt x="49" y="152"/>
                  </a:cubicBezTo>
                  <a:cubicBezTo>
                    <a:pt x="48" y="153"/>
                    <a:pt x="48" y="154"/>
                    <a:pt x="48" y="156"/>
                  </a:cubicBezTo>
                  <a:cubicBezTo>
                    <a:pt x="48" y="158"/>
                    <a:pt x="48" y="159"/>
                    <a:pt x="49" y="160"/>
                  </a:cubicBezTo>
                  <a:cubicBezTo>
                    <a:pt x="56" y="167"/>
                    <a:pt x="56" y="179"/>
                    <a:pt x="49" y="186"/>
                  </a:cubicBezTo>
                  <a:cubicBezTo>
                    <a:pt x="42" y="193"/>
                    <a:pt x="31" y="193"/>
                    <a:pt x="24" y="186"/>
                  </a:cubicBezTo>
                  <a:cubicBezTo>
                    <a:pt x="23" y="185"/>
                    <a:pt x="21" y="184"/>
                    <a:pt x="20" y="184"/>
                  </a:cubicBezTo>
                  <a:cubicBezTo>
                    <a:pt x="20" y="184"/>
                    <a:pt x="20" y="184"/>
                    <a:pt x="20" y="184"/>
                  </a:cubicBezTo>
                  <a:cubicBezTo>
                    <a:pt x="18" y="184"/>
                    <a:pt x="17" y="185"/>
                    <a:pt x="15" y="186"/>
                  </a:cubicBezTo>
                  <a:cubicBezTo>
                    <a:pt x="13" y="188"/>
                    <a:pt x="13" y="192"/>
                    <a:pt x="15" y="194"/>
                  </a:cubicBezTo>
                  <a:cubicBezTo>
                    <a:pt x="18" y="197"/>
                    <a:pt x="18" y="200"/>
                    <a:pt x="15" y="203"/>
                  </a:cubicBezTo>
                  <a:cubicBezTo>
                    <a:pt x="14" y="204"/>
                    <a:pt x="13" y="204"/>
                    <a:pt x="11" y="2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0" name="Freeform 41">
              <a:extLst>
                <a:ext uri="{FF2B5EF4-FFF2-40B4-BE49-F238E27FC236}">
                  <a16:creationId xmlns:a16="http://schemas.microsoft.com/office/drawing/2014/main" id="{3461C141-C6E1-A078-2EB9-4A72B0E82E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57" y="456"/>
              <a:ext cx="386" cy="381"/>
            </a:xfrm>
            <a:custGeom>
              <a:avLst/>
              <a:gdLst>
                <a:gd name="T0" fmla="*/ 46 w 261"/>
                <a:gd name="T1" fmla="*/ 258 h 258"/>
                <a:gd name="T2" fmla="*/ 16 w 261"/>
                <a:gd name="T3" fmla="*/ 246 h 258"/>
                <a:gd name="T4" fmla="*/ 16 w 261"/>
                <a:gd name="T5" fmla="*/ 186 h 258"/>
                <a:gd name="T6" fmla="*/ 16 w 261"/>
                <a:gd name="T7" fmla="*/ 186 h 258"/>
                <a:gd name="T8" fmla="*/ 186 w 261"/>
                <a:gd name="T9" fmla="*/ 17 h 258"/>
                <a:gd name="T10" fmla="*/ 245 w 261"/>
                <a:gd name="T11" fmla="*/ 17 h 258"/>
                <a:gd name="T12" fmla="*/ 245 w 261"/>
                <a:gd name="T13" fmla="*/ 76 h 258"/>
                <a:gd name="T14" fmla="*/ 75 w 261"/>
                <a:gd name="T15" fmla="*/ 246 h 258"/>
                <a:gd name="T16" fmla="*/ 46 w 261"/>
                <a:gd name="T17" fmla="*/ 258 h 258"/>
                <a:gd name="T18" fmla="*/ 24 w 261"/>
                <a:gd name="T19" fmla="*/ 195 h 258"/>
                <a:gd name="T20" fmla="*/ 24 w 261"/>
                <a:gd name="T21" fmla="*/ 237 h 258"/>
                <a:gd name="T22" fmla="*/ 46 w 261"/>
                <a:gd name="T23" fmla="*/ 246 h 258"/>
                <a:gd name="T24" fmla="*/ 67 w 261"/>
                <a:gd name="T25" fmla="*/ 237 h 258"/>
                <a:gd name="T26" fmla="*/ 237 w 261"/>
                <a:gd name="T27" fmla="*/ 67 h 258"/>
                <a:gd name="T28" fmla="*/ 237 w 261"/>
                <a:gd name="T29" fmla="*/ 25 h 258"/>
                <a:gd name="T30" fmla="*/ 194 w 261"/>
                <a:gd name="T31" fmla="*/ 25 h 258"/>
                <a:gd name="T32" fmla="*/ 24 w 261"/>
                <a:gd name="T33" fmla="*/ 19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1" h="258">
                  <a:moveTo>
                    <a:pt x="46" y="258"/>
                  </a:moveTo>
                  <a:cubicBezTo>
                    <a:pt x="34" y="258"/>
                    <a:pt x="24" y="254"/>
                    <a:pt x="16" y="246"/>
                  </a:cubicBezTo>
                  <a:cubicBezTo>
                    <a:pt x="0" y="229"/>
                    <a:pt x="0" y="203"/>
                    <a:pt x="16" y="186"/>
                  </a:cubicBezTo>
                  <a:cubicBezTo>
                    <a:pt x="16" y="186"/>
                    <a:pt x="16" y="186"/>
                    <a:pt x="16" y="186"/>
                  </a:cubicBezTo>
                  <a:cubicBezTo>
                    <a:pt x="186" y="17"/>
                    <a:pt x="186" y="17"/>
                    <a:pt x="186" y="17"/>
                  </a:cubicBezTo>
                  <a:cubicBezTo>
                    <a:pt x="202" y="0"/>
                    <a:pt x="229" y="0"/>
                    <a:pt x="245" y="17"/>
                  </a:cubicBezTo>
                  <a:cubicBezTo>
                    <a:pt x="261" y="33"/>
                    <a:pt x="261" y="60"/>
                    <a:pt x="245" y="76"/>
                  </a:cubicBezTo>
                  <a:cubicBezTo>
                    <a:pt x="75" y="246"/>
                    <a:pt x="75" y="246"/>
                    <a:pt x="75" y="246"/>
                  </a:cubicBezTo>
                  <a:cubicBezTo>
                    <a:pt x="67" y="254"/>
                    <a:pt x="57" y="258"/>
                    <a:pt x="46" y="258"/>
                  </a:cubicBezTo>
                  <a:close/>
                  <a:moveTo>
                    <a:pt x="24" y="195"/>
                  </a:moveTo>
                  <a:cubicBezTo>
                    <a:pt x="13" y="206"/>
                    <a:pt x="13" y="225"/>
                    <a:pt x="24" y="237"/>
                  </a:cubicBezTo>
                  <a:cubicBezTo>
                    <a:pt x="30" y="243"/>
                    <a:pt x="38" y="246"/>
                    <a:pt x="46" y="246"/>
                  </a:cubicBezTo>
                  <a:cubicBezTo>
                    <a:pt x="54" y="246"/>
                    <a:pt x="61" y="243"/>
                    <a:pt x="67" y="237"/>
                  </a:cubicBezTo>
                  <a:cubicBezTo>
                    <a:pt x="237" y="67"/>
                    <a:pt x="237" y="67"/>
                    <a:pt x="237" y="67"/>
                  </a:cubicBezTo>
                  <a:cubicBezTo>
                    <a:pt x="248" y="56"/>
                    <a:pt x="248" y="37"/>
                    <a:pt x="237" y="25"/>
                  </a:cubicBezTo>
                  <a:cubicBezTo>
                    <a:pt x="225" y="13"/>
                    <a:pt x="206" y="13"/>
                    <a:pt x="194" y="25"/>
                  </a:cubicBezTo>
                  <a:cubicBezTo>
                    <a:pt x="24" y="195"/>
                    <a:pt x="24" y="195"/>
                    <a:pt x="24" y="1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1" name="Freeform 42">
              <a:extLst>
                <a:ext uri="{FF2B5EF4-FFF2-40B4-BE49-F238E27FC236}">
                  <a16:creationId xmlns:a16="http://schemas.microsoft.com/office/drawing/2014/main" id="{F3A08665-3675-E5C1-392B-42D6C03FC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531"/>
              <a:ext cx="343" cy="330"/>
            </a:xfrm>
            <a:custGeom>
              <a:avLst/>
              <a:gdLst>
                <a:gd name="T0" fmla="*/ 42 w 232"/>
                <a:gd name="T1" fmla="*/ 223 h 223"/>
                <a:gd name="T2" fmla="*/ 42 w 232"/>
                <a:gd name="T3" fmla="*/ 223 h 223"/>
                <a:gd name="T4" fmla="*/ 0 w 232"/>
                <a:gd name="T5" fmla="*/ 204 h 223"/>
                <a:gd name="T6" fmla="*/ 8 w 232"/>
                <a:gd name="T7" fmla="*/ 196 h 223"/>
                <a:gd name="T8" fmla="*/ 42 w 232"/>
                <a:gd name="T9" fmla="*/ 211 h 223"/>
                <a:gd name="T10" fmla="*/ 42 w 232"/>
                <a:gd name="T11" fmla="*/ 211 h 223"/>
                <a:gd name="T12" fmla="*/ 71 w 232"/>
                <a:gd name="T13" fmla="*/ 199 h 223"/>
                <a:gd name="T14" fmla="*/ 198 w 232"/>
                <a:gd name="T15" fmla="*/ 72 h 223"/>
                <a:gd name="T16" fmla="*/ 195 w 232"/>
                <a:gd name="T17" fmla="*/ 9 h 223"/>
                <a:gd name="T18" fmla="*/ 204 w 232"/>
                <a:gd name="T19" fmla="*/ 0 h 223"/>
                <a:gd name="T20" fmla="*/ 207 w 232"/>
                <a:gd name="T21" fmla="*/ 80 h 223"/>
                <a:gd name="T22" fmla="*/ 80 w 232"/>
                <a:gd name="T23" fmla="*/ 207 h 223"/>
                <a:gd name="T24" fmla="*/ 42 w 232"/>
                <a:gd name="T25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" h="223">
                  <a:moveTo>
                    <a:pt x="42" y="223"/>
                  </a:moveTo>
                  <a:cubicBezTo>
                    <a:pt x="42" y="223"/>
                    <a:pt x="42" y="223"/>
                    <a:pt x="42" y="223"/>
                  </a:cubicBezTo>
                  <a:cubicBezTo>
                    <a:pt x="26" y="223"/>
                    <a:pt x="12" y="216"/>
                    <a:pt x="0" y="204"/>
                  </a:cubicBezTo>
                  <a:cubicBezTo>
                    <a:pt x="8" y="196"/>
                    <a:pt x="8" y="196"/>
                    <a:pt x="8" y="196"/>
                  </a:cubicBezTo>
                  <a:cubicBezTo>
                    <a:pt x="18" y="206"/>
                    <a:pt x="30" y="211"/>
                    <a:pt x="42" y="211"/>
                  </a:cubicBezTo>
                  <a:cubicBezTo>
                    <a:pt x="42" y="211"/>
                    <a:pt x="42" y="211"/>
                    <a:pt x="42" y="211"/>
                  </a:cubicBezTo>
                  <a:cubicBezTo>
                    <a:pt x="53" y="211"/>
                    <a:pt x="63" y="207"/>
                    <a:pt x="71" y="199"/>
                  </a:cubicBezTo>
                  <a:cubicBezTo>
                    <a:pt x="198" y="72"/>
                    <a:pt x="198" y="72"/>
                    <a:pt x="198" y="72"/>
                  </a:cubicBezTo>
                  <a:cubicBezTo>
                    <a:pt x="212" y="58"/>
                    <a:pt x="219" y="34"/>
                    <a:pt x="195" y="9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232" y="30"/>
                    <a:pt x="226" y="61"/>
                    <a:pt x="207" y="80"/>
                  </a:cubicBezTo>
                  <a:cubicBezTo>
                    <a:pt x="80" y="207"/>
                    <a:pt x="80" y="207"/>
                    <a:pt x="80" y="207"/>
                  </a:cubicBezTo>
                  <a:cubicBezTo>
                    <a:pt x="70" y="217"/>
                    <a:pt x="56" y="223"/>
                    <a:pt x="42" y="2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2" name="Freeform 43">
              <a:extLst>
                <a:ext uri="{FF2B5EF4-FFF2-40B4-BE49-F238E27FC236}">
                  <a16:creationId xmlns:a16="http://schemas.microsoft.com/office/drawing/2014/main" id="{E16EA52D-6641-3782-9BF3-A1481E790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" y="429"/>
              <a:ext cx="347" cy="342"/>
            </a:xfrm>
            <a:custGeom>
              <a:avLst/>
              <a:gdLst>
                <a:gd name="T0" fmla="*/ 33 w 235"/>
                <a:gd name="T1" fmla="*/ 231 h 231"/>
                <a:gd name="T2" fmla="*/ 29 w 235"/>
                <a:gd name="T3" fmla="*/ 229 h 231"/>
                <a:gd name="T4" fmla="*/ 25 w 235"/>
                <a:gd name="T5" fmla="*/ 149 h 231"/>
                <a:gd name="T6" fmla="*/ 153 w 235"/>
                <a:gd name="T7" fmla="*/ 22 h 231"/>
                <a:gd name="T8" fmla="*/ 232 w 235"/>
                <a:gd name="T9" fmla="*/ 25 h 231"/>
                <a:gd name="T10" fmla="*/ 233 w 235"/>
                <a:gd name="T11" fmla="*/ 33 h 231"/>
                <a:gd name="T12" fmla="*/ 225 w 235"/>
                <a:gd name="T13" fmla="*/ 34 h 231"/>
                <a:gd name="T14" fmla="*/ 161 w 235"/>
                <a:gd name="T15" fmla="*/ 30 h 231"/>
                <a:gd name="T16" fmla="*/ 34 w 235"/>
                <a:gd name="T17" fmla="*/ 158 h 231"/>
                <a:gd name="T18" fmla="*/ 37 w 235"/>
                <a:gd name="T19" fmla="*/ 220 h 231"/>
                <a:gd name="T20" fmla="*/ 37 w 235"/>
                <a:gd name="T21" fmla="*/ 229 h 231"/>
                <a:gd name="T22" fmla="*/ 33 w 235"/>
                <a:gd name="T23" fmla="*/ 231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5" h="231">
                  <a:moveTo>
                    <a:pt x="33" y="231"/>
                  </a:moveTo>
                  <a:cubicBezTo>
                    <a:pt x="31" y="231"/>
                    <a:pt x="30" y="230"/>
                    <a:pt x="29" y="229"/>
                  </a:cubicBezTo>
                  <a:cubicBezTo>
                    <a:pt x="0" y="200"/>
                    <a:pt x="7" y="167"/>
                    <a:pt x="25" y="149"/>
                  </a:cubicBezTo>
                  <a:cubicBezTo>
                    <a:pt x="153" y="22"/>
                    <a:pt x="153" y="22"/>
                    <a:pt x="153" y="22"/>
                  </a:cubicBezTo>
                  <a:cubicBezTo>
                    <a:pt x="175" y="0"/>
                    <a:pt x="205" y="1"/>
                    <a:pt x="232" y="25"/>
                  </a:cubicBezTo>
                  <a:cubicBezTo>
                    <a:pt x="235" y="27"/>
                    <a:pt x="235" y="31"/>
                    <a:pt x="233" y="33"/>
                  </a:cubicBezTo>
                  <a:cubicBezTo>
                    <a:pt x="231" y="36"/>
                    <a:pt x="227" y="36"/>
                    <a:pt x="225" y="34"/>
                  </a:cubicBezTo>
                  <a:cubicBezTo>
                    <a:pt x="202" y="14"/>
                    <a:pt x="179" y="13"/>
                    <a:pt x="161" y="30"/>
                  </a:cubicBezTo>
                  <a:cubicBezTo>
                    <a:pt x="34" y="158"/>
                    <a:pt x="34" y="158"/>
                    <a:pt x="34" y="158"/>
                  </a:cubicBezTo>
                  <a:cubicBezTo>
                    <a:pt x="19" y="172"/>
                    <a:pt x="15" y="197"/>
                    <a:pt x="37" y="220"/>
                  </a:cubicBezTo>
                  <a:cubicBezTo>
                    <a:pt x="40" y="223"/>
                    <a:pt x="39" y="227"/>
                    <a:pt x="37" y="229"/>
                  </a:cubicBezTo>
                  <a:cubicBezTo>
                    <a:pt x="36" y="230"/>
                    <a:pt x="34" y="231"/>
                    <a:pt x="33" y="2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203" name="Group 48">
            <a:extLst>
              <a:ext uri="{FF2B5EF4-FFF2-40B4-BE49-F238E27FC236}">
                <a16:creationId xmlns:a16="http://schemas.microsoft.com/office/drawing/2014/main" id="{0DA8FC08-686B-F931-1D6F-CDF8F6C675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899204" y="1697975"/>
            <a:ext cx="452967" cy="450850"/>
            <a:chOff x="4478" y="440"/>
            <a:chExt cx="428" cy="426"/>
          </a:xfrm>
          <a:solidFill>
            <a:schemeClr val="accent1"/>
          </a:solidFill>
        </p:grpSpPr>
        <p:sp>
          <p:nvSpPr>
            <p:cNvPr id="204" name="Freeform 49">
              <a:extLst>
                <a:ext uri="{FF2B5EF4-FFF2-40B4-BE49-F238E27FC236}">
                  <a16:creationId xmlns:a16="http://schemas.microsoft.com/office/drawing/2014/main" id="{199C0208-9E81-A5E3-568B-D4617907CA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8" y="760"/>
              <a:ext cx="426" cy="106"/>
            </a:xfrm>
            <a:custGeom>
              <a:avLst/>
              <a:gdLst>
                <a:gd name="T0" fmla="*/ 282 w 288"/>
                <a:gd name="T1" fmla="*/ 72 h 72"/>
                <a:gd name="T2" fmla="*/ 6 w 288"/>
                <a:gd name="T3" fmla="*/ 72 h 72"/>
                <a:gd name="T4" fmla="*/ 0 w 288"/>
                <a:gd name="T5" fmla="*/ 66 h 72"/>
                <a:gd name="T6" fmla="*/ 0 w 288"/>
                <a:gd name="T7" fmla="*/ 6 h 72"/>
                <a:gd name="T8" fmla="*/ 6 w 288"/>
                <a:gd name="T9" fmla="*/ 0 h 72"/>
                <a:gd name="T10" fmla="*/ 282 w 288"/>
                <a:gd name="T11" fmla="*/ 0 h 72"/>
                <a:gd name="T12" fmla="*/ 288 w 288"/>
                <a:gd name="T13" fmla="*/ 6 h 72"/>
                <a:gd name="T14" fmla="*/ 288 w 288"/>
                <a:gd name="T15" fmla="*/ 66 h 72"/>
                <a:gd name="T16" fmla="*/ 282 w 288"/>
                <a:gd name="T17" fmla="*/ 72 h 72"/>
                <a:gd name="T18" fmla="*/ 12 w 288"/>
                <a:gd name="T19" fmla="*/ 60 h 72"/>
                <a:gd name="T20" fmla="*/ 276 w 288"/>
                <a:gd name="T21" fmla="*/ 60 h 72"/>
                <a:gd name="T22" fmla="*/ 276 w 288"/>
                <a:gd name="T23" fmla="*/ 12 h 72"/>
                <a:gd name="T24" fmla="*/ 12 w 288"/>
                <a:gd name="T25" fmla="*/ 12 h 72"/>
                <a:gd name="T26" fmla="*/ 12 w 288"/>
                <a:gd name="T27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8" h="72">
                  <a:moveTo>
                    <a:pt x="28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3"/>
                    <a:pt x="288" y="6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8" y="70"/>
                    <a:pt x="286" y="72"/>
                    <a:pt x="282" y="72"/>
                  </a:cubicBezTo>
                  <a:close/>
                  <a:moveTo>
                    <a:pt x="12" y="60"/>
                  </a:moveTo>
                  <a:cubicBezTo>
                    <a:pt x="276" y="60"/>
                    <a:pt x="276" y="60"/>
                    <a:pt x="276" y="60"/>
                  </a:cubicBezTo>
                  <a:cubicBezTo>
                    <a:pt x="276" y="12"/>
                    <a:pt x="276" y="12"/>
                    <a:pt x="27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5" name="Freeform 50">
              <a:extLst>
                <a:ext uri="{FF2B5EF4-FFF2-40B4-BE49-F238E27FC236}">
                  <a16:creationId xmlns:a16="http://schemas.microsoft.com/office/drawing/2014/main" id="{16B96484-BB65-027B-8480-7F3ED86684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8" y="653"/>
              <a:ext cx="428" cy="124"/>
            </a:xfrm>
            <a:custGeom>
              <a:avLst/>
              <a:gdLst>
                <a:gd name="T0" fmla="*/ 282 w 289"/>
                <a:gd name="T1" fmla="*/ 84 h 84"/>
                <a:gd name="T2" fmla="*/ 6 w 289"/>
                <a:gd name="T3" fmla="*/ 84 h 84"/>
                <a:gd name="T4" fmla="*/ 1 w 289"/>
                <a:gd name="T5" fmla="*/ 82 h 84"/>
                <a:gd name="T6" fmla="*/ 1 w 289"/>
                <a:gd name="T7" fmla="*/ 76 h 84"/>
                <a:gd name="T8" fmla="*/ 37 w 289"/>
                <a:gd name="T9" fmla="*/ 4 h 84"/>
                <a:gd name="T10" fmla="*/ 42 w 289"/>
                <a:gd name="T11" fmla="*/ 0 h 84"/>
                <a:gd name="T12" fmla="*/ 246 w 289"/>
                <a:gd name="T13" fmla="*/ 0 h 84"/>
                <a:gd name="T14" fmla="*/ 252 w 289"/>
                <a:gd name="T15" fmla="*/ 4 h 84"/>
                <a:gd name="T16" fmla="*/ 288 w 289"/>
                <a:gd name="T17" fmla="*/ 76 h 84"/>
                <a:gd name="T18" fmla="*/ 287 w 289"/>
                <a:gd name="T19" fmla="*/ 82 h 84"/>
                <a:gd name="T20" fmla="*/ 282 w 289"/>
                <a:gd name="T21" fmla="*/ 84 h 84"/>
                <a:gd name="T22" fmla="*/ 16 w 289"/>
                <a:gd name="T23" fmla="*/ 72 h 84"/>
                <a:gd name="T24" fmla="*/ 273 w 289"/>
                <a:gd name="T25" fmla="*/ 72 h 84"/>
                <a:gd name="T26" fmla="*/ 243 w 289"/>
                <a:gd name="T27" fmla="*/ 12 h 84"/>
                <a:gd name="T28" fmla="*/ 46 w 289"/>
                <a:gd name="T29" fmla="*/ 12 h 84"/>
                <a:gd name="T30" fmla="*/ 16 w 289"/>
                <a:gd name="T31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9" h="84">
                  <a:moveTo>
                    <a:pt x="28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4" y="84"/>
                    <a:pt x="2" y="83"/>
                    <a:pt x="1" y="82"/>
                  </a:cubicBezTo>
                  <a:cubicBezTo>
                    <a:pt x="0" y="80"/>
                    <a:pt x="0" y="78"/>
                    <a:pt x="1" y="76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2"/>
                    <a:pt x="40" y="0"/>
                    <a:pt x="4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49" y="0"/>
                    <a:pt x="251" y="2"/>
                    <a:pt x="252" y="4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9" y="78"/>
                    <a:pt x="288" y="80"/>
                    <a:pt x="287" y="82"/>
                  </a:cubicBezTo>
                  <a:cubicBezTo>
                    <a:pt x="286" y="83"/>
                    <a:pt x="284" y="84"/>
                    <a:pt x="282" y="84"/>
                  </a:cubicBezTo>
                  <a:close/>
                  <a:moveTo>
                    <a:pt x="16" y="72"/>
                  </a:moveTo>
                  <a:cubicBezTo>
                    <a:pt x="273" y="72"/>
                    <a:pt x="273" y="72"/>
                    <a:pt x="273" y="72"/>
                  </a:cubicBezTo>
                  <a:cubicBezTo>
                    <a:pt x="243" y="12"/>
                    <a:pt x="243" y="12"/>
                    <a:pt x="243" y="12"/>
                  </a:cubicBezTo>
                  <a:cubicBezTo>
                    <a:pt x="46" y="12"/>
                    <a:pt x="46" y="12"/>
                    <a:pt x="46" y="12"/>
                  </a:cubicBezTo>
                  <a:lnTo>
                    <a:pt x="16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6" name="Freeform 51">
              <a:extLst>
                <a:ext uri="{FF2B5EF4-FFF2-40B4-BE49-F238E27FC236}">
                  <a16:creationId xmlns:a16="http://schemas.microsoft.com/office/drawing/2014/main" id="{ED464D1A-A163-91CD-4FC2-21AB4D3F8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795"/>
              <a:ext cx="124" cy="36"/>
            </a:xfrm>
            <a:custGeom>
              <a:avLst/>
              <a:gdLst>
                <a:gd name="T0" fmla="*/ 78 w 84"/>
                <a:gd name="T1" fmla="*/ 24 h 24"/>
                <a:gd name="T2" fmla="*/ 72 w 84"/>
                <a:gd name="T3" fmla="*/ 18 h 24"/>
                <a:gd name="T4" fmla="*/ 72 w 84"/>
                <a:gd name="T5" fmla="*/ 12 h 24"/>
                <a:gd name="T6" fmla="*/ 12 w 84"/>
                <a:gd name="T7" fmla="*/ 12 h 24"/>
                <a:gd name="T8" fmla="*/ 12 w 84"/>
                <a:gd name="T9" fmla="*/ 18 h 24"/>
                <a:gd name="T10" fmla="*/ 6 w 84"/>
                <a:gd name="T11" fmla="*/ 24 h 24"/>
                <a:gd name="T12" fmla="*/ 0 w 84"/>
                <a:gd name="T13" fmla="*/ 18 h 24"/>
                <a:gd name="T14" fmla="*/ 0 w 84"/>
                <a:gd name="T15" fmla="*/ 6 h 24"/>
                <a:gd name="T16" fmla="*/ 6 w 84"/>
                <a:gd name="T17" fmla="*/ 0 h 24"/>
                <a:gd name="T18" fmla="*/ 78 w 84"/>
                <a:gd name="T19" fmla="*/ 0 h 24"/>
                <a:gd name="T20" fmla="*/ 84 w 84"/>
                <a:gd name="T21" fmla="*/ 6 h 24"/>
                <a:gd name="T22" fmla="*/ 84 w 84"/>
                <a:gd name="T23" fmla="*/ 18 h 24"/>
                <a:gd name="T24" fmla="*/ 78 w 84"/>
                <a:gd name="T2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24">
                  <a:moveTo>
                    <a:pt x="78" y="24"/>
                  </a:moveTo>
                  <a:cubicBezTo>
                    <a:pt x="75" y="24"/>
                    <a:pt x="72" y="22"/>
                    <a:pt x="72" y="18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2"/>
                    <a:pt x="10" y="24"/>
                    <a:pt x="6" y="24"/>
                  </a:cubicBezTo>
                  <a:cubicBezTo>
                    <a:pt x="3" y="24"/>
                    <a:pt x="0" y="22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2" y="0"/>
                    <a:pt x="84" y="3"/>
                    <a:pt x="84" y="6"/>
                  </a:cubicBezTo>
                  <a:cubicBezTo>
                    <a:pt x="84" y="18"/>
                    <a:pt x="84" y="18"/>
                    <a:pt x="84" y="18"/>
                  </a:cubicBezTo>
                  <a:cubicBezTo>
                    <a:pt x="84" y="22"/>
                    <a:pt x="82" y="24"/>
                    <a:pt x="7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7" name="Rectangle 52">
              <a:extLst>
                <a:ext uri="{FF2B5EF4-FFF2-40B4-BE49-F238E27FC236}">
                  <a16:creationId xmlns:a16="http://schemas.microsoft.com/office/drawing/2014/main" id="{E6341D47-469E-B03B-5EBF-1F0CD66BD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2" y="72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8" name="Rectangle 53">
              <a:extLst>
                <a:ext uri="{FF2B5EF4-FFF2-40B4-BE49-F238E27FC236}">
                  <a16:creationId xmlns:a16="http://schemas.microsoft.com/office/drawing/2014/main" id="{5CE6B0ED-2EF8-F58C-5041-2A87B3DD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72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09" name="Rectangle 54">
              <a:extLst>
                <a:ext uri="{FF2B5EF4-FFF2-40B4-BE49-F238E27FC236}">
                  <a16:creationId xmlns:a16="http://schemas.microsoft.com/office/drawing/2014/main" id="{9BA947F7-D232-6A10-FE70-7278FE843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72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0" name="Rectangle 55">
              <a:extLst>
                <a:ext uri="{FF2B5EF4-FFF2-40B4-BE49-F238E27FC236}">
                  <a16:creationId xmlns:a16="http://schemas.microsoft.com/office/drawing/2014/main" id="{3C5F1069-A3D3-6CB5-6105-962D60A5E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72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1" name="Rectangle 56">
              <a:extLst>
                <a:ext uri="{FF2B5EF4-FFF2-40B4-BE49-F238E27FC236}">
                  <a16:creationId xmlns:a16="http://schemas.microsoft.com/office/drawing/2014/main" id="{D646A4B3-91A0-B62D-1A3A-43DC29117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" y="72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2" name="Rectangle 57">
              <a:extLst>
                <a:ext uri="{FF2B5EF4-FFF2-40B4-BE49-F238E27FC236}">
                  <a16:creationId xmlns:a16="http://schemas.microsoft.com/office/drawing/2014/main" id="{535A4FAF-832E-9BE7-0A73-A329B76A2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5" y="724"/>
              <a:ext cx="18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3" name="Rectangle 58">
              <a:extLst>
                <a:ext uri="{FF2B5EF4-FFF2-40B4-BE49-F238E27FC236}">
                  <a16:creationId xmlns:a16="http://schemas.microsoft.com/office/drawing/2014/main" id="{426E9DE5-ED2A-2A57-AC45-7D71643CD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" y="689"/>
              <a:ext cx="1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4" name="Rectangle 59">
              <a:extLst>
                <a:ext uri="{FF2B5EF4-FFF2-40B4-BE49-F238E27FC236}">
                  <a16:creationId xmlns:a16="http://schemas.microsoft.com/office/drawing/2014/main" id="{3C451797-F3AC-FDA5-93DC-182463F82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689"/>
              <a:ext cx="1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5" name="Rectangle 60">
              <a:extLst>
                <a:ext uri="{FF2B5EF4-FFF2-40B4-BE49-F238E27FC236}">
                  <a16:creationId xmlns:a16="http://schemas.microsoft.com/office/drawing/2014/main" id="{C5656E00-27F9-B5DF-E5BE-B2E2510D6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689"/>
              <a:ext cx="1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6" name="Rectangle 61">
              <a:extLst>
                <a:ext uri="{FF2B5EF4-FFF2-40B4-BE49-F238E27FC236}">
                  <a16:creationId xmlns:a16="http://schemas.microsoft.com/office/drawing/2014/main" id="{8D41E0A7-EBCD-161A-F99A-043E891E9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2" y="689"/>
              <a:ext cx="18" cy="1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7" name="Freeform 62">
              <a:extLst>
                <a:ext uri="{FF2B5EF4-FFF2-40B4-BE49-F238E27FC236}">
                  <a16:creationId xmlns:a16="http://schemas.microsoft.com/office/drawing/2014/main" id="{97DB7978-9E96-761C-936D-F1E4671835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1" y="547"/>
              <a:ext cx="320" cy="124"/>
            </a:xfrm>
            <a:custGeom>
              <a:avLst/>
              <a:gdLst>
                <a:gd name="T0" fmla="*/ 210 w 216"/>
                <a:gd name="T1" fmla="*/ 84 h 84"/>
                <a:gd name="T2" fmla="*/ 6 w 216"/>
                <a:gd name="T3" fmla="*/ 84 h 84"/>
                <a:gd name="T4" fmla="*/ 0 w 216"/>
                <a:gd name="T5" fmla="*/ 78 h 84"/>
                <a:gd name="T6" fmla="*/ 0 w 216"/>
                <a:gd name="T7" fmla="*/ 6 h 84"/>
                <a:gd name="T8" fmla="*/ 6 w 216"/>
                <a:gd name="T9" fmla="*/ 0 h 84"/>
                <a:gd name="T10" fmla="*/ 210 w 216"/>
                <a:gd name="T11" fmla="*/ 0 h 84"/>
                <a:gd name="T12" fmla="*/ 216 w 216"/>
                <a:gd name="T13" fmla="*/ 6 h 84"/>
                <a:gd name="T14" fmla="*/ 216 w 216"/>
                <a:gd name="T15" fmla="*/ 78 h 84"/>
                <a:gd name="T16" fmla="*/ 210 w 216"/>
                <a:gd name="T17" fmla="*/ 84 h 84"/>
                <a:gd name="T18" fmla="*/ 12 w 216"/>
                <a:gd name="T19" fmla="*/ 72 h 84"/>
                <a:gd name="T20" fmla="*/ 204 w 216"/>
                <a:gd name="T21" fmla="*/ 72 h 84"/>
                <a:gd name="T22" fmla="*/ 204 w 216"/>
                <a:gd name="T23" fmla="*/ 12 h 84"/>
                <a:gd name="T24" fmla="*/ 12 w 216"/>
                <a:gd name="T25" fmla="*/ 12 h 84"/>
                <a:gd name="T26" fmla="*/ 12 w 216"/>
                <a:gd name="T27" fmla="*/ 7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6" h="84">
                  <a:moveTo>
                    <a:pt x="210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10" y="0"/>
                    <a:pt x="210" y="0"/>
                    <a:pt x="210" y="0"/>
                  </a:cubicBezTo>
                  <a:cubicBezTo>
                    <a:pt x="214" y="0"/>
                    <a:pt x="216" y="3"/>
                    <a:pt x="216" y="6"/>
                  </a:cubicBezTo>
                  <a:cubicBezTo>
                    <a:pt x="216" y="78"/>
                    <a:pt x="216" y="78"/>
                    <a:pt x="216" y="78"/>
                  </a:cubicBezTo>
                  <a:cubicBezTo>
                    <a:pt x="216" y="82"/>
                    <a:pt x="214" y="84"/>
                    <a:pt x="210" y="84"/>
                  </a:cubicBezTo>
                  <a:close/>
                  <a:moveTo>
                    <a:pt x="12" y="72"/>
                  </a:moveTo>
                  <a:cubicBezTo>
                    <a:pt x="204" y="72"/>
                    <a:pt x="204" y="72"/>
                    <a:pt x="204" y="72"/>
                  </a:cubicBezTo>
                  <a:cubicBezTo>
                    <a:pt x="204" y="12"/>
                    <a:pt x="204" y="12"/>
                    <a:pt x="20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8" name="Freeform 63">
              <a:extLst>
                <a:ext uri="{FF2B5EF4-FFF2-40B4-BE49-F238E27FC236}">
                  <a16:creationId xmlns:a16="http://schemas.microsoft.com/office/drawing/2014/main" id="{7DBB9EB7-A297-5F65-2E3B-07113D338C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67" y="582"/>
              <a:ext cx="115" cy="53"/>
            </a:xfrm>
            <a:custGeom>
              <a:avLst/>
              <a:gdLst>
                <a:gd name="T0" fmla="*/ 72 w 78"/>
                <a:gd name="T1" fmla="*/ 36 h 36"/>
                <a:gd name="T2" fmla="*/ 6 w 78"/>
                <a:gd name="T3" fmla="*/ 36 h 36"/>
                <a:gd name="T4" fmla="*/ 0 w 78"/>
                <a:gd name="T5" fmla="*/ 30 h 36"/>
                <a:gd name="T6" fmla="*/ 0 w 78"/>
                <a:gd name="T7" fmla="*/ 6 h 36"/>
                <a:gd name="T8" fmla="*/ 6 w 78"/>
                <a:gd name="T9" fmla="*/ 0 h 36"/>
                <a:gd name="T10" fmla="*/ 72 w 78"/>
                <a:gd name="T11" fmla="*/ 0 h 36"/>
                <a:gd name="T12" fmla="*/ 78 w 78"/>
                <a:gd name="T13" fmla="*/ 6 h 36"/>
                <a:gd name="T14" fmla="*/ 78 w 78"/>
                <a:gd name="T15" fmla="*/ 30 h 36"/>
                <a:gd name="T16" fmla="*/ 72 w 78"/>
                <a:gd name="T17" fmla="*/ 36 h 36"/>
                <a:gd name="T18" fmla="*/ 12 w 78"/>
                <a:gd name="T19" fmla="*/ 24 h 36"/>
                <a:gd name="T20" fmla="*/ 66 w 78"/>
                <a:gd name="T21" fmla="*/ 24 h 36"/>
                <a:gd name="T22" fmla="*/ 66 w 78"/>
                <a:gd name="T23" fmla="*/ 12 h 36"/>
                <a:gd name="T24" fmla="*/ 12 w 78"/>
                <a:gd name="T25" fmla="*/ 12 h 36"/>
                <a:gd name="T26" fmla="*/ 12 w 78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36">
                  <a:moveTo>
                    <a:pt x="72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3" y="36"/>
                    <a:pt x="0" y="34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6" y="0"/>
                    <a:pt x="78" y="3"/>
                    <a:pt x="78" y="6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34"/>
                    <a:pt x="76" y="36"/>
                    <a:pt x="72" y="36"/>
                  </a:cubicBezTo>
                  <a:close/>
                  <a:moveTo>
                    <a:pt x="12" y="24"/>
                  </a:moveTo>
                  <a:cubicBezTo>
                    <a:pt x="66" y="24"/>
                    <a:pt x="66" y="24"/>
                    <a:pt x="66" y="24"/>
                  </a:cubicBezTo>
                  <a:cubicBezTo>
                    <a:pt x="66" y="12"/>
                    <a:pt x="66" y="12"/>
                    <a:pt x="6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19" name="Freeform 64">
              <a:extLst>
                <a:ext uri="{FF2B5EF4-FFF2-40B4-BE49-F238E27FC236}">
                  <a16:creationId xmlns:a16="http://schemas.microsoft.com/office/drawing/2014/main" id="{788D9033-B7F9-F4DE-5637-5394D4BFB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8" y="600"/>
              <a:ext cx="97" cy="18"/>
            </a:xfrm>
            <a:custGeom>
              <a:avLst/>
              <a:gdLst>
                <a:gd name="T0" fmla="*/ 60 w 66"/>
                <a:gd name="T1" fmla="*/ 12 h 12"/>
                <a:gd name="T2" fmla="*/ 6 w 66"/>
                <a:gd name="T3" fmla="*/ 12 h 12"/>
                <a:gd name="T4" fmla="*/ 0 w 66"/>
                <a:gd name="T5" fmla="*/ 6 h 12"/>
                <a:gd name="T6" fmla="*/ 6 w 66"/>
                <a:gd name="T7" fmla="*/ 0 h 12"/>
                <a:gd name="T8" fmla="*/ 60 w 66"/>
                <a:gd name="T9" fmla="*/ 0 h 12"/>
                <a:gd name="T10" fmla="*/ 66 w 66"/>
                <a:gd name="T11" fmla="*/ 6 h 12"/>
                <a:gd name="T12" fmla="*/ 60 w 6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2">
                  <a:moveTo>
                    <a:pt x="6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4" y="0"/>
                    <a:pt x="66" y="3"/>
                    <a:pt x="66" y="6"/>
                  </a:cubicBezTo>
                  <a:cubicBezTo>
                    <a:pt x="66" y="10"/>
                    <a:pt x="64" y="12"/>
                    <a:pt x="6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20" name="Freeform 65">
              <a:extLst>
                <a:ext uri="{FF2B5EF4-FFF2-40B4-BE49-F238E27FC236}">
                  <a16:creationId xmlns:a16="http://schemas.microsoft.com/office/drawing/2014/main" id="{8D393BF0-A5FB-CB36-D599-877CC4C70E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67" y="476"/>
              <a:ext cx="88" cy="88"/>
            </a:xfrm>
            <a:custGeom>
              <a:avLst/>
              <a:gdLst>
                <a:gd name="T0" fmla="*/ 54 w 60"/>
                <a:gd name="T1" fmla="*/ 60 h 60"/>
                <a:gd name="T2" fmla="*/ 6 w 60"/>
                <a:gd name="T3" fmla="*/ 60 h 60"/>
                <a:gd name="T4" fmla="*/ 0 w 60"/>
                <a:gd name="T5" fmla="*/ 54 h 60"/>
                <a:gd name="T6" fmla="*/ 0 w 60"/>
                <a:gd name="T7" fmla="*/ 18 h 60"/>
                <a:gd name="T8" fmla="*/ 5 w 60"/>
                <a:gd name="T9" fmla="*/ 13 h 60"/>
                <a:gd name="T10" fmla="*/ 53 w 60"/>
                <a:gd name="T11" fmla="*/ 1 h 60"/>
                <a:gd name="T12" fmla="*/ 58 w 60"/>
                <a:gd name="T13" fmla="*/ 2 h 60"/>
                <a:gd name="T14" fmla="*/ 60 w 60"/>
                <a:gd name="T15" fmla="*/ 6 h 60"/>
                <a:gd name="T16" fmla="*/ 60 w 60"/>
                <a:gd name="T17" fmla="*/ 54 h 60"/>
                <a:gd name="T18" fmla="*/ 54 w 60"/>
                <a:gd name="T19" fmla="*/ 60 h 60"/>
                <a:gd name="T20" fmla="*/ 12 w 60"/>
                <a:gd name="T21" fmla="*/ 48 h 60"/>
                <a:gd name="T22" fmla="*/ 48 w 60"/>
                <a:gd name="T23" fmla="*/ 48 h 60"/>
                <a:gd name="T24" fmla="*/ 48 w 60"/>
                <a:gd name="T25" fmla="*/ 14 h 60"/>
                <a:gd name="T26" fmla="*/ 12 w 60"/>
                <a:gd name="T27" fmla="*/ 23 h 60"/>
                <a:gd name="T28" fmla="*/ 12 w 60"/>
                <a:gd name="T29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0" h="60">
                  <a:moveTo>
                    <a:pt x="54" y="60"/>
                  </a:moveTo>
                  <a:cubicBezTo>
                    <a:pt x="6" y="60"/>
                    <a:pt x="6" y="60"/>
                    <a:pt x="6" y="60"/>
                  </a:cubicBezTo>
                  <a:cubicBezTo>
                    <a:pt x="3" y="60"/>
                    <a:pt x="0" y="58"/>
                    <a:pt x="0" y="54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6"/>
                    <a:pt x="2" y="13"/>
                    <a:pt x="5" y="13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55" y="0"/>
                    <a:pt x="56" y="1"/>
                    <a:pt x="58" y="2"/>
                  </a:cubicBezTo>
                  <a:cubicBezTo>
                    <a:pt x="59" y="3"/>
                    <a:pt x="60" y="5"/>
                    <a:pt x="60" y="6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0" y="58"/>
                    <a:pt x="58" y="60"/>
                    <a:pt x="54" y="60"/>
                  </a:cubicBezTo>
                  <a:close/>
                  <a:moveTo>
                    <a:pt x="12" y="48"/>
                  </a:moveTo>
                  <a:cubicBezTo>
                    <a:pt x="48" y="48"/>
                    <a:pt x="48" y="48"/>
                    <a:pt x="48" y="48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12" y="23"/>
                    <a:pt x="12" y="23"/>
                    <a:pt x="12" y="23"/>
                  </a:cubicBezTo>
                  <a:lnTo>
                    <a:pt x="12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21" name="Freeform 66">
              <a:extLst>
                <a:ext uri="{FF2B5EF4-FFF2-40B4-BE49-F238E27FC236}">
                  <a16:creationId xmlns:a16="http://schemas.microsoft.com/office/drawing/2014/main" id="{503C9187-99D3-AC33-CDD1-90EBD6A3A2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27" y="440"/>
              <a:ext cx="124" cy="71"/>
            </a:xfrm>
            <a:custGeom>
              <a:avLst/>
              <a:gdLst>
                <a:gd name="T0" fmla="*/ 66 w 84"/>
                <a:gd name="T1" fmla="*/ 48 h 48"/>
                <a:gd name="T2" fmla="*/ 18 w 84"/>
                <a:gd name="T3" fmla="*/ 48 h 48"/>
                <a:gd name="T4" fmla="*/ 0 w 84"/>
                <a:gd name="T5" fmla="*/ 30 h 48"/>
                <a:gd name="T6" fmla="*/ 0 w 84"/>
                <a:gd name="T7" fmla="*/ 18 h 48"/>
                <a:gd name="T8" fmla="*/ 18 w 84"/>
                <a:gd name="T9" fmla="*/ 0 h 48"/>
                <a:gd name="T10" fmla="*/ 66 w 84"/>
                <a:gd name="T11" fmla="*/ 0 h 48"/>
                <a:gd name="T12" fmla="*/ 84 w 84"/>
                <a:gd name="T13" fmla="*/ 18 h 48"/>
                <a:gd name="T14" fmla="*/ 84 w 84"/>
                <a:gd name="T15" fmla="*/ 30 h 48"/>
                <a:gd name="T16" fmla="*/ 66 w 84"/>
                <a:gd name="T17" fmla="*/ 48 h 48"/>
                <a:gd name="T18" fmla="*/ 18 w 84"/>
                <a:gd name="T19" fmla="*/ 12 h 48"/>
                <a:gd name="T20" fmla="*/ 12 w 84"/>
                <a:gd name="T21" fmla="*/ 18 h 48"/>
                <a:gd name="T22" fmla="*/ 12 w 84"/>
                <a:gd name="T23" fmla="*/ 30 h 48"/>
                <a:gd name="T24" fmla="*/ 18 w 84"/>
                <a:gd name="T25" fmla="*/ 36 h 48"/>
                <a:gd name="T26" fmla="*/ 66 w 84"/>
                <a:gd name="T27" fmla="*/ 36 h 48"/>
                <a:gd name="T28" fmla="*/ 72 w 84"/>
                <a:gd name="T29" fmla="*/ 30 h 48"/>
                <a:gd name="T30" fmla="*/ 72 w 84"/>
                <a:gd name="T31" fmla="*/ 18 h 48"/>
                <a:gd name="T32" fmla="*/ 66 w 84"/>
                <a:gd name="T33" fmla="*/ 12 h 48"/>
                <a:gd name="T34" fmla="*/ 18 w 84"/>
                <a:gd name="T35" fmla="*/ 1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4" h="48">
                  <a:moveTo>
                    <a:pt x="66" y="48"/>
                  </a:moveTo>
                  <a:cubicBezTo>
                    <a:pt x="18" y="48"/>
                    <a:pt x="18" y="48"/>
                    <a:pt x="18" y="48"/>
                  </a:cubicBezTo>
                  <a:cubicBezTo>
                    <a:pt x="8" y="48"/>
                    <a:pt x="0" y="40"/>
                    <a:pt x="0" y="3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6" y="0"/>
                    <a:pt x="84" y="9"/>
                    <a:pt x="84" y="18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4" y="40"/>
                    <a:pt x="76" y="48"/>
                    <a:pt x="66" y="48"/>
                  </a:cubicBezTo>
                  <a:close/>
                  <a:moveTo>
                    <a:pt x="18" y="12"/>
                  </a:moveTo>
                  <a:cubicBezTo>
                    <a:pt x="15" y="12"/>
                    <a:pt x="12" y="15"/>
                    <a:pt x="12" y="18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4"/>
                    <a:pt x="15" y="36"/>
                    <a:pt x="18" y="36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70" y="36"/>
                    <a:pt x="72" y="34"/>
                    <a:pt x="72" y="30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15"/>
                    <a:pt x="70" y="12"/>
                    <a:pt x="66" y="12"/>
                  </a:cubicBezTo>
                  <a:lnTo>
                    <a:pt x="18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222" name="Freeform 67">
              <a:extLst>
                <a:ext uri="{FF2B5EF4-FFF2-40B4-BE49-F238E27FC236}">
                  <a16:creationId xmlns:a16="http://schemas.microsoft.com/office/drawing/2014/main" id="{B1B7BFE2-23EE-37AC-4F3D-50D9B8E62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494"/>
              <a:ext cx="18" cy="70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6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6"/>
                    <a:pt x="10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sp>
        <p:nvSpPr>
          <p:cNvPr id="225" name="Rounded Rectangle 35">
            <a:extLst>
              <a:ext uri="{FF2B5EF4-FFF2-40B4-BE49-F238E27FC236}">
                <a16:creationId xmlns:a16="http://schemas.microsoft.com/office/drawing/2014/main" id="{75875ECE-C6E8-52FC-27A9-FFEA2759A2C2}"/>
              </a:ext>
            </a:extLst>
          </p:cNvPr>
          <p:cNvSpPr/>
          <p:nvPr/>
        </p:nvSpPr>
        <p:spPr>
          <a:xfrm>
            <a:off x="381000" y="5696393"/>
            <a:ext cx="11630026" cy="593326"/>
          </a:xfrm>
          <a:prstGeom prst="roundRect">
            <a:avLst>
              <a:gd name="adj" fmla="val 5152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(1) Technology layers </a:t>
            </a:r>
            <a:r>
              <a:rPr lang="en-US" sz="1400">
                <a:solidFill>
                  <a:schemeClr val="tx1"/>
                </a:solidFill>
              </a:rPr>
              <a:t>weighted against impact to the </a:t>
            </a:r>
            <a:r>
              <a:rPr lang="en-US" sz="1400" b="1">
                <a:solidFill>
                  <a:schemeClr val="tx1"/>
                </a:solidFill>
              </a:rPr>
              <a:t>(2) three phases </a:t>
            </a:r>
            <a:r>
              <a:rPr lang="en-US" sz="1400">
                <a:solidFill>
                  <a:schemeClr val="tx1"/>
                </a:solidFill>
              </a:rPr>
              <a:t>of an NFL game and given a low, medium, high </a:t>
            </a:r>
            <a:r>
              <a:rPr lang="en-US" sz="1400" b="1">
                <a:solidFill>
                  <a:schemeClr val="tx1"/>
                </a:solidFill>
              </a:rPr>
              <a:t>(3) capability score </a:t>
            </a:r>
            <a:r>
              <a:rPr lang="en-US" sz="1400">
                <a:solidFill>
                  <a:schemeClr val="tx1"/>
                </a:solidFill>
              </a:rPr>
              <a:t>across each phase</a:t>
            </a:r>
          </a:p>
        </p:txBody>
      </p:sp>
      <p:sp>
        <p:nvSpPr>
          <p:cNvPr id="226" name="Rounded Rectangle 36">
            <a:extLst>
              <a:ext uri="{FF2B5EF4-FFF2-40B4-BE49-F238E27FC236}">
                <a16:creationId xmlns:a16="http://schemas.microsoft.com/office/drawing/2014/main" id="{65EA4BC6-8C05-6D9B-ABDE-17E2E60E2BD4}"/>
              </a:ext>
            </a:extLst>
          </p:cNvPr>
          <p:cNvSpPr/>
          <p:nvPr/>
        </p:nvSpPr>
        <p:spPr>
          <a:xfrm>
            <a:off x="380999" y="2081671"/>
            <a:ext cx="4438651" cy="309787"/>
          </a:xfrm>
          <a:prstGeom prst="roundRect">
            <a:avLst>
              <a:gd name="adj" fmla="val 558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fontAlgn="ctr"/>
            <a:r>
              <a:rPr lang="en-US" sz="1200" b="1">
                <a:solidFill>
                  <a:schemeClr val="bg1"/>
                </a:solidFill>
              </a:rPr>
              <a:t>TECH LAYER</a:t>
            </a:r>
          </a:p>
        </p:txBody>
      </p:sp>
      <p:sp>
        <p:nvSpPr>
          <p:cNvPr id="227" name="Rounded Rectangle 37">
            <a:extLst>
              <a:ext uri="{FF2B5EF4-FFF2-40B4-BE49-F238E27FC236}">
                <a16:creationId xmlns:a16="http://schemas.microsoft.com/office/drawing/2014/main" id="{83F08F23-1525-F868-2AEF-9D240D63CA25}"/>
              </a:ext>
            </a:extLst>
          </p:cNvPr>
          <p:cNvSpPr/>
          <p:nvPr/>
        </p:nvSpPr>
        <p:spPr>
          <a:xfrm>
            <a:off x="4819651" y="945167"/>
            <a:ext cx="7191376" cy="340394"/>
          </a:xfrm>
          <a:prstGeom prst="roundRect">
            <a:avLst>
              <a:gd name="adj" fmla="val 558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 fontAlgn="ctr"/>
            <a:r>
              <a:rPr lang="en-US" sz="1200" b="1">
                <a:solidFill>
                  <a:schemeClr val="bg1"/>
                </a:solidFill>
              </a:rPr>
              <a:t>GAME PHASES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12FFE18E-C730-3BA3-BE26-0DBCC4E130D9}"/>
              </a:ext>
            </a:extLst>
          </p:cNvPr>
          <p:cNvSpPr>
            <a:spLocks noChangeAspect="1"/>
          </p:cNvSpPr>
          <p:nvPr/>
        </p:nvSpPr>
        <p:spPr>
          <a:xfrm>
            <a:off x="216679" y="1997793"/>
            <a:ext cx="385791" cy="385791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064C918C-261D-1FC9-53DC-A965C76CA9CD}"/>
              </a:ext>
            </a:extLst>
          </p:cNvPr>
          <p:cNvSpPr>
            <a:spLocks noChangeAspect="1"/>
          </p:cNvSpPr>
          <p:nvPr/>
        </p:nvSpPr>
        <p:spPr>
          <a:xfrm>
            <a:off x="4626754" y="892687"/>
            <a:ext cx="385791" cy="385791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2B59450E-846E-0F6B-DF61-477E9B2FBA8E}"/>
              </a:ext>
            </a:extLst>
          </p:cNvPr>
          <p:cNvSpPr>
            <a:spLocks noChangeAspect="1"/>
          </p:cNvSpPr>
          <p:nvPr/>
        </p:nvSpPr>
        <p:spPr>
          <a:xfrm>
            <a:off x="3282876" y="1387454"/>
            <a:ext cx="385791" cy="385791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38" name="Rounded Rectangle 35">
            <a:extLst>
              <a:ext uri="{FF2B5EF4-FFF2-40B4-BE49-F238E27FC236}">
                <a16:creationId xmlns:a16="http://schemas.microsoft.com/office/drawing/2014/main" id="{2419259E-9826-4636-B30E-0402B7124EF8}"/>
              </a:ext>
            </a:extLst>
          </p:cNvPr>
          <p:cNvSpPr/>
          <p:nvPr/>
        </p:nvSpPr>
        <p:spPr>
          <a:xfrm rot="19634987">
            <a:off x="6909136" y="3728507"/>
            <a:ext cx="3012403" cy="593326"/>
          </a:xfrm>
          <a:prstGeom prst="roundRect">
            <a:avLst>
              <a:gd name="adj" fmla="val 5152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Tech layer capability ratings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3ECE30FA-D875-3B33-C63E-9238F99E33CD}"/>
              </a:ext>
            </a:extLst>
          </p:cNvPr>
          <p:cNvSpPr>
            <a:spLocks noChangeAspect="1"/>
          </p:cNvSpPr>
          <p:nvPr/>
        </p:nvSpPr>
        <p:spPr>
          <a:xfrm>
            <a:off x="6988078" y="4587231"/>
            <a:ext cx="385791" cy="385791"/>
          </a:xfrm>
          <a:prstGeom prst="ellipse">
            <a:avLst/>
          </a:prstGeom>
          <a:solidFill>
            <a:schemeClr val="bg1">
              <a:lumMod val="5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42" name="Title 18">
            <a:extLst>
              <a:ext uri="{FF2B5EF4-FFF2-40B4-BE49-F238E27FC236}">
                <a16:creationId xmlns:a16="http://schemas.microsoft.com/office/drawing/2014/main" id="{99000842-8E5A-6EB0-2E77-12318129F26A}"/>
              </a:ext>
            </a:extLst>
          </p:cNvPr>
          <p:cNvSpPr txBox="1">
            <a:spLocks/>
          </p:cNvSpPr>
          <p:nvPr/>
        </p:nvSpPr>
        <p:spPr>
          <a:xfrm>
            <a:off x="220579" y="161336"/>
            <a:ext cx="11430000" cy="990600"/>
          </a:xfrm>
          <a:prstGeom prst="rect">
            <a:avLst/>
          </a:prstGeom>
        </p:spPr>
        <p:txBody>
          <a:bodyPr/>
          <a:lstStyle>
            <a:lvl1pPr algn="l" defTabSz="91436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Phase 1 Methodology Scoring Overview</a:t>
            </a:r>
          </a:p>
        </p:txBody>
      </p:sp>
    </p:spTree>
    <p:extLst>
      <p:ext uri="{BB962C8B-B14F-4D97-AF65-F5344CB8AC3E}">
        <p14:creationId xmlns:p14="http://schemas.microsoft.com/office/powerpoint/2010/main" val="2303957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B357FC-990C-CEB4-BB8C-1D82094C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9A7FF50C-48F5-EB30-0259-2B64ACE8ABF2}"/>
              </a:ext>
            </a:extLst>
          </p:cNvPr>
          <p:cNvSpPr txBox="1"/>
          <p:nvPr/>
        </p:nvSpPr>
        <p:spPr>
          <a:xfrm>
            <a:off x="382772" y="806083"/>
            <a:ext cx="102488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Graphik" panose="020B0503030202060203" pitchFamily="34" charset="0"/>
                <a:ea typeface="ＭＳ Ｐゴシック" charset="0"/>
                <a:cs typeface="+mn-cs"/>
              </a:rPr>
              <a:t>This indicative timeline provides a high-level view over a 6-week period.</a:t>
            </a:r>
          </a:p>
        </p:txBody>
      </p: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49F5DA2F-65C1-859A-29CD-B5016A9E1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608871"/>
              </p:ext>
            </p:extLst>
          </p:nvPr>
        </p:nvGraphicFramePr>
        <p:xfrm>
          <a:off x="494122" y="1559519"/>
          <a:ext cx="10683240" cy="4197939"/>
        </p:xfrm>
        <a:graphic>
          <a:graphicData uri="http://schemas.openxmlformats.org/drawingml/2006/table">
            <a:tbl>
              <a:tblPr/>
              <a:tblGrid>
                <a:gridCol w="1425434">
                  <a:extLst>
                    <a:ext uri="{9D8B030D-6E8A-4147-A177-3AD203B41FA5}">
                      <a16:colId xmlns:a16="http://schemas.microsoft.com/office/drawing/2014/main" val="1555126430"/>
                    </a:ext>
                  </a:extLst>
                </a:gridCol>
                <a:gridCol w="3706636">
                  <a:extLst>
                    <a:ext uri="{9D8B030D-6E8A-4147-A177-3AD203B41FA5}">
                      <a16:colId xmlns:a16="http://schemas.microsoft.com/office/drawing/2014/main" val="932316482"/>
                    </a:ext>
                  </a:extLst>
                </a:gridCol>
                <a:gridCol w="925195">
                  <a:extLst>
                    <a:ext uri="{9D8B030D-6E8A-4147-A177-3AD203B41FA5}">
                      <a16:colId xmlns:a16="http://schemas.microsoft.com/office/drawing/2014/main" val="3232448746"/>
                    </a:ext>
                  </a:extLst>
                </a:gridCol>
                <a:gridCol w="925195">
                  <a:extLst>
                    <a:ext uri="{9D8B030D-6E8A-4147-A177-3AD203B41FA5}">
                      <a16:colId xmlns:a16="http://schemas.microsoft.com/office/drawing/2014/main" val="427752208"/>
                    </a:ext>
                  </a:extLst>
                </a:gridCol>
                <a:gridCol w="925195">
                  <a:extLst>
                    <a:ext uri="{9D8B030D-6E8A-4147-A177-3AD203B41FA5}">
                      <a16:colId xmlns:a16="http://schemas.microsoft.com/office/drawing/2014/main" val="1791391184"/>
                    </a:ext>
                  </a:extLst>
                </a:gridCol>
                <a:gridCol w="925195">
                  <a:extLst>
                    <a:ext uri="{9D8B030D-6E8A-4147-A177-3AD203B41FA5}">
                      <a16:colId xmlns:a16="http://schemas.microsoft.com/office/drawing/2014/main" val="1120792838"/>
                    </a:ext>
                  </a:extLst>
                </a:gridCol>
                <a:gridCol w="925195">
                  <a:extLst>
                    <a:ext uri="{9D8B030D-6E8A-4147-A177-3AD203B41FA5}">
                      <a16:colId xmlns:a16="http://schemas.microsoft.com/office/drawing/2014/main" val="2014172531"/>
                    </a:ext>
                  </a:extLst>
                </a:gridCol>
                <a:gridCol w="925195">
                  <a:extLst>
                    <a:ext uri="{9D8B030D-6E8A-4147-A177-3AD203B41FA5}">
                      <a16:colId xmlns:a16="http://schemas.microsoft.com/office/drawing/2014/main" val="3834128794"/>
                    </a:ext>
                  </a:extLst>
                </a:gridCol>
              </a:tblGrid>
              <a:tr h="143028"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solidFill>
                          <a:schemeClr val="bg1"/>
                        </a:solidFill>
                        <a:latin typeface="Graphik Semibold" panose="020B0703030202060203" pitchFamily="34" charset="0"/>
                      </a:endParaRPr>
                    </a:p>
                  </a:txBody>
                  <a:tcPr marL="91419" marR="91419" marT="45709" marB="45709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800" b="1">
                          <a:solidFill>
                            <a:schemeClr val="tx1"/>
                          </a:solidFill>
                          <a:latin typeface="Graphik Semibold" panose="020B0703030202060203" pitchFamily="34" charset="0"/>
                        </a:rPr>
                        <a:t>Key Activities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Graphik Semibold" panose="020B0703030202060203" pitchFamily="34" charset="0"/>
                          <a:ea typeface="+mn-ea"/>
                          <a:cs typeface="+mn-cs"/>
                        </a:rPr>
                        <a:t>W1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800" b="0">
                          <a:solidFill>
                            <a:schemeClr val="bg1"/>
                          </a:solidFill>
                          <a:latin typeface="Graphik Semibold" panose="020B0703030202060203" pitchFamily="34" charset="0"/>
                        </a:rPr>
                        <a:t>W2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Graphik Semibold" panose="020B0703030202060203" pitchFamily="34" charset="0"/>
                          <a:ea typeface="+mn-ea"/>
                          <a:cs typeface="+mn-cs"/>
                        </a:rPr>
                        <a:t>W3</a:t>
                      </a:r>
                      <a:endParaRPr lang="en-US" sz="800" b="0">
                        <a:solidFill>
                          <a:schemeClr val="bg1"/>
                        </a:solidFill>
                        <a:latin typeface="Graphik Semibold" panose="020B07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Graphik Semibold" panose="020B0703030202060203" pitchFamily="34" charset="0"/>
                          <a:ea typeface="+mn-ea"/>
                          <a:cs typeface="+mn-cs"/>
                        </a:rPr>
                        <a:t>W4</a:t>
                      </a:r>
                      <a:endParaRPr lang="en-US" sz="800" b="0">
                        <a:solidFill>
                          <a:schemeClr val="bg1"/>
                        </a:solidFill>
                        <a:latin typeface="Graphik Semibold" panose="020B07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Graphik Semibold" panose="020B0703030202060203" pitchFamily="34" charset="0"/>
                          <a:ea typeface="+mn-ea"/>
                          <a:cs typeface="+mn-cs"/>
                        </a:rPr>
                        <a:t>W5</a:t>
                      </a:r>
                      <a:endParaRPr lang="en-US" sz="800" b="0">
                        <a:solidFill>
                          <a:schemeClr val="bg1"/>
                        </a:solidFill>
                        <a:latin typeface="Graphik Semibold" panose="020B07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r>
                        <a:rPr lang="en-US" sz="800" b="0">
                          <a:solidFill>
                            <a:schemeClr val="bg1"/>
                          </a:solidFill>
                          <a:latin typeface="Graphik Semibold" panose="020B0703030202060203" pitchFamily="34" charset="0"/>
                        </a:rPr>
                        <a:t>W6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580525"/>
                  </a:ext>
                </a:extLst>
              </a:tr>
              <a:tr h="388243">
                <a:tc rowSpan="2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Framework Development	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Project Kickoff: 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Stakeholder alignment meetings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Finalize vision and guiding principles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Scheduling workshops and reviews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34846"/>
                  </a:ext>
                </a:extLst>
              </a:tr>
              <a:tr h="469982">
                <a:tc vMerge="1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raphik Light" panose="020B040303020206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Framework Development: 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Finalize detailed assessment criteria and scorecard.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Arial" panose="020B0604020202020204" pitchFamily="34" charset="0"/>
                        </a:rPr>
                        <a:t>Ingest Voice of Fan survey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Finalize &amp; Test methodology and scoring logic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Refinement based on validations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700386"/>
                  </a:ext>
                </a:extLst>
              </a:tr>
              <a:tr h="306505"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Framework Validations	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+mn-lt"/>
                        </a:rPr>
                        <a:t>Team validations (3 clubs)</a:t>
                      </a:r>
                      <a:endParaRPr lang="en-US" sz="800" dirty="0">
                        <a:latin typeface="+mn-lt"/>
                      </a:endParaRP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Workshops with 3 clubs to refine survey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1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833261"/>
                  </a:ext>
                </a:extLst>
              </a:tr>
              <a:tr h="380358">
                <a:tc rowSpan="3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Dashboard Development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CC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+mn-lt"/>
                        </a:rPr>
                        <a:t>Survey Tooling &amp; Dashboard Development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Finalize survey on updated framework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Tableau visualization based on methodology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521511"/>
                  </a:ext>
                </a:extLst>
              </a:tr>
              <a:tr h="4699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latin typeface="+mn-lt"/>
                        </a:rPr>
                        <a:t>Data Transformation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Develop survey system logic 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Develop data cleanse logic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Source data preparation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Dashboard creation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5140"/>
                  </a:ext>
                </a:extLst>
              </a:tr>
              <a:tr h="540515">
                <a:tc vMerge="1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raphik Light" panose="020B040303020206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CC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latin typeface="+mn-lt"/>
                        </a:rPr>
                        <a:t>Testing &amp; Refinements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Solution testing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Visualizations refinements based on feedback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508338"/>
                  </a:ext>
                </a:extLst>
              </a:tr>
              <a:tr h="306505">
                <a:tc rowSpan="2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Survey &amp; Dashboard  Finalization</a:t>
                      </a: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chemeClr val="tx1"/>
                          </a:solidFill>
                          <a:latin typeface="Graphik"/>
                          <a:ea typeface="+mn-ea"/>
                          <a:cs typeface="+mn-cs"/>
                        </a:rPr>
                        <a:t>Survey Release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Graphik"/>
                          <a:ea typeface="+mn-ea"/>
                          <a:cs typeface="+mn-cs"/>
                        </a:rPr>
                        <a:t>Send out surveys</a:t>
                      </a:r>
                      <a:endParaRPr lang="en-US" sz="800" kern="1200" noProof="0" dirty="0">
                        <a:solidFill>
                          <a:schemeClr val="tx1"/>
                        </a:solidFill>
                        <a:latin typeface="Graphik"/>
                        <a:ea typeface="+mn-ea"/>
                        <a:cs typeface="+mn-cs"/>
                      </a:endParaRP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1pPr>
                      <a:lvl2pPr marL="457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2pPr>
                      <a:lvl3pPr marL="914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3pPr>
                      <a:lvl4pPr marL="1371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4pPr>
                      <a:lvl5pPr marL="18288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5pPr>
                      <a:lvl6pPr marL="22860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6pPr>
                      <a:lvl7pPr marL="27432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7pPr>
                      <a:lvl8pPr marL="32004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8pPr>
                      <a:lvl9pPr marL="3657600" algn="l" defTabSz="914400" rtl="0" eaLnBrk="1" latinLnBrk="0" hangingPunct="1">
                        <a:defRPr sz="1400" kern="1200">
                          <a:solidFill>
                            <a:schemeClr val="tx1"/>
                          </a:solidFill>
                          <a:latin typeface="Graphik"/>
                        </a:defRPr>
                      </a:lvl9pPr>
                    </a:lstStyle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778520"/>
                  </a:ext>
                </a:extLst>
              </a:tr>
              <a:tr h="224766">
                <a:tc vMerge="1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raphik Light" panose="020B0403030202060203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Dashboard Release</a:t>
                      </a:r>
                    </a:p>
                    <a:p>
                      <a:pPr marL="171450" marR="0" lvl="0" indent="-17145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Dashbaord</a:t>
                      </a:r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go-live post survey results</a:t>
                      </a:r>
                      <a:endParaRPr lang="en-US" sz="8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19" marR="91419" marT="45709" marB="45709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b="0" dirty="0">
                        <a:latin typeface="Graphik Light" panose="020B0403030202060203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7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983791"/>
                  </a:ext>
                </a:extLst>
              </a:tr>
            </a:tbl>
          </a:graphicData>
        </a:graphic>
      </p:graphicFrame>
      <p:sp>
        <p:nvSpPr>
          <p:cNvPr id="94" name="Pentagon 39">
            <a:extLst>
              <a:ext uri="{FF2B5EF4-FFF2-40B4-BE49-F238E27FC236}">
                <a16:creationId xmlns:a16="http://schemas.microsoft.com/office/drawing/2014/main" id="{8E31027B-71AF-2D22-6D51-19F32C85647E}"/>
              </a:ext>
            </a:extLst>
          </p:cNvPr>
          <p:cNvSpPr/>
          <p:nvPr/>
        </p:nvSpPr>
        <p:spPr bwMode="gray">
          <a:xfrm>
            <a:off x="5649379" y="1950629"/>
            <a:ext cx="751767" cy="211786"/>
          </a:xfrm>
          <a:prstGeom prst="homePlate">
            <a:avLst>
              <a:gd name="adj" fmla="val 28868"/>
            </a:avLst>
          </a:prstGeom>
          <a:solidFill>
            <a:srgbClr val="013369"/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</a:pPr>
            <a:endParaRPr lang="en-US" sz="900" b="1" kern="0">
              <a:solidFill>
                <a:srgbClr val="FFFFFF"/>
              </a:solidFill>
              <a:latin typeface="Graphik"/>
              <a:cs typeface="Arial" pitchFamily="34" charset="0"/>
            </a:endParaRPr>
          </a:p>
        </p:txBody>
      </p:sp>
      <p:sp>
        <p:nvSpPr>
          <p:cNvPr id="2" name="Pentagon 39">
            <a:extLst>
              <a:ext uri="{FF2B5EF4-FFF2-40B4-BE49-F238E27FC236}">
                <a16:creationId xmlns:a16="http://schemas.microsoft.com/office/drawing/2014/main" id="{73B5EBE6-B727-6C0A-7ED7-D235AF058609}"/>
              </a:ext>
            </a:extLst>
          </p:cNvPr>
          <p:cNvSpPr/>
          <p:nvPr/>
        </p:nvSpPr>
        <p:spPr bwMode="gray">
          <a:xfrm>
            <a:off x="5591605" y="2614058"/>
            <a:ext cx="3186215" cy="211786"/>
          </a:xfrm>
          <a:prstGeom prst="homePlate">
            <a:avLst>
              <a:gd name="adj" fmla="val 28868"/>
            </a:avLst>
          </a:prstGeom>
          <a:solidFill>
            <a:srgbClr val="013369"/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4" name="Pentagon 39">
            <a:extLst>
              <a:ext uri="{FF2B5EF4-FFF2-40B4-BE49-F238E27FC236}">
                <a16:creationId xmlns:a16="http://schemas.microsoft.com/office/drawing/2014/main" id="{2FB7BF81-FAF4-C622-847B-DAD253B13982}"/>
              </a:ext>
            </a:extLst>
          </p:cNvPr>
          <p:cNvSpPr/>
          <p:nvPr/>
        </p:nvSpPr>
        <p:spPr bwMode="gray">
          <a:xfrm>
            <a:off x="7240200" y="3112038"/>
            <a:ext cx="1559309" cy="211786"/>
          </a:xfrm>
          <a:prstGeom prst="homePlate">
            <a:avLst>
              <a:gd name="adj" fmla="val 28868"/>
            </a:avLst>
          </a:prstGeom>
          <a:solidFill>
            <a:srgbClr val="0070C0"/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7" name="Pentagon 39">
            <a:extLst>
              <a:ext uri="{FF2B5EF4-FFF2-40B4-BE49-F238E27FC236}">
                <a16:creationId xmlns:a16="http://schemas.microsoft.com/office/drawing/2014/main" id="{B86800D5-70E5-B847-07A8-A4B6328714C4}"/>
              </a:ext>
            </a:extLst>
          </p:cNvPr>
          <p:cNvSpPr/>
          <p:nvPr/>
        </p:nvSpPr>
        <p:spPr bwMode="gray">
          <a:xfrm>
            <a:off x="6475822" y="3520129"/>
            <a:ext cx="3109111" cy="211786"/>
          </a:xfrm>
          <a:prstGeom prst="homePlate">
            <a:avLst>
              <a:gd name="adj" fmla="val 28868"/>
            </a:avLst>
          </a:prstGeom>
          <a:solidFill>
            <a:srgbClr val="A9CCEE"/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8" name="Pentagon 39">
            <a:extLst>
              <a:ext uri="{FF2B5EF4-FFF2-40B4-BE49-F238E27FC236}">
                <a16:creationId xmlns:a16="http://schemas.microsoft.com/office/drawing/2014/main" id="{87ED9C16-9202-16AA-DB6C-C8B14219A8BD}"/>
              </a:ext>
            </a:extLst>
          </p:cNvPr>
          <p:cNvSpPr/>
          <p:nvPr/>
        </p:nvSpPr>
        <p:spPr bwMode="gray">
          <a:xfrm>
            <a:off x="7240200" y="4096656"/>
            <a:ext cx="1814487" cy="211786"/>
          </a:xfrm>
          <a:prstGeom prst="homePlate">
            <a:avLst>
              <a:gd name="adj" fmla="val 28868"/>
            </a:avLst>
          </a:prstGeom>
          <a:solidFill>
            <a:srgbClr val="A9CCEE"/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300"/>
              </a:spcAft>
            </a:pPr>
            <a:endParaRPr lang="en-US" sz="900" b="1" kern="0">
              <a:solidFill>
                <a:srgbClr val="FFFFFF"/>
              </a:solidFill>
              <a:latin typeface="Graphik"/>
              <a:cs typeface="Arial" pitchFamily="34" charset="0"/>
            </a:endParaRPr>
          </a:p>
        </p:txBody>
      </p:sp>
      <p:sp>
        <p:nvSpPr>
          <p:cNvPr id="9" name="Pentagon 39">
            <a:extLst>
              <a:ext uri="{FF2B5EF4-FFF2-40B4-BE49-F238E27FC236}">
                <a16:creationId xmlns:a16="http://schemas.microsoft.com/office/drawing/2014/main" id="{9CBF9FD1-2B85-7303-C423-06BDA61228CD}"/>
              </a:ext>
            </a:extLst>
          </p:cNvPr>
          <p:cNvSpPr/>
          <p:nvPr/>
        </p:nvSpPr>
        <p:spPr bwMode="gray">
          <a:xfrm>
            <a:off x="9054687" y="5143409"/>
            <a:ext cx="2050715" cy="211786"/>
          </a:xfrm>
          <a:prstGeom prst="homePlate">
            <a:avLst>
              <a:gd name="adj" fmla="val 28868"/>
            </a:avLst>
          </a:prstGeom>
          <a:solidFill>
            <a:schemeClr val="bg1">
              <a:lumMod val="8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10" name="Pentagon 39">
            <a:extLst>
              <a:ext uri="{FF2B5EF4-FFF2-40B4-BE49-F238E27FC236}">
                <a16:creationId xmlns:a16="http://schemas.microsoft.com/office/drawing/2014/main" id="{3965A490-BF30-6CEE-0786-DB7F925BBA82}"/>
              </a:ext>
            </a:extLst>
          </p:cNvPr>
          <p:cNvSpPr/>
          <p:nvPr/>
        </p:nvSpPr>
        <p:spPr bwMode="gray">
          <a:xfrm>
            <a:off x="10395085" y="5470430"/>
            <a:ext cx="699367" cy="211786"/>
          </a:xfrm>
          <a:prstGeom prst="homePlate">
            <a:avLst>
              <a:gd name="adj" fmla="val 28868"/>
            </a:avLst>
          </a:prstGeom>
          <a:solidFill>
            <a:schemeClr val="bg1">
              <a:lumMod val="8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65" name="Pentagon 39">
            <a:extLst>
              <a:ext uri="{FF2B5EF4-FFF2-40B4-BE49-F238E27FC236}">
                <a16:creationId xmlns:a16="http://schemas.microsoft.com/office/drawing/2014/main" id="{9D89FCFE-99D8-D480-B55C-246255CBBE85}"/>
              </a:ext>
            </a:extLst>
          </p:cNvPr>
          <p:cNvSpPr/>
          <p:nvPr/>
        </p:nvSpPr>
        <p:spPr bwMode="gray">
          <a:xfrm>
            <a:off x="8799509" y="4727876"/>
            <a:ext cx="811360" cy="211786"/>
          </a:xfrm>
          <a:prstGeom prst="homePlate">
            <a:avLst>
              <a:gd name="adj" fmla="val 28868"/>
            </a:avLst>
          </a:prstGeom>
          <a:solidFill>
            <a:srgbClr val="A9CCEE"/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Arial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52581F7-9910-EDC1-1505-F9495304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309847"/>
          </a:xfrm>
        </p:spPr>
        <p:txBody>
          <a:bodyPr/>
          <a:lstStyle/>
          <a:p>
            <a:r>
              <a:rPr lang="en-US" dirty="0"/>
              <a:t>Phase 2 Roadmap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30BB9C5F-F8C8-BCBA-EAF7-B0E3429F90F8}"/>
              </a:ext>
            </a:extLst>
          </p:cNvPr>
          <p:cNvSpPr/>
          <p:nvPr/>
        </p:nvSpPr>
        <p:spPr>
          <a:xfrm>
            <a:off x="8635957" y="2513271"/>
            <a:ext cx="413360" cy="41336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1A7B6A08-9793-52AC-ECD2-E8477F95FC95}"/>
              </a:ext>
            </a:extLst>
          </p:cNvPr>
          <p:cNvSpPr/>
          <p:nvPr/>
        </p:nvSpPr>
        <p:spPr>
          <a:xfrm>
            <a:off x="8635957" y="2991534"/>
            <a:ext cx="413360" cy="41336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9055EFFA-6520-C255-88B3-A476417190BE}"/>
              </a:ext>
            </a:extLst>
          </p:cNvPr>
          <p:cNvSpPr/>
          <p:nvPr/>
        </p:nvSpPr>
        <p:spPr>
          <a:xfrm>
            <a:off x="10883860" y="5042622"/>
            <a:ext cx="413360" cy="41336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55572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D3EAA73-B46F-F45E-3DEC-71541DE53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1" name="Rounded Rectangle 62">
            <a:extLst>
              <a:ext uri="{FF2B5EF4-FFF2-40B4-BE49-F238E27FC236}">
                <a16:creationId xmlns:a16="http://schemas.microsoft.com/office/drawing/2014/main" id="{9BC51C56-5D53-C9B2-6A93-B5D4E9FF5DF0}"/>
              </a:ext>
            </a:extLst>
          </p:cNvPr>
          <p:cNvSpPr>
            <a:spLocks/>
          </p:cNvSpPr>
          <p:nvPr/>
        </p:nvSpPr>
        <p:spPr>
          <a:xfrm>
            <a:off x="373524" y="-3359764"/>
            <a:ext cx="2191300" cy="2929734"/>
          </a:xfrm>
          <a:prstGeom prst="roundRect">
            <a:avLst>
              <a:gd name="adj" fmla="val 5152"/>
            </a:avLst>
          </a:prstGeom>
          <a:solidFill>
            <a:schemeClr val="bg1"/>
          </a:solidFill>
          <a:ln>
            <a:solidFill>
              <a:srgbClr val="4A66A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35" name="Title 18">
            <a:extLst>
              <a:ext uri="{FF2B5EF4-FFF2-40B4-BE49-F238E27FC236}">
                <a16:creationId xmlns:a16="http://schemas.microsoft.com/office/drawing/2014/main" id="{4554DD8F-26CF-1DAC-F998-4A48FBE61BD8}"/>
              </a:ext>
            </a:extLst>
          </p:cNvPr>
          <p:cNvSpPr txBox="1">
            <a:spLocks/>
          </p:cNvSpPr>
          <p:nvPr/>
        </p:nvSpPr>
        <p:spPr>
          <a:xfrm>
            <a:off x="220579" y="161336"/>
            <a:ext cx="11430000" cy="990600"/>
          </a:xfrm>
          <a:prstGeom prst="rect">
            <a:avLst/>
          </a:prstGeom>
        </p:spPr>
        <p:txBody>
          <a:bodyPr/>
          <a:lstStyle>
            <a:lvl1pPr algn="l" defTabSz="91436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Phase 2 Methodology Overview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2CEFB4-1A85-2FC1-1884-4528C89AA0B9}"/>
              </a:ext>
            </a:extLst>
          </p:cNvPr>
          <p:cNvSpPr txBox="1"/>
          <p:nvPr/>
        </p:nvSpPr>
        <p:spPr>
          <a:xfrm>
            <a:off x="360471" y="703861"/>
            <a:ext cx="8070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Graphik" panose="020B0503030202060203" pitchFamily="34" charset="0"/>
              </a:rPr>
              <a:t>From Input to Impact: Defensible data driven survey approach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625233-264A-69F0-AB46-9B4FA683C5E2}"/>
              </a:ext>
            </a:extLst>
          </p:cNvPr>
          <p:cNvSpPr txBox="1"/>
          <p:nvPr/>
        </p:nvSpPr>
        <p:spPr>
          <a:xfrm>
            <a:off x="7691434" y="747406"/>
            <a:ext cx="40124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i="1" u="none" strike="noStrike">
                <a:solidFill>
                  <a:srgbClr val="000000"/>
                </a:solidFill>
                <a:effectLst/>
                <a:latin typeface="+mj-lt"/>
              </a:rPr>
              <a:t>NEW: Business/Operations and VOF correlations:</a:t>
            </a:r>
            <a:endParaRPr lang="en-US" sz="800" i="1">
              <a:solidFill>
                <a:srgbClr val="000000"/>
              </a:solidFill>
              <a:latin typeface="+mj-lt"/>
            </a:endParaRP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Dashboard insights ar</a:t>
            </a:r>
            <a:r>
              <a:rPr lang="en-US" sz="800" i="1">
                <a:solidFill>
                  <a:srgbClr val="000000"/>
                </a:solidFill>
                <a:latin typeface="+mj-lt"/>
              </a:rPr>
              <a:t>e more defensible with correlated data</a:t>
            </a:r>
          </a:p>
          <a:p>
            <a:pPr marL="346075" lvl="1" indent="-173038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Integrated results to help support investment decision making</a:t>
            </a:r>
            <a:endParaRPr lang="en-US" sz="800" i="1">
              <a:latin typeface="+mj-lt"/>
            </a:endParaRPr>
          </a:p>
        </p:txBody>
      </p:sp>
      <p:sp>
        <p:nvSpPr>
          <p:cNvPr id="44" name="Rounded Rectangle 90">
            <a:extLst>
              <a:ext uri="{FF2B5EF4-FFF2-40B4-BE49-F238E27FC236}">
                <a16:creationId xmlns:a16="http://schemas.microsoft.com/office/drawing/2014/main" id="{8C024CE3-5C20-7F47-C398-46DD0927D11C}"/>
              </a:ext>
            </a:extLst>
          </p:cNvPr>
          <p:cNvSpPr/>
          <p:nvPr/>
        </p:nvSpPr>
        <p:spPr>
          <a:xfrm>
            <a:off x="7691434" y="1254730"/>
            <a:ext cx="4012437" cy="4899409"/>
          </a:xfrm>
          <a:prstGeom prst="roundRect">
            <a:avLst>
              <a:gd name="adj" fmla="val 5152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/>
          </a:p>
        </p:txBody>
      </p:sp>
      <p:sp>
        <p:nvSpPr>
          <p:cNvPr id="7192" name="TextBox 7191">
            <a:extLst>
              <a:ext uri="{FF2B5EF4-FFF2-40B4-BE49-F238E27FC236}">
                <a16:creationId xmlns:a16="http://schemas.microsoft.com/office/drawing/2014/main" id="{5CC0823F-E98F-1480-804B-67887F30E990}"/>
              </a:ext>
            </a:extLst>
          </p:cNvPr>
          <p:cNvSpPr txBox="1"/>
          <p:nvPr/>
        </p:nvSpPr>
        <p:spPr>
          <a:xfrm>
            <a:off x="373525" y="-3329433"/>
            <a:ext cx="2206440" cy="2546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400" b="1" noProof="0">
                <a:solidFill>
                  <a:srgbClr val="4A66AC"/>
                </a:solidFill>
              </a:rPr>
              <a:t>Technology Layers</a:t>
            </a:r>
          </a:p>
        </p:txBody>
      </p:sp>
      <p:pic>
        <p:nvPicPr>
          <p:cNvPr id="7195" name="Graphic 7194" descr="Blog outline">
            <a:extLst>
              <a:ext uri="{FF2B5EF4-FFF2-40B4-BE49-F238E27FC236}">
                <a16:creationId xmlns:a16="http://schemas.microsoft.com/office/drawing/2014/main" id="{F6AFC872-D651-C253-7532-0DAA6C3E25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286" y="-2331953"/>
            <a:ext cx="477883" cy="477883"/>
          </a:xfrm>
          <a:prstGeom prst="rect">
            <a:avLst/>
          </a:prstGeom>
        </p:spPr>
      </p:pic>
      <p:sp>
        <p:nvSpPr>
          <p:cNvPr id="7196" name="TextBox 7195">
            <a:extLst>
              <a:ext uri="{FF2B5EF4-FFF2-40B4-BE49-F238E27FC236}">
                <a16:creationId xmlns:a16="http://schemas.microsoft.com/office/drawing/2014/main" id="{11E68107-1C7C-A8B8-626B-44D233147D0A}"/>
              </a:ext>
            </a:extLst>
          </p:cNvPr>
          <p:cNvSpPr txBox="1"/>
          <p:nvPr/>
        </p:nvSpPr>
        <p:spPr>
          <a:xfrm>
            <a:off x="1096871" y="-2302736"/>
            <a:ext cx="1330290" cy="48327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5400"/>
              </a:spcAft>
            </a:pPr>
            <a:r>
              <a:rPr lang="en-US" sz="1200" b="1">
                <a:solidFill>
                  <a:schemeClr val="tx1"/>
                </a:solidFill>
              </a:rPr>
              <a:t>Technology Services</a:t>
            </a:r>
          </a:p>
        </p:txBody>
      </p:sp>
      <p:pic>
        <p:nvPicPr>
          <p:cNvPr id="7197" name="Graphic 7196" descr="Programmer male outline">
            <a:extLst>
              <a:ext uri="{FF2B5EF4-FFF2-40B4-BE49-F238E27FC236}">
                <a16:creationId xmlns:a16="http://schemas.microsoft.com/office/drawing/2014/main" id="{4BED31C8-106C-B5B9-7AC5-9624D9E2C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286" y="-1104022"/>
            <a:ext cx="477883" cy="477883"/>
          </a:xfrm>
          <a:prstGeom prst="rect">
            <a:avLst/>
          </a:prstGeom>
        </p:spPr>
      </p:pic>
      <p:sp>
        <p:nvSpPr>
          <p:cNvPr id="7198" name="TextBox 7197">
            <a:extLst>
              <a:ext uri="{FF2B5EF4-FFF2-40B4-BE49-F238E27FC236}">
                <a16:creationId xmlns:a16="http://schemas.microsoft.com/office/drawing/2014/main" id="{DE24B4D1-57B2-698D-2880-692ACC671855}"/>
              </a:ext>
            </a:extLst>
          </p:cNvPr>
          <p:cNvSpPr txBox="1"/>
          <p:nvPr/>
        </p:nvSpPr>
        <p:spPr>
          <a:xfrm>
            <a:off x="1097871" y="-1094517"/>
            <a:ext cx="1330290" cy="48327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5400"/>
              </a:spcAft>
            </a:pPr>
            <a:r>
              <a:rPr lang="en-US" sz="1200" b="1">
                <a:solidFill>
                  <a:schemeClr val="tx1"/>
                </a:solidFill>
              </a:rPr>
              <a:t>Digital Services</a:t>
            </a:r>
          </a:p>
        </p:txBody>
      </p:sp>
      <p:sp>
        <p:nvSpPr>
          <p:cNvPr id="7199" name="TextBox 7198">
            <a:extLst>
              <a:ext uri="{FF2B5EF4-FFF2-40B4-BE49-F238E27FC236}">
                <a16:creationId xmlns:a16="http://schemas.microsoft.com/office/drawing/2014/main" id="{129682DB-80A7-CBD3-3CC4-F202AF918871}"/>
              </a:ext>
            </a:extLst>
          </p:cNvPr>
          <p:cNvSpPr txBox="1"/>
          <p:nvPr/>
        </p:nvSpPr>
        <p:spPr>
          <a:xfrm>
            <a:off x="1096871" y="-1698626"/>
            <a:ext cx="1330290" cy="48327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5400"/>
              </a:spcAft>
            </a:pPr>
            <a:r>
              <a:rPr lang="en-US" sz="1200" b="1">
                <a:solidFill>
                  <a:schemeClr val="tx1"/>
                </a:solidFill>
              </a:rPr>
              <a:t>AI &amp; Innovation</a:t>
            </a:r>
          </a:p>
        </p:txBody>
      </p:sp>
      <p:pic>
        <p:nvPicPr>
          <p:cNvPr id="7200" name="Graphic 7199" descr="Artificial Intelligence outline">
            <a:extLst>
              <a:ext uri="{FF2B5EF4-FFF2-40B4-BE49-F238E27FC236}">
                <a16:creationId xmlns:a16="http://schemas.microsoft.com/office/drawing/2014/main" id="{0412B39C-ACD0-F82E-776B-595396A4A9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154" y="-1695929"/>
            <a:ext cx="477883" cy="477883"/>
          </a:xfrm>
          <a:prstGeom prst="rect">
            <a:avLst/>
          </a:prstGeom>
        </p:spPr>
      </p:pic>
      <p:grpSp>
        <p:nvGrpSpPr>
          <p:cNvPr id="7234" name="Group 7233">
            <a:extLst>
              <a:ext uri="{FF2B5EF4-FFF2-40B4-BE49-F238E27FC236}">
                <a16:creationId xmlns:a16="http://schemas.microsoft.com/office/drawing/2014/main" id="{DC4E6F93-46A7-C0C3-FC19-905430EB1947}"/>
              </a:ext>
            </a:extLst>
          </p:cNvPr>
          <p:cNvGrpSpPr/>
          <p:nvPr/>
        </p:nvGrpSpPr>
        <p:grpSpPr>
          <a:xfrm>
            <a:off x="1246702" y="2014567"/>
            <a:ext cx="3289808" cy="3351527"/>
            <a:chOff x="3464665" y="2616041"/>
            <a:chExt cx="2138989" cy="2179118"/>
          </a:xfrm>
        </p:grpSpPr>
        <p:sp>
          <p:nvSpPr>
            <p:cNvPr id="7248" name="Freeform 5">
              <a:extLst>
                <a:ext uri="{FF2B5EF4-FFF2-40B4-BE49-F238E27FC236}">
                  <a16:creationId xmlns:a16="http://schemas.microsoft.com/office/drawing/2014/main" id="{98C2F6F8-DE55-DDED-B173-0E833EE9FDB1}"/>
                </a:ext>
              </a:extLst>
            </p:cNvPr>
            <p:cNvSpPr>
              <a:spLocks/>
            </p:cNvSpPr>
            <p:nvPr/>
          </p:nvSpPr>
          <p:spPr bwMode="auto">
            <a:xfrm rot="21337677">
              <a:off x="3464665" y="2691052"/>
              <a:ext cx="1226849" cy="1542405"/>
            </a:xfrm>
            <a:custGeom>
              <a:avLst/>
              <a:gdLst>
                <a:gd name="T0" fmla="*/ 551 w 1060"/>
                <a:gd name="T1" fmla="*/ 1078 h 1333"/>
                <a:gd name="T2" fmla="*/ 520 w 1060"/>
                <a:gd name="T3" fmla="*/ 925 h 1333"/>
                <a:gd name="T4" fmla="*/ 917 w 1060"/>
                <a:gd name="T5" fmla="*/ 521 h 1333"/>
                <a:gd name="T6" fmla="*/ 1060 w 1060"/>
                <a:gd name="T7" fmla="*/ 259 h 1333"/>
                <a:gd name="T8" fmla="*/ 918 w 1060"/>
                <a:gd name="T9" fmla="*/ 0 h 1333"/>
                <a:gd name="T10" fmla="*/ 0 w 1060"/>
                <a:gd name="T11" fmla="*/ 925 h 1333"/>
                <a:gd name="T12" fmla="*/ 94 w 1060"/>
                <a:gd name="T13" fmla="*/ 1333 h 1333"/>
                <a:gd name="T14" fmla="*/ 244 w 1060"/>
                <a:gd name="T15" fmla="*/ 1086 h 1333"/>
                <a:gd name="T16" fmla="*/ 551 w 1060"/>
                <a:gd name="T17" fmla="*/ 1078 h 1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0" h="1333">
                  <a:moveTo>
                    <a:pt x="551" y="1078"/>
                  </a:moveTo>
                  <a:cubicBezTo>
                    <a:pt x="531" y="1031"/>
                    <a:pt x="520" y="979"/>
                    <a:pt x="520" y="925"/>
                  </a:cubicBezTo>
                  <a:cubicBezTo>
                    <a:pt x="520" y="704"/>
                    <a:pt x="697" y="525"/>
                    <a:pt x="917" y="521"/>
                  </a:cubicBezTo>
                  <a:cubicBezTo>
                    <a:pt x="1060" y="259"/>
                    <a:pt x="1060" y="259"/>
                    <a:pt x="1060" y="259"/>
                  </a:cubicBezTo>
                  <a:cubicBezTo>
                    <a:pt x="918" y="0"/>
                    <a:pt x="918" y="0"/>
                    <a:pt x="918" y="0"/>
                  </a:cubicBezTo>
                  <a:cubicBezTo>
                    <a:pt x="410" y="4"/>
                    <a:pt x="0" y="416"/>
                    <a:pt x="0" y="925"/>
                  </a:cubicBezTo>
                  <a:cubicBezTo>
                    <a:pt x="0" y="1071"/>
                    <a:pt x="34" y="1210"/>
                    <a:pt x="94" y="1333"/>
                  </a:cubicBezTo>
                  <a:cubicBezTo>
                    <a:pt x="244" y="1086"/>
                    <a:pt x="244" y="1086"/>
                    <a:pt x="244" y="1086"/>
                  </a:cubicBezTo>
                  <a:lnTo>
                    <a:pt x="551" y="107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7249" name="Freeform 6">
              <a:extLst>
                <a:ext uri="{FF2B5EF4-FFF2-40B4-BE49-F238E27FC236}">
                  <a16:creationId xmlns:a16="http://schemas.microsoft.com/office/drawing/2014/main" id="{0527B03C-77E4-5D02-5040-5FA60C1397D6}"/>
                </a:ext>
              </a:extLst>
            </p:cNvPr>
            <p:cNvSpPr>
              <a:spLocks/>
            </p:cNvSpPr>
            <p:nvPr/>
          </p:nvSpPr>
          <p:spPr bwMode="auto">
            <a:xfrm rot="21337677">
              <a:off x="4591185" y="2616041"/>
              <a:ext cx="1012469" cy="1599715"/>
            </a:xfrm>
            <a:custGeom>
              <a:avLst/>
              <a:gdLst>
                <a:gd name="T0" fmla="*/ 0 w 875"/>
                <a:gd name="T1" fmla="*/ 522 h 1383"/>
                <a:gd name="T2" fmla="*/ 355 w 875"/>
                <a:gd name="T3" fmla="*/ 923 h 1383"/>
                <a:gd name="T4" fmla="*/ 299 w 875"/>
                <a:gd name="T5" fmla="*/ 1127 h 1383"/>
                <a:gd name="T6" fmla="*/ 453 w 875"/>
                <a:gd name="T7" fmla="*/ 1377 h 1383"/>
                <a:gd name="T8" fmla="*/ 753 w 875"/>
                <a:gd name="T9" fmla="*/ 1383 h 1383"/>
                <a:gd name="T10" fmla="*/ 875 w 875"/>
                <a:gd name="T11" fmla="*/ 923 h 1383"/>
                <a:gd name="T12" fmla="*/ 3 w 875"/>
                <a:gd name="T13" fmla="*/ 0 h 1383"/>
                <a:gd name="T14" fmla="*/ 144 w 875"/>
                <a:gd name="T15" fmla="*/ 257 h 1383"/>
                <a:gd name="T16" fmla="*/ 0 w 875"/>
                <a:gd name="T17" fmla="*/ 522 h 1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5" h="1383">
                  <a:moveTo>
                    <a:pt x="0" y="522"/>
                  </a:moveTo>
                  <a:cubicBezTo>
                    <a:pt x="200" y="546"/>
                    <a:pt x="355" y="717"/>
                    <a:pt x="355" y="923"/>
                  </a:cubicBezTo>
                  <a:cubicBezTo>
                    <a:pt x="355" y="997"/>
                    <a:pt x="334" y="1067"/>
                    <a:pt x="299" y="1127"/>
                  </a:cubicBezTo>
                  <a:cubicBezTo>
                    <a:pt x="453" y="1377"/>
                    <a:pt x="453" y="1377"/>
                    <a:pt x="453" y="1377"/>
                  </a:cubicBezTo>
                  <a:cubicBezTo>
                    <a:pt x="753" y="1383"/>
                    <a:pt x="753" y="1383"/>
                    <a:pt x="753" y="1383"/>
                  </a:cubicBezTo>
                  <a:cubicBezTo>
                    <a:pt x="831" y="1248"/>
                    <a:pt x="875" y="1091"/>
                    <a:pt x="875" y="923"/>
                  </a:cubicBezTo>
                  <a:cubicBezTo>
                    <a:pt x="875" y="430"/>
                    <a:pt x="489" y="27"/>
                    <a:pt x="3" y="0"/>
                  </a:cubicBezTo>
                  <a:cubicBezTo>
                    <a:pt x="144" y="257"/>
                    <a:pt x="144" y="257"/>
                    <a:pt x="144" y="257"/>
                  </a:cubicBezTo>
                  <a:lnTo>
                    <a:pt x="0" y="52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7250" name="Freeform 7">
              <a:extLst>
                <a:ext uri="{FF2B5EF4-FFF2-40B4-BE49-F238E27FC236}">
                  <a16:creationId xmlns:a16="http://schemas.microsoft.com/office/drawing/2014/main" id="{9611D258-7E18-FC52-6B4C-25CF69FC35D0}"/>
                </a:ext>
              </a:extLst>
            </p:cNvPr>
            <p:cNvSpPr>
              <a:spLocks/>
            </p:cNvSpPr>
            <p:nvPr/>
          </p:nvSpPr>
          <p:spPr bwMode="auto">
            <a:xfrm rot="21337677">
              <a:off x="3677467" y="3960987"/>
              <a:ext cx="1819755" cy="834172"/>
            </a:xfrm>
            <a:custGeom>
              <a:avLst/>
              <a:gdLst>
                <a:gd name="T0" fmla="*/ 1120 w 1573"/>
                <a:gd name="T1" fmla="*/ 46 h 721"/>
                <a:gd name="T2" fmla="*/ 802 w 1573"/>
                <a:gd name="T3" fmla="*/ 200 h 721"/>
                <a:gd name="T4" fmla="*/ 454 w 1573"/>
                <a:gd name="T5" fmla="*/ 0 h 721"/>
                <a:gd name="T6" fmla="*/ 151 w 1573"/>
                <a:gd name="T7" fmla="*/ 8 h 721"/>
                <a:gd name="T8" fmla="*/ 0 w 1573"/>
                <a:gd name="T9" fmla="*/ 257 h 721"/>
                <a:gd name="T10" fmla="*/ 802 w 1573"/>
                <a:gd name="T11" fmla="*/ 721 h 721"/>
                <a:gd name="T12" fmla="*/ 1573 w 1573"/>
                <a:gd name="T13" fmla="*/ 307 h 721"/>
                <a:gd name="T14" fmla="*/ 1276 w 1573"/>
                <a:gd name="T15" fmla="*/ 301 h 721"/>
                <a:gd name="T16" fmla="*/ 1120 w 1573"/>
                <a:gd name="T17" fmla="*/ 46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73" h="721">
                  <a:moveTo>
                    <a:pt x="1120" y="46"/>
                  </a:moveTo>
                  <a:cubicBezTo>
                    <a:pt x="1046" y="140"/>
                    <a:pt x="931" y="200"/>
                    <a:pt x="802" y="200"/>
                  </a:cubicBezTo>
                  <a:cubicBezTo>
                    <a:pt x="654" y="200"/>
                    <a:pt x="524" y="120"/>
                    <a:pt x="454" y="0"/>
                  </a:cubicBezTo>
                  <a:cubicBezTo>
                    <a:pt x="151" y="8"/>
                    <a:pt x="151" y="8"/>
                    <a:pt x="151" y="8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160" y="534"/>
                    <a:pt x="459" y="721"/>
                    <a:pt x="802" y="721"/>
                  </a:cubicBezTo>
                  <a:cubicBezTo>
                    <a:pt x="1124" y="721"/>
                    <a:pt x="1407" y="556"/>
                    <a:pt x="1573" y="307"/>
                  </a:cubicBezTo>
                  <a:cubicBezTo>
                    <a:pt x="1276" y="301"/>
                    <a:pt x="1276" y="301"/>
                    <a:pt x="1276" y="301"/>
                  </a:cubicBezTo>
                  <a:lnTo>
                    <a:pt x="1120" y="4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</p:grpSp>
      <p:grpSp>
        <p:nvGrpSpPr>
          <p:cNvPr id="7235" name="Group 7234">
            <a:extLst>
              <a:ext uri="{FF2B5EF4-FFF2-40B4-BE49-F238E27FC236}">
                <a16:creationId xmlns:a16="http://schemas.microsoft.com/office/drawing/2014/main" id="{BCB922C7-5829-CF69-D714-08E1D0A2837F}"/>
              </a:ext>
            </a:extLst>
          </p:cNvPr>
          <p:cNvGrpSpPr/>
          <p:nvPr/>
        </p:nvGrpSpPr>
        <p:grpSpPr>
          <a:xfrm>
            <a:off x="201903" y="1289002"/>
            <a:ext cx="2438674" cy="1376925"/>
            <a:chOff x="1074097" y="3233483"/>
            <a:chExt cx="1524171" cy="895259"/>
          </a:xfrm>
        </p:grpSpPr>
        <p:cxnSp>
          <p:nvCxnSpPr>
            <p:cNvPr id="7246" name="Straight Arrow Connector 7245">
              <a:extLst>
                <a:ext uri="{FF2B5EF4-FFF2-40B4-BE49-F238E27FC236}">
                  <a16:creationId xmlns:a16="http://schemas.microsoft.com/office/drawing/2014/main" id="{9329559C-72DD-2E85-C828-E98CBAFF28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6187" y="3702815"/>
              <a:ext cx="158036" cy="425927"/>
            </a:xfrm>
            <a:prstGeom prst="straightConnector1">
              <a:avLst/>
            </a:prstGeom>
            <a:ln w="127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47" name="Footer Text">
              <a:extLst>
                <a:ext uri="{FF2B5EF4-FFF2-40B4-BE49-F238E27FC236}">
                  <a16:creationId xmlns:a16="http://schemas.microsoft.com/office/drawing/2014/main" id="{6935FBBC-BCF0-17F6-9260-2840ACD1C287}"/>
                </a:ext>
              </a:extLst>
            </p:cNvPr>
            <p:cNvSpPr txBox="1"/>
            <p:nvPr/>
          </p:nvSpPr>
          <p:spPr>
            <a:xfrm flipH="1">
              <a:off x="1074097" y="3233483"/>
              <a:ext cx="1524171" cy="3802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>
                  <a:solidFill>
                    <a:schemeClr val="accent1"/>
                  </a:solidFill>
                  <a:latin typeface="+mj-lt"/>
                </a:rPr>
                <a:t>Technology Layers</a:t>
              </a:r>
              <a:br>
                <a:rPr lang="en-US" sz="1600">
                  <a:solidFill>
                    <a:schemeClr val="accent1"/>
                  </a:solidFill>
                </a:rPr>
              </a:br>
              <a:r>
                <a:rPr lang="en-US" sz="1100">
                  <a:solidFill>
                    <a:schemeClr val="accent1"/>
                  </a:solidFill>
                </a:rPr>
                <a:t>Ranked fan experience and operations enabling technologies</a:t>
              </a:r>
              <a:endParaRPr lang="en-US" sz="1100"/>
            </a:p>
          </p:txBody>
        </p:sp>
      </p:grpSp>
      <p:grpSp>
        <p:nvGrpSpPr>
          <p:cNvPr id="7236" name="Group 7235">
            <a:extLst>
              <a:ext uri="{FF2B5EF4-FFF2-40B4-BE49-F238E27FC236}">
                <a16:creationId xmlns:a16="http://schemas.microsoft.com/office/drawing/2014/main" id="{F80BAFFB-ACDA-CBC8-5412-DAAE67B2BC6D}"/>
              </a:ext>
            </a:extLst>
          </p:cNvPr>
          <p:cNvGrpSpPr/>
          <p:nvPr/>
        </p:nvGrpSpPr>
        <p:grpSpPr>
          <a:xfrm>
            <a:off x="3917819" y="5109626"/>
            <a:ext cx="3282178" cy="586580"/>
            <a:chOff x="5201389" y="4628411"/>
            <a:chExt cx="2134028" cy="381387"/>
          </a:xfrm>
        </p:grpSpPr>
        <p:grpSp>
          <p:nvGrpSpPr>
            <p:cNvPr id="7242" name="Group 7241">
              <a:extLst>
                <a:ext uri="{FF2B5EF4-FFF2-40B4-BE49-F238E27FC236}">
                  <a16:creationId xmlns:a16="http://schemas.microsoft.com/office/drawing/2014/main" id="{233B4BD1-E770-17D7-E514-5343141BC50C}"/>
                </a:ext>
              </a:extLst>
            </p:cNvPr>
            <p:cNvGrpSpPr/>
            <p:nvPr/>
          </p:nvGrpSpPr>
          <p:grpSpPr>
            <a:xfrm rot="10800000">
              <a:off x="5201389" y="4628411"/>
              <a:ext cx="461771" cy="150505"/>
              <a:chOff x="3643669" y="2241514"/>
              <a:chExt cx="615695" cy="200673"/>
            </a:xfrm>
          </p:grpSpPr>
          <p:cxnSp>
            <p:nvCxnSpPr>
              <p:cNvPr id="7244" name="Straight Connector 7243">
                <a:extLst>
                  <a:ext uri="{FF2B5EF4-FFF2-40B4-BE49-F238E27FC236}">
                    <a16:creationId xmlns:a16="http://schemas.microsoft.com/office/drawing/2014/main" id="{B089A9F5-AAB9-2A9A-E5A6-D0F100688447}"/>
                  </a:ext>
                </a:extLst>
              </p:cNvPr>
              <p:cNvCxnSpPr/>
              <p:nvPr/>
            </p:nvCxnSpPr>
            <p:spPr>
              <a:xfrm rot="10800000">
                <a:off x="4058741" y="2241565"/>
                <a:ext cx="200623" cy="200622"/>
              </a:xfrm>
              <a:prstGeom prst="line">
                <a:avLst/>
              </a:prstGeom>
              <a:ln w="1270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5" name="Straight Arrow Connector 7244">
                <a:extLst>
                  <a:ext uri="{FF2B5EF4-FFF2-40B4-BE49-F238E27FC236}">
                    <a16:creationId xmlns:a16="http://schemas.microsoft.com/office/drawing/2014/main" id="{8F130DBB-2ACC-1135-5F29-3E1F12E8A602}"/>
                  </a:ext>
                </a:extLst>
              </p:cNvPr>
              <p:cNvCxnSpPr/>
              <p:nvPr/>
            </p:nvCxnSpPr>
            <p:spPr>
              <a:xfrm rot="10800000">
                <a:off x="3643669" y="2241514"/>
                <a:ext cx="418247" cy="0"/>
              </a:xfrm>
              <a:prstGeom prst="straightConnector1">
                <a:avLst/>
              </a:prstGeom>
              <a:ln w="12700">
                <a:solidFill>
                  <a:schemeClr val="accent3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43" name="Footer Text">
              <a:extLst>
                <a:ext uri="{FF2B5EF4-FFF2-40B4-BE49-F238E27FC236}">
                  <a16:creationId xmlns:a16="http://schemas.microsoft.com/office/drawing/2014/main" id="{497DC80B-9289-493B-4700-FF98A303C9BB}"/>
                </a:ext>
              </a:extLst>
            </p:cNvPr>
            <p:cNvSpPr txBox="1"/>
            <p:nvPr/>
          </p:nvSpPr>
          <p:spPr>
            <a:xfrm flipH="1">
              <a:off x="5811246" y="4629585"/>
              <a:ext cx="1524171" cy="3802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>
                  <a:solidFill>
                    <a:schemeClr val="accent3"/>
                  </a:solidFill>
                  <a:latin typeface="+mj-lt"/>
                </a:rPr>
                <a:t>Fan Experience</a:t>
              </a:r>
              <a:br>
                <a:rPr lang="en-US" sz="1600">
                  <a:solidFill>
                    <a:schemeClr val="accent3"/>
                  </a:solidFill>
                </a:rPr>
              </a:br>
              <a:r>
                <a:rPr lang="en-US" sz="1100"/>
                <a:t>Voice of the Fan survey questions and data that support *</a:t>
              </a:r>
            </a:p>
          </p:txBody>
        </p:sp>
      </p:grpSp>
      <p:grpSp>
        <p:nvGrpSpPr>
          <p:cNvPr id="7237" name="Group 7236">
            <a:extLst>
              <a:ext uri="{FF2B5EF4-FFF2-40B4-BE49-F238E27FC236}">
                <a16:creationId xmlns:a16="http://schemas.microsoft.com/office/drawing/2014/main" id="{ED937C11-9162-5224-D9F6-FC9D66E8C18F}"/>
              </a:ext>
            </a:extLst>
          </p:cNvPr>
          <p:cNvGrpSpPr/>
          <p:nvPr/>
        </p:nvGrpSpPr>
        <p:grpSpPr>
          <a:xfrm>
            <a:off x="4100318" y="1795928"/>
            <a:ext cx="3421245" cy="754053"/>
            <a:chOff x="5351851" y="2473885"/>
            <a:chExt cx="2224447" cy="490275"/>
          </a:xfrm>
        </p:grpSpPr>
        <p:grpSp>
          <p:nvGrpSpPr>
            <p:cNvPr id="7238" name="Group 7237">
              <a:extLst>
                <a:ext uri="{FF2B5EF4-FFF2-40B4-BE49-F238E27FC236}">
                  <a16:creationId xmlns:a16="http://schemas.microsoft.com/office/drawing/2014/main" id="{14029A0A-6D07-C26F-A560-D5C8D8E30CB6}"/>
                </a:ext>
              </a:extLst>
            </p:cNvPr>
            <p:cNvGrpSpPr/>
            <p:nvPr/>
          </p:nvGrpSpPr>
          <p:grpSpPr>
            <a:xfrm flipH="1">
              <a:off x="5351851" y="2630945"/>
              <a:ext cx="572984" cy="257261"/>
              <a:chOff x="3495385" y="2092824"/>
              <a:chExt cx="763978" cy="343013"/>
            </a:xfrm>
          </p:grpSpPr>
          <p:cxnSp>
            <p:nvCxnSpPr>
              <p:cNvPr id="7240" name="Straight Connector 7239">
                <a:extLst>
                  <a:ext uri="{FF2B5EF4-FFF2-40B4-BE49-F238E27FC236}">
                    <a16:creationId xmlns:a16="http://schemas.microsoft.com/office/drawing/2014/main" id="{A67E2C1B-CD71-3BC8-043C-D298AA70CC26}"/>
                  </a:ext>
                </a:extLst>
              </p:cNvPr>
              <p:cNvCxnSpPr/>
              <p:nvPr/>
            </p:nvCxnSpPr>
            <p:spPr>
              <a:xfrm flipH="1" flipV="1">
                <a:off x="3916350" y="2092824"/>
                <a:ext cx="343013" cy="343013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1" name="Straight Arrow Connector 7240">
                <a:extLst>
                  <a:ext uri="{FF2B5EF4-FFF2-40B4-BE49-F238E27FC236}">
                    <a16:creationId xmlns:a16="http://schemas.microsoft.com/office/drawing/2014/main" id="{C920107E-CFDB-DB60-6C48-7F07AA740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95385" y="2092824"/>
                <a:ext cx="425000" cy="3163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39" name="Footer Text">
              <a:extLst>
                <a:ext uri="{FF2B5EF4-FFF2-40B4-BE49-F238E27FC236}">
                  <a16:creationId xmlns:a16="http://schemas.microsoft.com/office/drawing/2014/main" id="{E4824847-F94B-6BBE-562B-62729BE3A7C6}"/>
                </a:ext>
              </a:extLst>
            </p:cNvPr>
            <p:cNvSpPr txBox="1"/>
            <p:nvPr/>
          </p:nvSpPr>
          <p:spPr>
            <a:xfrm flipH="1">
              <a:off x="6014485" y="2473885"/>
              <a:ext cx="1561813" cy="4902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b="1">
                  <a:solidFill>
                    <a:schemeClr val="accent2"/>
                  </a:solidFill>
                  <a:latin typeface="+mj-lt"/>
                </a:rPr>
                <a:t>Business &amp; Operations</a:t>
              </a:r>
              <a:br>
                <a:rPr lang="en-US" sz="1600">
                  <a:solidFill>
                    <a:schemeClr val="accent2"/>
                  </a:solidFill>
                </a:rPr>
              </a:br>
              <a:r>
                <a:rPr lang="en-US" sz="1100"/>
                <a:t>Revenue or operational KPIs that support correlations needed to assess technologies</a:t>
              </a:r>
            </a:p>
          </p:txBody>
        </p:sp>
      </p:grpSp>
      <p:sp>
        <p:nvSpPr>
          <p:cNvPr id="7231" name="Freeform 23">
            <a:extLst>
              <a:ext uri="{FF2B5EF4-FFF2-40B4-BE49-F238E27FC236}">
                <a16:creationId xmlns:a16="http://schemas.microsoft.com/office/drawing/2014/main" id="{1C09EE32-5A53-12A0-D4B7-49CD4AA97242}"/>
              </a:ext>
            </a:extLst>
          </p:cNvPr>
          <p:cNvSpPr>
            <a:spLocks noEditPoints="1"/>
          </p:cNvSpPr>
          <p:nvPr/>
        </p:nvSpPr>
        <p:spPr bwMode="auto">
          <a:xfrm>
            <a:off x="1691447" y="2789998"/>
            <a:ext cx="488932" cy="481608"/>
          </a:xfrm>
          <a:custGeom>
            <a:avLst/>
            <a:gdLst>
              <a:gd name="T0" fmla="*/ 113 w 113"/>
              <a:gd name="T1" fmla="*/ 26 h 111"/>
              <a:gd name="T2" fmla="*/ 107 w 113"/>
              <a:gd name="T3" fmla="*/ 42 h 111"/>
              <a:gd name="T4" fmla="*/ 109 w 113"/>
              <a:gd name="T5" fmla="*/ 58 h 111"/>
              <a:gd name="T6" fmla="*/ 102 w 113"/>
              <a:gd name="T7" fmla="*/ 85 h 111"/>
              <a:gd name="T8" fmla="*/ 83 w 113"/>
              <a:gd name="T9" fmla="*/ 104 h 111"/>
              <a:gd name="T10" fmla="*/ 57 w 113"/>
              <a:gd name="T11" fmla="*/ 111 h 111"/>
              <a:gd name="T12" fmla="*/ 31 w 113"/>
              <a:gd name="T13" fmla="*/ 104 h 111"/>
              <a:gd name="T14" fmla="*/ 12 w 113"/>
              <a:gd name="T15" fmla="*/ 85 h 111"/>
              <a:gd name="T16" fmla="*/ 5 w 113"/>
              <a:gd name="T17" fmla="*/ 58 h 111"/>
              <a:gd name="T18" fmla="*/ 7 w 113"/>
              <a:gd name="T19" fmla="*/ 43 h 111"/>
              <a:gd name="T20" fmla="*/ 0 w 113"/>
              <a:gd name="T21" fmla="*/ 26 h 111"/>
              <a:gd name="T22" fmla="*/ 8 w 113"/>
              <a:gd name="T23" fmla="*/ 8 h 111"/>
              <a:gd name="T24" fmla="*/ 25 w 113"/>
              <a:gd name="T25" fmla="*/ 0 h 111"/>
              <a:gd name="T26" fmla="*/ 43 w 113"/>
              <a:gd name="T27" fmla="*/ 8 h 111"/>
              <a:gd name="T28" fmla="*/ 57 w 113"/>
              <a:gd name="T29" fmla="*/ 6 h 111"/>
              <a:gd name="T30" fmla="*/ 71 w 113"/>
              <a:gd name="T31" fmla="*/ 8 h 111"/>
              <a:gd name="T32" fmla="*/ 88 w 113"/>
              <a:gd name="T33" fmla="*/ 0 h 111"/>
              <a:gd name="T34" fmla="*/ 106 w 113"/>
              <a:gd name="T35" fmla="*/ 8 h 111"/>
              <a:gd name="T36" fmla="*/ 113 w 113"/>
              <a:gd name="T37" fmla="*/ 26 h 111"/>
              <a:gd name="T38" fmla="*/ 28 w 113"/>
              <a:gd name="T39" fmla="*/ 88 h 111"/>
              <a:gd name="T40" fmla="*/ 57 w 113"/>
              <a:gd name="T41" fmla="*/ 100 h 111"/>
              <a:gd name="T42" fmla="*/ 86 w 113"/>
              <a:gd name="T43" fmla="*/ 88 h 111"/>
              <a:gd name="T44" fmla="*/ 99 w 113"/>
              <a:gd name="T45" fmla="*/ 58 h 111"/>
              <a:gd name="T46" fmla="*/ 86 w 113"/>
              <a:gd name="T47" fmla="*/ 29 h 111"/>
              <a:gd name="T48" fmla="*/ 57 w 113"/>
              <a:gd name="T49" fmla="*/ 17 h 111"/>
              <a:gd name="T50" fmla="*/ 28 w 113"/>
              <a:gd name="T51" fmla="*/ 29 h 111"/>
              <a:gd name="T52" fmla="*/ 16 w 113"/>
              <a:gd name="T53" fmla="*/ 58 h 111"/>
              <a:gd name="T54" fmla="*/ 28 w 113"/>
              <a:gd name="T55" fmla="*/ 88 h 111"/>
              <a:gd name="T56" fmla="*/ 55 w 113"/>
              <a:gd name="T57" fmla="*/ 20 h 111"/>
              <a:gd name="T58" fmla="*/ 57 w 113"/>
              <a:gd name="T59" fmla="*/ 19 h 111"/>
              <a:gd name="T60" fmla="*/ 60 w 113"/>
              <a:gd name="T61" fmla="*/ 20 h 111"/>
              <a:gd name="T62" fmla="*/ 61 w 113"/>
              <a:gd name="T63" fmla="*/ 23 h 111"/>
              <a:gd name="T64" fmla="*/ 61 w 113"/>
              <a:gd name="T65" fmla="*/ 58 h 111"/>
              <a:gd name="T66" fmla="*/ 61 w 113"/>
              <a:gd name="T67" fmla="*/ 59 h 111"/>
              <a:gd name="T68" fmla="*/ 61 w 113"/>
              <a:gd name="T69" fmla="*/ 59 h 111"/>
              <a:gd name="T70" fmla="*/ 61 w 113"/>
              <a:gd name="T71" fmla="*/ 60 h 111"/>
              <a:gd name="T72" fmla="*/ 60 w 113"/>
              <a:gd name="T73" fmla="*/ 61 h 111"/>
              <a:gd name="T74" fmla="*/ 60 w 113"/>
              <a:gd name="T75" fmla="*/ 61 h 111"/>
              <a:gd name="T76" fmla="*/ 60 w 113"/>
              <a:gd name="T77" fmla="*/ 61 h 111"/>
              <a:gd name="T78" fmla="*/ 59 w 113"/>
              <a:gd name="T79" fmla="*/ 62 h 111"/>
              <a:gd name="T80" fmla="*/ 59 w 113"/>
              <a:gd name="T81" fmla="*/ 62 h 111"/>
              <a:gd name="T82" fmla="*/ 59 w 113"/>
              <a:gd name="T83" fmla="*/ 62 h 111"/>
              <a:gd name="T84" fmla="*/ 35 w 113"/>
              <a:gd name="T85" fmla="*/ 72 h 111"/>
              <a:gd name="T86" fmla="*/ 33 w 113"/>
              <a:gd name="T87" fmla="*/ 73 h 111"/>
              <a:gd name="T88" fmla="*/ 30 w 113"/>
              <a:gd name="T89" fmla="*/ 70 h 111"/>
              <a:gd name="T90" fmla="*/ 30 w 113"/>
              <a:gd name="T91" fmla="*/ 68 h 111"/>
              <a:gd name="T92" fmla="*/ 32 w 113"/>
              <a:gd name="T93" fmla="*/ 66 h 111"/>
              <a:gd name="T94" fmla="*/ 54 w 113"/>
              <a:gd name="T95" fmla="*/ 56 h 111"/>
              <a:gd name="T96" fmla="*/ 54 w 113"/>
              <a:gd name="T97" fmla="*/ 23 h 111"/>
              <a:gd name="T98" fmla="*/ 55 w 113"/>
              <a:gd name="T99" fmla="*/ 20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13" h="111">
                <a:moveTo>
                  <a:pt x="113" y="26"/>
                </a:moveTo>
                <a:cubicBezTo>
                  <a:pt x="113" y="32"/>
                  <a:pt x="111" y="38"/>
                  <a:pt x="107" y="42"/>
                </a:cubicBezTo>
                <a:cubicBezTo>
                  <a:pt x="109" y="48"/>
                  <a:pt x="109" y="53"/>
                  <a:pt x="109" y="58"/>
                </a:cubicBezTo>
                <a:cubicBezTo>
                  <a:pt x="109" y="68"/>
                  <a:pt x="107" y="77"/>
                  <a:pt x="102" y="85"/>
                </a:cubicBezTo>
                <a:cubicBezTo>
                  <a:pt x="98" y="93"/>
                  <a:pt x="91" y="99"/>
                  <a:pt x="83" y="104"/>
                </a:cubicBezTo>
                <a:cubicBezTo>
                  <a:pt x="75" y="108"/>
                  <a:pt x="67" y="111"/>
                  <a:pt x="57" y="111"/>
                </a:cubicBezTo>
                <a:cubicBezTo>
                  <a:pt x="48" y="111"/>
                  <a:pt x="39" y="108"/>
                  <a:pt x="31" y="104"/>
                </a:cubicBezTo>
                <a:cubicBezTo>
                  <a:pt x="23" y="99"/>
                  <a:pt x="17" y="93"/>
                  <a:pt x="12" y="85"/>
                </a:cubicBezTo>
                <a:cubicBezTo>
                  <a:pt x="7" y="77"/>
                  <a:pt x="5" y="68"/>
                  <a:pt x="5" y="58"/>
                </a:cubicBezTo>
                <a:cubicBezTo>
                  <a:pt x="5" y="53"/>
                  <a:pt x="6" y="48"/>
                  <a:pt x="7" y="43"/>
                </a:cubicBezTo>
                <a:cubicBezTo>
                  <a:pt x="3" y="38"/>
                  <a:pt x="0" y="32"/>
                  <a:pt x="0" y="26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5" y="0"/>
                </a:cubicBezTo>
                <a:cubicBezTo>
                  <a:pt x="32" y="0"/>
                  <a:pt x="38" y="3"/>
                  <a:pt x="43" y="8"/>
                </a:cubicBezTo>
                <a:cubicBezTo>
                  <a:pt x="48" y="7"/>
                  <a:pt x="53" y="6"/>
                  <a:pt x="57" y="6"/>
                </a:cubicBezTo>
                <a:cubicBezTo>
                  <a:pt x="62" y="6"/>
                  <a:pt x="66" y="7"/>
                  <a:pt x="71" y="8"/>
                </a:cubicBezTo>
                <a:cubicBezTo>
                  <a:pt x="75" y="3"/>
                  <a:pt x="81" y="0"/>
                  <a:pt x="88" y="0"/>
                </a:cubicBezTo>
                <a:cubicBezTo>
                  <a:pt x="95" y="0"/>
                  <a:pt x="101" y="3"/>
                  <a:pt x="106" y="8"/>
                </a:cubicBezTo>
                <a:cubicBezTo>
                  <a:pt x="111" y="13"/>
                  <a:pt x="113" y="19"/>
                  <a:pt x="113" y="26"/>
                </a:cubicBezTo>
                <a:close/>
                <a:moveTo>
                  <a:pt x="28" y="88"/>
                </a:moveTo>
                <a:cubicBezTo>
                  <a:pt x="36" y="96"/>
                  <a:pt x="46" y="100"/>
                  <a:pt x="57" y="100"/>
                </a:cubicBezTo>
                <a:cubicBezTo>
                  <a:pt x="69" y="100"/>
                  <a:pt x="78" y="96"/>
                  <a:pt x="86" y="88"/>
                </a:cubicBezTo>
                <a:cubicBezTo>
                  <a:pt x="95" y="80"/>
                  <a:pt x="99" y="70"/>
                  <a:pt x="99" y="58"/>
                </a:cubicBezTo>
                <a:cubicBezTo>
                  <a:pt x="99" y="47"/>
                  <a:pt x="95" y="37"/>
                  <a:pt x="86" y="29"/>
                </a:cubicBezTo>
                <a:cubicBezTo>
                  <a:pt x="78" y="21"/>
                  <a:pt x="69" y="17"/>
                  <a:pt x="57" y="17"/>
                </a:cubicBezTo>
                <a:cubicBezTo>
                  <a:pt x="46" y="17"/>
                  <a:pt x="36" y="21"/>
                  <a:pt x="28" y="29"/>
                </a:cubicBezTo>
                <a:cubicBezTo>
                  <a:pt x="20" y="37"/>
                  <a:pt x="16" y="47"/>
                  <a:pt x="16" y="58"/>
                </a:cubicBezTo>
                <a:cubicBezTo>
                  <a:pt x="16" y="70"/>
                  <a:pt x="20" y="80"/>
                  <a:pt x="28" y="88"/>
                </a:cubicBezTo>
                <a:close/>
                <a:moveTo>
                  <a:pt x="55" y="20"/>
                </a:moveTo>
                <a:cubicBezTo>
                  <a:pt x="55" y="20"/>
                  <a:pt x="56" y="19"/>
                  <a:pt x="57" y="19"/>
                </a:cubicBezTo>
                <a:cubicBezTo>
                  <a:pt x="58" y="19"/>
                  <a:pt x="59" y="20"/>
                  <a:pt x="60" y="20"/>
                </a:cubicBezTo>
                <a:cubicBezTo>
                  <a:pt x="60" y="21"/>
                  <a:pt x="61" y="22"/>
                  <a:pt x="61" y="23"/>
                </a:cubicBezTo>
                <a:cubicBezTo>
                  <a:pt x="61" y="58"/>
                  <a:pt x="61" y="58"/>
                  <a:pt x="61" y="58"/>
                </a:cubicBezTo>
                <a:cubicBezTo>
                  <a:pt x="61" y="59"/>
                  <a:pt x="61" y="59"/>
                  <a:pt x="61" y="59"/>
                </a:cubicBezTo>
                <a:cubicBezTo>
                  <a:pt x="61" y="59"/>
                  <a:pt x="61" y="59"/>
                  <a:pt x="61" y="59"/>
                </a:cubicBezTo>
                <a:cubicBezTo>
                  <a:pt x="61" y="60"/>
                  <a:pt x="61" y="60"/>
                  <a:pt x="61" y="60"/>
                </a:cubicBezTo>
                <a:cubicBezTo>
                  <a:pt x="60" y="60"/>
                  <a:pt x="60" y="60"/>
                  <a:pt x="60" y="61"/>
                </a:cubicBezTo>
                <a:cubicBezTo>
                  <a:pt x="60" y="61"/>
                  <a:pt x="60" y="61"/>
                  <a:pt x="60" y="61"/>
                </a:cubicBezTo>
                <a:cubicBezTo>
                  <a:pt x="60" y="61"/>
                  <a:pt x="60" y="61"/>
                  <a:pt x="60" y="61"/>
                </a:cubicBezTo>
                <a:cubicBezTo>
                  <a:pt x="60" y="61"/>
                  <a:pt x="59" y="61"/>
                  <a:pt x="59" y="62"/>
                </a:cubicBezTo>
                <a:cubicBezTo>
                  <a:pt x="59" y="62"/>
                  <a:pt x="59" y="62"/>
                  <a:pt x="59" y="62"/>
                </a:cubicBezTo>
                <a:cubicBezTo>
                  <a:pt x="59" y="62"/>
                  <a:pt x="59" y="62"/>
                  <a:pt x="59" y="62"/>
                </a:cubicBezTo>
                <a:cubicBezTo>
                  <a:pt x="35" y="72"/>
                  <a:pt x="35" y="72"/>
                  <a:pt x="35" y="72"/>
                </a:cubicBezTo>
                <a:cubicBezTo>
                  <a:pt x="34" y="73"/>
                  <a:pt x="34" y="73"/>
                  <a:pt x="33" y="73"/>
                </a:cubicBezTo>
                <a:cubicBezTo>
                  <a:pt x="32" y="73"/>
                  <a:pt x="31" y="72"/>
                  <a:pt x="30" y="70"/>
                </a:cubicBezTo>
                <a:cubicBezTo>
                  <a:pt x="30" y="69"/>
                  <a:pt x="30" y="69"/>
                  <a:pt x="30" y="68"/>
                </a:cubicBezTo>
                <a:cubicBezTo>
                  <a:pt x="30" y="67"/>
                  <a:pt x="31" y="66"/>
                  <a:pt x="32" y="66"/>
                </a:cubicBezTo>
                <a:cubicBezTo>
                  <a:pt x="54" y="56"/>
                  <a:pt x="54" y="56"/>
                  <a:pt x="54" y="56"/>
                </a:cubicBezTo>
                <a:cubicBezTo>
                  <a:pt x="54" y="23"/>
                  <a:pt x="54" y="23"/>
                  <a:pt x="54" y="23"/>
                </a:cubicBezTo>
                <a:cubicBezTo>
                  <a:pt x="54" y="22"/>
                  <a:pt x="54" y="21"/>
                  <a:pt x="55" y="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7232" name="Freeform 26">
            <a:extLst>
              <a:ext uri="{FF2B5EF4-FFF2-40B4-BE49-F238E27FC236}">
                <a16:creationId xmlns:a16="http://schemas.microsoft.com/office/drawing/2014/main" id="{F59C48E4-1179-C1F4-C822-4C645DAB6AD9}"/>
              </a:ext>
            </a:extLst>
          </p:cNvPr>
          <p:cNvSpPr>
            <a:spLocks noEditPoints="1"/>
          </p:cNvSpPr>
          <p:nvPr/>
        </p:nvSpPr>
        <p:spPr bwMode="auto">
          <a:xfrm>
            <a:off x="3736723" y="2815634"/>
            <a:ext cx="455971" cy="455971"/>
          </a:xfrm>
          <a:custGeom>
            <a:avLst/>
            <a:gdLst>
              <a:gd name="T0" fmla="*/ 52 w 105"/>
              <a:gd name="T1" fmla="*/ 105 h 105"/>
              <a:gd name="T2" fmla="*/ 53 w 105"/>
              <a:gd name="T3" fmla="*/ 30 h 105"/>
              <a:gd name="T4" fmla="*/ 52 w 105"/>
              <a:gd name="T5" fmla="*/ 29 h 105"/>
              <a:gd name="T6" fmla="*/ 50 w 105"/>
              <a:gd name="T7" fmla="*/ 28 h 105"/>
              <a:gd name="T8" fmla="*/ 45 w 105"/>
              <a:gd name="T9" fmla="*/ 31 h 105"/>
              <a:gd name="T10" fmla="*/ 52 w 105"/>
              <a:gd name="T11" fmla="*/ 24 h 105"/>
              <a:gd name="T12" fmla="*/ 59 w 105"/>
              <a:gd name="T13" fmla="*/ 26 h 105"/>
              <a:gd name="T14" fmla="*/ 63 w 105"/>
              <a:gd name="T15" fmla="*/ 26 h 105"/>
              <a:gd name="T16" fmla="*/ 65 w 105"/>
              <a:gd name="T17" fmla="*/ 27 h 105"/>
              <a:gd name="T18" fmla="*/ 76 w 105"/>
              <a:gd name="T19" fmla="*/ 25 h 105"/>
              <a:gd name="T20" fmla="*/ 80 w 105"/>
              <a:gd name="T21" fmla="*/ 25 h 105"/>
              <a:gd name="T22" fmla="*/ 82 w 105"/>
              <a:gd name="T23" fmla="*/ 24 h 105"/>
              <a:gd name="T24" fmla="*/ 82 w 105"/>
              <a:gd name="T25" fmla="*/ 23 h 105"/>
              <a:gd name="T26" fmla="*/ 26 w 105"/>
              <a:gd name="T27" fmla="*/ 23 h 105"/>
              <a:gd name="T28" fmla="*/ 25 w 105"/>
              <a:gd name="T29" fmla="*/ 25 h 105"/>
              <a:gd name="T30" fmla="*/ 14 w 105"/>
              <a:gd name="T31" fmla="*/ 61 h 105"/>
              <a:gd name="T32" fmla="*/ 17 w 105"/>
              <a:gd name="T33" fmla="*/ 63 h 105"/>
              <a:gd name="T34" fmla="*/ 19 w 105"/>
              <a:gd name="T35" fmla="*/ 72 h 105"/>
              <a:gd name="T36" fmla="*/ 92 w 105"/>
              <a:gd name="T37" fmla="*/ 59 h 105"/>
              <a:gd name="T38" fmla="*/ 94 w 105"/>
              <a:gd name="T39" fmla="*/ 53 h 105"/>
              <a:gd name="T40" fmla="*/ 87 w 105"/>
              <a:gd name="T41" fmla="*/ 50 h 105"/>
              <a:gd name="T42" fmla="*/ 82 w 105"/>
              <a:gd name="T43" fmla="*/ 57 h 105"/>
              <a:gd name="T44" fmla="*/ 76 w 105"/>
              <a:gd name="T45" fmla="*/ 48 h 105"/>
              <a:gd name="T46" fmla="*/ 68 w 105"/>
              <a:gd name="T47" fmla="*/ 48 h 105"/>
              <a:gd name="T48" fmla="*/ 69 w 105"/>
              <a:gd name="T49" fmla="*/ 54 h 105"/>
              <a:gd name="T50" fmla="*/ 59 w 105"/>
              <a:gd name="T51" fmla="*/ 47 h 105"/>
              <a:gd name="T52" fmla="*/ 66 w 105"/>
              <a:gd name="T53" fmla="*/ 60 h 105"/>
              <a:gd name="T54" fmla="*/ 59 w 105"/>
              <a:gd name="T55" fmla="*/ 73 h 105"/>
              <a:gd name="T56" fmla="*/ 50 w 105"/>
              <a:gd name="T57" fmla="*/ 78 h 105"/>
              <a:gd name="T58" fmla="*/ 48 w 105"/>
              <a:gd name="T59" fmla="*/ 66 h 105"/>
              <a:gd name="T60" fmla="*/ 45 w 105"/>
              <a:gd name="T61" fmla="*/ 60 h 105"/>
              <a:gd name="T62" fmla="*/ 35 w 105"/>
              <a:gd name="T63" fmla="*/ 59 h 105"/>
              <a:gd name="T64" fmla="*/ 32 w 105"/>
              <a:gd name="T65" fmla="*/ 51 h 105"/>
              <a:gd name="T66" fmla="*/ 45 w 105"/>
              <a:gd name="T67" fmla="*/ 42 h 105"/>
              <a:gd name="T68" fmla="*/ 54 w 105"/>
              <a:gd name="T69" fmla="*/ 45 h 105"/>
              <a:gd name="T70" fmla="*/ 60 w 105"/>
              <a:gd name="T71" fmla="*/ 43 h 105"/>
              <a:gd name="T72" fmla="*/ 54 w 105"/>
              <a:gd name="T73" fmla="*/ 41 h 105"/>
              <a:gd name="T74" fmla="*/ 48 w 105"/>
              <a:gd name="T75" fmla="*/ 38 h 105"/>
              <a:gd name="T76" fmla="*/ 50 w 105"/>
              <a:gd name="T77" fmla="*/ 41 h 105"/>
              <a:gd name="T78" fmla="*/ 41 w 105"/>
              <a:gd name="T79" fmla="*/ 40 h 105"/>
              <a:gd name="T80" fmla="*/ 37 w 105"/>
              <a:gd name="T81" fmla="*/ 42 h 105"/>
              <a:gd name="T82" fmla="*/ 39 w 105"/>
              <a:gd name="T83" fmla="*/ 36 h 105"/>
              <a:gd name="T84" fmla="*/ 45 w 105"/>
              <a:gd name="T85" fmla="*/ 33 h 105"/>
              <a:gd name="T86" fmla="*/ 50 w 105"/>
              <a:gd name="T87" fmla="*/ 32 h 105"/>
              <a:gd name="T88" fmla="*/ 27 w 105"/>
              <a:gd name="T89" fmla="*/ 27 h 105"/>
              <a:gd name="T90" fmla="*/ 37 w 105"/>
              <a:gd name="T91" fmla="*/ 33 h 105"/>
              <a:gd name="T92" fmla="*/ 37 w 105"/>
              <a:gd name="T93" fmla="*/ 31 h 105"/>
              <a:gd name="T94" fmla="*/ 42 w 105"/>
              <a:gd name="T95" fmla="*/ 34 h 105"/>
              <a:gd name="T96" fmla="*/ 42 w 105"/>
              <a:gd name="T97" fmla="*/ 40 h 105"/>
              <a:gd name="T98" fmla="*/ 48 w 105"/>
              <a:gd name="T99" fmla="*/ 42 h 105"/>
              <a:gd name="T100" fmla="*/ 56 w 105"/>
              <a:gd name="T101" fmla="*/ 38 h 105"/>
              <a:gd name="T102" fmla="*/ 60 w 105"/>
              <a:gd name="T103" fmla="*/ 37 h 105"/>
              <a:gd name="T104" fmla="*/ 57 w 105"/>
              <a:gd name="T105" fmla="*/ 29 h 105"/>
              <a:gd name="T106" fmla="*/ 59 w 105"/>
              <a:gd name="T107" fmla="*/ 62 h 105"/>
              <a:gd name="T108" fmla="*/ 68 w 105"/>
              <a:gd name="T109" fmla="*/ 70 h 105"/>
              <a:gd name="T110" fmla="*/ 69 w 105"/>
              <a:gd name="T111" fmla="*/ 42 h 105"/>
              <a:gd name="T112" fmla="*/ 66 w 105"/>
              <a:gd name="T113" fmla="*/ 38 h 105"/>
              <a:gd name="T114" fmla="*/ 70 w 105"/>
              <a:gd name="T115" fmla="*/ 38 h 105"/>
              <a:gd name="T116" fmla="*/ 69 w 105"/>
              <a:gd name="T117" fmla="*/ 40 h 105"/>
              <a:gd name="T118" fmla="*/ 70 w 105"/>
              <a:gd name="T119" fmla="*/ 24 h 105"/>
              <a:gd name="T120" fmla="*/ 77 w 105"/>
              <a:gd name="T121" fmla="*/ 20 h 105"/>
              <a:gd name="T122" fmla="*/ 84 w 105"/>
              <a:gd name="T123" fmla="*/ 57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05" h="105">
                <a:moveTo>
                  <a:pt x="26" y="7"/>
                </a:moveTo>
                <a:cubicBezTo>
                  <a:pt x="34" y="3"/>
                  <a:pt x="43" y="0"/>
                  <a:pt x="52" y="0"/>
                </a:cubicBezTo>
                <a:cubicBezTo>
                  <a:pt x="62" y="0"/>
                  <a:pt x="71" y="3"/>
                  <a:pt x="79" y="7"/>
                </a:cubicBezTo>
                <a:cubicBezTo>
                  <a:pt x="87" y="12"/>
                  <a:pt x="93" y="18"/>
                  <a:pt x="98" y="26"/>
                </a:cubicBezTo>
                <a:cubicBezTo>
                  <a:pt x="103" y="34"/>
                  <a:pt x="105" y="43"/>
                  <a:pt x="105" y="52"/>
                </a:cubicBezTo>
                <a:cubicBezTo>
                  <a:pt x="105" y="62"/>
                  <a:pt x="103" y="71"/>
                  <a:pt x="98" y="79"/>
                </a:cubicBezTo>
                <a:cubicBezTo>
                  <a:pt x="93" y="87"/>
                  <a:pt x="87" y="93"/>
                  <a:pt x="79" y="98"/>
                </a:cubicBezTo>
                <a:cubicBezTo>
                  <a:pt x="71" y="102"/>
                  <a:pt x="62" y="105"/>
                  <a:pt x="52" y="105"/>
                </a:cubicBezTo>
                <a:cubicBezTo>
                  <a:pt x="43" y="105"/>
                  <a:pt x="34" y="102"/>
                  <a:pt x="26" y="98"/>
                </a:cubicBezTo>
                <a:cubicBezTo>
                  <a:pt x="18" y="93"/>
                  <a:pt x="12" y="87"/>
                  <a:pt x="7" y="79"/>
                </a:cubicBezTo>
                <a:cubicBezTo>
                  <a:pt x="2" y="71"/>
                  <a:pt x="0" y="62"/>
                  <a:pt x="0" y="52"/>
                </a:cubicBezTo>
                <a:cubicBezTo>
                  <a:pt x="0" y="43"/>
                  <a:pt x="2" y="34"/>
                  <a:pt x="7" y="26"/>
                </a:cubicBezTo>
                <a:cubicBezTo>
                  <a:pt x="12" y="18"/>
                  <a:pt x="18" y="12"/>
                  <a:pt x="26" y="7"/>
                </a:cubicBezTo>
                <a:close/>
                <a:moveTo>
                  <a:pt x="52" y="32"/>
                </a:moveTo>
                <a:cubicBezTo>
                  <a:pt x="52" y="31"/>
                  <a:pt x="53" y="31"/>
                  <a:pt x="54" y="31"/>
                </a:cubicBezTo>
                <a:cubicBezTo>
                  <a:pt x="54" y="31"/>
                  <a:pt x="53" y="31"/>
                  <a:pt x="53" y="30"/>
                </a:cubicBezTo>
                <a:cubicBezTo>
                  <a:pt x="55" y="30"/>
                  <a:pt x="55" y="30"/>
                  <a:pt x="55" y="30"/>
                </a:cubicBezTo>
                <a:cubicBezTo>
                  <a:pt x="56" y="30"/>
                  <a:pt x="56" y="30"/>
                  <a:pt x="56" y="30"/>
                </a:cubicBezTo>
                <a:cubicBezTo>
                  <a:pt x="56" y="30"/>
                  <a:pt x="56" y="30"/>
                  <a:pt x="56" y="29"/>
                </a:cubicBezTo>
                <a:cubicBezTo>
                  <a:pt x="55" y="29"/>
                  <a:pt x="55" y="29"/>
                  <a:pt x="55" y="29"/>
                </a:cubicBezTo>
                <a:cubicBezTo>
                  <a:pt x="54" y="29"/>
                  <a:pt x="54" y="29"/>
                  <a:pt x="54" y="29"/>
                </a:cubicBezTo>
                <a:cubicBezTo>
                  <a:pt x="54" y="29"/>
                  <a:pt x="54" y="29"/>
                  <a:pt x="53" y="30"/>
                </a:cubicBezTo>
                <a:cubicBezTo>
                  <a:pt x="53" y="30"/>
                  <a:pt x="53" y="30"/>
                  <a:pt x="53" y="29"/>
                </a:cubicBezTo>
                <a:cubicBezTo>
                  <a:pt x="52" y="29"/>
                  <a:pt x="52" y="29"/>
                  <a:pt x="52" y="29"/>
                </a:cubicBezTo>
                <a:cubicBezTo>
                  <a:pt x="52" y="28"/>
                  <a:pt x="52" y="28"/>
                  <a:pt x="53" y="28"/>
                </a:cubicBezTo>
                <a:cubicBezTo>
                  <a:pt x="54" y="27"/>
                  <a:pt x="55" y="26"/>
                  <a:pt x="54" y="26"/>
                </a:cubicBezTo>
                <a:cubicBezTo>
                  <a:pt x="53" y="26"/>
                  <a:pt x="53" y="26"/>
                  <a:pt x="53" y="26"/>
                </a:cubicBezTo>
                <a:cubicBezTo>
                  <a:pt x="52" y="26"/>
                  <a:pt x="52" y="26"/>
                  <a:pt x="52" y="26"/>
                </a:cubicBezTo>
                <a:cubicBezTo>
                  <a:pt x="52" y="27"/>
                  <a:pt x="52" y="27"/>
                  <a:pt x="52" y="27"/>
                </a:cubicBezTo>
                <a:cubicBezTo>
                  <a:pt x="52" y="27"/>
                  <a:pt x="52" y="27"/>
                  <a:pt x="52" y="28"/>
                </a:cubicBezTo>
                <a:cubicBezTo>
                  <a:pt x="52" y="28"/>
                  <a:pt x="51" y="28"/>
                  <a:pt x="51" y="28"/>
                </a:cubicBezTo>
                <a:cubicBezTo>
                  <a:pt x="51" y="28"/>
                  <a:pt x="50" y="28"/>
                  <a:pt x="50" y="28"/>
                </a:cubicBezTo>
                <a:cubicBezTo>
                  <a:pt x="50" y="29"/>
                  <a:pt x="50" y="29"/>
                  <a:pt x="50" y="29"/>
                </a:cubicBezTo>
                <a:cubicBezTo>
                  <a:pt x="51" y="29"/>
                  <a:pt x="51" y="30"/>
                  <a:pt x="50" y="30"/>
                </a:cubicBezTo>
                <a:cubicBezTo>
                  <a:pt x="50" y="31"/>
                  <a:pt x="50" y="31"/>
                  <a:pt x="50" y="31"/>
                </a:cubicBezTo>
                <a:cubicBezTo>
                  <a:pt x="50" y="31"/>
                  <a:pt x="49" y="31"/>
                  <a:pt x="48" y="32"/>
                </a:cubicBezTo>
                <a:cubicBezTo>
                  <a:pt x="47" y="32"/>
                  <a:pt x="47" y="32"/>
                  <a:pt x="47" y="31"/>
                </a:cubicBezTo>
                <a:cubicBezTo>
                  <a:pt x="47" y="30"/>
                  <a:pt x="47" y="30"/>
                  <a:pt x="47" y="30"/>
                </a:cubicBezTo>
                <a:cubicBezTo>
                  <a:pt x="46" y="30"/>
                  <a:pt x="46" y="30"/>
                  <a:pt x="46" y="30"/>
                </a:cubicBezTo>
                <a:cubicBezTo>
                  <a:pt x="46" y="31"/>
                  <a:pt x="46" y="31"/>
                  <a:pt x="45" y="31"/>
                </a:cubicBezTo>
                <a:cubicBezTo>
                  <a:pt x="45" y="31"/>
                  <a:pt x="45" y="31"/>
                  <a:pt x="44" y="31"/>
                </a:cubicBezTo>
                <a:cubicBezTo>
                  <a:pt x="44" y="31"/>
                  <a:pt x="44" y="30"/>
                  <a:pt x="44" y="30"/>
                </a:cubicBezTo>
                <a:cubicBezTo>
                  <a:pt x="44" y="30"/>
                  <a:pt x="44" y="30"/>
                  <a:pt x="44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28"/>
                  <a:pt x="44" y="28"/>
                  <a:pt x="45" y="28"/>
                </a:cubicBezTo>
                <a:cubicBezTo>
                  <a:pt x="47" y="27"/>
                  <a:pt x="48" y="27"/>
                  <a:pt x="48" y="26"/>
                </a:cubicBezTo>
                <a:cubicBezTo>
                  <a:pt x="49" y="25"/>
                  <a:pt x="49" y="25"/>
                  <a:pt x="49" y="25"/>
                </a:cubicBezTo>
                <a:cubicBezTo>
                  <a:pt x="50" y="24"/>
                  <a:pt x="51" y="24"/>
                  <a:pt x="52" y="24"/>
                </a:cubicBezTo>
                <a:cubicBezTo>
                  <a:pt x="53" y="24"/>
                  <a:pt x="54" y="24"/>
                  <a:pt x="54" y="24"/>
                </a:cubicBezTo>
                <a:cubicBezTo>
                  <a:pt x="55" y="24"/>
                  <a:pt x="56" y="24"/>
                  <a:pt x="58" y="24"/>
                </a:cubicBezTo>
                <a:cubicBezTo>
                  <a:pt x="59" y="25"/>
                  <a:pt x="59" y="25"/>
                  <a:pt x="59" y="25"/>
                </a:cubicBezTo>
                <a:cubicBezTo>
                  <a:pt x="59" y="25"/>
                  <a:pt x="60" y="25"/>
                  <a:pt x="62" y="25"/>
                </a:cubicBezTo>
                <a:cubicBezTo>
                  <a:pt x="64" y="25"/>
                  <a:pt x="64" y="26"/>
                  <a:pt x="64" y="26"/>
                </a:cubicBezTo>
                <a:cubicBezTo>
                  <a:pt x="63" y="26"/>
                  <a:pt x="62" y="26"/>
                  <a:pt x="62" y="26"/>
                </a:cubicBezTo>
                <a:cubicBezTo>
                  <a:pt x="61" y="26"/>
                  <a:pt x="61" y="26"/>
                  <a:pt x="60" y="26"/>
                </a:cubicBezTo>
                <a:cubicBezTo>
                  <a:pt x="60" y="26"/>
                  <a:pt x="59" y="26"/>
                  <a:pt x="59" y="26"/>
                </a:cubicBezTo>
                <a:cubicBezTo>
                  <a:pt x="60" y="26"/>
                  <a:pt x="60" y="27"/>
                  <a:pt x="60" y="27"/>
                </a:cubicBezTo>
                <a:cubicBezTo>
                  <a:pt x="60" y="27"/>
                  <a:pt x="60" y="27"/>
                  <a:pt x="60" y="27"/>
                </a:cubicBezTo>
                <a:cubicBezTo>
                  <a:pt x="61" y="27"/>
                  <a:pt x="61" y="27"/>
                  <a:pt x="61" y="27"/>
                </a:cubicBezTo>
                <a:cubicBezTo>
                  <a:pt x="61" y="27"/>
                  <a:pt x="62" y="27"/>
                  <a:pt x="62" y="27"/>
                </a:cubicBezTo>
                <a:cubicBezTo>
                  <a:pt x="62" y="27"/>
                  <a:pt x="62" y="27"/>
                  <a:pt x="62" y="27"/>
                </a:cubicBezTo>
                <a:cubicBezTo>
                  <a:pt x="62" y="27"/>
                  <a:pt x="62" y="27"/>
                  <a:pt x="62" y="26"/>
                </a:cubicBezTo>
                <a:cubicBezTo>
                  <a:pt x="62" y="26"/>
                  <a:pt x="62" y="26"/>
                  <a:pt x="63" y="26"/>
                </a:cubicBezTo>
                <a:cubicBezTo>
                  <a:pt x="63" y="26"/>
                  <a:pt x="63" y="26"/>
                  <a:pt x="63" y="26"/>
                </a:cubicBezTo>
                <a:cubicBezTo>
                  <a:pt x="63" y="26"/>
                  <a:pt x="64" y="26"/>
                  <a:pt x="64" y="26"/>
                </a:cubicBezTo>
                <a:cubicBezTo>
                  <a:pt x="64" y="26"/>
                  <a:pt x="64" y="26"/>
                  <a:pt x="64" y="26"/>
                </a:cubicBezTo>
                <a:cubicBezTo>
                  <a:pt x="64" y="26"/>
                  <a:pt x="64" y="26"/>
                  <a:pt x="64" y="26"/>
                </a:cubicBezTo>
                <a:cubicBezTo>
                  <a:pt x="64" y="26"/>
                  <a:pt x="64" y="26"/>
                  <a:pt x="64" y="26"/>
                </a:cubicBezTo>
                <a:cubicBezTo>
                  <a:pt x="64" y="25"/>
                  <a:pt x="64" y="25"/>
                  <a:pt x="65" y="25"/>
                </a:cubicBezTo>
                <a:cubicBezTo>
                  <a:pt x="65" y="25"/>
                  <a:pt x="66" y="25"/>
                  <a:pt x="66" y="25"/>
                </a:cubicBezTo>
                <a:cubicBezTo>
                  <a:pt x="66" y="25"/>
                  <a:pt x="66" y="26"/>
                  <a:pt x="65" y="27"/>
                </a:cubicBezTo>
                <a:cubicBezTo>
                  <a:pt x="64" y="28"/>
                  <a:pt x="64" y="28"/>
                  <a:pt x="65" y="27"/>
                </a:cubicBezTo>
                <a:cubicBezTo>
                  <a:pt x="66" y="26"/>
                  <a:pt x="66" y="25"/>
                  <a:pt x="67" y="25"/>
                </a:cubicBezTo>
                <a:cubicBezTo>
                  <a:pt x="68" y="25"/>
                  <a:pt x="68" y="25"/>
                  <a:pt x="68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3" y="25"/>
                  <a:pt x="73" y="25"/>
                </a:cubicBezTo>
                <a:cubicBezTo>
                  <a:pt x="73" y="24"/>
                  <a:pt x="74" y="24"/>
                  <a:pt x="74" y="24"/>
                </a:cubicBezTo>
                <a:cubicBezTo>
                  <a:pt x="75" y="25"/>
                  <a:pt x="75" y="25"/>
                  <a:pt x="76" y="25"/>
                </a:cubicBezTo>
                <a:cubicBezTo>
                  <a:pt x="78" y="25"/>
                  <a:pt x="78" y="25"/>
                  <a:pt x="78" y="25"/>
                </a:cubicBezTo>
                <a:cubicBezTo>
                  <a:pt x="78" y="25"/>
                  <a:pt x="78" y="25"/>
                  <a:pt x="77" y="24"/>
                </a:cubicBezTo>
                <a:cubicBezTo>
                  <a:pt x="76" y="24"/>
                  <a:pt x="76" y="24"/>
                  <a:pt x="77" y="23"/>
                </a:cubicBezTo>
                <a:cubicBezTo>
                  <a:pt x="79" y="22"/>
                  <a:pt x="79" y="22"/>
                  <a:pt x="79" y="22"/>
                </a:cubicBezTo>
                <a:cubicBezTo>
                  <a:pt x="79" y="22"/>
                  <a:pt x="79" y="22"/>
                  <a:pt x="79" y="22"/>
                </a:cubicBezTo>
                <a:cubicBezTo>
                  <a:pt x="79" y="23"/>
                  <a:pt x="80" y="23"/>
                  <a:pt x="80" y="23"/>
                </a:cubicBezTo>
                <a:cubicBezTo>
                  <a:pt x="80" y="23"/>
                  <a:pt x="80" y="23"/>
                  <a:pt x="80" y="24"/>
                </a:cubicBezTo>
                <a:cubicBezTo>
                  <a:pt x="80" y="24"/>
                  <a:pt x="80" y="25"/>
                  <a:pt x="80" y="25"/>
                </a:cubicBezTo>
                <a:cubicBezTo>
                  <a:pt x="80" y="25"/>
                  <a:pt x="80" y="25"/>
                  <a:pt x="79" y="26"/>
                </a:cubicBezTo>
                <a:cubicBezTo>
                  <a:pt x="79" y="26"/>
                  <a:pt x="78" y="26"/>
                  <a:pt x="79" y="26"/>
                </a:cubicBezTo>
                <a:cubicBezTo>
                  <a:pt x="80" y="26"/>
                  <a:pt x="80" y="26"/>
                  <a:pt x="80" y="26"/>
                </a:cubicBezTo>
                <a:cubicBezTo>
                  <a:pt x="81" y="25"/>
                  <a:pt x="82" y="24"/>
                  <a:pt x="82" y="25"/>
                </a:cubicBezTo>
                <a:cubicBezTo>
                  <a:pt x="82" y="25"/>
                  <a:pt x="82" y="25"/>
                  <a:pt x="83" y="25"/>
                </a:cubicBezTo>
                <a:cubicBezTo>
                  <a:pt x="83" y="25"/>
                  <a:pt x="83" y="25"/>
                  <a:pt x="83" y="25"/>
                </a:cubicBezTo>
                <a:cubicBezTo>
                  <a:pt x="83" y="25"/>
                  <a:pt x="83" y="25"/>
                  <a:pt x="83" y="24"/>
                </a:cubicBezTo>
                <a:cubicBezTo>
                  <a:pt x="83" y="24"/>
                  <a:pt x="82" y="24"/>
                  <a:pt x="82" y="24"/>
                </a:cubicBezTo>
                <a:cubicBezTo>
                  <a:pt x="81" y="25"/>
                  <a:pt x="81" y="25"/>
                  <a:pt x="81" y="25"/>
                </a:cubicBezTo>
                <a:cubicBezTo>
                  <a:pt x="81" y="25"/>
                  <a:pt x="81" y="25"/>
                  <a:pt x="81" y="24"/>
                </a:cubicBezTo>
                <a:cubicBezTo>
                  <a:pt x="81" y="23"/>
                  <a:pt x="81" y="23"/>
                  <a:pt x="81" y="23"/>
                </a:cubicBezTo>
                <a:cubicBezTo>
                  <a:pt x="81" y="23"/>
                  <a:pt x="81" y="23"/>
                  <a:pt x="81" y="23"/>
                </a:cubicBezTo>
                <a:cubicBezTo>
                  <a:pt x="81" y="22"/>
                  <a:pt x="81" y="22"/>
                  <a:pt x="81" y="22"/>
                </a:cubicBezTo>
                <a:cubicBezTo>
                  <a:pt x="81" y="23"/>
                  <a:pt x="81" y="23"/>
                  <a:pt x="81" y="23"/>
                </a:cubicBezTo>
                <a:cubicBezTo>
                  <a:pt x="81" y="24"/>
                  <a:pt x="82" y="24"/>
                  <a:pt x="82" y="24"/>
                </a:cubicBezTo>
                <a:cubicBezTo>
                  <a:pt x="82" y="23"/>
                  <a:pt x="82" y="23"/>
                  <a:pt x="82" y="23"/>
                </a:cubicBezTo>
                <a:cubicBezTo>
                  <a:pt x="74" y="15"/>
                  <a:pt x="65" y="11"/>
                  <a:pt x="55" y="11"/>
                </a:cubicBezTo>
                <a:cubicBezTo>
                  <a:pt x="54" y="11"/>
                  <a:pt x="54" y="11"/>
                  <a:pt x="54" y="11"/>
                </a:cubicBezTo>
                <a:cubicBezTo>
                  <a:pt x="44" y="11"/>
                  <a:pt x="36" y="14"/>
                  <a:pt x="29" y="19"/>
                </a:cubicBezTo>
                <a:cubicBezTo>
                  <a:pt x="27" y="19"/>
                  <a:pt x="27" y="20"/>
                  <a:pt x="28" y="20"/>
                </a:cubicBezTo>
                <a:cubicBezTo>
                  <a:pt x="28" y="21"/>
                  <a:pt x="28" y="21"/>
                  <a:pt x="28" y="22"/>
                </a:cubicBezTo>
                <a:cubicBezTo>
                  <a:pt x="28" y="22"/>
                  <a:pt x="28" y="22"/>
                  <a:pt x="28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6" y="22"/>
                  <a:pt x="26" y="23"/>
                  <a:pt x="26" y="23"/>
                </a:cubicBezTo>
                <a:cubicBezTo>
                  <a:pt x="26" y="23"/>
                  <a:pt x="26" y="23"/>
                  <a:pt x="26" y="23"/>
                </a:cubicBezTo>
                <a:cubicBezTo>
                  <a:pt x="26" y="23"/>
                  <a:pt x="26" y="24"/>
                  <a:pt x="26" y="24"/>
                </a:cubicBezTo>
                <a:cubicBezTo>
                  <a:pt x="27" y="24"/>
                  <a:pt x="26" y="24"/>
                  <a:pt x="26" y="24"/>
                </a:cubicBezTo>
                <a:cubicBezTo>
                  <a:pt x="25" y="24"/>
                  <a:pt x="25" y="24"/>
                  <a:pt x="25" y="24"/>
                </a:cubicBezTo>
                <a:cubicBezTo>
                  <a:pt x="25" y="23"/>
                  <a:pt x="25" y="23"/>
                  <a:pt x="25" y="23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5" y="24"/>
                  <a:pt x="25" y="24"/>
                  <a:pt x="25" y="25"/>
                </a:cubicBezTo>
                <a:cubicBezTo>
                  <a:pt x="23" y="25"/>
                  <a:pt x="23" y="25"/>
                  <a:pt x="23" y="25"/>
                </a:cubicBezTo>
                <a:cubicBezTo>
                  <a:pt x="23" y="25"/>
                  <a:pt x="22" y="25"/>
                  <a:pt x="22" y="25"/>
                </a:cubicBezTo>
                <a:cubicBezTo>
                  <a:pt x="21" y="26"/>
                  <a:pt x="21" y="26"/>
                  <a:pt x="21" y="26"/>
                </a:cubicBezTo>
                <a:cubicBezTo>
                  <a:pt x="14" y="33"/>
                  <a:pt x="11" y="42"/>
                  <a:pt x="11" y="52"/>
                </a:cubicBezTo>
                <a:cubicBezTo>
                  <a:pt x="11" y="54"/>
                  <a:pt x="11" y="56"/>
                  <a:pt x="12" y="59"/>
                </a:cubicBezTo>
                <a:cubicBezTo>
                  <a:pt x="12" y="59"/>
                  <a:pt x="13" y="59"/>
                  <a:pt x="13" y="60"/>
                </a:cubicBezTo>
                <a:cubicBezTo>
                  <a:pt x="13" y="60"/>
                  <a:pt x="13" y="61"/>
                  <a:pt x="14" y="61"/>
                </a:cubicBezTo>
                <a:cubicBezTo>
                  <a:pt x="14" y="61"/>
                  <a:pt x="14" y="61"/>
                  <a:pt x="14" y="61"/>
                </a:cubicBezTo>
                <a:cubicBezTo>
                  <a:pt x="14" y="62"/>
                  <a:pt x="13" y="62"/>
                  <a:pt x="13" y="62"/>
                </a:cubicBezTo>
                <a:cubicBezTo>
                  <a:pt x="12" y="62"/>
                  <a:pt x="12" y="62"/>
                  <a:pt x="12" y="62"/>
                </a:cubicBezTo>
                <a:cubicBezTo>
                  <a:pt x="13" y="63"/>
                  <a:pt x="13" y="62"/>
                  <a:pt x="14" y="62"/>
                </a:cubicBezTo>
                <a:cubicBezTo>
                  <a:pt x="14" y="62"/>
                  <a:pt x="15" y="62"/>
                  <a:pt x="14" y="63"/>
                </a:cubicBezTo>
                <a:cubicBezTo>
                  <a:pt x="14" y="63"/>
                  <a:pt x="14" y="63"/>
                  <a:pt x="14" y="63"/>
                </a:cubicBezTo>
                <a:cubicBezTo>
                  <a:pt x="14" y="63"/>
                  <a:pt x="14" y="63"/>
                  <a:pt x="14" y="63"/>
                </a:cubicBezTo>
                <a:cubicBezTo>
                  <a:pt x="14" y="63"/>
                  <a:pt x="15" y="62"/>
                  <a:pt x="15" y="62"/>
                </a:cubicBezTo>
                <a:cubicBezTo>
                  <a:pt x="17" y="63"/>
                  <a:pt x="17" y="63"/>
                  <a:pt x="17" y="63"/>
                </a:cubicBezTo>
                <a:cubicBezTo>
                  <a:pt x="18" y="63"/>
                  <a:pt x="18" y="63"/>
                  <a:pt x="18" y="63"/>
                </a:cubicBezTo>
                <a:cubicBezTo>
                  <a:pt x="19" y="63"/>
                  <a:pt x="19" y="63"/>
                  <a:pt x="19" y="64"/>
                </a:cubicBezTo>
                <a:cubicBezTo>
                  <a:pt x="20" y="64"/>
                  <a:pt x="20" y="64"/>
                  <a:pt x="21" y="65"/>
                </a:cubicBezTo>
                <a:cubicBezTo>
                  <a:pt x="22" y="65"/>
                  <a:pt x="22" y="66"/>
                  <a:pt x="22" y="66"/>
                </a:cubicBezTo>
                <a:cubicBezTo>
                  <a:pt x="22" y="67"/>
                  <a:pt x="21" y="68"/>
                  <a:pt x="20" y="69"/>
                </a:cubicBezTo>
                <a:cubicBezTo>
                  <a:pt x="20" y="69"/>
                  <a:pt x="19" y="69"/>
                  <a:pt x="20" y="70"/>
                </a:cubicBezTo>
                <a:cubicBezTo>
                  <a:pt x="20" y="70"/>
                  <a:pt x="20" y="71"/>
                  <a:pt x="19" y="71"/>
                </a:cubicBezTo>
                <a:cubicBezTo>
                  <a:pt x="19" y="72"/>
                  <a:pt x="19" y="72"/>
                  <a:pt x="19" y="72"/>
                </a:cubicBezTo>
                <a:cubicBezTo>
                  <a:pt x="19" y="72"/>
                  <a:pt x="19" y="72"/>
                  <a:pt x="19" y="73"/>
                </a:cubicBezTo>
                <a:cubicBezTo>
                  <a:pt x="19" y="73"/>
                  <a:pt x="19" y="73"/>
                  <a:pt x="18" y="74"/>
                </a:cubicBezTo>
                <a:cubicBezTo>
                  <a:pt x="18" y="74"/>
                  <a:pt x="18" y="74"/>
                  <a:pt x="17" y="74"/>
                </a:cubicBezTo>
                <a:cubicBezTo>
                  <a:pt x="25" y="87"/>
                  <a:pt x="38" y="94"/>
                  <a:pt x="55" y="94"/>
                </a:cubicBezTo>
                <a:cubicBezTo>
                  <a:pt x="63" y="94"/>
                  <a:pt x="71" y="91"/>
                  <a:pt x="79" y="84"/>
                </a:cubicBezTo>
                <a:cubicBezTo>
                  <a:pt x="87" y="78"/>
                  <a:pt x="91" y="70"/>
                  <a:pt x="93" y="60"/>
                </a:cubicBezTo>
                <a:cubicBezTo>
                  <a:pt x="93" y="60"/>
                  <a:pt x="93" y="60"/>
                  <a:pt x="93" y="60"/>
                </a:cubicBezTo>
                <a:cubicBezTo>
                  <a:pt x="92" y="59"/>
                  <a:pt x="92" y="59"/>
                  <a:pt x="92" y="59"/>
                </a:cubicBezTo>
                <a:cubicBezTo>
                  <a:pt x="92" y="59"/>
                  <a:pt x="93" y="59"/>
                  <a:pt x="93" y="59"/>
                </a:cubicBezTo>
                <a:cubicBezTo>
                  <a:pt x="93" y="59"/>
                  <a:pt x="93" y="59"/>
                  <a:pt x="93" y="59"/>
                </a:cubicBezTo>
                <a:cubicBezTo>
                  <a:pt x="94" y="58"/>
                  <a:pt x="94" y="58"/>
                  <a:pt x="93" y="57"/>
                </a:cubicBezTo>
                <a:cubicBezTo>
                  <a:pt x="93" y="57"/>
                  <a:pt x="93" y="57"/>
                  <a:pt x="94" y="57"/>
                </a:cubicBezTo>
                <a:cubicBezTo>
                  <a:pt x="94" y="56"/>
                  <a:pt x="94" y="56"/>
                  <a:pt x="94" y="56"/>
                </a:cubicBezTo>
                <a:cubicBezTo>
                  <a:pt x="94" y="56"/>
                  <a:pt x="94" y="56"/>
                  <a:pt x="94" y="56"/>
                </a:cubicBezTo>
                <a:cubicBezTo>
                  <a:pt x="94" y="56"/>
                  <a:pt x="94" y="55"/>
                  <a:pt x="94" y="55"/>
                </a:cubicBezTo>
                <a:cubicBezTo>
                  <a:pt x="94" y="53"/>
                  <a:pt x="94" y="53"/>
                  <a:pt x="94" y="53"/>
                </a:cubicBezTo>
                <a:cubicBezTo>
                  <a:pt x="94" y="53"/>
                  <a:pt x="93" y="53"/>
                  <a:pt x="93" y="53"/>
                </a:cubicBezTo>
                <a:cubicBezTo>
                  <a:pt x="92" y="54"/>
                  <a:pt x="92" y="54"/>
                  <a:pt x="92" y="54"/>
                </a:cubicBezTo>
                <a:cubicBezTo>
                  <a:pt x="92" y="54"/>
                  <a:pt x="91" y="54"/>
                  <a:pt x="91" y="53"/>
                </a:cubicBezTo>
                <a:cubicBezTo>
                  <a:pt x="92" y="52"/>
                  <a:pt x="91" y="52"/>
                  <a:pt x="91" y="51"/>
                </a:cubicBezTo>
                <a:cubicBezTo>
                  <a:pt x="90" y="50"/>
                  <a:pt x="90" y="50"/>
                  <a:pt x="90" y="50"/>
                </a:cubicBezTo>
                <a:cubicBezTo>
                  <a:pt x="90" y="50"/>
                  <a:pt x="90" y="50"/>
                  <a:pt x="90" y="50"/>
                </a:cubicBezTo>
                <a:cubicBezTo>
                  <a:pt x="89" y="50"/>
                  <a:pt x="89" y="50"/>
                  <a:pt x="88" y="50"/>
                </a:cubicBezTo>
                <a:cubicBezTo>
                  <a:pt x="88" y="50"/>
                  <a:pt x="88" y="50"/>
                  <a:pt x="87" y="50"/>
                </a:cubicBezTo>
                <a:cubicBezTo>
                  <a:pt x="87" y="51"/>
                  <a:pt x="87" y="51"/>
                  <a:pt x="87" y="51"/>
                </a:cubicBezTo>
                <a:cubicBezTo>
                  <a:pt x="87" y="51"/>
                  <a:pt x="87" y="51"/>
                  <a:pt x="87" y="51"/>
                </a:cubicBezTo>
                <a:cubicBezTo>
                  <a:pt x="86" y="51"/>
                  <a:pt x="86" y="52"/>
                  <a:pt x="86" y="52"/>
                </a:cubicBezTo>
                <a:cubicBezTo>
                  <a:pt x="85" y="52"/>
                  <a:pt x="85" y="53"/>
                  <a:pt x="85" y="53"/>
                </a:cubicBezTo>
                <a:cubicBezTo>
                  <a:pt x="84" y="53"/>
                  <a:pt x="84" y="54"/>
                  <a:pt x="84" y="54"/>
                </a:cubicBezTo>
                <a:cubicBezTo>
                  <a:pt x="84" y="55"/>
                  <a:pt x="84" y="56"/>
                  <a:pt x="83" y="57"/>
                </a:cubicBezTo>
                <a:cubicBezTo>
                  <a:pt x="83" y="58"/>
                  <a:pt x="82" y="58"/>
                  <a:pt x="82" y="58"/>
                </a:cubicBezTo>
                <a:cubicBezTo>
                  <a:pt x="82" y="58"/>
                  <a:pt x="82" y="58"/>
                  <a:pt x="82" y="57"/>
                </a:cubicBezTo>
                <a:cubicBezTo>
                  <a:pt x="82" y="57"/>
                  <a:pt x="82" y="56"/>
                  <a:pt x="81" y="55"/>
                </a:cubicBezTo>
                <a:cubicBezTo>
                  <a:pt x="80" y="54"/>
                  <a:pt x="80" y="54"/>
                  <a:pt x="80" y="54"/>
                </a:cubicBezTo>
                <a:cubicBezTo>
                  <a:pt x="80" y="52"/>
                  <a:pt x="80" y="52"/>
                  <a:pt x="80" y="52"/>
                </a:cubicBezTo>
                <a:cubicBezTo>
                  <a:pt x="80" y="50"/>
                  <a:pt x="80" y="50"/>
                  <a:pt x="80" y="50"/>
                </a:cubicBezTo>
                <a:cubicBezTo>
                  <a:pt x="79" y="51"/>
                  <a:pt x="79" y="51"/>
                  <a:pt x="79" y="51"/>
                </a:cubicBezTo>
                <a:cubicBezTo>
                  <a:pt x="78" y="51"/>
                  <a:pt x="78" y="50"/>
                  <a:pt x="78" y="50"/>
                </a:cubicBezTo>
                <a:cubicBezTo>
                  <a:pt x="78" y="50"/>
                  <a:pt x="78" y="49"/>
                  <a:pt x="78" y="49"/>
                </a:cubicBezTo>
                <a:cubicBezTo>
                  <a:pt x="77" y="49"/>
                  <a:pt x="77" y="49"/>
                  <a:pt x="76" y="48"/>
                </a:cubicBezTo>
                <a:cubicBezTo>
                  <a:pt x="74" y="49"/>
                  <a:pt x="74" y="49"/>
                  <a:pt x="74" y="49"/>
                </a:cubicBezTo>
                <a:cubicBezTo>
                  <a:pt x="73" y="49"/>
                  <a:pt x="72" y="48"/>
                  <a:pt x="72" y="48"/>
                </a:cubicBezTo>
                <a:cubicBezTo>
                  <a:pt x="71" y="48"/>
                  <a:pt x="71" y="47"/>
                  <a:pt x="71" y="48"/>
                </a:cubicBezTo>
                <a:cubicBezTo>
                  <a:pt x="70" y="48"/>
                  <a:pt x="70" y="48"/>
                  <a:pt x="69" y="48"/>
                </a:cubicBezTo>
                <a:cubicBezTo>
                  <a:pt x="69" y="47"/>
                  <a:pt x="68" y="47"/>
                  <a:pt x="68" y="46"/>
                </a:cubicBezTo>
                <a:cubicBezTo>
                  <a:pt x="68" y="45"/>
                  <a:pt x="67" y="45"/>
                  <a:pt x="67" y="46"/>
                </a:cubicBezTo>
                <a:cubicBezTo>
                  <a:pt x="67" y="46"/>
                  <a:pt x="67" y="46"/>
                  <a:pt x="67" y="46"/>
                </a:cubicBezTo>
                <a:cubicBezTo>
                  <a:pt x="68" y="48"/>
                  <a:pt x="68" y="48"/>
                  <a:pt x="68" y="48"/>
                </a:cubicBezTo>
                <a:cubicBezTo>
                  <a:pt x="68" y="48"/>
                  <a:pt x="68" y="48"/>
                  <a:pt x="68" y="48"/>
                </a:cubicBezTo>
                <a:cubicBezTo>
                  <a:pt x="69" y="49"/>
                  <a:pt x="69" y="49"/>
                  <a:pt x="69" y="49"/>
                </a:cubicBezTo>
                <a:cubicBezTo>
                  <a:pt x="69" y="49"/>
                  <a:pt x="69" y="49"/>
                  <a:pt x="69" y="49"/>
                </a:cubicBezTo>
                <a:cubicBezTo>
                  <a:pt x="69" y="49"/>
                  <a:pt x="70" y="49"/>
                  <a:pt x="71" y="48"/>
                </a:cubicBezTo>
                <a:cubicBezTo>
                  <a:pt x="73" y="50"/>
                  <a:pt x="73" y="50"/>
                  <a:pt x="73" y="50"/>
                </a:cubicBezTo>
                <a:cubicBezTo>
                  <a:pt x="73" y="50"/>
                  <a:pt x="73" y="50"/>
                  <a:pt x="72" y="51"/>
                </a:cubicBezTo>
                <a:cubicBezTo>
                  <a:pt x="72" y="52"/>
                  <a:pt x="71" y="52"/>
                  <a:pt x="70" y="53"/>
                </a:cubicBezTo>
                <a:cubicBezTo>
                  <a:pt x="70" y="53"/>
                  <a:pt x="69" y="53"/>
                  <a:pt x="69" y="54"/>
                </a:cubicBezTo>
                <a:cubicBezTo>
                  <a:pt x="69" y="54"/>
                  <a:pt x="68" y="54"/>
                  <a:pt x="68" y="54"/>
                </a:cubicBezTo>
                <a:cubicBezTo>
                  <a:pt x="68" y="54"/>
                  <a:pt x="67" y="54"/>
                  <a:pt x="66" y="55"/>
                </a:cubicBezTo>
                <a:cubicBezTo>
                  <a:pt x="65" y="55"/>
                  <a:pt x="64" y="55"/>
                  <a:pt x="64" y="53"/>
                </a:cubicBezTo>
                <a:cubicBezTo>
                  <a:pt x="63" y="52"/>
                  <a:pt x="63" y="51"/>
                  <a:pt x="62" y="51"/>
                </a:cubicBezTo>
                <a:cubicBezTo>
                  <a:pt x="62" y="51"/>
                  <a:pt x="61" y="50"/>
                  <a:pt x="61" y="49"/>
                </a:cubicBezTo>
                <a:cubicBezTo>
                  <a:pt x="61" y="48"/>
                  <a:pt x="61" y="48"/>
                  <a:pt x="61" y="48"/>
                </a:cubicBezTo>
                <a:cubicBezTo>
                  <a:pt x="60" y="47"/>
                  <a:pt x="60" y="47"/>
                  <a:pt x="60" y="47"/>
                </a:cubicBezTo>
                <a:cubicBezTo>
                  <a:pt x="60" y="47"/>
                  <a:pt x="60" y="47"/>
                  <a:pt x="59" y="47"/>
                </a:cubicBezTo>
                <a:cubicBezTo>
                  <a:pt x="59" y="47"/>
                  <a:pt x="60" y="48"/>
                  <a:pt x="61" y="51"/>
                </a:cubicBezTo>
                <a:cubicBezTo>
                  <a:pt x="62" y="53"/>
                  <a:pt x="63" y="54"/>
                  <a:pt x="63" y="54"/>
                </a:cubicBezTo>
                <a:cubicBezTo>
                  <a:pt x="64" y="54"/>
                  <a:pt x="64" y="55"/>
                  <a:pt x="64" y="56"/>
                </a:cubicBezTo>
                <a:cubicBezTo>
                  <a:pt x="64" y="56"/>
                  <a:pt x="64" y="56"/>
                  <a:pt x="64" y="56"/>
                </a:cubicBezTo>
                <a:cubicBezTo>
                  <a:pt x="64" y="56"/>
                  <a:pt x="64" y="56"/>
                  <a:pt x="64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8" y="57"/>
                  <a:pt x="68" y="57"/>
                </a:cubicBezTo>
                <a:cubicBezTo>
                  <a:pt x="66" y="60"/>
                  <a:pt x="66" y="60"/>
                  <a:pt x="66" y="60"/>
                </a:cubicBezTo>
                <a:cubicBezTo>
                  <a:pt x="66" y="60"/>
                  <a:pt x="66" y="61"/>
                  <a:pt x="66" y="61"/>
                </a:cubicBezTo>
                <a:cubicBezTo>
                  <a:pt x="65" y="61"/>
                  <a:pt x="64" y="61"/>
                  <a:pt x="64" y="62"/>
                </a:cubicBezTo>
                <a:cubicBezTo>
                  <a:pt x="63" y="63"/>
                  <a:pt x="63" y="63"/>
                  <a:pt x="63" y="63"/>
                </a:cubicBezTo>
                <a:cubicBezTo>
                  <a:pt x="62" y="64"/>
                  <a:pt x="62" y="64"/>
                  <a:pt x="62" y="64"/>
                </a:cubicBezTo>
                <a:cubicBezTo>
                  <a:pt x="62" y="64"/>
                  <a:pt x="62" y="65"/>
                  <a:pt x="62" y="66"/>
                </a:cubicBezTo>
                <a:cubicBezTo>
                  <a:pt x="63" y="68"/>
                  <a:pt x="63" y="68"/>
                  <a:pt x="63" y="68"/>
                </a:cubicBezTo>
                <a:cubicBezTo>
                  <a:pt x="63" y="70"/>
                  <a:pt x="62" y="71"/>
                  <a:pt x="61" y="72"/>
                </a:cubicBezTo>
                <a:cubicBezTo>
                  <a:pt x="60" y="72"/>
                  <a:pt x="59" y="73"/>
                  <a:pt x="59" y="73"/>
                </a:cubicBezTo>
                <a:cubicBezTo>
                  <a:pt x="60" y="74"/>
                  <a:pt x="60" y="74"/>
                  <a:pt x="60" y="75"/>
                </a:cubicBezTo>
                <a:cubicBezTo>
                  <a:pt x="60" y="75"/>
                  <a:pt x="60" y="75"/>
                  <a:pt x="59" y="75"/>
                </a:cubicBezTo>
                <a:cubicBezTo>
                  <a:pt x="59" y="76"/>
                  <a:pt x="58" y="76"/>
                  <a:pt x="59" y="76"/>
                </a:cubicBezTo>
                <a:cubicBezTo>
                  <a:pt x="59" y="77"/>
                  <a:pt x="58" y="77"/>
                  <a:pt x="57" y="79"/>
                </a:cubicBezTo>
                <a:cubicBezTo>
                  <a:pt x="56" y="80"/>
                  <a:pt x="55" y="80"/>
                  <a:pt x="54" y="80"/>
                </a:cubicBezTo>
                <a:cubicBezTo>
                  <a:pt x="53" y="80"/>
                  <a:pt x="52" y="80"/>
                  <a:pt x="52" y="81"/>
                </a:cubicBezTo>
                <a:cubicBezTo>
                  <a:pt x="51" y="81"/>
                  <a:pt x="51" y="81"/>
                  <a:pt x="50" y="80"/>
                </a:cubicBezTo>
                <a:cubicBezTo>
                  <a:pt x="50" y="78"/>
                  <a:pt x="50" y="78"/>
                  <a:pt x="50" y="78"/>
                </a:cubicBezTo>
                <a:cubicBezTo>
                  <a:pt x="49" y="77"/>
                  <a:pt x="49" y="77"/>
                  <a:pt x="49" y="77"/>
                </a:cubicBezTo>
                <a:cubicBezTo>
                  <a:pt x="49" y="77"/>
                  <a:pt x="49" y="76"/>
                  <a:pt x="49" y="76"/>
                </a:cubicBezTo>
                <a:cubicBezTo>
                  <a:pt x="49" y="76"/>
                  <a:pt x="49" y="76"/>
                  <a:pt x="49" y="75"/>
                </a:cubicBezTo>
                <a:cubicBezTo>
                  <a:pt x="49" y="74"/>
                  <a:pt x="48" y="74"/>
                  <a:pt x="48" y="73"/>
                </a:cubicBezTo>
                <a:cubicBezTo>
                  <a:pt x="47" y="72"/>
                  <a:pt x="47" y="71"/>
                  <a:pt x="47" y="71"/>
                </a:cubicBezTo>
                <a:cubicBezTo>
                  <a:pt x="47" y="70"/>
                  <a:pt x="47" y="69"/>
                  <a:pt x="48" y="69"/>
                </a:cubicBezTo>
                <a:cubicBezTo>
                  <a:pt x="48" y="68"/>
                  <a:pt x="48" y="68"/>
                  <a:pt x="48" y="68"/>
                </a:cubicBezTo>
                <a:cubicBezTo>
                  <a:pt x="48" y="67"/>
                  <a:pt x="48" y="67"/>
                  <a:pt x="48" y="66"/>
                </a:cubicBezTo>
                <a:cubicBezTo>
                  <a:pt x="48" y="66"/>
                  <a:pt x="48" y="66"/>
                  <a:pt x="48" y="65"/>
                </a:cubicBezTo>
                <a:cubicBezTo>
                  <a:pt x="47" y="65"/>
                  <a:pt x="47" y="65"/>
                  <a:pt x="47" y="64"/>
                </a:cubicBezTo>
                <a:cubicBezTo>
                  <a:pt x="46" y="64"/>
                  <a:pt x="46" y="63"/>
                  <a:pt x="46" y="63"/>
                </a:cubicBezTo>
                <a:cubicBezTo>
                  <a:pt x="45" y="63"/>
                  <a:pt x="45" y="63"/>
                  <a:pt x="45" y="62"/>
                </a:cubicBezTo>
                <a:cubicBezTo>
                  <a:pt x="46" y="62"/>
                  <a:pt x="46" y="62"/>
                  <a:pt x="46" y="61"/>
                </a:cubicBezTo>
                <a:cubicBezTo>
                  <a:pt x="46" y="61"/>
                  <a:pt x="46" y="61"/>
                  <a:pt x="46" y="60"/>
                </a:cubicBezTo>
                <a:cubicBezTo>
                  <a:pt x="46" y="60"/>
                  <a:pt x="46" y="60"/>
                  <a:pt x="46" y="60"/>
                </a:cubicBezTo>
                <a:cubicBezTo>
                  <a:pt x="45" y="59"/>
                  <a:pt x="45" y="59"/>
                  <a:pt x="45" y="60"/>
                </a:cubicBezTo>
                <a:cubicBezTo>
                  <a:pt x="44" y="60"/>
                  <a:pt x="44" y="60"/>
                  <a:pt x="44" y="60"/>
                </a:cubicBezTo>
                <a:cubicBezTo>
                  <a:pt x="43" y="59"/>
                  <a:pt x="43" y="59"/>
                  <a:pt x="43" y="59"/>
                </a:cubicBezTo>
                <a:cubicBezTo>
                  <a:pt x="43" y="58"/>
                  <a:pt x="42" y="58"/>
                  <a:pt x="41" y="58"/>
                </a:cubicBezTo>
                <a:cubicBezTo>
                  <a:pt x="40" y="59"/>
                  <a:pt x="40" y="59"/>
                  <a:pt x="40" y="59"/>
                </a:cubicBezTo>
                <a:cubicBezTo>
                  <a:pt x="38" y="59"/>
                  <a:pt x="38" y="59"/>
                  <a:pt x="38" y="59"/>
                </a:cubicBezTo>
                <a:cubicBezTo>
                  <a:pt x="37" y="59"/>
                  <a:pt x="37" y="59"/>
                  <a:pt x="37" y="60"/>
                </a:cubicBezTo>
                <a:cubicBezTo>
                  <a:pt x="37" y="60"/>
                  <a:pt x="36" y="60"/>
                  <a:pt x="36" y="60"/>
                </a:cubicBezTo>
                <a:cubicBezTo>
                  <a:pt x="35" y="59"/>
                  <a:pt x="35" y="59"/>
                  <a:pt x="35" y="59"/>
                </a:cubicBezTo>
                <a:cubicBezTo>
                  <a:pt x="34" y="58"/>
                  <a:pt x="34" y="58"/>
                  <a:pt x="33" y="57"/>
                </a:cubicBezTo>
                <a:cubicBezTo>
                  <a:pt x="33" y="57"/>
                  <a:pt x="33" y="56"/>
                  <a:pt x="32" y="56"/>
                </a:cubicBezTo>
                <a:cubicBezTo>
                  <a:pt x="32" y="56"/>
                  <a:pt x="31" y="56"/>
                  <a:pt x="31" y="55"/>
                </a:cubicBezTo>
                <a:cubicBezTo>
                  <a:pt x="31" y="55"/>
                  <a:pt x="31" y="55"/>
                  <a:pt x="31" y="55"/>
                </a:cubicBezTo>
                <a:cubicBezTo>
                  <a:pt x="31" y="55"/>
                  <a:pt x="32" y="55"/>
                  <a:pt x="32" y="55"/>
                </a:cubicBezTo>
                <a:cubicBezTo>
                  <a:pt x="32" y="54"/>
                  <a:pt x="31" y="54"/>
                  <a:pt x="31" y="54"/>
                </a:cubicBezTo>
                <a:cubicBezTo>
                  <a:pt x="31" y="54"/>
                  <a:pt x="31" y="54"/>
                  <a:pt x="31" y="54"/>
                </a:cubicBezTo>
                <a:cubicBezTo>
                  <a:pt x="32" y="53"/>
                  <a:pt x="32" y="52"/>
                  <a:pt x="32" y="51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49"/>
                  <a:pt x="32" y="49"/>
                  <a:pt x="33" y="48"/>
                </a:cubicBezTo>
                <a:cubicBezTo>
                  <a:pt x="33" y="48"/>
                  <a:pt x="34" y="47"/>
                  <a:pt x="34" y="47"/>
                </a:cubicBezTo>
                <a:cubicBezTo>
                  <a:pt x="35" y="46"/>
                  <a:pt x="35" y="46"/>
                  <a:pt x="35" y="45"/>
                </a:cubicBezTo>
                <a:cubicBezTo>
                  <a:pt x="35" y="44"/>
                  <a:pt x="36" y="44"/>
                  <a:pt x="36" y="44"/>
                </a:cubicBezTo>
                <a:cubicBezTo>
                  <a:pt x="37" y="43"/>
                  <a:pt x="38" y="43"/>
                  <a:pt x="39" y="43"/>
                </a:cubicBezTo>
                <a:cubicBezTo>
                  <a:pt x="42" y="42"/>
                  <a:pt x="42" y="42"/>
                  <a:pt x="42" y="42"/>
                </a:cubicBezTo>
                <a:cubicBezTo>
                  <a:pt x="44" y="42"/>
                  <a:pt x="45" y="42"/>
                  <a:pt x="45" y="42"/>
                </a:cubicBezTo>
                <a:cubicBezTo>
                  <a:pt x="46" y="41"/>
                  <a:pt x="46" y="42"/>
                  <a:pt x="46" y="42"/>
                </a:cubicBezTo>
                <a:cubicBezTo>
                  <a:pt x="47" y="43"/>
                  <a:pt x="47" y="43"/>
                  <a:pt x="47" y="43"/>
                </a:cubicBezTo>
                <a:cubicBezTo>
                  <a:pt x="46" y="43"/>
                  <a:pt x="46" y="43"/>
                  <a:pt x="46" y="44"/>
                </a:cubicBezTo>
                <a:cubicBezTo>
                  <a:pt x="47" y="44"/>
                  <a:pt x="47" y="44"/>
                  <a:pt x="48" y="44"/>
                </a:cubicBezTo>
                <a:cubicBezTo>
                  <a:pt x="50" y="45"/>
                  <a:pt x="50" y="45"/>
                  <a:pt x="50" y="45"/>
                </a:cubicBezTo>
                <a:cubicBezTo>
                  <a:pt x="51" y="45"/>
                  <a:pt x="51" y="45"/>
                  <a:pt x="52" y="45"/>
                </a:cubicBezTo>
                <a:cubicBezTo>
                  <a:pt x="52" y="44"/>
                  <a:pt x="52" y="44"/>
                  <a:pt x="53" y="44"/>
                </a:cubicBezTo>
                <a:cubicBezTo>
                  <a:pt x="54" y="45"/>
                  <a:pt x="54" y="45"/>
                  <a:pt x="54" y="45"/>
                </a:cubicBezTo>
                <a:cubicBezTo>
                  <a:pt x="55" y="45"/>
                  <a:pt x="56" y="45"/>
                  <a:pt x="56" y="45"/>
                </a:cubicBezTo>
                <a:cubicBezTo>
                  <a:pt x="56" y="45"/>
                  <a:pt x="56" y="45"/>
                  <a:pt x="56" y="45"/>
                </a:cubicBezTo>
                <a:cubicBezTo>
                  <a:pt x="55" y="46"/>
                  <a:pt x="55" y="46"/>
                  <a:pt x="55" y="46"/>
                </a:cubicBezTo>
                <a:cubicBezTo>
                  <a:pt x="55" y="46"/>
                  <a:pt x="55" y="46"/>
                  <a:pt x="55" y="46"/>
                </a:cubicBezTo>
                <a:cubicBezTo>
                  <a:pt x="56" y="45"/>
                  <a:pt x="56" y="45"/>
                  <a:pt x="57" y="45"/>
                </a:cubicBezTo>
                <a:cubicBezTo>
                  <a:pt x="57" y="45"/>
                  <a:pt x="58" y="45"/>
                  <a:pt x="58" y="45"/>
                </a:cubicBezTo>
                <a:cubicBezTo>
                  <a:pt x="58" y="45"/>
                  <a:pt x="58" y="45"/>
                  <a:pt x="59" y="45"/>
                </a:cubicBezTo>
                <a:cubicBezTo>
                  <a:pt x="59" y="45"/>
                  <a:pt x="60" y="44"/>
                  <a:pt x="60" y="43"/>
                </a:cubicBezTo>
                <a:cubicBezTo>
                  <a:pt x="60" y="42"/>
                  <a:pt x="60" y="42"/>
                  <a:pt x="59" y="42"/>
                </a:cubicBezTo>
                <a:cubicBezTo>
                  <a:pt x="59" y="42"/>
                  <a:pt x="58" y="43"/>
                  <a:pt x="58" y="43"/>
                </a:cubicBezTo>
                <a:cubicBezTo>
                  <a:pt x="56" y="42"/>
                  <a:pt x="56" y="42"/>
                  <a:pt x="56" y="42"/>
                </a:cubicBezTo>
                <a:cubicBezTo>
                  <a:pt x="56" y="42"/>
                  <a:pt x="56" y="42"/>
                  <a:pt x="55" y="42"/>
                </a:cubicBezTo>
                <a:cubicBezTo>
                  <a:pt x="55" y="42"/>
                  <a:pt x="55" y="41"/>
                  <a:pt x="55" y="41"/>
                </a:cubicBezTo>
                <a:cubicBezTo>
                  <a:pt x="55" y="40"/>
                  <a:pt x="54" y="40"/>
                  <a:pt x="54" y="40"/>
                </a:cubicBezTo>
                <a:cubicBezTo>
                  <a:pt x="53" y="40"/>
                  <a:pt x="53" y="41"/>
                  <a:pt x="53" y="41"/>
                </a:cubicBezTo>
                <a:cubicBezTo>
                  <a:pt x="54" y="41"/>
                  <a:pt x="54" y="41"/>
                  <a:pt x="54" y="41"/>
                </a:cubicBezTo>
                <a:cubicBezTo>
                  <a:pt x="54" y="42"/>
                  <a:pt x="54" y="42"/>
                  <a:pt x="53" y="42"/>
                </a:cubicBezTo>
                <a:cubicBezTo>
                  <a:pt x="53" y="42"/>
                  <a:pt x="52" y="43"/>
                  <a:pt x="52" y="42"/>
                </a:cubicBezTo>
                <a:cubicBezTo>
                  <a:pt x="52" y="42"/>
                  <a:pt x="52" y="42"/>
                  <a:pt x="52" y="42"/>
                </a:cubicBezTo>
                <a:cubicBezTo>
                  <a:pt x="52" y="41"/>
                  <a:pt x="52" y="41"/>
                  <a:pt x="51" y="40"/>
                </a:cubicBezTo>
                <a:cubicBezTo>
                  <a:pt x="51" y="40"/>
                  <a:pt x="51" y="40"/>
                  <a:pt x="51" y="40"/>
                </a:cubicBezTo>
                <a:cubicBezTo>
                  <a:pt x="51" y="40"/>
                  <a:pt x="51" y="39"/>
                  <a:pt x="50" y="39"/>
                </a:cubicBezTo>
                <a:cubicBezTo>
                  <a:pt x="50" y="39"/>
                  <a:pt x="50" y="39"/>
                  <a:pt x="50" y="39"/>
                </a:cubicBezTo>
                <a:cubicBezTo>
                  <a:pt x="50" y="38"/>
                  <a:pt x="49" y="38"/>
                  <a:pt x="48" y="38"/>
                </a:cubicBezTo>
                <a:cubicBezTo>
                  <a:pt x="48" y="37"/>
                  <a:pt x="47" y="37"/>
                  <a:pt x="47" y="38"/>
                </a:cubicBezTo>
                <a:cubicBezTo>
                  <a:pt x="47" y="38"/>
                  <a:pt x="47" y="38"/>
                  <a:pt x="48" y="38"/>
                </a:cubicBezTo>
                <a:cubicBezTo>
                  <a:pt x="48" y="38"/>
                  <a:pt x="48" y="38"/>
                  <a:pt x="48" y="39"/>
                </a:cubicBezTo>
                <a:cubicBezTo>
                  <a:pt x="48" y="39"/>
                  <a:pt x="49" y="39"/>
                  <a:pt x="49" y="39"/>
                </a:cubicBezTo>
                <a:cubicBezTo>
                  <a:pt x="51" y="40"/>
                  <a:pt x="51" y="40"/>
                  <a:pt x="51" y="40"/>
                </a:cubicBezTo>
                <a:cubicBezTo>
                  <a:pt x="50" y="40"/>
                  <a:pt x="50" y="40"/>
                  <a:pt x="50" y="40"/>
                </a:cubicBezTo>
                <a:cubicBezTo>
                  <a:pt x="50" y="40"/>
                  <a:pt x="50" y="41"/>
                  <a:pt x="50" y="41"/>
                </a:cubicBezTo>
                <a:cubicBezTo>
                  <a:pt x="50" y="41"/>
                  <a:pt x="50" y="41"/>
                  <a:pt x="50" y="41"/>
                </a:cubicBezTo>
                <a:cubicBezTo>
                  <a:pt x="49" y="41"/>
                  <a:pt x="49" y="41"/>
                  <a:pt x="49" y="41"/>
                </a:cubicBezTo>
                <a:cubicBezTo>
                  <a:pt x="49" y="40"/>
                  <a:pt x="48" y="40"/>
                  <a:pt x="48" y="39"/>
                </a:cubicBezTo>
                <a:cubicBezTo>
                  <a:pt x="47" y="39"/>
                  <a:pt x="46" y="39"/>
                  <a:pt x="46" y="38"/>
                </a:cubicBezTo>
                <a:cubicBezTo>
                  <a:pt x="46" y="38"/>
                  <a:pt x="46" y="38"/>
                  <a:pt x="45" y="38"/>
                </a:cubicBezTo>
                <a:cubicBezTo>
                  <a:pt x="44" y="39"/>
                  <a:pt x="44" y="39"/>
                  <a:pt x="44" y="39"/>
                </a:cubicBezTo>
                <a:cubicBezTo>
                  <a:pt x="43" y="38"/>
                  <a:pt x="43" y="38"/>
                  <a:pt x="43" y="38"/>
                </a:cubicBezTo>
                <a:cubicBezTo>
                  <a:pt x="43" y="38"/>
                  <a:pt x="43" y="39"/>
                  <a:pt x="42" y="39"/>
                </a:cubicBezTo>
                <a:cubicBezTo>
                  <a:pt x="42" y="39"/>
                  <a:pt x="42" y="40"/>
                  <a:pt x="41" y="40"/>
                </a:cubicBezTo>
                <a:cubicBezTo>
                  <a:pt x="41" y="40"/>
                  <a:pt x="41" y="40"/>
                  <a:pt x="41" y="41"/>
                </a:cubicBezTo>
                <a:cubicBezTo>
                  <a:pt x="41" y="41"/>
                  <a:pt x="41" y="41"/>
                  <a:pt x="41" y="41"/>
                </a:cubicBezTo>
                <a:cubicBezTo>
                  <a:pt x="40" y="42"/>
                  <a:pt x="40" y="42"/>
                  <a:pt x="40" y="42"/>
                </a:cubicBezTo>
                <a:cubicBezTo>
                  <a:pt x="39" y="42"/>
                  <a:pt x="38" y="42"/>
                  <a:pt x="38" y="42"/>
                </a:cubicBezTo>
                <a:cubicBezTo>
                  <a:pt x="38" y="42"/>
                  <a:pt x="38" y="42"/>
                  <a:pt x="38" y="43"/>
                </a:cubicBezTo>
                <a:cubicBezTo>
                  <a:pt x="38" y="43"/>
                  <a:pt x="38" y="43"/>
                  <a:pt x="38" y="43"/>
                </a:cubicBezTo>
                <a:cubicBezTo>
                  <a:pt x="37" y="42"/>
                  <a:pt x="37" y="42"/>
                  <a:pt x="37" y="42"/>
                </a:cubicBezTo>
                <a:cubicBezTo>
                  <a:pt x="37" y="42"/>
                  <a:pt x="37" y="42"/>
                  <a:pt x="37" y="42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42"/>
                  <a:pt x="35" y="41"/>
                  <a:pt x="35" y="41"/>
                </a:cubicBezTo>
                <a:cubicBezTo>
                  <a:pt x="35" y="41"/>
                  <a:pt x="35" y="41"/>
                  <a:pt x="36" y="41"/>
                </a:cubicBezTo>
                <a:cubicBezTo>
                  <a:pt x="36" y="40"/>
                  <a:pt x="36" y="40"/>
                  <a:pt x="36" y="39"/>
                </a:cubicBezTo>
                <a:cubicBezTo>
                  <a:pt x="35" y="39"/>
                  <a:pt x="35" y="39"/>
                  <a:pt x="36" y="38"/>
                </a:cubicBezTo>
                <a:cubicBezTo>
                  <a:pt x="38" y="38"/>
                  <a:pt x="38" y="38"/>
                  <a:pt x="38" y="38"/>
                </a:cubicBezTo>
                <a:cubicBezTo>
                  <a:pt x="39" y="38"/>
                  <a:pt x="40" y="38"/>
                  <a:pt x="40" y="38"/>
                </a:cubicBezTo>
                <a:cubicBezTo>
                  <a:pt x="41" y="37"/>
                  <a:pt x="40" y="36"/>
                  <a:pt x="39" y="36"/>
                </a:cubicBezTo>
                <a:cubicBezTo>
                  <a:pt x="38" y="36"/>
                  <a:pt x="38" y="36"/>
                  <a:pt x="38" y="36"/>
                </a:cubicBezTo>
                <a:cubicBezTo>
                  <a:pt x="38" y="36"/>
                  <a:pt x="38" y="36"/>
                  <a:pt x="38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40" y="35"/>
                  <a:pt x="40" y="35"/>
                  <a:pt x="40" y="35"/>
                </a:cubicBezTo>
                <a:cubicBezTo>
                  <a:pt x="41" y="35"/>
                  <a:pt x="41" y="35"/>
                  <a:pt x="41" y="35"/>
                </a:cubicBezTo>
                <a:cubicBezTo>
                  <a:pt x="41" y="35"/>
                  <a:pt x="42" y="35"/>
                  <a:pt x="42" y="34"/>
                </a:cubicBezTo>
                <a:cubicBezTo>
                  <a:pt x="43" y="34"/>
                  <a:pt x="43" y="34"/>
                  <a:pt x="43" y="34"/>
                </a:cubicBezTo>
                <a:cubicBezTo>
                  <a:pt x="44" y="33"/>
                  <a:pt x="44" y="33"/>
                  <a:pt x="45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5" y="32"/>
                  <a:pt x="45" y="31"/>
                  <a:pt x="46" y="31"/>
                </a:cubicBezTo>
                <a:cubicBezTo>
                  <a:pt x="46" y="31"/>
                  <a:pt x="46" y="31"/>
                  <a:pt x="46" y="32"/>
                </a:cubicBezTo>
                <a:cubicBezTo>
                  <a:pt x="46" y="32"/>
                  <a:pt x="46" y="32"/>
                  <a:pt x="46" y="32"/>
                </a:cubicBezTo>
                <a:cubicBezTo>
                  <a:pt x="47" y="33"/>
                  <a:pt x="47" y="33"/>
                  <a:pt x="47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9" y="33"/>
                  <a:pt x="49" y="33"/>
                  <a:pt x="49" y="33"/>
                </a:cubicBezTo>
                <a:cubicBezTo>
                  <a:pt x="49" y="33"/>
                  <a:pt x="50" y="33"/>
                  <a:pt x="50" y="32"/>
                </a:cubicBezTo>
                <a:cubicBezTo>
                  <a:pt x="50" y="32"/>
                  <a:pt x="50" y="32"/>
                  <a:pt x="51" y="32"/>
                </a:cubicBezTo>
                <a:cubicBezTo>
                  <a:pt x="51" y="33"/>
                  <a:pt x="52" y="33"/>
                  <a:pt x="52" y="32"/>
                </a:cubicBezTo>
                <a:close/>
                <a:moveTo>
                  <a:pt x="32" y="27"/>
                </a:moveTo>
                <a:cubicBezTo>
                  <a:pt x="32" y="26"/>
                  <a:pt x="31" y="26"/>
                  <a:pt x="30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26"/>
                  <a:pt x="28" y="26"/>
                  <a:pt x="27" y="26"/>
                </a:cubicBezTo>
                <a:cubicBezTo>
                  <a:pt x="27" y="26"/>
                  <a:pt x="27" y="27"/>
                  <a:pt x="27" y="27"/>
                </a:cubicBezTo>
                <a:cubicBezTo>
                  <a:pt x="27" y="27"/>
                  <a:pt x="28" y="27"/>
                  <a:pt x="28" y="27"/>
                </a:cubicBezTo>
                <a:cubicBezTo>
                  <a:pt x="29" y="27"/>
                  <a:pt x="29" y="27"/>
                  <a:pt x="29" y="28"/>
                </a:cubicBezTo>
                <a:cubicBezTo>
                  <a:pt x="29" y="28"/>
                  <a:pt x="29" y="28"/>
                  <a:pt x="30" y="28"/>
                </a:cubicBezTo>
                <a:cubicBezTo>
                  <a:pt x="30" y="28"/>
                  <a:pt x="30" y="28"/>
                  <a:pt x="30" y="28"/>
                </a:cubicBezTo>
                <a:cubicBezTo>
                  <a:pt x="31" y="28"/>
                  <a:pt x="31" y="28"/>
                  <a:pt x="31" y="28"/>
                </a:cubicBezTo>
                <a:cubicBezTo>
                  <a:pt x="32" y="27"/>
                  <a:pt x="32" y="27"/>
                  <a:pt x="32" y="27"/>
                </a:cubicBezTo>
                <a:cubicBezTo>
                  <a:pt x="32" y="27"/>
                  <a:pt x="32" y="27"/>
                  <a:pt x="32" y="27"/>
                </a:cubicBezTo>
                <a:close/>
                <a:moveTo>
                  <a:pt x="37" y="33"/>
                </a:moveTo>
                <a:cubicBezTo>
                  <a:pt x="37" y="32"/>
                  <a:pt x="37" y="32"/>
                  <a:pt x="36" y="32"/>
                </a:cubicBezTo>
                <a:cubicBezTo>
                  <a:pt x="35" y="32"/>
                  <a:pt x="35" y="33"/>
                  <a:pt x="35" y="33"/>
                </a:cubicBezTo>
                <a:cubicBezTo>
                  <a:pt x="35" y="33"/>
                  <a:pt x="35" y="33"/>
                  <a:pt x="35" y="34"/>
                </a:cubicBezTo>
                <a:cubicBezTo>
                  <a:pt x="35" y="34"/>
                  <a:pt x="35" y="34"/>
                  <a:pt x="36" y="34"/>
                </a:cubicBezTo>
                <a:cubicBezTo>
                  <a:pt x="37" y="34"/>
                  <a:pt x="37" y="34"/>
                  <a:pt x="37" y="33"/>
                </a:cubicBezTo>
                <a:close/>
                <a:moveTo>
                  <a:pt x="39" y="30"/>
                </a:moveTo>
                <a:cubicBezTo>
                  <a:pt x="37" y="31"/>
                  <a:pt x="37" y="31"/>
                  <a:pt x="37" y="31"/>
                </a:cubicBezTo>
                <a:cubicBezTo>
                  <a:pt x="36" y="31"/>
                  <a:pt x="36" y="31"/>
                  <a:pt x="37" y="31"/>
                </a:cubicBezTo>
                <a:cubicBezTo>
                  <a:pt x="37" y="32"/>
                  <a:pt x="38" y="33"/>
                  <a:pt x="39" y="33"/>
                </a:cubicBezTo>
                <a:cubicBezTo>
                  <a:pt x="40" y="33"/>
                  <a:pt x="40" y="33"/>
                  <a:pt x="39" y="33"/>
                </a:cubicBezTo>
                <a:cubicBezTo>
                  <a:pt x="38" y="33"/>
                  <a:pt x="38" y="33"/>
                  <a:pt x="38" y="34"/>
                </a:cubicBezTo>
                <a:cubicBezTo>
                  <a:pt x="38" y="34"/>
                  <a:pt x="38" y="34"/>
                  <a:pt x="39" y="34"/>
                </a:cubicBezTo>
                <a:cubicBezTo>
                  <a:pt x="39" y="35"/>
                  <a:pt x="39" y="35"/>
                  <a:pt x="39" y="35"/>
                </a:cubicBezTo>
                <a:cubicBezTo>
                  <a:pt x="39" y="34"/>
                  <a:pt x="39" y="34"/>
                  <a:pt x="39" y="34"/>
                </a:cubicBezTo>
                <a:cubicBezTo>
                  <a:pt x="41" y="35"/>
                  <a:pt x="41" y="35"/>
                  <a:pt x="41" y="35"/>
                </a:cubicBezTo>
                <a:cubicBezTo>
                  <a:pt x="41" y="35"/>
                  <a:pt x="42" y="34"/>
                  <a:pt x="42" y="34"/>
                </a:cubicBezTo>
                <a:cubicBezTo>
                  <a:pt x="42" y="33"/>
                  <a:pt x="41" y="33"/>
                  <a:pt x="41" y="33"/>
                </a:cubicBezTo>
                <a:cubicBezTo>
                  <a:pt x="41" y="33"/>
                  <a:pt x="40" y="33"/>
                  <a:pt x="40" y="32"/>
                </a:cubicBezTo>
                <a:cubicBezTo>
                  <a:pt x="40" y="32"/>
                  <a:pt x="40" y="32"/>
                  <a:pt x="40" y="32"/>
                </a:cubicBezTo>
                <a:cubicBezTo>
                  <a:pt x="40" y="32"/>
                  <a:pt x="40" y="32"/>
                  <a:pt x="40" y="31"/>
                </a:cubicBezTo>
                <a:cubicBezTo>
                  <a:pt x="40" y="31"/>
                  <a:pt x="39" y="30"/>
                  <a:pt x="39" y="30"/>
                </a:cubicBezTo>
                <a:close/>
                <a:moveTo>
                  <a:pt x="42" y="40"/>
                </a:moveTo>
                <a:cubicBezTo>
                  <a:pt x="42" y="40"/>
                  <a:pt x="42" y="40"/>
                  <a:pt x="42" y="40"/>
                </a:cubicBezTo>
                <a:cubicBezTo>
                  <a:pt x="42" y="40"/>
                  <a:pt x="42" y="40"/>
                  <a:pt x="42" y="40"/>
                </a:cubicBezTo>
                <a:close/>
                <a:moveTo>
                  <a:pt x="45" y="40"/>
                </a:moveTo>
                <a:cubicBezTo>
                  <a:pt x="45" y="40"/>
                  <a:pt x="45" y="40"/>
                  <a:pt x="45" y="40"/>
                </a:cubicBezTo>
                <a:cubicBezTo>
                  <a:pt x="45" y="40"/>
                  <a:pt x="45" y="41"/>
                  <a:pt x="45" y="41"/>
                </a:cubicBezTo>
                <a:cubicBezTo>
                  <a:pt x="45" y="41"/>
                  <a:pt x="46" y="41"/>
                  <a:pt x="46" y="41"/>
                </a:cubicBezTo>
                <a:cubicBezTo>
                  <a:pt x="46" y="40"/>
                  <a:pt x="46" y="40"/>
                  <a:pt x="46" y="40"/>
                </a:cubicBezTo>
                <a:cubicBezTo>
                  <a:pt x="46" y="40"/>
                  <a:pt x="45" y="40"/>
                  <a:pt x="45" y="40"/>
                </a:cubicBezTo>
                <a:close/>
                <a:moveTo>
                  <a:pt x="47" y="41"/>
                </a:moveTo>
                <a:cubicBezTo>
                  <a:pt x="47" y="41"/>
                  <a:pt x="47" y="42"/>
                  <a:pt x="48" y="42"/>
                </a:cubicBezTo>
                <a:cubicBezTo>
                  <a:pt x="48" y="42"/>
                  <a:pt x="48" y="42"/>
                  <a:pt x="49" y="42"/>
                </a:cubicBezTo>
                <a:cubicBezTo>
                  <a:pt x="49" y="42"/>
                  <a:pt x="49" y="42"/>
                  <a:pt x="49" y="42"/>
                </a:cubicBezTo>
                <a:cubicBezTo>
                  <a:pt x="49" y="41"/>
                  <a:pt x="49" y="41"/>
                  <a:pt x="48" y="41"/>
                </a:cubicBezTo>
                <a:lnTo>
                  <a:pt x="47" y="41"/>
                </a:lnTo>
                <a:close/>
                <a:moveTo>
                  <a:pt x="57" y="40"/>
                </a:moveTo>
                <a:cubicBezTo>
                  <a:pt x="56" y="40"/>
                  <a:pt x="56" y="40"/>
                  <a:pt x="56" y="40"/>
                </a:cubicBezTo>
                <a:cubicBezTo>
                  <a:pt x="56" y="39"/>
                  <a:pt x="56" y="39"/>
                  <a:pt x="56" y="39"/>
                </a:cubicBezTo>
                <a:cubicBezTo>
                  <a:pt x="55" y="39"/>
                  <a:pt x="55" y="38"/>
                  <a:pt x="56" y="38"/>
                </a:cubicBezTo>
                <a:cubicBezTo>
                  <a:pt x="56" y="38"/>
                  <a:pt x="56" y="38"/>
                  <a:pt x="57" y="37"/>
                </a:cubicBezTo>
                <a:cubicBezTo>
                  <a:pt x="57" y="37"/>
                  <a:pt x="57" y="37"/>
                  <a:pt x="58" y="37"/>
                </a:cubicBezTo>
                <a:cubicBezTo>
                  <a:pt x="58" y="37"/>
                  <a:pt x="58" y="37"/>
                  <a:pt x="58" y="37"/>
                </a:cubicBezTo>
                <a:cubicBezTo>
                  <a:pt x="59" y="38"/>
                  <a:pt x="59" y="38"/>
                  <a:pt x="59" y="38"/>
                </a:cubicBezTo>
                <a:cubicBezTo>
                  <a:pt x="60" y="38"/>
                  <a:pt x="60" y="37"/>
                  <a:pt x="60" y="37"/>
                </a:cubicBezTo>
                <a:cubicBezTo>
                  <a:pt x="60" y="37"/>
                  <a:pt x="60" y="37"/>
                  <a:pt x="61" y="37"/>
                </a:cubicBezTo>
                <a:cubicBezTo>
                  <a:pt x="61" y="37"/>
                  <a:pt x="61" y="37"/>
                  <a:pt x="61" y="37"/>
                </a:cubicBezTo>
                <a:cubicBezTo>
                  <a:pt x="61" y="37"/>
                  <a:pt x="61" y="37"/>
                  <a:pt x="60" y="37"/>
                </a:cubicBezTo>
                <a:cubicBezTo>
                  <a:pt x="60" y="37"/>
                  <a:pt x="60" y="37"/>
                  <a:pt x="61" y="38"/>
                </a:cubicBezTo>
                <a:cubicBezTo>
                  <a:pt x="61" y="38"/>
                  <a:pt x="61" y="38"/>
                  <a:pt x="62" y="38"/>
                </a:cubicBezTo>
                <a:cubicBezTo>
                  <a:pt x="62" y="38"/>
                  <a:pt x="62" y="39"/>
                  <a:pt x="63" y="39"/>
                </a:cubicBezTo>
                <a:cubicBezTo>
                  <a:pt x="63" y="39"/>
                  <a:pt x="63" y="39"/>
                  <a:pt x="63" y="40"/>
                </a:cubicBezTo>
                <a:cubicBezTo>
                  <a:pt x="62" y="40"/>
                  <a:pt x="61" y="40"/>
                  <a:pt x="60" y="40"/>
                </a:cubicBezTo>
                <a:cubicBezTo>
                  <a:pt x="59" y="39"/>
                  <a:pt x="58" y="39"/>
                  <a:pt x="58" y="39"/>
                </a:cubicBezTo>
                <a:cubicBezTo>
                  <a:pt x="58" y="40"/>
                  <a:pt x="58" y="40"/>
                  <a:pt x="57" y="40"/>
                </a:cubicBezTo>
                <a:close/>
                <a:moveTo>
                  <a:pt x="57" y="29"/>
                </a:moveTo>
                <a:cubicBezTo>
                  <a:pt x="58" y="28"/>
                  <a:pt x="58" y="28"/>
                  <a:pt x="58" y="29"/>
                </a:cubicBezTo>
                <a:cubicBezTo>
                  <a:pt x="58" y="29"/>
                  <a:pt x="59" y="29"/>
                  <a:pt x="59" y="29"/>
                </a:cubicBezTo>
                <a:cubicBezTo>
                  <a:pt x="58" y="30"/>
                  <a:pt x="58" y="30"/>
                  <a:pt x="58" y="29"/>
                </a:cubicBezTo>
                <a:cubicBezTo>
                  <a:pt x="57" y="29"/>
                  <a:pt x="57" y="29"/>
                  <a:pt x="57" y="29"/>
                </a:cubicBezTo>
                <a:close/>
                <a:moveTo>
                  <a:pt x="58" y="63"/>
                </a:moveTo>
                <a:cubicBezTo>
                  <a:pt x="58" y="63"/>
                  <a:pt x="58" y="63"/>
                  <a:pt x="58" y="62"/>
                </a:cubicBezTo>
                <a:cubicBezTo>
                  <a:pt x="58" y="62"/>
                  <a:pt x="58" y="62"/>
                  <a:pt x="58" y="62"/>
                </a:cubicBezTo>
                <a:cubicBezTo>
                  <a:pt x="59" y="62"/>
                  <a:pt x="59" y="62"/>
                  <a:pt x="59" y="62"/>
                </a:cubicBezTo>
                <a:cubicBezTo>
                  <a:pt x="59" y="62"/>
                  <a:pt x="59" y="62"/>
                  <a:pt x="59" y="63"/>
                </a:cubicBezTo>
                <a:cubicBezTo>
                  <a:pt x="59" y="63"/>
                  <a:pt x="58" y="63"/>
                  <a:pt x="58" y="63"/>
                </a:cubicBezTo>
                <a:close/>
                <a:moveTo>
                  <a:pt x="64" y="74"/>
                </a:moveTo>
                <a:cubicBezTo>
                  <a:pt x="64" y="75"/>
                  <a:pt x="64" y="75"/>
                  <a:pt x="64" y="75"/>
                </a:cubicBezTo>
                <a:cubicBezTo>
                  <a:pt x="64" y="76"/>
                  <a:pt x="65" y="76"/>
                  <a:pt x="65" y="76"/>
                </a:cubicBezTo>
                <a:cubicBezTo>
                  <a:pt x="66" y="76"/>
                  <a:pt x="66" y="75"/>
                  <a:pt x="67" y="74"/>
                </a:cubicBezTo>
                <a:cubicBezTo>
                  <a:pt x="67" y="72"/>
                  <a:pt x="67" y="71"/>
                  <a:pt x="68" y="71"/>
                </a:cubicBezTo>
                <a:cubicBezTo>
                  <a:pt x="68" y="71"/>
                  <a:pt x="68" y="71"/>
                  <a:pt x="68" y="70"/>
                </a:cubicBezTo>
                <a:cubicBezTo>
                  <a:pt x="68" y="69"/>
                  <a:pt x="68" y="69"/>
                  <a:pt x="67" y="68"/>
                </a:cubicBezTo>
                <a:cubicBezTo>
                  <a:pt x="67" y="68"/>
                  <a:pt x="67" y="69"/>
                  <a:pt x="67" y="69"/>
                </a:cubicBezTo>
                <a:cubicBezTo>
                  <a:pt x="66" y="70"/>
                  <a:pt x="66" y="71"/>
                  <a:pt x="65" y="70"/>
                </a:cubicBezTo>
                <a:cubicBezTo>
                  <a:pt x="64" y="70"/>
                  <a:pt x="64" y="71"/>
                  <a:pt x="64" y="72"/>
                </a:cubicBezTo>
                <a:cubicBezTo>
                  <a:pt x="65" y="72"/>
                  <a:pt x="65" y="73"/>
                  <a:pt x="64" y="73"/>
                </a:cubicBezTo>
                <a:cubicBezTo>
                  <a:pt x="64" y="73"/>
                  <a:pt x="64" y="74"/>
                  <a:pt x="64" y="74"/>
                </a:cubicBezTo>
                <a:close/>
                <a:moveTo>
                  <a:pt x="70" y="42"/>
                </a:moveTo>
                <a:cubicBezTo>
                  <a:pt x="70" y="42"/>
                  <a:pt x="69" y="42"/>
                  <a:pt x="69" y="42"/>
                </a:cubicBezTo>
                <a:cubicBezTo>
                  <a:pt x="67" y="42"/>
                  <a:pt x="67" y="42"/>
                  <a:pt x="67" y="42"/>
                </a:cubicBezTo>
                <a:cubicBezTo>
                  <a:pt x="67" y="42"/>
                  <a:pt x="67" y="41"/>
                  <a:pt x="67" y="41"/>
                </a:cubicBezTo>
                <a:cubicBezTo>
                  <a:pt x="67" y="41"/>
                  <a:pt x="67" y="40"/>
                  <a:pt x="67" y="40"/>
                </a:cubicBezTo>
                <a:cubicBezTo>
                  <a:pt x="67" y="41"/>
                  <a:pt x="67" y="40"/>
                  <a:pt x="68" y="40"/>
                </a:cubicBezTo>
                <a:cubicBezTo>
                  <a:pt x="68" y="40"/>
                  <a:pt x="68" y="40"/>
                  <a:pt x="68" y="39"/>
                </a:cubicBezTo>
                <a:cubicBezTo>
                  <a:pt x="67" y="39"/>
                  <a:pt x="67" y="39"/>
                  <a:pt x="67" y="39"/>
                </a:cubicBezTo>
                <a:cubicBezTo>
                  <a:pt x="67" y="39"/>
                  <a:pt x="67" y="39"/>
                  <a:pt x="67" y="39"/>
                </a:cubicBezTo>
                <a:cubicBezTo>
                  <a:pt x="67" y="39"/>
                  <a:pt x="66" y="39"/>
                  <a:pt x="66" y="38"/>
                </a:cubicBezTo>
                <a:cubicBezTo>
                  <a:pt x="65" y="38"/>
                  <a:pt x="65" y="37"/>
                  <a:pt x="66" y="37"/>
                </a:cubicBezTo>
                <a:cubicBezTo>
                  <a:pt x="66" y="37"/>
                  <a:pt x="66" y="37"/>
                  <a:pt x="67" y="37"/>
                </a:cubicBezTo>
                <a:cubicBezTo>
                  <a:pt x="67" y="37"/>
                  <a:pt x="67" y="37"/>
                  <a:pt x="68" y="37"/>
                </a:cubicBezTo>
                <a:cubicBezTo>
                  <a:pt x="68" y="36"/>
                  <a:pt x="68" y="36"/>
                  <a:pt x="68" y="36"/>
                </a:cubicBezTo>
                <a:cubicBezTo>
                  <a:pt x="68" y="36"/>
                  <a:pt x="69" y="36"/>
                  <a:pt x="69" y="36"/>
                </a:cubicBezTo>
                <a:cubicBezTo>
                  <a:pt x="69" y="36"/>
                  <a:pt x="70" y="36"/>
                  <a:pt x="70" y="37"/>
                </a:cubicBezTo>
                <a:cubicBezTo>
                  <a:pt x="70" y="37"/>
                  <a:pt x="70" y="37"/>
                  <a:pt x="70" y="37"/>
                </a:cubicBezTo>
                <a:cubicBezTo>
                  <a:pt x="70" y="37"/>
                  <a:pt x="70" y="37"/>
                  <a:pt x="70" y="38"/>
                </a:cubicBezTo>
                <a:cubicBezTo>
                  <a:pt x="69" y="38"/>
                  <a:pt x="69" y="38"/>
                  <a:pt x="69" y="38"/>
                </a:cubicBezTo>
                <a:cubicBezTo>
                  <a:pt x="69" y="37"/>
                  <a:pt x="68" y="37"/>
                  <a:pt x="68" y="37"/>
                </a:cubicBezTo>
                <a:cubicBezTo>
                  <a:pt x="68" y="38"/>
                  <a:pt x="68" y="38"/>
                  <a:pt x="68" y="38"/>
                </a:cubicBezTo>
                <a:cubicBezTo>
                  <a:pt x="68" y="38"/>
                  <a:pt x="68" y="38"/>
                  <a:pt x="68" y="38"/>
                </a:cubicBezTo>
                <a:cubicBezTo>
                  <a:pt x="68" y="38"/>
                  <a:pt x="68" y="38"/>
                  <a:pt x="69" y="39"/>
                </a:cubicBezTo>
                <a:cubicBezTo>
                  <a:pt x="69" y="39"/>
                  <a:pt x="69" y="39"/>
                  <a:pt x="69" y="39"/>
                </a:cubicBezTo>
                <a:cubicBezTo>
                  <a:pt x="69" y="39"/>
                  <a:pt x="69" y="39"/>
                  <a:pt x="70" y="39"/>
                </a:cubicBezTo>
                <a:cubicBezTo>
                  <a:pt x="70" y="39"/>
                  <a:pt x="70" y="40"/>
                  <a:pt x="69" y="40"/>
                </a:cubicBezTo>
                <a:cubicBezTo>
                  <a:pt x="69" y="40"/>
                  <a:pt x="69" y="40"/>
                  <a:pt x="69" y="40"/>
                </a:cubicBezTo>
                <a:cubicBezTo>
                  <a:pt x="70" y="40"/>
                  <a:pt x="70" y="41"/>
                  <a:pt x="70" y="42"/>
                </a:cubicBezTo>
                <a:close/>
                <a:moveTo>
                  <a:pt x="75" y="21"/>
                </a:moveTo>
                <a:cubicBezTo>
                  <a:pt x="72" y="21"/>
                  <a:pt x="72" y="21"/>
                  <a:pt x="72" y="21"/>
                </a:cubicBezTo>
                <a:cubicBezTo>
                  <a:pt x="72" y="21"/>
                  <a:pt x="72" y="21"/>
                  <a:pt x="71" y="21"/>
                </a:cubicBezTo>
                <a:cubicBezTo>
                  <a:pt x="71" y="22"/>
                  <a:pt x="70" y="22"/>
                  <a:pt x="69" y="22"/>
                </a:cubicBezTo>
                <a:cubicBezTo>
                  <a:pt x="68" y="23"/>
                  <a:pt x="68" y="23"/>
                  <a:pt x="68" y="23"/>
                </a:cubicBezTo>
                <a:cubicBezTo>
                  <a:pt x="69" y="24"/>
                  <a:pt x="70" y="24"/>
                  <a:pt x="70" y="24"/>
                </a:cubicBezTo>
                <a:cubicBezTo>
                  <a:pt x="71" y="24"/>
                  <a:pt x="71" y="24"/>
                  <a:pt x="72" y="24"/>
                </a:cubicBezTo>
                <a:cubicBezTo>
                  <a:pt x="72" y="23"/>
                  <a:pt x="72" y="23"/>
                  <a:pt x="71" y="23"/>
                </a:cubicBezTo>
                <a:cubicBezTo>
                  <a:pt x="71" y="23"/>
                  <a:pt x="71" y="23"/>
                  <a:pt x="71" y="22"/>
                </a:cubicBezTo>
                <a:cubicBezTo>
                  <a:pt x="73" y="21"/>
                  <a:pt x="74" y="21"/>
                  <a:pt x="75" y="21"/>
                </a:cubicBezTo>
                <a:cubicBezTo>
                  <a:pt x="76" y="21"/>
                  <a:pt x="77" y="21"/>
                  <a:pt x="77" y="21"/>
                </a:cubicBezTo>
                <a:cubicBezTo>
                  <a:pt x="78" y="21"/>
                  <a:pt x="78" y="20"/>
                  <a:pt x="77" y="20"/>
                </a:cubicBezTo>
                <a:cubicBezTo>
                  <a:pt x="77" y="20"/>
                  <a:pt x="77" y="20"/>
                  <a:pt x="77" y="20"/>
                </a:cubicBezTo>
                <a:cubicBezTo>
                  <a:pt x="77" y="20"/>
                  <a:pt x="77" y="20"/>
                  <a:pt x="77" y="20"/>
                </a:cubicBezTo>
                <a:cubicBezTo>
                  <a:pt x="77" y="21"/>
                  <a:pt x="76" y="21"/>
                  <a:pt x="76" y="21"/>
                </a:cubicBezTo>
                <a:lnTo>
                  <a:pt x="75" y="21"/>
                </a:lnTo>
                <a:close/>
                <a:moveTo>
                  <a:pt x="84" y="57"/>
                </a:moveTo>
                <a:cubicBezTo>
                  <a:pt x="84" y="57"/>
                  <a:pt x="84" y="57"/>
                  <a:pt x="84" y="58"/>
                </a:cubicBezTo>
                <a:cubicBezTo>
                  <a:pt x="84" y="58"/>
                  <a:pt x="84" y="59"/>
                  <a:pt x="84" y="59"/>
                </a:cubicBezTo>
                <a:cubicBezTo>
                  <a:pt x="84" y="59"/>
                  <a:pt x="84" y="59"/>
                  <a:pt x="84" y="58"/>
                </a:cubicBezTo>
                <a:cubicBezTo>
                  <a:pt x="84" y="58"/>
                  <a:pt x="85" y="58"/>
                  <a:pt x="85" y="58"/>
                </a:cubicBezTo>
                <a:cubicBezTo>
                  <a:pt x="85" y="58"/>
                  <a:pt x="84" y="57"/>
                  <a:pt x="84" y="57"/>
                </a:cubicBezTo>
                <a:cubicBezTo>
                  <a:pt x="84" y="57"/>
                  <a:pt x="84" y="57"/>
                  <a:pt x="84" y="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7233" name="Freeform 65">
            <a:extLst>
              <a:ext uri="{FF2B5EF4-FFF2-40B4-BE49-F238E27FC236}">
                <a16:creationId xmlns:a16="http://schemas.microsoft.com/office/drawing/2014/main" id="{A3A056F6-9981-0530-9B7D-6627858F4489}"/>
              </a:ext>
            </a:extLst>
          </p:cNvPr>
          <p:cNvSpPr>
            <a:spLocks noEditPoints="1"/>
          </p:cNvSpPr>
          <p:nvPr/>
        </p:nvSpPr>
        <p:spPr bwMode="auto">
          <a:xfrm>
            <a:off x="2657980" y="4657866"/>
            <a:ext cx="459633" cy="450477"/>
          </a:xfrm>
          <a:custGeom>
            <a:avLst/>
            <a:gdLst>
              <a:gd name="T0" fmla="*/ 92 w 106"/>
              <a:gd name="T1" fmla="*/ 55 h 104"/>
              <a:gd name="T2" fmla="*/ 91 w 106"/>
              <a:gd name="T3" fmla="*/ 65 h 104"/>
              <a:gd name="T4" fmla="*/ 101 w 106"/>
              <a:gd name="T5" fmla="*/ 76 h 104"/>
              <a:gd name="T6" fmla="*/ 97 w 106"/>
              <a:gd name="T7" fmla="*/ 83 h 104"/>
              <a:gd name="T8" fmla="*/ 82 w 106"/>
              <a:gd name="T9" fmla="*/ 80 h 104"/>
              <a:gd name="T10" fmla="*/ 74 w 106"/>
              <a:gd name="T11" fmla="*/ 86 h 104"/>
              <a:gd name="T12" fmla="*/ 75 w 106"/>
              <a:gd name="T13" fmla="*/ 101 h 104"/>
              <a:gd name="T14" fmla="*/ 67 w 106"/>
              <a:gd name="T15" fmla="*/ 104 h 104"/>
              <a:gd name="T16" fmla="*/ 58 w 106"/>
              <a:gd name="T17" fmla="*/ 92 h 104"/>
              <a:gd name="T18" fmla="*/ 53 w 106"/>
              <a:gd name="T19" fmla="*/ 93 h 104"/>
              <a:gd name="T20" fmla="*/ 48 w 106"/>
              <a:gd name="T21" fmla="*/ 92 h 104"/>
              <a:gd name="T22" fmla="*/ 39 w 106"/>
              <a:gd name="T23" fmla="*/ 104 h 104"/>
              <a:gd name="T24" fmla="*/ 31 w 106"/>
              <a:gd name="T25" fmla="*/ 101 h 104"/>
              <a:gd name="T26" fmla="*/ 32 w 106"/>
              <a:gd name="T27" fmla="*/ 87 h 104"/>
              <a:gd name="T28" fmla="*/ 24 w 106"/>
              <a:gd name="T29" fmla="*/ 80 h 104"/>
              <a:gd name="T30" fmla="*/ 9 w 106"/>
              <a:gd name="T31" fmla="*/ 83 h 104"/>
              <a:gd name="T32" fmla="*/ 5 w 106"/>
              <a:gd name="T33" fmla="*/ 76 h 104"/>
              <a:gd name="T34" fmla="*/ 15 w 106"/>
              <a:gd name="T35" fmla="*/ 65 h 104"/>
              <a:gd name="T36" fmla="*/ 13 w 106"/>
              <a:gd name="T37" fmla="*/ 55 h 104"/>
              <a:gd name="T38" fmla="*/ 0 w 106"/>
              <a:gd name="T39" fmla="*/ 48 h 104"/>
              <a:gd name="T40" fmla="*/ 2 w 106"/>
              <a:gd name="T41" fmla="*/ 40 h 104"/>
              <a:gd name="T42" fmla="*/ 16 w 106"/>
              <a:gd name="T43" fmla="*/ 38 h 104"/>
              <a:gd name="T44" fmla="*/ 22 w 106"/>
              <a:gd name="T45" fmla="*/ 29 h 104"/>
              <a:gd name="T46" fmla="*/ 16 w 106"/>
              <a:gd name="T47" fmla="*/ 15 h 104"/>
              <a:gd name="T48" fmla="*/ 22 w 106"/>
              <a:gd name="T49" fmla="*/ 10 h 104"/>
              <a:gd name="T50" fmla="*/ 35 w 106"/>
              <a:gd name="T51" fmla="*/ 18 h 104"/>
              <a:gd name="T52" fmla="*/ 45 w 106"/>
              <a:gd name="T53" fmla="*/ 14 h 104"/>
              <a:gd name="T54" fmla="*/ 49 w 106"/>
              <a:gd name="T55" fmla="*/ 0 h 104"/>
              <a:gd name="T56" fmla="*/ 53 w 106"/>
              <a:gd name="T57" fmla="*/ 0 h 104"/>
              <a:gd name="T58" fmla="*/ 57 w 106"/>
              <a:gd name="T59" fmla="*/ 0 h 104"/>
              <a:gd name="T60" fmla="*/ 61 w 106"/>
              <a:gd name="T61" fmla="*/ 15 h 104"/>
              <a:gd name="T62" fmla="*/ 71 w 106"/>
              <a:gd name="T63" fmla="*/ 18 h 104"/>
              <a:gd name="T64" fmla="*/ 84 w 106"/>
              <a:gd name="T65" fmla="*/ 10 h 104"/>
              <a:gd name="T66" fmla="*/ 90 w 106"/>
              <a:gd name="T67" fmla="*/ 15 h 104"/>
              <a:gd name="T68" fmla="*/ 84 w 106"/>
              <a:gd name="T69" fmla="*/ 29 h 104"/>
              <a:gd name="T70" fmla="*/ 89 w 106"/>
              <a:gd name="T71" fmla="*/ 38 h 104"/>
              <a:gd name="T72" fmla="*/ 104 w 106"/>
              <a:gd name="T73" fmla="*/ 40 h 104"/>
              <a:gd name="T74" fmla="*/ 106 w 106"/>
              <a:gd name="T75" fmla="*/ 48 h 104"/>
              <a:gd name="T76" fmla="*/ 92 w 106"/>
              <a:gd name="T77" fmla="*/ 55 h 104"/>
              <a:gd name="T78" fmla="*/ 70 w 106"/>
              <a:gd name="T79" fmla="*/ 72 h 104"/>
              <a:gd name="T80" fmla="*/ 66 w 106"/>
              <a:gd name="T81" fmla="*/ 66 h 104"/>
              <a:gd name="T82" fmla="*/ 71 w 106"/>
              <a:gd name="T83" fmla="*/ 53 h 104"/>
              <a:gd name="T84" fmla="*/ 66 w 106"/>
              <a:gd name="T85" fmla="*/ 40 h 104"/>
              <a:gd name="T86" fmla="*/ 53 w 106"/>
              <a:gd name="T87" fmla="*/ 35 h 104"/>
              <a:gd name="T88" fmla="*/ 40 w 106"/>
              <a:gd name="T89" fmla="*/ 40 h 104"/>
              <a:gd name="T90" fmla="*/ 34 w 106"/>
              <a:gd name="T91" fmla="*/ 53 h 104"/>
              <a:gd name="T92" fmla="*/ 40 w 106"/>
              <a:gd name="T93" fmla="*/ 66 h 104"/>
              <a:gd name="T94" fmla="*/ 53 w 106"/>
              <a:gd name="T95" fmla="*/ 71 h 104"/>
              <a:gd name="T96" fmla="*/ 59 w 106"/>
              <a:gd name="T97" fmla="*/ 70 h 104"/>
              <a:gd name="T98" fmla="*/ 63 w 106"/>
              <a:gd name="T99" fmla="*/ 76 h 104"/>
              <a:gd name="T100" fmla="*/ 70 w 106"/>
              <a:gd name="T101" fmla="*/ 72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06" h="104">
                <a:moveTo>
                  <a:pt x="92" y="55"/>
                </a:moveTo>
                <a:cubicBezTo>
                  <a:pt x="92" y="59"/>
                  <a:pt x="92" y="62"/>
                  <a:pt x="91" y="65"/>
                </a:cubicBezTo>
                <a:cubicBezTo>
                  <a:pt x="101" y="76"/>
                  <a:pt x="101" y="76"/>
                  <a:pt x="101" y="76"/>
                </a:cubicBezTo>
                <a:cubicBezTo>
                  <a:pt x="100" y="79"/>
                  <a:pt x="98" y="81"/>
                  <a:pt x="97" y="83"/>
                </a:cubicBezTo>
                <a:cubicBezTo>
                  <a:pt x="82" y="80"/>
                  <a:pt x="82" y="80"/>
                  <a:pt x="82" y="80"/>
                </a:cubicBezTo>
                <a:cubicBezTo>
                  <a:pt x="80" y="82"/>
                  <a:pt x="77" y="85"/>
                  <a:pt x="74" y="86"/>
                </a:cubicBezTo>
                <a:cubicBezTo>
                  <a:pt x="75" y="101"/>
                  <a:pt x="75" y="101"/>
                  <a:pt x="75" y="101"/>
                </a:cubicBezTo>
                <a:cubicBezTo>
                  <a:pt x="72" y="102"/>
                  <a:pt x="70" y="103"/>
                  <a:pt x="67" y="104"/>
                </a:cubicBezTo>
                <a:cubicBezTo>
                  <a:pt x="58" y="92"/>
                  <a:pt x="58" y="92"/>
                  <a:pt x="58" y="92"/>
                </a:cubicBezTo>
                <a:cubicBezTo>
                  <a:pt x="56" y="93"/>
                  <a:pt x="54" y="93"/>
                  <a:pt x="53" y="93"/>
                </a:cubicBezTo>
                <a:cubicBezTo>
                  <a:pt x="51" y="93"/>
                  <a:pt x="50" y="93"/>
                  <a:pt x="48" y="92"/>
                </a:cubicBezTo>
                <a:cubicBezTo>
                  <a:pt x="39" y="104"/>
                  <a:pt x="39" y="104"/>
                  <a:pt x="39" y="104"/>
                </a:cubicBezTo>
                <a:cubicBezTo>
                  <a:pt x="36" y="104"/>
                  <a:pt x="34" y="103"/>
                  <a:pt x="31" y="101"/>
                </a:cubicBezTo>
                <a:cubicBezTo>
                  <a:pt x="32" y="87"/>
                  <a:pt x="32" y="87"/>
                  <a:pt x="32" y="87"/>
                </a:cubicBezTo>
                <a:cubicBezTo>
                  <a:pt x="29" y="85"/>
                  <a:pt x="26" y="83"/>
                  <a:pt x="24" y="80"/>
                </a:cubicBezTo>
                <a:cubicBezTo>
                  <a:pt x="9" y="83"/>
                  <a:pt x="9" y="83"/>
                  <a:pt x="9" y="83"/>
                </a:cubicBezTo>
                <a:cubicBezTo>
                  <a:pt x="8" y="81"/>
                  <a:pt x="7" y="79"/>
                  <a:pt x="5" y="76"/>
                </a:cubicBezTo>
                <a:cubicBezTo>
                  <a:pt x="15" y="65"/>
                  <a:pt x="15" y="65"/>
                  <a:pt x="15" y="65"/>
                </a:cubicBezTo>
                <a:cubicBezTo>
                  <a:pt x="14" y="62"/>
                  <a:pt x="13" y="58"/>
                  <a:pt x="13" y="55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6"/>
                  <a:pt x="1" y="43"/>
                  <a:pt x="2" y="40"/>
                </a:cubicBezTo>
                <a:cubicBezTo>
                  <a:pt x="16" y="38"/>
                  <a:pt x="16" y="38"/>
                  <a:pt x="16" y="38"/>
                </a:cubicBezTo>
                <a:cubicBezTo>
                  <a:pt x="18" y="35"/>
                  <a:pt x="19" y="32"/>
                  <a:pt x="22" y="29"/>
                </a:cubicBezTo>
                <a:cubicBezTo>
                  <a:pt x="16" y="15"/>
                  <a:pt x="16" y="15"/>
                  <a:pt x="16" y="15"/>
                </a:cubicBezTo>
                <a:cubicBezTo>
                  <a:pt x="18" y="13"/>
                  <a:pt x="20" y="12"/>
                  <a:pt x="22" y="10"/>
                </a:cubicBezTo>
                <a:cubicBezTo>
                  <a:pt x="35" y="18"/>
                  <a:pt x="35" y="18"/>
                  <a:pt x="35" y="18"/>
                </a:cubicBezTo>
                <a:cubicBezTo>
                  <a:pt x="38" y="16"/>
                  <a:pt x="41" y="15"/>
                  <a:pt x="45" y="14"/>
                </a:cubicBezTo>
                <a:cubicBezTo>
                  <a:pt x="49" y="0"/>
                  <a:pt x="49" y="0"/>
                  <a:pt x="49" y="0"/>
                </a:cubicBezTo>
                <a:cubicBezTo>
                  <a:pt x="51" y="0"/>
                  <a:pt x="52" y="0"/>
                  <a:pt x="53" y="0"/>
                </a:cubicBezTo>
                <a:cubicBezTo>
                  <a:pt x="54" y="0"/>
                  <a:pt x="55" y="0"/>
                  <a:pt x="57" y="0"/>
                </a:cubicBezTo>
                <a:cubicBezTo>
                  <a:pt x="61" y="15"/>
                  <a:pt x="61" y="15"/>
                  <a:pt x="61" y="15"/>
                </a:cubicBezTo>
                <a:cubicBezTo>
                  <a:pt x="65" y="15"/>
                  <a:pt x="68" y="17"/>
                  <a:pt x="71" y="18"/>
                </a:cubicBezTo>
                <a:cubicBezTo>
                  <a:pt x="84" y="10"/>
                  <a:pt x="84" y="10"/>
                  <a:pt x="84" y="10"/>
                </a:cubicBezTo>
                <a:cubicBezTo>
                  <a:pt x="86" y="12"/>
                  <a:pt x="88" y="13"/>
                  <a:pt x="90" y="15"/>
                </a:cubicBezTo>
                <a:cubicBezTo>
                  <a:pt x="84" y="29"/>
                  <a:pt x="84" y="29"/>
                  <a:pt x="84" y="29"/>
                </a:cubicBezTo>
                <a:cubicBezTo>
                  <a:pt x="86" y="32"/>
                  <a:pt x="88" y="35"/>
                  <a:pt x="89" y="38"/>
                </a:cubicBezTo>
                <a:cubicBezTo>
                  <a:pt x="104" y="40"/>
                  <a:pt x="104" y="40"/>
                  <a:pt x="104" y="40"/>
                </a:cubicBezTo>
                <a:cubicBezTo>
                  <a:pt x="105" y="43"/>
                  <a:pt x="106" y="45"/>
                  <a:pt x="106" y="48"/>
                </a:cubicBezTo>
                <a:lnTo>
                  <a:pt x="92" y="55"/>
                </a:lnTo>
                <a:close/>
                <a:moveTo>
                  <a:pt x="70" y="72"/>
                </a:moveTo>
                <a:cubicBezTo>
                  <a:pt x="66" y="66"/>
                  <a:pt x="66" y="66"/>
                  <a:pt x="66" y="66"/>
                </a:cubicBezTo>
                <a:cubicBezTo>
                  <a:pt x="69" y="63"/>
                  <a:pt x="71" y="58"/>
                  <a:pt x="71" y="53"/>
                </a:cubicBezTo>
                <a:cubicBezTo>
                  <a:pt x="71" y="48"/>
                  <a:pt x="69" y="44"/>
                  <a:pt x="66" y="40"/>
                </a:cubicBezTo>
                <a:cubicBezTo>
                  <a:pt x="62" y="36"/>
                  <a:pt x="58" y="35"/>
                  <a:pt x="53" y="35"/>
                </a:cubicBezTo>
                <a:cubicBezTo>
                  <a:pt x="48" y="35"/>
                  <a:pt x="43" y="36"/>
                  <a:pt x="40" y="40"/>
                </a:cubicBezTo>
                <a:cubicBezTo>
                  <a:pt x="36" y="44"/>
                  <a:pt x="34" y="48"/>
                  <a:pt x="34" y="53"/>
                </a:cubicBezTo>
                <a:cubicBezTo>
                  <a:pt x="34" y="58"/>
                  <a:pt x="36" y="63"/>
                  <a:pt x="40" y="66"/>
                </a:cubicBezTo>
                <a:cubicBezTo>
                  <a:pt x="43" y="70"/>
                  <a:pt x="48" y="71"/>
                  <a:pt x="53" y="71"/>
                </a:cubicBezTo>
                <a:cubicBezTo>
                  <a:pt x="55" y="71"/>
                  <a:pt x="57" y="71"/>
                  <a:pt x="59" y="70"/>
                </a:cubicBezTo>
                <a:cubicBezTo>
                  <a:pt x="63" y="76"/>
                  <a:pt x="63" y="76"/>
                  <a:pt x="63" y="76"/>
                </a:cubicBezTo>
                <a:lnTo>
                  <a:pt x="70" y="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600"/>
          </a:p>
        </p:txBody>
      </p:sp>
      <p:sp>
        <p:nvSpPr>
          <p:cNvPr id="7255" name="TextBox 7254">
            <a:extLst>
              <a:ext uri="{FF2B5EF4-FFF2-40B4-BE49-F238E27FC236}">
                <a16:creationId xmlns:a16="http://schemas.microsoft.com/office/drawing/2014/main" id="{933E81ED-43E4-C748-8616-4EA2099F5B64}"/>
              </a:ext>
            </a:extLst>
          </p:cNvPr>
          <p:cNvSpPr txBox="1"/>
          <p:nvPr/>
        </p:nvSpPr>
        <p:spPr>
          <a:xfrm>
            <a:off x="1096871" y="-2906846"/>
            <a:ext cx="1330290" cy="48327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5400"/>
              </a:spcAft>
            </a:pPr>
            <a:r>
              <a:rPr lang="en-US" sz="1200" b="1">
                <a:solidFill>
                  <a:schemeClr val="tx1"/>
                </a:solidFill>
              </a:rPr>
              <a:t>Technology Infrastructure</a:t>
            </a:r>
          </a:p>
        </p:txBody>
      </p:sp>
      <p:pic>
        <p:nvPicPr>
          <p:cNvPr id="7256" name="Graphic 7255" descr="Server outline">
            <a:extLst>
              <a:ext uri="{FF2B5EF4-FFF2-40B4-BE49-F238E27FC236}">
                <a16:creationId xmlns:a16="http://schemas.microsoft.com/office/drawing/2014/main" id="{9C9469A6-A2F9-05F1-9405-5D05B6DDC1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154" y="-2943759"/>
            <a:ext cx="477883" cy="477883"/>
          </a:xfrm>
          <a:prstGeom prst="rect">
            <a:avLst/>
          </a:prstGeom>
        </p:spPr>
      </p:pic>
      <p:pic>
        <p:nvPicPr>
          <p:cNvPr id="7258" name="Picture 7257">
            <a:extLst>
              <a:ext uri="{FF2B5EF4-FFF2-40B4-BE49-F238E27FC236}">
                <a16:creationId xmlns:a16="http://schemas.microsoft.com/office/drawing/2014/main" id="{76EFA20E-75BF-AF25-4BB0-4CFF738654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586" y="2172954"/>
            <a:ext cx="1228762" cy="1578910"/>
          </a:xfrm>
          <a:prstGeom prst="rect">
            <a:avLst/>
          </a:prstGeom>
        </p:spPr>
      </p:pic>
      <p:sp>
        <p:nvSpPr>
          <p:cNvPr id="7271" name="Rounded Rectangle 62">
            <a:extLst>
              <a:ext uri="{FF2B5EF4-FFF2-40B4-BE49-F238E27FC236}">
                <a16:creationId xmlns:a16="http://schemas.microsoft.com/office/drawing/2014/main" id="{FE6BE036-5C7E-EC90-76B0-580251ABA899}"/>
              </a:ext>
            </a:extLst>
          </p:cNvPr>
          <p:cNvSpPr>
            <a:spLocks/>
          </p:cNvSpPr>
          <p:nvPr/>
        </p:nvSpPr>
        <p:spPr>
          <a:xfrm>
            <a:off x="6250904" y="-3285150"/>
            <a:ext cx="2191300" cy="2855120"/>
          </a:xfrm>
          <a:prstGeom prst="roundRect">
            <a:avLst>
              <a:gd name="adj" fmla="val 5152"/>
            </a:avLst>
          </a:prstGeom>
          <a:solidFill>
            <a:schemeClr val="bg1"/>
          </a:solidFill>
          <a:ln>
            <a:solidFill>
              <a:srgbClr val="4A66A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7272" name="TextBox 7271">
            <a:extLst>
              <a:ext uri="{FF2B5EF4-FFF2-40B4-BE49-F238E27FC236}">
                <a16:creationId xmlns:a16="http://schemas.microsoft.com/office/drawing/2014/main" id="{FE1FCA42-D74F-F3A1-6E8F-FC380B7F4215}"/>
              </a:ext>
            </a:extLst>
          </p:cNvPr>
          <p:cNvSpPr txBox="1"/>
          <p:nvPr/>
        </p:nvSpPr>
        <p:spPr>
          <a:xfrm>
            <a:off x="6250905" y="-3254819"/>
            <a:ext cx="2206440" cy="2546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US" sz="1400" b="1" noProof="0">
                <a:solidFill>
                  <a:srgbClr val="297FD5"/>
                </a:solidFill>
              </a:rPr>
              <a:t>Fan Experience</a:t>
            </a:r>
          </a:p>
        </p:txBody>
      </p:sp>
      <p:sp>
        <p:nvSpPr>
          <p:cNvPr id="7273" name="TextBox 7272">
            <a:extLst>
              <a:ext uri="{FF2B5EF4-FFF2-40B4-BE49-F238E27FC236}">
                <a16:creationId xmlns:a16="http://schemas.microsoft.com/office/drawing/2014/main" id="{1DA51C34-48EB-C7F1-8FB0-761DDFF53DBB}"/>
              </a:ext>
            </a:extLst>
          </p:cNvPr>
          <p:cNvSpPr txBox="1"/>
          <p:nvPr/>
        </p:nvSpPr>
        <p:spPr>
          <a:xfrm>
            <a:off x="6974251" y="-2228122"/>
            <a:ext cx="1330290" cy="48327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5400"/>
              </a:spcAft>
            </a:pPr>
            <a:r>
              <a:rPr lang="en-US" sz="1200" b="1">
                <a:solidFill>
                  <a:schemeClr val="tx1"/>
                </a:solidFill>
              </a:rPr>
              <a:t>Raw Survey Data</a:t>
            </a:r>
          </a:p>
        </p:txBody>
      </p:sp>
      <p:sp>
        <p:nvSpPr>
          <p:cNvPr id="7274" name="TextBox 7273">
            <a:extLst>
              <a:ext uri="{FF2B5EF4-FFF2-40B4-BE49-F238E27FC236}">
                <a16:creationId xmlns:a16="http://schemas.microsoft.com/office/drawing/2014/main" id="{4ED2731C-C523-EC9A-792F-1313A67852EC}"/>
              </a:ext>
            </a:extLst>
          </p:cNvPr>
          <p:cNvSpPr txBox="1"/>
          <p:nvPr/>
        </p:nvSpPr>
        <p:spPr>
          <a:xfrm>
            <a:off x="6975251" y="-1019903"/>
            <a:ext cx="1330290" cy="48327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5400"/>
              </a:spcAft>
            </a:pPr>
            <a:r>
              <a:rPr lang="en-US" sz="1200" b="1">
                <a:solidFill>
                  <a:schemeClr val="tx1"/>
                </a:solidFill>
              </a:rPr>
              <a:t>Integrated data*</a:t>
            </a:r>
          </a:p>
        </p:txBody>
      </p:sp>
      <p:sp>
        <p:nvSpPr>
          <p:cNvPr id="7275" name="TextBox 7274">
            <a:extLst>
              <a:ext uri="{FF2B5EF4-FFF2-40B4-BE49-F238E27FC236}">
                <a16:creationId xmlns:a16="http://schemas.microsoft.com/office/drawing/2014/main" id="{4440648E-F5C7-2A7A-9A00-D7E4B13DEF87}"/>
              </a:ext>
            </a:extLst>
          </p:cNvPr>
          <p:cNvSpPr txBox="1"/>
          <p:nvPr/>
        </p:nvSpPr>
        <p:spPr>
          <a:xfrm>
            <a:off x="6974251" y="-1624012"/>
            <a:ext cx="1330290" cy="48327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5400"/>
              </a:spcAft>
            </a:pPr>
            <a:r>
              <a:rPr lang="en-US" sz="1200" b="1">
                <a:solidFill>
                  <a:schemeClr val="tx1"/>
                </a:solidFill>
              </a:rPr>
              <a:t>Data correlations*</a:t>
            </a:r>
          </a:p>
        </p:txBody>
      </p:sp>
      <p:sp>
        <p:nvSpPr>
          <p:cNvPr id="7276" name="TextBox 7275">
            <a:extLst>
              <a:ext uri="{FF2B5EF4-FFF2-40B4-BE49-F238E27FC236}">
                <a16:creationId xmlns:a16="http://schemas.microsoft.com/office/drawing/2014/main" id="{6F494973-9834-6057-AA1E-F62374E1A50D}"/>
              </a:ext>
            </a:extLst>
          </p:cNvPr>
          <p:cNvSpPr txBox="1"/>
          <p:nvPr/>
        </p:nvSpPr>
        <p:spPr>
          <a:xfrm>
            <a:off x="6974251" y="-2832232"/>
            <a:ext cx="1330290" cy="48327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5400"/>
              </a:spcAft>
            </a:pPr>
            <a:r>
              <a:rPr lang="en-US" sz="1200" b="1">
                <a:solidFill>
                  <a:schemeClr val="tx1"/>
                </a:solidFill>
              </a:rPr>
              <a:t>Fan Survey Questions</a:t>
            </a:r>
          </a:p>
        </p:txBody>
      </p:sp>
      <p:sp>
        <p:nvSpPr>
          <p:cNvPr id="7277" name="Rectangle: Rounded Corners 7276">
            <a:extLst>
              <a:ext uri="{FF2B5EF4-FFF2-40B4-BE49-F238E27FC236}">
                <a16:creationId xmlns:a16="http://schemas.microsoft.com/office/drawing/2014/main" id="{6CA19991-F7AA-27D1-0D95-4BC179237307}"/>
              </a:ext>
            </a:extLst>
          </p:cNvPr>
          <p:cNvSpPr/>
          <p:nvPr/>
        </p:nvSpPr>
        <p:spPr>
          <a:xfrm>
            <a:off x="8815107" y="2788949"/>
            <a:ext cx="1628507" cy="68403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Survey Ingestion</a:t>
            </a:r>
          </a:p>
        </p:txBody>
      </p:sp>
      <p:sp>
        <p:nvSpPr>
          <p:cNvPr id="7278" name="Rectangle: Rounded Corners 7277">
            <a:extLst>
              <a:ext uri="{FF2B5EF4-FFF2-40B4-BE49-F238E27FC236}">
                <a16:creationId xmlns:a16="http://schemas.microsoft.com/office/drawing/2014/main" id="{6D9DD211-4148-43D0-BD9E-A30016943FD1}"/>
              </a:ext>
            </a:extLst>
          </p:cNvPr>
          <p:cNvSpPr/>
          <p:nvPr/>
        </p:nvSpPr>
        <p:spPr>
          <a:xfrm>
            <a:off x="8826232" y="1580412"/>
            <a:ext cx="1628507" cy="68403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Survey Development</a:t>
            </a:r>
          </a:p>
        </p:txBody>
      </p:sp>
      <p:sp>
        <p:nvSpPr>
          <p:cNvPr id="7279" name="Rectangle: Rounded Corners 7278">
            <a:extLst>
              <a:ext uri="{FF2B5EF4-FFF2-40B4-BE49-F238E27FC236}">
                <a16:creationId xmlns:a16="http://schemas.microsoft.com/office/drawing/2014/main" id="{7BFAAF22-8342-ADD3-B0D0-34EA2DC55CC1}"/>
              </a:ext>
            </a:extLst>
          </p:cNvPr>
          <p:cNvSpPr/>
          <p:nvPr/>
        </p:nvSpPr>
        <p:spPr>
          <a:xfrm>
            <a:off x="8815107" y="3997486"/>
            <a:ext cx="1628507" cy="68403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Back-end Business Logic</a:t>
            </a:r>
          </a:p>
        </p:txBody>
      </p:sp>
      <p:sp>
        <p:nvSpPr>
          <p:cNvPr id="7281" name="Rectangle: Rounded Corners 7280">
            <a:extLst>
              <a:ext uri="{FF2B5EF4-FFF2-40B4-BE49-F238E27FC236}">
                <a16:creationId xmlns:a16="http://schemas.microsoft.com/office/drawing/2014/main" id="{7B33E87C-C18B-BD5A-C925-13D9D1A0389F}"/>
              </a:ext>
            </a:extLst>
          </p:cNvPr>
          <p:cNvSpPr/>
          <p:nvPr/>
        </p:nvSpPr>
        <p:spPr>
          <a:xfrm>
            <a:off x="8841373" y="5206024"/>
            <a:ext cx="1628507" cy="68403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ctr"/>
            <a:r>
              <a:rPr lang="en-US" sz="1550" b="1" kern="0">
                <a:solidFill>
                  <a:schemeClr val="accent6">
                    <a:lumMod val="50000"/>
                  </a:schemeClr>
                </a:solidFill>
                <a:latin typeface="Graphik" panose="020B0503030202060203" pitchFamily="34" charset="0"/>
              </a:rPr>
              <a:t>Dashboard Outputs</a:t>
            </a:r>
          </a:p>
        </p:txBody>
      </p:sp>
      <p:sp>
        <p:nvSpPr>
          <p:cNvPr id="7282" name="Arrow: Right 7281">
            <a:extLst>
              <a:ext uri="{FF2B5EF4-FFF2-40B4-BE49-F238E27FC236}">
                <a16:creationId xmlns:a16="http://schemas.microsoft.com/office/drawing/2014/main" id="{3D0DA776-9D7A-F7E7-513A-ED21AF0313D3}"/>
              </a:ext>
            </a:extLst>
          </p:cNvPr>
          <p:cNvSpPr/>
          <p:nvPr/>
        </p:nvSpPr>
        <p:spPr>
          <a:xfrm rot="5400000">
            <a:off x="9433158" y="2372811"/>
            <a:ext cx="392402" cy="307777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Graphik" panose="020B0503030202060203" pitchFamily="34" charset="0"/>
            </a:endParaRPr>
          </a:p>
        </p:txBody>
      </p:sp>
      <p:sp>
        <p:nvSpPr>
          <p:cNvPr id="7283" name="Arrow: Right 7282">
            <a:extLst>
              <a:ext uri="{FF2B5EF4-FFF2-40B4-BE49-F238E27FC236}">
                <a16:creationId xmlns:a16="http://schemas.microsoft.com/office/drawing/2014/main" id="{31EE1A6D-CED7-ECA6-D7C0-6524BAD4BB6D}"/>
              </a:ext>
            </a:extLst>
          </p:cNvPr>
          <p:cNvSpPr/>
          <p:nvPr/>
        </p:nvSpPr>
        <p:spPr>
          <a:xfrm rot="5400000">
            <a:off x="9433158" y="3581348"/>
            <a:ext cx="392402" cy="307777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Graphik" panose="020B0503030202060203" pitchFamily="34" charset="0"/>
            </a:endParaRPr>
          </a:p>
        </p:txBody>
      </p:sp>
      <p:sp>
        <p:nvSpPr>
          <p:cNvPr id="7284" name="Arrow: Right 7283">
            <a:extLst>
              <a:ext uri="{FF2B5EF4-FFF2-40B4-BE49-F238E27FC236}">
                <a16:creationId xmlns:a16="http://schemas.microsoft.com/office/drawing/2014/main" id="{5F76C068-2D85-BED2-63FD-5EBA152AE3EB}"/>
              </a:ext>
            </a:extLst>
          </p:cNvPr>
          <p:cNvSpPr/>
          <p:nvPr/>
        </p:nvSpPr>
        <p:spPr>
          <a:xfrm rot="5400000">
            <a:off x="9433158" y="4789885"/>
            <a:ext cx="392402" cy="307777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Graphik" panose="020B0503030202060203" pitchFamily="34" charset="0"/>
            </a:endParaRPr>
          </a:p>
        </p:txBody>
      </p:sp>
      <p:pic>
        <p:nvPicPr>
          <p:cNvPr id="7285" name="Picture 7284">
            <a:extLst>
              <a:ext uri="{FF2B5EF4-FFF2-40B4-BE49-F238E27FC236}">
                <a16:creationId xmlns:a16="http://schemas.microsoft.com/office/drawing/2014/main" id="{0428F476-CFCF-7F2F-7E21-7C36B1B073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3131" y="5290875"/>
            <a:ext cx="891664" cy="50069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298" name="Group 78">
            <a:extLst>
              <a:ext uri="{FF2B5EF4-FFF2-40B4-BE49-F238E27FC236}">
                <a16:creationId xmlns:a16="http://schemas.microsoft.com/office/drawing/2014/main" id="{A7B2AB4D-5918-D310-111A-237E2E5603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38401" y="2916706"/>
            <a:ext cx="332545" cy="442701"/>
            <a:chOff x="5561" y="440"/>
            <a:chExt cx="320" cy="426"/>
          </a:xfrm>
          <a:solidFill>
            <a:srgbClr val="000000"/>
          </a:solidFill>
        </p:grpSpPr>
        <p:sp>
          <p:nvSpPr>
            <p:cNvPr id="7299" name="Freeform 79">
              <a:extLst>
                <a:ext uri="{FF2B5EF4-FFF2-40B4-BE49-F238E27FC236}">
                  <a16:creationId xmlns:a16="http://schemas.microsoft.com/office/drawing/2014/main" id="{B9EF00A0-EB17-CC35-BCE4-7DC24ACD2E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1" y="440"/>
              <a:ext cx="320" cy="426"/>
            </a:xfrm>
            <a:custGeom>
              <a:avLst/>
              <a:gdLst>
                <a:gd name="T0" fmla="*/ 210 w 216"/>
                <a:gd name="T1" fmla="*/ 288 h 288"/>
                <a:gd name="T2" fmla="*/ 6 w 216"/>
                <a:gd name="T3" fmla="*/ 288 h 288"/>
                <a:gd name="T4" fmla="*/ 0 w 216"/>
                <a:gd name="T5" fmla="*/ 282 h 288"/>
                <a:gd name="T6" fmla="*/ 0 w 216"/>
                <a:gd name="T7" fmla="*/ 6 h 288"/>
                <a:gd name="T8" fmla="*/ 6 w 216"/>
                <a:gd name="T9" fmla="*/ 0 h 288"/>
                <a:gd name="T10" fmla="*/ 138 w 216"/>
                <a:gd name="T11" fmla="*/ 0 h 288"/>
                <a:gd name="T12" fmla="*/ 142 w 216"/>
                <a:gd name="T13" fmla="*/ 2 h 288"/>
                <a:gd name="T14" fmla="*/ 214 w 216"/>
                <a:gd name="T15" fmla="*/ 74 h 288"/>
                <a:gd name="T16" fmla="*/ 216 w 216"/>
                <a:gd name="T17" fmla="*/ 78 h 288"/>
                <a:gd name="T18" fmla="*/ 216 w 216"/>
                <a:gd name="T19" fmla="*/ 282 h 288"/>
                <a:gd name="T20" fmla="*/ 210 w 216"/>
                <a:gd name="T21" fmla="*/ 288 h 288"/>
                <a:gd name="T22" fmla="*/ 12 w 216"/>
                <a:gd name="T23" fmla="*/ 276 h 288"/>
                <a:gd name="T24" fmla="*/ 204 w 216"/>
                <a:gd name="T25" fmla="*/ 276 h 288"/>
                <a:gd name="T26" fmla="*/ 204 w 216"/>
                <a:gd name="T27" fmla="*/ 81 h 288"/>
                <a:gd name="T28" fmla="*/ 136 w 216"/>
                <a:gd name="T29" fmla="*/ 12 h 288"/>
                <a:gd name="T30" fmla="*/ 12 w 216"/>
                <a:gd name="T31" fmla="*/ 12 h 288"/>
                <a:gd name="T32" fmla="*/ 12 w 216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6" h="288">
                  <a:moveTo>
                    <a:pt x="210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6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1" y="1"/>
                    <a:pt x="142" y="2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6" y="75"/>
                    <a:pt x="216" y="77"/>
                    <a:pt x="216" y="78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6"/>
                    <a:pt x="214" y="288"/>
                    <a:pt x="210" y="288"/>
                  </a:cubicBezTo>
                  <a:close/>
                  <a:moveTo>
                    <a:pt x="12" y="276"/>
                  </a:moveTo>
                  <a:cubicBezTo>
                    <a:pt x="204" y="276"/>
                    <a:pt x="204" y="276"/>
                    <a:pt x="204" y="276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0" name="Freeform 80">
              <a:extLst>
                <a:ext uri="{FF2B5EF4-FFF2-40B4-BE49-F238E27FC236}">
                  <a16:creationId xmlns:a16="http://schemas.microsoft.com/office/drawing/2014/main" id="{8C6C00B6-EF1B-5B97-2EF9-3A04B2D09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" y="440"/>
              <a:ext cx="124" cy="125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5"/>
                    <a:pt x="84" y="78"/>
                  </a:cubicBezTo>
                  <a:cubicBezTo>
                    <a:pt x="84" y="82"/>
                    <a:pt x="82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1" name="Freeform 81">
              <a:extLst>
                <a:ext uri="{FF2B5EF4-FFF2-40B4-BE49-F238E27FC236}">
                  <a16:creationId xmlns:a16="http://schemas.microsoft.com/office/drawing/2014/main" id="{47CC8719-8DE9-A8A3-4145-52EAE2A1E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18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2" name="Freeform 82">
              <a:extLst>
                <a:ext uri="{FF2B5EF4-FFF2-40B4-BE49-F238E27FC236}">
                  <a16:creationId xmlns:a16="http://schemas.microsoft.com/office/drawing/2014/main" id="{00796AA5-27F8-2279-D518-D925F2797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89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3" name="Freeform 83">
              <a:extLst>
                <a:ext uri="{FF2B5EF4-FFF2-40B4-BE49-F238E27FC236}">
                  <a16:creationId xmlns:a16="http://schemas.microsoft.com/office/drawing/2014/main" id="{F7E04359-1755-0A38-4946-E682294D3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760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4" name="Freeform 84">
              <a:extLst>
                <a:ext uri="{FF2B5EF4-FFF2-40B4-BE49-F238E27FC236}">
                  <a16:creationId xmlns:a16="http://schemas.microsoft.com/office/drawing/2014/main" id="{C91F67E1-B15B-2211-2A5C-E9FAC3F30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582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5" name="Freeform 85">
              <a:extLst>
                <a:ext uri="{FF2B5EF4-FFF2-40B4-BE49-F238E27FC236}">
                  <a16:creationId xmlns:a16="http://schemas.microsoft.com/office/drawing/2014/main" id="{14718046-6FE8-C416-C2D0-F3501999C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653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306" name="Freeform 86">
              <a:extLst>
                <a:ext uri="{FF2B5EF4-FFF2-40B4-BE49-F238E27FC236}">
                  <a16:creationId xmlns:a16="http://schemas.microsoft.com/office/drawing/2014/main" id="{C9894B83-8ECD-7472-51A3-F6B383F1F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724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  <p:grpSp>
        <p:nvGrpSpPr>
          <p:cNvPr id="7307" name="Group 139">
            <a:extLst>
              <a:ext uri="{FF2B5EF4-FFF2-40B4-BE49-F238E27FC236}">
                <a16:creationId xmlns:a16="http://schemas.microsoft.com/office/drawing/2014/main" id="{051CBEBD-7B5E-FF75-DD75-715C8B6C5DF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83323" y="1715138"/>
            <a:ext cx="442702" cy="442702"/>
            <a:chOff x="4479" y="1723"/>
            <a:chExt cx="426" cy="426"/>
          </a:xfrm>
          <a:solidFill>
            <a:srgbClr val="000000"/>
          </a:solidFill>
        </p:grpSpPr>
        <p:sp>
          <p:nvSpPr>
            <p:cNvPr id="7308" name="Freeform 140">
              <a:extLst>
                <a:ext uri="{FF2B5EF4-FFF2-40B4-BE49-F238E27FC236}">
                  <a16:creationId xmlns:a16="http://schemas.microsoft.com/office/drawing/2014/main" id="{38D46C64-9876-79D9-EC0B-74CC59F0B9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2" y="1936"/>
              <a:ext cx="213" cy="213"/>
            </a:xfrm>
            <a:custGeom>
              <a:avLst/>
              <a:gdLst>
                <a:gd name="T0" fmla="*/ 6 w 144"/>
                <a:gd name="T1" fmla="*/ 144 h 144"/>
                <a:gd name="T2" fmla="*/ 2 w 144"/>
                <a:gd name="T3" fmla="*/ 143 h 144"/>
                <a:gd name="T4" fmla="*/ 1 w 144"/>
                <a:gd name="T5" fmla="*/ 137 h 144"/>
                <a:gd name="T6" fmla="*/ 13 w 144"/>
                <a:gd name="T7" fmla="*/ 95 h 144"/>
                <a:gd name="T8" fmla="*/ 14 w 144"/>
                <a:gd name="T9" fmla="*/ 92 h 144"/>
                <a:gd name="T10" fmla="*/ 104 w 144"/>
                <a:gd name="T11" fmla="*/ 2 h 144"/>
                <a:gd name="T12" fmla="*/ 113 w 144"/>
                <a:gd name="T13" fmla="*/ 2 h 144"/>
                <a:gd name="T14" fmla="*/ 143 w 144"/>
                <a:gd name="T15" fmla="*/ 32 h 144"/>
                <a:gd name="T16" fmla="*/ 144 w 144"/>
                <a:gd name="T17" fmla="*/ 36 h 144"/>
                <a:gd name="T18" fmla="*/ 143 w 144"/>
                <a:gd name="T19" fmla="*/ 41 h 144"/>
                <a:gd name="T20" fmla="*/ 53 w 144"/>
                <a:gd name="T21" fmla="*/ 131 h 144"/>
                <a:gd name="T22" fmla="*/ 50 w 144"/>
                <a:gd name="T23" fmla="*/ 132 h 144"/>
                <a:gd name="T24" fmla="*/ 8 w 144"/>
                <a:gd name="T25" fmla="*/ 144 h 144"/>
                <a:gd name="T26" fmla="*/ 6 w 144"/>
                <a:gd name="T27" fmla="*/ 144 h 144"/>
                <a:gd name="T28" fmla="*/ 24 w 144"/>
                <a:gd name="T29" fmla="*/ 100 h 144"/>
                <a:gd name="T30" fmla="*/ 15 w 144"/>
                <a:gd name="T31" fmla="*/ 130 h 144"/>
                <a:gd name="T32" fmla="*/ 45 w 144"/>
                <a:gd name="T33" fmla="*/ 121 h 144"/>
                <a:gd name="T34" fmla="*/ 130 w 144"/>
                <a:gd name="T35" fmla="*/ 36 h 144"/>
                <a:gd name="T36" fmla="*/ 108 w 144"/>
                <a:gd name="T37" fmla="*/ 15 h 144"/>
                <a:gd name="T38" fmla="*/ 24 w 144"/>
                <a:gd name="T39" fmla="*/ 100 h 144"/>
                <a:gd name="T40" fmla="*/ 48 w 144"/>
                <a:gd name="T41" fmla="*/ 126 h 144"/>
                <a:gd name="T42" fmla="*/ 48 w 144"/>
                <a:gd name="T43" fmla="*/ 12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4" h="144">
                  <a:moveTo>
                    <a:pt x="6" y="144"/>
                  </a:moveTo>
                  <a:cubicBezTo>
                    <a:pt x="5" y="144"/>
                    <a:pt x="3" y="144"/>
                    <a:pt x="2" y="143"/>
                  </a:cubicBezTo>
                  <a:cubicBezTo>
                    <a:pt x="1" y="141"/>
                    <a:pt x="0" y="139"/>
                    <a:pt x="1" y="13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13" y="94"/>
                    <a:pt x="13" y="93"/>
                    <a:pt x="14" y="92"/>
                  </a:cubicBezTo>
                  <a:cubicBezTo>
                    <a:pt x="104" y="2"/>
                    <a:pt x="104" y="2"/>
                    <a:pt x="104" y="2"/>
                  </a:cubicBezTo>
                  <a:cubicBezTo>
                    <a:pt x="107" y="0"/>
                    <a:pt x="110" y="0"/>
                    <a:pt x="113" y="2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4" y="33"/>
                    <a:pt x="144" y="35"/>
                    <a:pt x="144" y="36"/>
                  </a:cubicBezTo>
                  <a:cubicBezTo>
                    <a:pt x="144" y="38"/>
                    <a:pt x="144" y="40"/>
                    <a:pt x="143" y="41"/>
                  </a:cubicBezTo>
                  <a:cubicBezTo>
                    <a:pt x="53" y="131"/>
                    <a:pt x="53" y="131"/>
                    <a:pt x="53" y="131"/>
                  </a:cubicBezTo>
                  <a:cubicBezTo>
                    <a:pt x="52" y="131"/>
                    <a:pt x="51" y="132"/>
                    <a:pt x="50" y="132"/>
                  </a:cubicBezTo>
                  <a:cubicBezTo>
                    <a:pt x="8" y="144"/>
                    <a:pt x="8" y="144"/>
                    <a:pt x="8" y="144"/>
                  </a:cubicBezTo>
                  <a:cubicBezTo>
                    <a:pt x="8" y="144"/>
                    <a:pt x="7" y="144"/>
                    <a:pt x="6" y="144"/>
                  </a:cubicBezTo>
                  <a:close/>
                  <a:moveTo>
                    <a:pt x="24" y="100"/>
                  </a:moveTo>
                  <a:cubicBezTo>
                    <a:pt x="15" y="130"/>
                    <a:pt x="15" y="130"/>
                    <a:pt x="15" y="130"/>
                  </a:cubicBezTo>
                  <a:cubicBezTo>
                    <a:pt x="45" y="121"/>
                    <a:pt x="45" y="121"/>
                    <a:pt x="45" y="121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08" y="15"/>
                    <a:pt x="108" y="15"/>
                    <a:pt x="108" y="15"/>
                  </a:cubicBezTo>
                  <a:lnTo>
                    <a:pt x="24" y="100"/>
                  </a:lnTo>
                  <a:close/>
                  <a:moveTo>
                    <a:pt x="48" y="126"/>
                  </a:moveTo>
                  <a:cubicBezTo>
                    <a:pt x="48" y="126"/>
                    <a:pt x="48" y="126"/>
                    <a:pt x="48" y="1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09" name="Freeform 141">
              <a:extLst>
                <a:ext uri="{FF2B5EF4-FFF2-40B4-BE49-F238E27FC236}">
                  <a16:creationId xmlns:a16="http://schemas.microsoft.com/office/drawing/2014/main" id="{464E1575-C9FF-B7D5-FDA4-FC02D5038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" y="1975"/>
              <a:ext cx="57" cy="57"/>
            </a:xfrm>
            <a:custGeom>
              <a:avLst/>
              <a:gdLst>
                <a:gd name="T0" fmla="*/ 44 w 57"/>
                <a:gd name="T1" fmla="*/ 57 h 57"/>
                <a:gd name="T2" fmla="*/ 0 w 57"/>
                <a:gd name="T3" fmla="*/ 13 h 57"/>
                <a:gd name="T4" fmla="*/ 13 w 57"/>
                <a:gd name="T5" fmla="*/ 0 h 57"/>
                <a:gd name="T6" fmla="*/ 57 w 57"/>
                <a:gd name="T7" fmla="*/ 44 h 57"/>
                <a:gd name="T8" fmla="*/ 44 w 57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7">
                  <a:moveTo>
                    <a:pt x="44" y="57"/>
                  </a:moveTo>
                  <a:lnTo>
                    <a:pt x="0" y="13"/>
                  </a:lnTo>
                  <a:lnTo>
                    <a:pt x="13" y="0"/>
                  </a:lnTo>
                  <a:lnTo>
                    <a:pt x="57" y="44"/>
                  </a:lnTo>
                  <a:lnTo>
                    <a:pt x="44" y="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10" name="Freeform 142">
              <a:extLst>
                <a:ext uri="{FF2B5EF4-FFF2-40B4-BE49-F238E27FC236}">
                  <a16:creationId xmlns:a16="http://schemas.microsoft.com/office/drawing/2014/main" id="{34EFD316-097D-1C8F-EBA2-1D9751BF5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0" y="2069"/>
              <a:ext cx="64" cy="62"/>
            </a:xfrm>
            <a:custGeom>
              <a:avLst/>
              <a:gdLst>
                <a:gd name="T0" fmla="*/ 36 w 43"/>
                <a:gd name="T1" fmla="*/ 42 h 42"/>
                <a:gd name="T2" fmla="*/ 32 w 43"/>
                <a:gd name="T3" fmla="*/ 41 h 42"/>
                <a:gd name="T4" fmla="*/ 2 w 43"/>
                <a:gd name="T5" fmla="*/ 11 h 42"/>
                <a:gd name="T6" fmla="*/ 2 w 43"/>
                <a:gd name="T7" fmla="*/ 2 h 42"/>
                <a:gd name="T8" fmla="*/ 11 w 43"/>
                <a:gd name="T9" fmla="*/ 2 h 42"/>
                <a:gd name="T10" fmla="*/ 41 w 43"/>
                <a:gd name="T11" fmla="*/ 32 h 42"/>
                <a:gd name="T12" fmla="*/ 41 w 43"/>
                <a:gd name="T13" fmla="*/ 41 h 42"/>
                <a:gd name="T14" fmla="*/ 36 w 43"/>
                <a:gd name="T1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2">
                  <a:moveTo>
                    <a:pt x="36" y="42"/>
                  </a:moveTo>
                  <a:cubicBezTo>
                    <a:pt x="35" y="42"/>
                    <a:pt x="33" y="42"/>
                    <a:pt x="32" y="4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3" y="35"/>
                    <a:pt x="43" y="38"/>
                    <a:pt x="41" y="41"/>
                  </a:cubicBezTo>
                  <a:cubicBezTo>
                    <a:pt x="39" y="42"/>
                    <a:pt x="38" y="42"/>
                    <a:pt x="36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11" name="Freeform 143">
              <a:extLst>
                <a:ext uri="{FF2B5EF4-FFF2-40B4-BE49-F238E27FC236}">
                  <a16:creationId xmlns:a16="http://schemas.microsoft.com/office/drawing/2014/main" id="{E0C2CC63-B4AA-0539-8802-7D1E29B46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" y="1777"/>
              <a:ext cx="187" cy="337"/>
            </a:xfrm>
            <a:custGeom>
              <a:avLst/>
              <a:gdLst>
                <a:gd name="T0" fmla="*/ 120 w 126"/>
                <a:gd name="T1" fmla="*/ 228 h 228"/>
                <a:gd name="T2" fmla="*/ 30 w 126"/>
                <a:gd name="T3" fmla="*/ 228 h 228"/>
                <a:gd name="T4" fmla="*/ 0 w 126"/>
                <a:gd name="T5" fmla="*/ 198 h 228"/>
                <a:gd name="T6" fmla="*/ 0 w 126"/>
                <a:gd name="T7" fmla="*/ 6 h 228"/>
                <a:gd name="T8" fmla="*/ 6 w 126"/>
                <a:gd name="T9" fmla="*/ 0 h 228"/>
                <a:gd name="T10" fmla="*/ 54 w 126"/>
                <a:gd name="T11" fmla="*/ 0 h 228"/>
                <a:gd name="T12" fmla="*/ 60 w 126"/>
                <a:gd name="T13" fmla="*/ 6 h 228"/>
                <a:gd name="T14" fmla="*/ 54 w 126"/>
                <a:gd name="T15" fmla="*/ 12 h 228"/>
                <a:gd name="T16" fmla="*/ 12 w 126"/>
                <a:gd name="T17" fmla="*/ 12 h 228"/>
                <a:gd name="T18" fmla="*/ 12 w 126"/>
                <a:gd name="T19" fmla="*/ 198 h 228"/>
                <a:gd name="T20" fmla="*/ 30 w 126"/>
                <a:gd name="T21" fmla="*/ 216 h 228"/>
                <a:gd name="T22" fmla="*/ 120 w 126"/>
                <a:gd name="T23" fmla="*/ 216 h 228"/>
                <a:gd name="T24" fmla="*/ 126 w 126"/>
                <a:gd name="T25" fmla="*/ 222 h 228"/>
                <a:gd name="T26" fmla="*/ 120 w 126"/>
                <a:gd name="T27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6" h="228">
                  <a:moveTo>
                    <a:pt x="120" y="228"/>
                  </a:moveTo>
                  <a:cubicBezTo>
                    <a:pt x="30" y="228"/>
                    <a:pt x="30" y="228"/>
                    <a:pt x="30" y="228"/>
                  </a:cubicBezTo>
                  <a:cubicBezTo>
                    <a:pt x="14" y="228"/>
                    <a:pt x="0" y="215"/>
                    <a:pt x="0" y="19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98"/>
                    <a:pt x="12" y="198"/>
                    <a:pt x="12" y="198"/>
                  </a:cubicBezTo>
                  <a:cubicBezTo>
                    <a:pt x="12" y="208"/>
                    <a:pt x="21" y="216"/>
                    <a:pt x="30" y="216"/>
                  </a:cubicBezTo>
                  <a:cubicBezTo>
                    <a:pt x="120" y="216"/>
                    <a:pt x="120" y="216"/>
                    <a:pt x="120" y="216"/>
                  </a:cubicBezTo>
                  <a:cubicBezTo>
                    <a:pt x="124" y="216"/>
                    <a:pt x="126" y="219"/>
                    <a:pt x="126" y="222"/>
                  </a:cubicBezTo>
                  <a:cubicBezTo>
                    <a:pt x="126" y="226"/>
                    <a:pt x="124" y="228"/>
                    <a:pt x="120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12" name="Freeform 144">
              <a:extLst>
                <a:ext uri="{FF2B5EF4-FFF2-40B4-BE49-F238E27FC236}">
                  <a16:creationId xmlns:a16="http://schemas.microsoft.com/office/drawing/2014/main" id="{626E0C86-7EB2-1427-8224-C560EC39E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1812"/>
              <a:ext cx="142" cy="266"/>
            </a:xfrm>
            <a:custGeom>
              <a:avLst/>
              <a:gdLst>
                <a:gd name="T0" fmla="*/ 90 w 96"/>
                <a:gd name="T1" fmla="*/ 180 h 180"/>
                <a:gd name="T2" fmla="*/ 6 w 96"/>
                <a:gd name="T3" fmla="*/ 180 h 180"/>
                <a:gd name="T4" fmla="*/ 0 w 96"/>
                <a:gd name="T5" fmla="*/ 174 h 180"/>
                <a:gd name="T6" fmla="*/ 0 w 96"/>
                <a:gd name="T7" fmla="*/ 6 h 180"/>
                <a:gd name="T8" fmla="*/ 6 w 96"/>
                <a:gd name="T9" fmla="*/ 0 h 180"/>
                <a:gd name="T10" fmla="*/ 30 w 96"/>
                <a:gd name="T11" fmla="*/ 0 h 180"/>
                <a:gd name="T12" fmla="*/ 36 w 96"/>
                <a:gd name="T13" fmla="*/ 6 h 180"/>
                <a:gd name="T14" fmla="*/ 30 w 96"/>
                <a:gd name="T15" fmla="*/ 12 h 180"/>
                <a:gd name="T16" fmla="*/ 12 w 96"/>
                <a:gd name="T17" fmla="*/ 12 h 180"/>
                <a:gd name="T18" fmla="*/ 12 w 96"/>
                <a:gd name="T19" fmla="*/ 168 h 180"/>
                <a:gd name="T20" fmla="*/ 90 w 96"/>
                <a:gd name="T21" fmla="*/ 168 h 180"/>
                <a:gd name="T22" fmla="*/ 96 w 96"/>
                <a:gd name="T23" fmla="*/ 174 h 180"/>
                <a:gd name="T24" fmla="*/ 90 w 96"/>
                <a:gd name="T25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180">
                  <a:moveTo>
                    <a:pt x="90" y="180"/>
                  </a:moveTo>
                  <a:cubicBezTo>
                    <a:pt x="6" y="180"/>
                    <a:pt x="6" y="180"/>
                    <a:pt x="6" y="180"/>
                  </a:cubicBezTo>
                  <a:cubicBezTo>
                    <a:pt x="3" y="180"/>
                    <a:pt x="0" y="178"/>
                    <a:pt x="0" y="17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10"/>
                    <a:pt x="34" y="12"/>
                    <a:pt x="3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68"/>
                    <a:pt x="12" y="168"/>
                    <a:pt x="12" y="168"/>
                  </a:cubicBezTo>
                  <a:cubicBezTo>
                    <a:pt x="90" y="168"/>
                    <a:pt x="90" y="168"/>
                    <a:pt x="90" y="168"/>
                  </a:cubicBezTo>
                  <a:cubicBezTo>
                    <a:pt x="94" y="168"/>
                    <a:pt x="96" y="171"/>
                    <a:pt x="96" y="174"/>
                  </a:cubicBezTo>
                  <a:cubicBezTo>
                    <a:pt x="96" y="178"/>
                    <a:pt x="94" y="180"/>
                    <a:pt x="90" y="1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13" name="Freeform 145">
              <a:extLst>
                <a:ext uri="{FF2B5EF4-FFF2-40B4-BE49-F238E27FC236}">
                  <a16:creationId xmlns:a16="http://schemas.microsoft.com/office/drawing/2014/main" id="{F9D1BF1C-BBF3-50DC-9C66-875F483C5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1777"/>
              <a:ext cx="89" cy="133"/>
            </a:xfrm>
            <a:custGeom>
              <a:avLst/>
              <a:gdLst>
                <a:gd name="T0" fmla="*/ 54 w 60"/>
                <a:gd name="T1" fmla="*/ 90 h 90"/>
                <a:gd name="T2" fmla="*/ 48 w 60"/>
                <a:gd name="T3" fmla="*/ 84 h 90"/>
                <a:gd name="T4" fmla="*/ 48 w 60"/>
                <a:gd name="T5" fmla="*/ 12 h 90"/>
                <a:gd name="T6" fmla="*/ 6 w 60"/>
                <a:gd name="T7" fmla="*/ 12 h 90"/>
                <a:gd name="T8" fmla="*/ 0 w 60"/>
                <a:gd name="T9" fmla="*/ 6 h 90"/>
                <a:gd name="T10" fmla="*/ 6 w 60"/>
                <a:gd name="T11" fmla="*/ 0 h 90"/>
                <a:gd name="T12" fmla="*/ 54 w 60"/>
                <a:gd name="T13" fmla="*/ 0 h 90"/>
                <a:gd name="T14" fmla="*/ 60 w 60"/>
                <a:gd name="T15" fmla="*/ 6 h 90"/>
                <a:gd name="T16" fmla="*/ 60 w 60"/>
                <a:gd name="T17" fmla="*/ 84 h 90"/>
                <a:gd name="T18" fmla="*/ 54 w 60"/>
                <a:gd name="T1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90">
                  <a:moveTo>
                    <a:pt x="54" y="90"/>
                  </a:moveTo>
                  <a:cubicBezTo>
                    <a:pt x="51" y="90"/>
                    <a:pt x="48" y="88"/>
                    <a:pt x="48" y="84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60" y="88"/>
                    <a:pt x="58" y="90"/>
                    <a:pt x="54" y="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14" name="Freeform 146">
              <a:extLst>
                <a:ext uri="{FF2B5EF4-FFF2-40B4-BE49-F238E27FC236}">
                  <a16:creationId xmlns:a16="http://schemas.microsoft.com/office/drawing/2014/main" id="{7D3D9922-147B-C4D7-DE91-88FFC74DA9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0" y="1723"/>
              <a:ext cx="160" cy="125"/>
            </a:xfrm>
            <a:custGeom>
              <a:avLst/>
              <a:gdLst>
                <a:gd name="T0" fmla="*/ 102 w 108"/>
                <a:gd name="T1" fmla="*/ 84 h 84"/>
                <a:gd name="T2" fmla="*/ 6 w 108"/>
                <a:gd name="T3" fmla="*/ 84 h 84"/>
                <a:gd name="T4" fmla="*/ 0 w 108"/>
                <a:gd name="T5" fmla="*/ 78 h 84"/>
                <a:gd name="T6" fmla="*/ 0 w 108"/>
                <a:gd name="T7" fmla="*/ 30 h 84"/>
                <a:gd name="T8" fmla="*/ 6 w 108"/>
                <a:gd name="T9" fmla="*/ 24 h 84"/>
                <a:gd name="T10" fmla="*/ 25 w 108"/>
                <a:gd name="T11" fmla="*/ 24 h 84"/>
                <a:gd name="T12" fmla="*/ 54 w 108"/>
                <a:gd name="T13" fmla="*/ 0 h 84"/>
                <a:gd name="T14" fmla="*/ 84 w 108"/>
                <a:gd name="T15" fmla="*/ 24 h 84"/>
                <a:gd name="T16" fmla="*/ 102 w 108"/>
                <a:gd name="T17" fmla="*/ 24 h 84"/>
                <a:gd name="T18" fmla="*/ 108 w 108"/>
                <a:gd name="T19" fmla="*/ 30 h 84"/>
                <a:gd name="T20" fmla="*/ 108 w 108"/>
                <a:gd name="T21" fmla="*/ 78 h 84"/>
                <a:gd name="T22" fmla="*/ 102 w 108"/>
                <a:gd name="T23" fmla="*/ 84 h 84"/>
                <a:gd name="T24" fmla="*/ 12 w 108"/>
                <a:gd name="T25" fmla="*/ 72 h 84"/>
                <a:gd name="T26" fmla="*/ 96 w 108"/>
                <a:gd name="T27" fmla="*/ 72 h 84"/>
                <a:gd name="T28" fmla="*/ 96 w 108"/>
                <a:gd name="T29" fmla="*/ 36 h 84"/>
                <a:gd name="T30" fmla="*/ 78 w 108"/>
                <a:gd name="T31" fmla="*/ 36 h 84"/>
                <a:gd name="T32" fmla="*/ 72 w 108"/>
                <a:gd name="T33" fmla="*/ 30 h 84"/>
                <a:gd name="T34" fmla="*/ 54 w 108"/>
                <a:gd name="T35" fmla="*/ 12 h 84"/>
                <a:gd name="T36" fmla="*/ 36 w 108"/>
                <a:gd name="T37" fmla="*/ 30 h 84"/>
                <a:gd name="T38" fmla="*/ 30 w 108"/>
                <a:gd name="T39" fmla="*/ 36 h 84"/>
                <a:gd name="T40" fmla="*/ 12 w 108"/>
                <a:gd name="T41" fmla="*/ 36 h 84"/>
                <a:gd name="T42" fmla="*/ 12 w 108"/>
                <a:gd name="T43" fmla="*/ 72 h 84"/>
                <a:gd name="T44" fmla="*/ 84 w 108"/>
                <a:gd name="T45" fmla="*/ 30 h 84"/>
                <a:gd name="T46" fmla="*/ 84 w 108"/>
                <a:gd name="T47" fmla="*/ 3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8" h="84">
                  <a:moveTo>
                    <a:pt x="102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7"/>
                    <a:pt x="3" y="24"/>
                    <a:pt x="6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7" y="12"/>
                    <a:pt x="37" y="0"/>
                    <a:pt x="54" y="0"/>
                  </a:cubicBezTo>
                  <a:cubicBezTo>
                    <a:pt x="72" y="0"/>
                    <a:pt x="82" y="12"/>
                    <a:pt x="84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6" y="24"/>
                    <a:pt x="108" y="27"/>
                    <a:pt x="108" y="30"/>
                  </a:cubicBezTo>
                  <a:cubicBezTo>
                    <a:pt x="108" y="78"/>
                    <a:pt x="108" y="78"/>
                    <a:pt x="108" y="78"/>
                  </a:cubicBezTo>
                  <a:cubicBezTo>
                    <a:pt x="108" y="82"/>
                    <a:pt x="106" y="84"/>
                    <a:pt x="102" y="84"/>
                  </a:cubicBezTo>
                  <a:close/>
                  <a:moveTo>
                    <a:pt x="12" y="72"/>
                  </a:moveTo>
                  <a:cubicBezTo>
                    <a:pt x="96" y="72"/>
                    <a:pt x="96" y="72"/>
                    <a:pt x="96" y="72"/>
                  </a:cubicBezTo>
                  <a:cubicBezTo>
                    <a:pt x="96" y="36"/>
                    <a:pt x="96" y="36"/>
                    <a:pt x="96" y="36"/>
                  </a:cubicBezTo>
                  <a:cubicBezTo>
                    <a:pt x="78" y="36"/>
                    <a:pt x="78" y="36"/>
                    <a:pt x="78" y="36"/>
                  </a:cubicBezTo>
                  <a:cubicBezTo>
                    <a:pt x="75" y="36"/>
                    <a:pt x="72" y="34"/>
                    <a:pt x="72" y="30"/>
                  </a:cubicBezTo>
                  <a:cubicBezTo>
                    <a:pt x="72" y="29"/>
                    <a:pt x="72" y="12"/>
                    <a:pt x="54" y="12"/>
                  </a:cubicBezTo>
                  <a:cubicBezTo>
                    <a:pt x="37" y="12"/>
                    <a:pt x="36" y="29"/>
                    <a:pt x="36" y="30"/>
                  </a:cubicBezTo>
                  <a:cubicBezTo>
                    <a:pt x="36" y="34"/>
                    <a:pt x="34" y="36"/>
                    <a:pt x="30" y="36"/>
                  </a:cubicBezTo>
                  <a:cubicBezTo>
                    <a:pt x="12" y="36"/>
                    <a:pt x="12" y="36"/>
                    <a:pt x="12" y="36"/>
                  </a:cubicBezTo>
                  <a:lnTo>
                    <a:pt x="12" y="72"/>
                  </a:lnTo>
                  <a:close/>
                  <a:moveTo>
                    <a:pt x="84" y="30"/>
                  </a:moveTo>
                  <a:cubicBezTo>
                    <a:pt x="84" y="30"/>
                    <a:pt x="84" y="30"/>
                    <a:pt x="84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15" name="Freeform 147">
              <a:extLst>
                <a:ext uri="{FF2B5EF4-FFF2-40B4-BE49-F238E27FC236}">
                  <a16:creationId xmlns:a16="http://schemas.microsoft.com/office/drawing/2014/main" id="{746F4E71-D0FE-D3FD-A08F-A62C550CD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1812"/>
              <a:ext cx="53" cy="98"/>
            </a:xfrm>
            <a:custGeom>
              <a:avLst/>
              <a:gdLst>
                <a:gd name="T0" fmla="*/ 30 w 36"/>
                <a:gd name="T1" fmla="*/ 66 h 66"/>
                <a:gd name="T2" fmla="*/ 24 w 36"/>
                <a:gd name="T3" fmla="*/ 60 h 66"/>
                <a:gd name="T4" fmla="*/ 24 w 36"/>
                <a:gd name="T5" fmla="*/ 12 h 66"/>
                <a:gd name="T6" fmla="*/ 6 w 36"/>
                <a:gd name="T7" fmla="*/ 12 h 66"/>
                <a:gd name="T8" fmla="*/ 0 w 36"/>
                <a:gd name="T9" fmla="*/ 6 h 66"/>
                <a:gd name="T10" fmla="*/ 6 w 36"/>
                <a:gd name="T11" fmla="*/ 0 h 66"/>
                <a:gd name="T12" fmla="*/ 30 w 36"/>
                <a:gd name="T13" fmla="*/ 0 h 66"/>
                <a:gd name="T14" fmla="*/ 36 w 36"/>
                <a:gd name="T15" fmla="*/ 6 h 66"/>
                <a:gd name="T16" fmla="*/ 36 w 36"/>
                <a:gd name="T17" fmla="*/ 60 h 66"/>
                <a:gd name="T18" fmla="*/ 30 w 36"/>
                <a:gd name="T1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66">
                  <a:moveTo>
                    <a:pt x="30" y="66"/>
                  </a:moveTo>
                  <a:cubicBezTo>
                    <a:pt x="27" y="66"/>
                    <a:pt x="24" y="64"/>
                    <a:pt x="24" y="60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64"/>
                    <a:pt x="34" y="66"/>
                    <a:pt x="30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16" name="Freeform 148">
              <a:extLst>
                <a:ext uri="{FF2B5EF4-FFF2-40B4-BE49-F238E27FC236}">
                  <a16:creationId xmlns:a16="http://schemas.microsoft.com/office/drawing/2014/main" id="{A6F11810-D597-BEA2-482A-35FCE3679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1883"/>
              <a:ext cx="106" cy="18"/>
            </a:xfrm>
            <a:custGeom>
              <a:avLst/>
              <a:gdLst>
                <a:gd name="T0" fmla="*/ 66 w 72"/>
                <a:gd name="T1" fmla="*/ 12 h 12"/>
                <a:gd name="T2" fmla="*/ 6 w 72"/>
                <a:gd name="T3" fmla="*/ 12 h 12"/>
                <a:gd name="T4" fmla="*/ 0 w 72"/>
                <a:gd name="T5" fmla="*/ 6 h 12"/>
                <a:gd name="T6" fmla="*/ 6 w 72"/>
                <a:gd name="T7" fmla="*/ 0 h 12"/>
                <a:gd name="T8" fmla="*/ 66 w 72"/>
                <a:gd name="T9" fmla="*/ 0 h 12"/>
                <a:gd name="T10" fmla="*/ 72 w 72"/>
                <a:gd name="T11" fmla="*/ 6 h 12"/>
                <a:gd name="T12" fmla="*/ 66 w 7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12">
                  <a:moveTo>
                    <a:pt x="6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10"/>
                    <a:pt x="70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17" name="Freeform 149">
              <a:extLst>
                <a:ext uri="{FF2B5EF4-FFF2-40B4-BE49-F238E27FC236}">
                  <a16:creationId xmlns:a16="http://schemas.microsoft.com/office/drawing/2014/main" id="{2E52B502-321F-C022-9540-7B39C150E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1918"/>
              <a:ext cx="106" cy="18"/>
            </a:xfrm>
            <a:custGeom>
              <a:avLst/>
              <a:gdLst>
                <a:gd name="T0" fmla="*/ 66 w 72"/>
                <a:gd name="T1" fmla="*/ 12 h 12"/>
                <a:gd name="T2" fmla="*/ 6 w 72"/>
                <a:gd name="T3" fmla="*/ 12 h 12"/>
                <a:gd name="T4" fmla="*/ 0 w 72"/>
                <a:gd name="T5" fmla="*/ 6 h 12"/>
                <a:gd name="T6" fmla="*/ 6 w 72"/>
                <a:gd name="T7" fmla="*/ 0 h 12"/>
                <a:gd name="T8" fmla="*/ 66 w 72"/>
                <a:gd name="T9" fmla="*/ 0 h 12"/>
                <a:gd name="T10" fmla="*/ 72 w 72"/>
                <a:gd name="T11" fmla="*/ 6 h 12"/>
                <a:gd name="T12" fmla="*/ 66 w 7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12">
                  <a:moveTo>
                    <a:pt x="6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10"/>
                    <a:pt x="70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18" name="Freeform 150">
              <a:extLst>
                <a:ext uri="{FF2B5EF4-FFF2-40B4-BE49-F238E27FC236}">
                  <a16:creationId xmlns:a16="http://schemas.microsoft.com/office/drawing/2014/main" id="{64A51FB7-81D0-6C93-9D8F-B154310C5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1954"/>
              <a:ext cx="106" cy="18"/>
            </a:xfrm>
            <a:custGeom>
              <a:avLst/>
              <a:gdLst>
                <a:gd name="T0" fmla="*/ 66 w 72"/>
                <a:gd name="T1" fmla="*/ 12 h 12"/>
                <a:gd name="T2" fmla="*/ 6 w 72"/>
                <a:gd name="T3" fmla="*/ 12 h 12"/>
                <a:gd name="T4" fmla="*/ 0 w 72"/>
                <a:gd name="T5" fmla="*/ 6 h 12"/>
                <a:gd name="T6" fmla="*/ 6 w 72"/>
                <a:gd name="T7" fmla="*/ 0 h 12"/>
                <a:gd name="T8" fmla="*/ 66 w 72"/>
                <a:gd name="T9" fmla="*/ 0 h 12"/>
                <a:gd name="T10" fmla="*/ 72 w 72"/>
                <a:gd name="T11" fmla="*/ 6 h 12"/>
                <a:gd name="T12" fmla="*/ 66 w 7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12">
                  <a:moveTo>
                    <a:pt x="6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10"/>
                    <a:pt x="70" y="12"/>
                    <a:pt x="6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19" name="Freeform 151">
              <a:extLst>
                <a:ext uri="{FF2B5EF4-FFF2-40B4-BE49-F238E27FC236}">
                  <a16:creationId xmlns:a16="http://schemas.microsoft.com/office/drawing/2014/main" id="{4ACB307F-9786-E50F-3D29-2A27B31B1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1989"/>
              <a:ext cx="71" cy="18"/>
            </a:xfrm>
            <a:custGeom>
              <a:avLst/>
              <a:gdLst>
                <a:gd name="T0" fmla="*/ 42 w 48"/>
                <a:gd name="T1" fmla="*/ 12 h 12"/>
                <a:gd name="T2" fmla="*/ 6 w 48"/>
                <a:gd name="T3" fmla="*/ 12 h 12"/>
                <a:gd name="T4" fmla="*/ 0 w 48"/>
                <a:gd name="T5" fmla="*/ 6 h 12"/>
                <a:gd name="T6" fmla="*/ 6 w 48"/>
                <a:gd name="T7" fmla="*/ 0 h 12"/>
                <a:gd name="T8" fmla="*/ 42 w 48"/>
                <a:gd name="T9" fmla="*/ 0 h 12"/>
                <a:gd name="T10" fmla="*/ 48 w 48"/>
                <a:gd name="T11" fmla="*/ 6 h 12"/>
                <a:gd name="T12" fmla="*/ 42 w 4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12">
                  <a:moveTo>
                    <a:pt x="4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6" y="0"/>
                    <a:pt x="48" y="3"/>
                    <a:pt x="48" y="6"/>
                  </a:cubicBezTo>
                  <a:cubicBezTo>
                    <a:pt x="48" y="10"/>
                    <a:pt x="46" y="12"/>
                    <a:pt x="42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7325" name="Group 75">
            <a:extLst>
              <a:ext uri="{FF2B5EF4-FFF2-40B4-BE49-F238E27FC236}">
                <a16:creationId xmlns:a16="http://schemas.microsoft.com/office/drawing/2014/main" id="{FA829AAA-FC98-DC52-655A-B6F451C2C9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117283" y="4118273"/>
            <a:ext cx="388707" cy="466230"/>
            <a:chOff x="1405" y="1718"/>
            <a:chExt cx="356" cy="427"/>
          </a:xfrm>
          <a:solidFill>
            <a:srgbClr val="000000"/>
          </a:solidFill>
        </p:grpSpPr>
        <p:sp>
          <p:nvSpPr>
            <p:cNvPr id="7326" name="Freeform 76">
              <a:extLst>
                <a:ext uri="{FF2B5EF4-FFF2-40B4-BE49-F238E27FC236}">
                  <a16:creationId xmlns:a16="http://schemas.microsoft.com/office/drawing/2014/main" id="{6BD9783B-D9C0-3890-2836-1EAE2F4750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6" y="1878"/>
              <a:ext cx="212" cy="213"/>
            </a:xfrm>
            <a:custGeom>
              <a:avLst/>
              <a:gdLst>
                <a:gd name="T0" fmla="*/ 57 w 143"/>
                <a:gd name="T1" fmla="*/ 144 h 144"/>
                <a:gd name="T2" fmla="*/ 51 w 143"/>
                <a:gd name="T3" fmla="*/ 125 h 144"/>
                <a:gd name="T4" fmla="*/ 24 w 143"/>
                <a:gd name="T5" fmla="*/ 123 h 144"/>
                <a:gd name="T6" fmla="*/ 1 w 143"/>
                <a:gd name="T7" fmla="*/ 95 h 144"/>
                <a:gd name="T8" fmla="*/ 3 w 143"/>
                <a:gd name="T9" fmla="*/ 86 h 144"/>
                <a:gd name="T10" fmla="*/ 15 w 143"/>
                <a:gd name="T11" fmla="*/ 64 h 144"/>
                <a:gd name="T12" fmla="*/ 1 w 143"/>
                <a:gd name="T13" fmla="*/ 54 h 144"/>
                <a:gd name="T14" fmla="*/ 17 w 143"/>
                <a:gd name="T15" fmla="*/ 23 h 144"/>
                <a:gd name="T16" fmla="*/ 37 w 143"/>
                <a:gd name="T17" fmla="*/ 27 h 144"/>
                <a:gd name="T18" fmla="*/ 51 w 143"/>
                <a:gd name="T19" fmla="*/ 6 h 144"/>
                <a:gd name="T20" fmla="*/ 87 w 143"/>
                <a:gd name="T21" fmla="*/ 0 h 144"/>
                <a:gd name="T22" fmla="*/ 93 w 143"/>
                <a:gd name="T23" fmla="*/ 20 h 144"/>
                <a:gd name="T24" fmla="*/ 117 w 143"/>
                <a:gd name="T25" fmla="*/ 21 h 144"/>
                <a:gd name="T26" fmla="*/ 126 w 143"/>
                <a:gd name="T27" fmla="*/ 23 h 144"/>
                <a:gd name="T28" fmla="*/ 142 w 143"/>
                <a:gd name="T29" fmla="*/ 54 h 144"/>
                <a:gd name="T30" fmla="*/ 127 w 143"/>
                <a:gd name="T31" fmla="*/ 64 h 144"/>
                <a:gd name="T32" fmla="*/ 139 w 143"/>
                <a:gd name="T33" fmla="*/ 86 h 144"/>
                <a:gd name="T34" fmla="*/ 126 w 143"/>
                <a:gd name="T35" fmla="*/ 121 h 144"/>
                <a:gd name="T36" fmla="*/ 117 w 143"/>
                <a:gd name="T37" fmla="*/ 123 h 144"/>
                <a:gd name="T38" fmla="*/ 93 w 143"/>
                <a:gd name="T39" fmla="*/ 124 h 144"/>
                <a:gd name="T40" fmla="*/ 87 w 143"/>
                <a:gd name="T41" fmla="*/ 144 h 144"/>
                <a:gd name="T42" fmla="*/ 81 w 143"/>
                <a:gd name="T43" fmla="*/ 132 h 144"/>
                <a:gd name="T44" fmla="*/ 85 w 143"/>
                <a:gd name="T45" fmla="*/ 115 h 144"/>
                <a:gd name="T46" fmla="*/ 109 w 143"/>
                <a:gd name="T47" fmla="*/ 104 h 144"/>
                <a:gd name="T48" fmla="*/ 128 w 143"/>
                <a:gd name="T49" fmla="*/ 94 h 144"/>
                <a:gd name="T50" fmla="*/ 115 w 143"/>
                <a:gd name="T51" fmla="*/ 82 h 144"/>
                <a:gd name="T52" fmla="*/ 118 w 143"/>
                <a:gd name="T53" fmla="*/ 56 h 144"/>
                <a:gd name="T54" fmla="*/ 118 w 143"/>
                <a:gd name="T55" fmla="*/ 34 h 144"/>
                <a:gd name="T56" fmla="*/ 102 w 143"/>
                <a:gd name="T57" fmla="*/ 39 h 144"/>
                <a:gd name="T58" fmla="*/ 81 w 143"/>
                <a:gd name="T59" fmla="*/ 23 h 144"/>
                <a:gd name="T60" fmla="*/ 63 w 143"/>
                <a:gd name="T61" fmla="*/ 12 h 144"/>
                <a:gd name="T62" fmla="*/ 58 w 143"/>
                <a:gd name="T63" fmla="*/ 29 h 144"/>
                <a:gd name="T64" fmla="*/ 34 w 143"/>
                <a:gd name="T65" fmla="*/ 40 h 144"/>
                <a:gd name="T66" fmla="*/ 15 w 143"/>
                <a:gd name="T67" fmla="*/ 50 h 144"/>
                <a:gd name="T68" fmla="*/ 27 w 143"/>
                <a:gd name="T69" fmla="*/ 62 h 144"/>
                <a:gd name="T70" fmla="*/ 24 w 143"/>
                <a:gd name="T71" fmla="*/ 88 h 144"/>
                <a:gd name="T72" fmla="*/ 24 w 143"/>
                <a:gd name="T73" fmla="*/ 110 h 144"/>
                <a:gd name="T74" fmla="*/ 41 w 143"/>
                <a:gd name="T75" fmla="*/ 105 h 144"/>
                <a:gd name="T76" fmla="*/ 63 w 143"/>
                <a:gd name="T77" fmla="*/ 12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3" h="144">
                  <a:moveTo>
                    <a:pt x="87" y="144"/>
                  </a:moveTo>
                  <a:cubicBezTo>
                    <a:pt x="57" y="144"/>
                    <a:pt x="57" y="144"/>
                    <a:pt x="57" y="144"/>
                  </a:cubicBezTo>
                  <a:cubicBezTo>
                    <a:pt x="54" y="144"/>
                    <a:pt x="51" y="141"/>
                    <a:pt x="51" y="138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44" y="123"/>
                    <a:pt x="40" y="120"/>
                    <a:pt x="36" y="117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2" y="125"/>
                    <a:pt x="18" y="124"/>
                    <a:pt x="16" y="121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0" y="93"/>
                    <a:pt x="0" y="92"/>
                    <a:pt x="0" y="90"/>
                  </a:cubicBezTo>
                  <a:cubicBezTo>
                    <a:pt x="1" y="89"/>
                    <a:pt x="2" y="87"/>
                    <a:pt x="3" y="86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14" y="74"/>
                    <a:pt x="14" y="69"/>
                    <a:pt x="15" y="64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2" y="56"/>
                    <a:pt x="1" y="55"/>
                    <a:pt x="1" y="54"/>
                  </a:cubicBezTo>
                  <a:cubicBezTo>
                    <a:pt x="0" y="52"/>
                    <a:pt x="0" y="50"/>
                    <a:pt x="1" y="49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8" y="20"/>
                    <a:pt x="22" y="19"/>
                    <a:pt x="25" y="20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40" y="24"/>
                    <a:pt x="44" y="21"/>
                    <a:pt x="51" y="19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3"/>
                    <a:pt x="54" y="0"/>
                    <a:pt x="57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1" y="0"/>
                    <a:pt x="93" y="3"/>
                    <a:pt x="93" y="6"/>
                  </a:cubicBezTo>
                  <a:cubicBezTo>
                    <a:pt x="93" y="20"/>
                    <a:pt x="93" y="20"/>
                    <a:pt x="93" y="20"/>
                  </a:cubicBezTo>
                  <a:cubicBezTo>
                    <a:pt x="99" y="22"/>
                    <a:pt x="103" y="25"/>
                    <a:pt x="106" y="27"/>
                  </a:cubicBezTo>
                  <a:cubicBezTo>
                    <a:pt x="117" y="21"/>
                    <a:pt x="117" y="21"/>
                    <a:pt x="117" y="21"/>
                  </a:cubicBezTo>
                  <a:cubicBezTo>
                    <a:pt x="119" y="20"/>
                    <a:pt x="120" y="19"/>
                    <a:pt x="122" y="20"/>
                  </a:cubicBezTo>
                  <a:cubicBezTo>
                    <a:pt x="124" y="20"/>
                    <a:pt x="125" y="21"/>
                    <a:pt x="126" y="23"/>
                  </a:cubicBezTo>
                  <a:cubicBezTo>
                    <a:pt x="141" y="49"/>
                    <a:pt x="141" y="49"/>
                    <a:pt x="141" y="49"/>
                  </a:cubicBezTo>
                  <a:cubicBezTo>
                    <a:pt x="142" y="50"/>
                    <a:pt x="142" y="52"/>
                    <a:pt x="142" y="54"/>
                  </a:cubicBezTo>
                  <a:cubicBezTo>
                    <a:pt x="141" y="55"/>
                    <a:pt x="140" y="56"/>
                    <a:pt x="139" y="57"/>
                  </a:cubicBezTo>
                  <a:cubicBezTo>
                    <a:pt x="127" y="64"/>
                    <a:pt x="127" y="64"/>
                    <a:pt x="127" y="64"/>
                  </a:cubicBezTo>
                  <a:cubicBezTo>
                    <a:pt x="128" y="69"/>
                    <a:pt x="128" y="74"/>
                    <a:pt x="127" y="80"/>
                  </a:cubicBezTo>
                  <a:cubicBezTo>
                    <a:pt x="139" y="86"/>
                    <a:pt x="139" y="86"/>
                    <a:pt x="139" y="86"/>
                  </a:cubicBezTo>
                  <a:cubicBezTo>
                    <a:pt x="142" y="88"/>
                    <a:pt x="143" y="92"/>
                    <a:pt x="141" y="95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5" y="122"/>
                    <a:pt x="124" y="123"/>
                    <a:pt x="122" y="124"/>
                  </a:cubicBezTo>
                  <a:cubicBezTo>
                    <a:pt x="120" y="124"/>
                    <a:pt x="119" y="124"/>
                    <a:pt x="117" y="123"/>
                  </a:cubicBezTo>
                  <a:cubicBezTo>
                    <a:pt x="106" y="117"/>
                    <a:pt x="106" y="117"/>
                    <a:pt x="106" y="117"/>
                  </a:cubicBezTo>
                  <a:cubicBezTo>
                    <a:pt x="103" y="119"/>
                    <a:pt x="99" y="122"/>
                    <a:pt x="93" y="124"/>
                  </a:cubicBezTo>
                  <a:cubicBezTo>
                    <a:pt x="93" y="138"/>
                    <a:pt x="93" y="138"/>
                    <a:pt x="93" y="138"/>
                  </a:cubicBezTo>
                  <a:cubicBezTo>
                    <a:pt x="93" y="141"/>
                    <a:pt x="91" y="144"/>
                    <a:pt x="87" y="144"/>
                  </a:cubicBezTo>
                  <a:close/>
                  <a:moveTo>
                    <a:pt x="63" y="132"/>
                  </a:moveTo>
                  <a:cubicBezTo>
                    <a:pt x="81" y="132"/>
                    <a:pt x="81" y="132"/>
                    <a:pt x="81" y="132"/>
                  </a:cubicBezTo>
                  <a:cubicBezTo>
                    <a:pt x="81" y="120"/>
                    <a:pt x="81" y="120"/>
                    <a:pt x="81" y="120"/>
                  </a:cubicBezTo>
                  <a:cubicBezTo>
                    <a:pt x="81" y="118"/>
                    <a:pt x="83" y="116"/>
                    <a:pt x="85" y="115"/>
                  </a:cubicBezTo>
                  <a:cubicBezTo>
                    <a:pt x="93" y="111"/>
                    <a:pt x="98" y="108"/>
                    <a:pt x="102" y="105"/>
                  </a:cubicBezTo>
                  <a:cubicBezTo>
                    <a:pt x="104" y="103"/>
                    <a:pt x="107" y="103"/>
                    <a:pt x="109" y="104"/>
                  </a:cubicBezTo>
                  <a:cubicBezTo>
                    <a:pt x="118" y="110"/>
                    <a:pt x="118" y="110"/>
                    <a:pt x="118" y="110"/>
                  </a:cubicBezTo>
                  <a:cubicBezTo>
                    <a:pt x="128" y="94"/>
                    <a:pt x="128" y="94"/>
                    <a:pt x="128" y="94"/>
                  </a:cubicBezTo>
                  <a:cubicBezTo>
                    <a:pt x="118" y="88"/>
                    <a:pt x="118" y="88"/>
                    <a:pt x="118" y="88"/>
                  </a:cubicBezTo>
                  <a:cubicBezTo>
                    <a:pt x="115" y="87"/>
                    <a:pt x="114" y="84"/>
                    <a:pt x="115" y="82"/>
                  </a:cubicBezTo>
                  <a:cubicBezTo>
                    <a:pt x="116" y="75"/>
                    <a:pt x="116" y="69"/>
                    <a:pt x="115" y="62"/>
                  </a:cubicBezTo>
                  <a:cubicBezTo>
                    <a:pt x="114" y="60"/>
                    <a:pt x="115" y="57"/>
                    <a:pt x="118" y="56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07" y="41"/>
                    <a:pt x="104" y="41"/>
                    <a:pt x="102" y="39"/>
                  </a:cubicBezTo>
                  <a:cubicBezTo>
                    <a:pt x="98" y="36"/>
                    <a:pt x="93" y="32"/>
                    <a:pt x="85" y="29"/>
                  </a:cubicBezTo>
                  <a:cubicBezTo>
                    <a:pt x="83" y="28"/>
                    <a:pt x="81" y="26"/>
                    <a:pt x="81" y="23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23"/>
                    <a:pt x="63" y="23"/>
                    <a:pt x="63" y="23"/>
                  </a:cubicBezTo>
                  <a:cubicBezTo>
                    <a:pt x="63" y="26"/>
                    <a:pt x="61" y="29"/>
                    <a:pt x="58" y="29"/>
                  </a:cubicBezTo>
                  <a:cubicBezTo>
                    <a:pt x="50" y="31"/>
                    <a:pt x="47" y="34"/>
                    <a:pt x="42" y="39"/>
                  </a:cubicBezTo>
                  <a:cubicBezTo>
                    <a:pt x="40" y="41"/>
                    <a:pt x="37" y="41"/>
                    <a:pt x="34" y="40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5" y="50"/>
                    <a:pt x="15" y="50"/>
                    <a:pt x="15" y="50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7"/>
                    <a:pt x="28" y="60"/>
                    <a:pt x="27" y="62"/>
                  </a:cubicBezTo>
                  <a:cubicBezTo>
                    <a:pt x="26" y="69"/>
                    <a:pt x="26" y="75"/>
                    <a:pt x="27" y="82"/>
                  </a:cubicBezTo>
                  <a:cubicBezTo>
                    <a:pt x="28" y="84"/>
                    <a:pt x="27" y="87"/>
                    <a:pt x="24" y="88"/>
                  </a:cubicBezTo>
                  <a:cubicBezTo>
                    <a:pt x="14" y="94"/>
                    <a:pt x="14" y="94"/>
                    <a:pt x="14" y="94"/>
                  </a:cubicBezTo>
                  <a:cubicBezTo>
                    <a:pt x="24" y="110"/>
                    <a:pt x="24" y="110"/>
                    <a:pt x="24" y="110"/>
                  </a:cubicBezTo>
                  <a:cubicBezTo>
                    <a:pt x="34" y="104"/>
                    <a:pt x="34" y="104"/>
                    <a:pt x="34" y="104"/>
                  </a:cubicBezTo>
                  <a:cubicBezTo>
                    <a:pt x="37" y="103"/>
                    <a:pt x="39" y="103"/>
                    <a:pt x="41" y="105"/>
                  </a:cubicBezTo>
                  <a:cubicBezTo>
                    <a:pt x="47" y="110"/>
                    <a:pt x="50" y="113"/>
                    <a:pt x="58" y="114"/>
                  </a:cubicBezTo>
                  <a:cubicBezTo>
                    <a:pt x="61" y="115"/>
                    <a:pt x="63" y="117"/>
                    <a:pt x="63" y="120"/>
                  </a:cubicBezTo>
                  <a:lnTo>
                    <a:pt x="63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27" name="Freeform 77">
              <a:extLst>
                <a:ext uri="{FF2B5EF4-FFF2-40B4-BE49-F238E27FC236}">
                  <a16:creationId xmlns:a16="http://schemas.microsoft.com/office/drawing/2014/main" id="{71074045-4C23-FB0B-EB50-79693F5154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3" y="1946"/>
              <a:ext cx="77" cy="77"/>
            </a:xfrm>
            <a:custGeom>
              <a:avLst/>
              <a:gdLst>
                <a:gd name="T0" fmla="*/ 26 w 52"/>
                <a:gd name="T1" fmla="*/ 52 h 52"/>
                <a:gd name="T2" fmla="*/ 0 w 52"/>
                <a:gd name="T3" fmla="*/ 26 h 52"/>
                <a:gd name="T4" fmla="*/ 26 w 52"/>
                <a:gd name="T5" fmla="*/ 0 h 52"/>
                <a:gd name="T6" fmla="*/ 52 w 52"/>
                <a:gd name="T7" fmla="*/ 26 h 52"/>
                <a:gd name="T8" fmla="*/ 26 w 52"/>
                <a:gd name="T9" fmla="*/ 52 h 52"/>
                <a:gd name="T10" fmla="*/ 26 w 52"/>
                <a:gd name="T11" fmla="*/ 12 h 52"/>
                <a:gd name="T12" fmla="*/ 12 w 52"/>
                <a:gd name="T13" fmla="*/ 26 h 52"/>
                <a:gd name="T14" fmla="*/ 26 w 52"/>
                <a:gd name="T15" fmla="*/ 40 h 52"/>
                <a:gd name="T16" fmla="*/ 40 w 52"/>
                <a:gd name="T17" fmla="*/ 26 h 52"/>
                <a:gd name="T18" fmla="*/ 26 w 52"/>
                <a:gd name="T19" fmla="*/ 1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52"/>
                  </a:moveTo>
                  <a:cubicBezTo>
                    <a:pt x="11" y="52"/>
                    <a:pt x="0" y="40"/>
                    <a:pt x="0" y="26"/>
                  </a:cubicBezTo>
                  <a:cubicBezTo>
                    <a:pt x="0" y="11"/>
                    <a:pt x="11" y="0"/>
                    <a:pt x="26" y="0"/>
                  </a:cubicBezTo>
                  <a:cubicBezTo>
                    <a:pt x="41" y="0"/>
                    <a:pt x="52" y="11"/>
                    <a:pt x="52" y="26"/>
                  </a:cubicBezTo>
                  <a:cubicBezTo>
                    <a:pt x="52" y="40"/>
                    <a:pt x="41" y="52"/>
                    <a:pt x="26" y="52"/>
                  </a:cubicBezTo>
                  <a:close/>
                  <a:moveTo>
                    <a:pt x="26" y="12"/>
                  </a:moveTo>
                  <a:cubicBezTo>
                    <a:pt x="18" y="12"/>
                    <a:pt x="12" y="18"/>
                    <a:pt x="12" y="26"/>
                  </a:cubicBezTo>
                  <a:cubicBezTo>
                    <a:pt x="12" y="34"/>
                    <a:pt x="18" y="40"/>
                    <a:pt x="26" y="40"/>
                  </a:cubicBezTo>
                  <a:cubicBezTo>
                    <a:pt x="34" y="40"/>
                    <a:pt x="40" y="34"/>
                    <a:pt x="40" y="26"/>
                  </a:cubicBezTo>
                  <a:cubicBezTo>
                    <a:pt x="40" y="18"/>
                    <a:pt x="34" y="12"/>
                    <a:pt x="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28" name="Freeform 78">
              <a:extLst>
                <a:ext uri="{FF2B5EF4-FFF2-40B4-BE49-F238E27FC236}">
                  <a16:creationId xmlns:a16="http://schemas.microsoft.com/office/drawing/2014/main" id="{5C1E8A77-5E55-66DB-6636-57A70BE26A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5" y="1718"/>
              <a:ext cx="356" cy="427"/>
            </a:xfrm>
            <a:custGeom>
              <a:avLst/>
              <a:gdLst>
                <a:gd name="T0" fmla="*/ 234 w 240"/>
                <a:gd name="T1" fmla="*/ 288 h 288"/>
                <a:gd name="T2" fmla="*/ 6 w 240"/>
                <a:gd name="T3" fmla="*/ 288 h 288"/>
                <a:gd name="T4" fmla="*/ 0 w 240"/>
                <a:gd name="T5" fmla="*/ 282 h 288"/>
                <a:gd name="T6" fmla="*/ 0 w 240"/>
                <a:gd name="T7" fmla="*/ 6 h 288"/>
                <a:gd name="T8" fmla="*/ 6 w 240"/>
                <a:gd name="T9" fmla="*/ 0 h 288"/>
                <a:gd name="T10" fmla="*/ 162 w 240"/>
                <a:gd name="T11" fmla="*/ 0 h 288"/>
                <a:gd name="T12" fmla="*/ 166 w 240"/>
                <a:gd name="T13" fmla="*/ 2 h 288"/>
                <a:gd name="T14" fmla="*/ 238 w 240"/>
                <a:gd name="T15" fmla="*/ 74 h 288"/>
                <a:gd name="T16" fmla="*/ 240 w 240"/>
                <a:gd name="T17" fmla="*/ 78 h 288"/>
                <a:gd name="T18" fmla="*/ 240 w 240"/>
                <a:gd name="T19" fmla="*/ 282 h 288"/>
                <a:gd name="T20" fmla="*/ 234 w 240"/>
                <a:gd name="T21" fmla="*/ 288 h 288"/>
                <a:gd name="T22" fmla="*/ 12 w 240"/>
                <a:gd name="T23" fmla="*/ 276 h 288"/>
                <a:gd name="T24" fmla="*/ 228 w 240"/>
                <a:gd name="T25" fmla="*/ 276 h 288"/>
                <a:gd name="T26" fmla="*/ 228 w 240"/>
                <a:gd name="T27" fmla="*/ 80 h 288"/>
                <a:gd name="T28" fmla="*/ 160 w 240"/>
                <a:gd name="T29" fmla="*/ 12 h 288"/>
                <a:gd name="T30" fmla="*/ 12 w 240"/>
                <a:gd name="T31" fmla="*/ 12 h 288"/>
                <a:gd name="T32" fmla="*/ 12 w 240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0" h="288">
                  <a:moveTo>
                    <a:pt x="234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5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4" y="0"/>
                    <a:pt x="165" y="0"/>
                    <a:pt x="166" y="2"/>
                  </a:cubicBezTo>
                  <a:cubicBezTo>
                    <a:pt x="238" y="74"/>
                    <a:pt x="238" y="74"/>
                    <a:pt x="238" y="74"/>
                  </a:cubicBezTo>
                  <a:cubicBezTo>
                    <a:pt x="240" y="75"/>
                    <a:pt x="240" y="76"/>
                    <a:pt x="240" y="78"/>
                  </a:cubicBezTo>
                  <a:cubicBezTo>
                    <a:pt x="240" y="282"/>
                    <a:pt x="240" y="282"/>
                    <a:pt x="240" y="282"/>
                  </a:cubicBezTo>
                  <a:cubicBezTo>
                    <a:pt x="240" y="285"/>
                    <a:pt x="238" y="288"/>
                    <a:pt x="234" y="288"/>
                  </a:cubicBezTo>
                  <a:close/>
                  <a:moveTo>
                    <a:pt x="12" y="276"/>
                  </a:moveTo>
                  <a:cubicBezTo>
                    <a:pt x="228" y="276"/>
                    <a:pt x="228" y="276"/>
                    <a:pt x="228" y="276"/>
                  </a:cubicBezTo>
                  <a:cubicBezTo>
                    <a:pt x="228" y="80"/>
                    <a:pt x="228" y="80"/>
                    <a:pt x="228" y="80"/>
                  </a:cubicBezTo>
                  <a:cubicBezTo>
                    <a:pt x="160" y="12"/>
                    <a:pt x="160" y="12"/>
                    <a:pt x="16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29" name="Freeform 79">
              <a:extLst>
                <a:ext uri="{FF2B5EF4-FFF2-40B4-BE49-F238E27FC236}">
                  <a16:creationId xmlns:a16="http://schemas.microsoft.com/office/drawing/2014/main" id="{391CFB63-079F-7637-5EE8-D0303D3E5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1718"/>
              <a:ext cx="125" cy="125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5"/>
                    <a:pt x="84" y="78"/>
                  </a:cubicBezTo>
                  <a:cubicBezTo>
                    <a:pt x="84" y="81"/>
                    <a:pt x="82" y="84"/>
                    <a:pt x="78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7387" name="Group 7386">
            <a:extLst>
              <a:ext uri="{FF2B5EF4-FFF2-40B4-BE49-F238E27FC236}">
                <a16:creationId xmlns:a16="http://schemas.microsoft.com/office/drawing/2014/main" id="{9C67E839-9D1D-519D-1B52-9E8A10DBC58C}"/>
              </a:ext>
            </a:extLst>
          </p:cNvPr>
          <p:cNvGrpSpPr/>
          <p:nvPr/>
        </p:nvGrpSpPr>
        <p:grpSpPr>
          <a:xfrm>
            <a:off x="3357176" y="-3307229"/>
            <a:ext cx="2344103" cy="2855120"/>
            <a:chOff x="3357176" y="-3307229"/>
            <a:chExt cx="2344103" cy="2855120"/>
          </a:xfrm>
        </p:grpSpPr>
        <p:sp>
          <p:nvSpPr>
            <p:cNvPr id="7260" name="Rounded Rectangle 62">
              <a:extLst>
                <a:ext uri="{FF2B5EF4-FFF2-40B4-BE49-F238E27FC236}">
                  <a16:creationId xmlns:a16="http://schemas.microsoft.com/office/drawing/2014/main" id="{7E6885DC-4E88-7BA0-DCEE-66BC219F7E00}"/>
                </a:ext>
              </a:extLst>
            </p:cNvPr>
            <p:cNvSpPr>
              <a:spLocks/>
            </p:cNvSpPr>
            <p:nvPr/>
          </p:nvSpPr>
          <p:spPr>
            <a:xfrm>
              <a:off x="3357176" y="-3307229"/>
              <a:ext cx="2328962" cy="2855120"/>
            </a:xfrm>
            <a:prstGeom prst="roundRect">
              <a:avLst>
                <a:gd name="adj" fmla="val 5152"/>
              </a:avLst>
            </a:prstGeom>
            <a:solidFill>
              <a:schemeClr val="bg1"/>
            </a:solidFill>
            <a:ln>
              <a:solidFill>
                <a:srgbClr val="4A66AC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7261" name="TextBox 7260">
              <a:extLst>
                <a:ext uri="{FF2B5EF4-FFF2-40B4-BE49-F238E27FC236}">
                  <a16:creationId xmlns:a16="http://schemas.microsoft.com/office/drawing/2014/main" id="{076EEB56-928E-5826-8EAE-D9C3E4670400}"/>
                </a:ext>
              </a:extLst>
            </p:cNvPr>
            <p:cNvSpPr txBox="1"/>
            <p:nvPr/>
          </p:nvSpPr>
          <p:spPr>
            <a:xfrm>
              <a:off x="3494839" y="-3276898"/>
              <a:ext cx="2206440" cy="2546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n-US" sz="1400" b="1" noProof="0">
                  <a:solidFill>
                    <a:srgbClr val="629DD1"/>
                  </a:solidFill>
                </a:rPr>
                <a:t>Business &amp; Ops</a:t>
              </a:r>
            </a:p>
          </p:txBody>
        </p:sp>
        <p:sp>
          <p:nvSpPr>
            <p:cNvPr id="7263" name="TextBox 7262">
              <a:extLst>
                <a:ext uri="{FF2B5EF4-FFF2-40B4-BE49-F238E27FC236}">
                  <a16:creationId xmlns:a16="http://schemas.microsoft.com/office/drawing/2014/main" id="{1039F214-CB25-4F74-ACD4-2F48520F548B}"/>
                </a:ext>
              </a:extLst>
            </p:cNvPr>
            <p:cNvSpPr txBox="1"/>
            <p:nvPr/>
          </p:nvSpPr>
          <p:spPr>
            <a:xfrm>
              <a:off x="4038271" y="-2207866"/>
              <a:ext cx="1558199" cy="4832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spcAft>
                  <a:spcPts val="5400"/>
                </a:spcAft>
              </a:pPr>
              <a:r>
                <a:rPr lang="en-US" sz="1200" b="1"/>
                <a:t>Operational Efficiencies (Cost)</a:t>
              </a:r>
              <a:endParaRPr 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7265" name="TextBox 7264">
              <a:extLst>
                <a:ext uri="{FF2B5EF4-FFF2-40B4-BE49-F238E27FC236}">
                  <a16:creationId xmlns:a16="http://schemas.microsoft.com/office/drawing/2014/main" id="{77E185D4-B26E-92DF-BD26-E8084BE86960}"/>
                </a:ext>
              </a:extLst>
            </p:cNvPr>
            <p:cNvSpPr txBox="1"/>
            <p:nvPr/>
          </p:nvSpPr>
          <p:spPr>
            <a:xfrm>
              <a:off x="4038271" y="-1041982"/>
              <a:ext cx="1558199" cy="4832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spcAft>
                  <a:spcPts val="5400"/>
                </a:spcAft>
              </a:pPr>
              <a:r>
                <a:rPr lang="en-US" sz="1200" b="1">
                  <a:solidFill>
                    <a:schemeClr val="tx1"/>
                  </a:solidFill>
                </a:rPr>
                <a:t>Marketing</a:t>
              </a:r>
            </a:p>
          </p:txBody>
        </p:sp>
        <p:sp>
          <p:nvSpPr>
            <p:cNvPr id="7266" name="TextBox 7265">
              <a:extLst>
                <a:ext uri="{FF2B5EF4-FFF2-40B4-BE49-F238E27FC236}">
                  <a16:creationId xmlns:a16="http://schemas.microsoft.com/office/drawing/2014/main" id="{6176DCE8-FC83-B611-1175-0CA6B26CAE1B}"/>
                </a:ext>
              </a:extLst>
            </p:cNvPr>
            <p:cNvSpPr txBox="1"/>
            <p:nvPr/>
          </p:nvSpPr>
          <p:spPr>
            <a:xfrm>
              <a:off x="4038271" y="-1612223"/>
              <a:ext cx="1547463" cy="4832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spcAft>
                  <a:spcPts val="5400"/>
                </a:spcAft>
              </a:pPr>
              <a:r>
                <a:rPr lang="en-US" sz="1200" b="1"/>
                <a:t>Experience &amp; Branding</a:t>
              </a:r>
              <a:endParaRPr 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7268" name="TextBox 7267">
              <a:extLst>
                <a:ext uri="{FF2B5EF4-FFF2-40B4-BE49-F238E27FC236}">
                  <a16:creationId xmlns:a16="http://schemas.microsoft.com/office/drawing/2014/main" id="{F7BB2D6D-283B-887E-FD8C-B9CB4D2F796E}"/>
                </a:ext>
              </a:extLst>
            </p:cNvPr>
            <p:cNvSpPr txBox="1"/>
            <p:nvPr/>
          </p:nvSpPr>
          <p:spPr>
            <a:xfrm>
              <a:off x="4038271" y="-2854311"/>
              <a:ext cx="1558199" cy="48327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>
                <a:spcAft>
                  <a:spcPts val="5400"/>
                </a:spcAft>
              </a:pPr>
              <a:r>
                <a:rPr lang="en-US" sz="1200" b="1"/>
                <a:t>Direct Revenue Generating Activities</a:t>
              </a:r>
              <a:endParaRPr lang="en-US" sz="1200" b="1">
                <a:solidFill>
                  <a:schemeClr val="tx1"/>
                </a:solidFill>
              </a:endParaRPr>
            </a:p>
          </p:txBody>
        </p:sp>
        <p:grpSp>
          <p:nvGrpSpPr>
            <p:cNvPr id="7330" name="Group 128">
              <a:extLst>
                <a:ext uri="{FF2B5EF4-FFF2-40B4-BE49-F238E27FC236}">
                  <a16:creationId xmlns:a16="http://schemas.microsoft.com/office/drawing/2014/main" id="{6F3502EF-870C-D62E-4209-C3F155A834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46058" y="-2848130"/>
              <a:ext cx="477883" cy="446386"/>
              <a:chOff x="5686" y="1950"/>
              <a:chExt cx="440" cy="411"/>
            </a:xfrm>
            <a:solidFill>
              <a:srgbClr val="629DD1"/>
            </a:solidFill>
          </p:grpSpPr>
          <p:sp>
            <p:nvSpPr>
              <p:cNvPr id="7331" name="Freeform 129">
                <a:extLst>
                  <a:ext uri="{FF2B5EF4-FFF2-40B4-BE49-F238E27FC236}">
                    <a16:creationId xmlns:a16="http://schemas.microsoft.com/office/drawing/2014/main" id="{9F425957-EA1A-49CC-54AD-E816667B41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86" y="2183"/>
                <a:ext cx="91" cy="163"/>
              </a:xfrm>
              <a:custGeom>
                <a:avLst/>
                <a:gdLst>
                  <a:gd name="T0" fmla="*/ 54 w 60"/>
                  <a:gd name="T1" fmla="*/ 109 h 109"/>
                  <a:gd name="T2" fmla="*/ 6 w 60"/>
                  <a:gd name="T3" fmla="*/ 109 h 109"/>
                  <a:gd name="T4" fmla="*/ 0 w 60"/>
                  <a:gd name="T5" fmla="*/ 103 h 109"/>
                  <a:gd name="T6" fmla="*/ 0 w 60"/>
                  <a:gd name="T7" fmla="*/ 6 h 109"/>
                  <a:gd name="T8" fmla="*/ 6 w 60"/>
                  <a:gd name="T9" fmla="*/ 0 h 109"/>
                  <a:gd name="T10" fmla="*/ 54 w 60"/>
                  <a:gd name="T11" fmla="*/ 0 h 109"/>
                  <a:gd name="T12" fmla="*/ 60 w 60"/>
                  <a:gd name="T13" fmla="*/ 6 h 109"/>
                  <a:gd name="T14" fmla="*/ 60 w 60"/>
                  <a:gd name="T15" fmla="*/ 103 h 109"/>
                  <a:gd name="T16" fmla="*/ 54 w 60"/>
                  <a:gd name="T17" fmla="*/ 109 h 109"/>
                  <a:gd name="T18" fmla="*/ 12 w 60"/>
                  <a:gd name="T19" fmla="*/ 97 h 109"/>
                  <a:gd name="T20" fmla="*/ 48 w 60"/>
                  <a:gd name="T21" fmla="*/ 97 h 109"/>
                  <a:gd name="T22" fmla="*/ 48 w 60"/>
                  <a:gd name="T23" fmla="*/ 12 h 109"/>
                  <a:gd name="T24" fmla="*/ 12 w 60"/>
                  <a:gd name="T25" fmla="*/ 12 h 109"/>
                  <a:gd name="T26" fmla="*/ 12 w 60"/>
                  <a:gd name="T27" fmla="*/ 97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0" h="109">
                    <a:moveTo>
                      <a:pt x="54" y="109"/>
                    </a:moveTo>
                    <a:cubicBezTo>
                      <a:pt x="6" y="109"/>
                      <a:pt x="6" y="109"/>
                      <a:pt x="6" y="109"/>
                    </a:cubicBezTo>
                    <a:cubicBezTo>
                      <a:pt x="3" y="109"/>
                      <a:pt x="0" y="106"/>
                      <a:pt x="0" y="103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7" y="0"/>
                      <a:pt x="60" y="3"/>
                      <a:pt x="60" y="6"/>
                    </a:cubicBezTo>
                    <a:cubicBezTo>
                      <a:pt x="60" y="103"/>
                      <a:pt x="60" y="103"/>
                      <a:pt x="60" y="103"/>
                    </a:cubicBezTo>
                    <a:cubicBezTo>
                      <a:pt x="60" y="106"/>
                      <a:pt x="57" y="109"/>
                      <a:pt x="54" y="109"/>
                    </a:cubicBezTo>
                    <a:close/>
                    <a:moveTo>
                      <a:pt x="12" y="97"/>
                    </a:moveTo>
                    <a:cubicBezTo>
                      <a:pt x="48" y="97"/>
                      <a:pt x="48" y="97"/>
                      <a:pt x="48" y="97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32" name="Freeform 130">
                <a:extLst>
                  <a:ext uri="{FF2B5EF4-FFF2-40B4-BE49-F238E27FC236}">
                    <a16:creationId xmlns:a16="http://schemas.microsoft.com/office/drawing/2014/main" id="{0A63AD24-0EAE-F3AC-82F8-C135CA5C7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7" y="2231"/>
                <a:ext cx="369" cy="130"/>
              </a:xfrm>
              <a:custGeom>
                <a:avLst/>
                <a:gdLst>
                  <a:gd name="T0" fmla="*/ 105 w 241"/>
                  <a:gd name="T1" fmla="*/ 87 h 87"/>
                  <a:gd name="T2" fmla="*/ 40 w 241"/>
                  <a:gd name="T3" fmla="*/ 70 h 87"/>
                  <a:gd name="T4" fmla="*/ 5 w 241"/>
                  <a:gd name="T5" fmla="*/ 58 h 87"/>
                  <a:gd name="T6" fmla="*/ 1 w 241"/>
                  <a:gd name="T7" fmla="*/ 50 h 87"/>
                  <a:gd name="T8" fmla="*/ 9 w 241"/>
                  <a:gd name="T9" fmla="*/ 46 h 87"/>
                  <a:gd name="T10" fmla="*/ 44 w 241"/>
                  <a:gd name="T11" fmla="*/ 58 h 87"/>
                  <a:gd name="T12" fmla="*/ 173 w 241"/>
                  <a:gd name="T13" fmla="*/ 47 h 87"/>
                  <a:gd name="T14" fmla="*/ 224 w 241"/>
                  <a:gd name="T15" fmla="*/ 21 h 87"/>
                  <a:gd name="T16" fmla="*/ 201 w 241"/>
                  <a:gd name="T17" fmla="*/ 16 h 87"/>
                  <a:gd name="T18" fmla="*/ 148 w 241"/>
                  <a:gd name="T19" fmla="*/ 34 h 87"/>
                  <a:gd name="T20" fmla="*/ 140 w 241"/>
                  <a:gd name="T21" fmla="*/ 30 h 87"/>
                  <a:gd name="T22" fmla="*/ 144 w 241"/>
                  <a:gd name="T23" fmla="*/ 22 h 87"/>
                  <a:gd name="T24" fmla="*/ 197 w 241"/>
                  <a:gd name="T25" fmla="*/ 4 h 87"/>
                  <a:gd name="T26" fmla="*/ 239 w 241"/>
                  <a:gd name="T27" fmla="*/ 18 h 87"/>
                  <a:gd name="T28" fmla="*/ 241 w 241"/>
                  <a:gd name="T29" fmla="*/ 23 h 87"/>
                  <a:gd name="T30" fmla="*/ 238 w 241"/>
                  <a:gd name="T31" fmla="*/ 28 h 87"/>
                  <a:gd name="T32" fmla="*/ 179 w 241"/>
                  <a:gd name="T33" fmla="*/ 58 h 87"/>
                  <a:gd name="T34" fmla="*/ 105 w 241"/>
                  <a:gd name="T3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41" h="87">
                    <a:moveTo>
                      <a:pt x="105" y="87"/>
                    </a:moveTo>
                    <a:cubicBezTo>
                      <a:pt x="89" y="87"/>
                      <a:pt x="72" y="81"/>
                      <a:pt x="40" y="70"/>
                    </a:cubicBezTo>
                    <a:cubicBezTo>
                      <a:pt x="30" y="66"/>
                      <a:pt x="19" y="62"/>
                      <a:pt x="5" y="58"/>
                    </a:cubicBezTo>
                    <a:cubicBezTo>
                      <a:pt x="2" y="57"/>
                      <a:pt x="0" y="53"/>
                      <a:pt x="1" y="50"/>
                    </a:cubicBezTo>
                    <a:cubicBezTo>
                      <a:pt x="2" y="47"/>
                      <a:pt x="6" y="45"/>
                      <a:pt x="9" y="46"/>
                    </a:cubicBezTo>
                    <a:cubicBezTo>
                      <a:pt x="22" y="51"/>
                      <a:pt x="34" y="55"/>
                      <a:pt x="44" y="58"/>
                    </a:cubicBezTo>
                    <a:cubicBezTo>
                      <a:pt x="110" y="81"/>
                      <a:pt x="110" y="81"/>
                      <a:pt x="173" y="47"/>
                    </a:cubicBezTo>
                    <a:cubicBezTo>
                      <a:pt x="187" y="40"/>
                      <a:pt x="204" y="31"/>
                      <a:pt x="224" y="21"/>
                    </a:cubicBezTo>
                    <a:cubicBezTo>
                      <a:pt x="215" y="14"/>
                      <a:pt x="209" y="14"/>
                      <a:pt x="201" y="16"/>
                    </a:cubicBezTo>
                    <a:cubicBezTo>
                      <a:pt x="148" y="34"/>
                      <a:pt x="148" y="34"/>
                      <a:pt x="148" y="34"/>
                    </a:cubicBezTo>
                    <a:cubicBezTo>
                      <a:pt x="145" y="35"/>
                      <a:pt x="141" y="33"/>
                      <a:pt x="140" y="30"/>
                    </a:cubicBezTo>
                    <a:cubicBezTo>
                      <a:pt x="139" y="27"/>
                      <a:pt x="141" y="23"/>
                      <a:pt x="144" y="22"/>
                    </a:cubicBezTo>
                    <a:cubicBezTo>
                      <a:pt x="197" y="4"/>
                      <a:pt x="197" y="4"/>
                      <a:pt x="197" y="4"/>
                    </a:cubicBezTo>
                    <a:cubicBezTo>
                      <a:pt x="213" y="0"/>
                      <a:pt x="225" y="4"/>
                      <a:pt x="239" y="18"/>
                    </a:cubicBezTo>
                    <a:cubicBezTo>
                      <a:pt x="241" y="19"/>
                      <a:pt x="241" y="21"/>
                      <a:pt x="241" y="23"/>
                    </a:cubicBezTo>
                    <a:cubicBezTo>
                      <a:pt x="241" y="25"/>
                      <a:pt x="239" y="27"/>
                      <a:pt x="238" y="28"/>
                    </a:cubicBezTo>
                    <a:cubicBezTo>
                      <a:pt x="213" y="40"/>
                      <a:pt x="194" y="50"/>
                      <a:pt x="179" y="58"/>
                    </a:cubicBezTo>
                    <a:cubicBezTo>
                      <a:pt x="142" y="78"/>
                      <a:pt x="125" y="87"/>
                      <a:pt x="105" y="8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33" name="Freeform 131">
                <a:extLst>
                  <a:ext uri="{FF2B5EF4-FFF2-40B4-BE49-F238E27FC236}">
                    <a16:creationId xmlns:a16="http://schemas.microsoft.com/office/drawing/2014/main" id="{C4E5AC93-9CD9-7AD4-3DA1-A543934552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9" y="2201"/>
                <a:ext cx="233" cy="90"/>
              </a:xfrm>
              <a:custGeom>
                <a:avLst/>
                <a:gdLst>
                  <a:gd name="T0" fmla="*/ 132 w 152"/>
                  <a:gd name="T1" fmla="*/ 60 h 60"/>
                  <a:gd name="T2" fmla="*/ 66 w 152"/>
                  <a:gd name="T3" fmla="*/ 60 h 60"/>
                  <a:gd name="T4" fmla="*/ 60 w 152"/>
                  <a:gd name="T5" fmla="*/ 54 h 60"/>
                  <a:gd name="T6" fmla="*/ 66 w 152"/>
                  <a:gd name="T7" fmla="*/ 48 h 60"/>
                  <a:gd name="T8" fmla="*/ 132 w 152"/>
                  <a:gd name="T9" fmla="*/ 48 h 60"/>
                  <a:gd name="T10" fmla="*/ 140 w 152"/>
                  <a:gd name="T11" fmla="*/ 42 h 60"/>
                  <a:gd name="T12" fmla="*/ 132 w 152"/>
                  <a:gd name="T13" fmla="*/ 36 h 60"/>
                  <a:gd name="T14" fmla="*/ 96 w 152"/>
                  <a:gd name="T15" fmla="*/ 36 h 60"/>
                  <a:gd name="T16" fmla="*/ 92 w 152"/>
                  <a:gd name="T17" fmla="*/ 34 h 60"/>
                  <a:gd name="T18" fmla="*/ 42 w 152"/>
                  <a:gd name="T19" fmla="*/ 12 h 60"/>
                  <a:gd name="T20" fmla="*/ 6 w 152"/>
                  <a:gd name="T21" fmla="*/ 12 h 60"/>
                  <a:gd name="T22" fmla="*/ 0 w 152"/>
                  <a:gd name="T23" fmla="*/ 6 h 60"/>
                  <a:gd name="T24" fmla="*/ 6 w 152"/>
                  <a:gd name="T25" fmla="*/ 0 h 60"/>
                  <a:gd name="T26" fmla="*/ 42 w 152"/>
                  <a:gd name="T27" fmla="*/ 0 h 60"/>
                  <a:gd name="T28" fmla="*/ 98 w 152"/>
                  <a:gd name="T29" fmla="*/ 24 h 60"/>
                  <a:gd name="T30" fmla="*/ 132 w 152"/>
                  <a:gd name="T31" fmla="*/ 24 h 60"/>
                  <a:gd name="T32" fmla="*/ 152 w 152"/>
                  <a:gd name="T33" fmla="*/ 42 h 60"/>
                  <a:gd name="T34" fmla="*/ 132 w 152"/>
                  <a:gd name="T35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2" h="60">
                    <a:moveTo>
                      <a:pt x="132" y="60"/>
                    </a:moveTo>
                    <a:cubicBezTo>
                      <a:pt x="66" y="60"/>
                      <a:pt x="66" y="60"/>
                      <a:pt x="66" y="60"/>
                    </a:cubicBezTo>
                    <a:cubicBezTo>
                      <a:pt x="63" y="60"/>
                      <a:pt x="60" y="57"/>
                      <a:pt x="60" y="54"/>
                    </a:cubicBezTo>
                    <a:cubicBezTo>
                      <a:pt x="60" y="51"/>
                      <a:pt x="63" y="48"/>
                      <a:pt x="66" y="48"/>
                    </a:cubicBezTo>
                    <a:cubicBezTo>
                      <a:pt x="132" y="48"/>
                      <a:pt x="132" y="48"/>
                      <a:pt x="132" y="48"/>
                    </a:cubicBezTo>
                    <a:cubicBezTo>
                      <a:pt x="138" y="48"/>
                      <a:pt x="140" y="45"/>
                      <a:pt x="140" y="42"/>
                    </a:cubicBezTo>
                    <a:cubicBezTo>
                      <a:pt x="140" y="39"/>
                      <a:pt x="138" y="36"/>
                      <a:pt x="132" y="36"/>
                    </a:cubicBezTo>
                    <a:cubicBezTo>
                      <a:pt x="96" y="36"/>
                      <a:pt x="96" y="36"/>
                      <a:pt x="96" y="36"/>
                    </a:cubicBezTo>
                    <a:cubicBezTo>
                      <a:pt x="94" y="36"/>
                      <a:pt x="93" y="36"/>
                      <a:pt x="92" y="34"/>
                    </a:cubicBezTo>
                    <a:cubicBezTo>
                      <a:pt x="85" y="28"/>
                      <a:pt x="67" y="12"/>
                      <a:pt x="42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69" y="0"/>
                      <a:pt x="90" y="16"/>
                      <a:pt x="98" y="24"/>
                    </a:cubicBezTo>
                    <a:cubicBezTo>
                      <a:pt x="132" y="24"/>
                      <a:pt x="132" y="24"/>
                      <a:pt x="132" y="24"/>
                    </a:cubicBezTo>
                    <a:cubicBezTo>
                      <a:pt x="145" y="24"/>
                      <a:pt x="152" y="33"/>
                      <a:pt x="152" y="42"/>
                    </a:cubicBezTo>
                    <a:cubicBezTo>
                      <a:pt x="152" y="51"/>
                      <a:pt x="145" y="60"/>
                      <a:pt x="132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34" name="Freeform 132">
                <a:extLst>
                  <a:ext uri="{FF2B5EF4-FFF2-40B4-BE49-F238E27FC236}">
                    <a16:creationId xmlns:a16="http://schemas.microsoft.com/office/drawing/2014/main" id="{7FCD0C73-E69F-6615-01F5-93AE2A17E5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43" y="1950"/>
                <a:ext cx="128" cy="125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5" y="12"/>
                      <a:pt x="12" y="26"/>
                      <a:pt x="12" y="42"/>
                    </a:cubicBezTo>
                    <a:cubicBezTo>
                      <a:pt x="12" y="59"/>
                      <a:pt x="25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6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35" name="Freeform 133">
                <a:extLst>
                  <a:ext uri="{FF2B5EF4-FFF2-40B4-BE49-F238E27FC236}">
                    <a16:creationId xmlns:a16="http://schemas.microsoft.com/office/drawing/2014/main" id="{D2B559A2-273A-F5EF-40DE-0CFC9CDC95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51" y="2075"/>
                <a:ext cx="128" cy="126"/>
              </a:xfrm>
              <a:custGeom>
                <a:avLst/>
                <a:gdLst>
                  <a:gd name="T0" fmla="*/ 42 w 84"/>
                  <a:gd name="T1" fmla="*/ 84 h 84"/>
                  <a:gd name="T2" fmla="*/ 0 w 84"/>
                  <a:gd name="T3" fmla="*/ 42 h 84"/>
                  <a:gd name="T4" fmla="*/ 42 w 84"/>
                  <a:gd name="T5" fmla="*/ 0 h 84"/>
                  <a:gd name="T6" fmla="*/ 84 w 84"/>
                  <a:gd name="T7" fmla="*/ 42 h 84"/>
                  <a:gd name="T8" fmla="*/ 42 w 84"/>
                  <a:gd name="T9" fmla="*/ 84 h 84"/>
                  <a:gd name="T10" fmla="*/ 42 w 84"/>
                  <a:gd name="T11" fmla="*/ 12 h 84"/>
                  <a:gd name="T12" fmla="*/ 12 w 84"/>
                  <a:gd name="T13" fmla="*/ 42 h 84"/>
                  <a:gd name="T14" fmla="*/ 42 w 84"/>
                  <a:gd name="T15" fmla="*/ 72 h 84"/>
                  <a:gd name="T16" fmla="*/ 72 w 84"/>
                  <a:gd name="T17" fmla="*/ 42 h 84"/>
                  <a:gd name="T18" fmla="*/ 42 w 84"/>
                  <a:gd name="T19" fmla="*/ 12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4">
                    <a:moveTo>
                      <a:pt x="42" y="84"/>
                    </a:moveTo>
                    <a:cubicBezTo>
                      <a:pt x="19" y="84"/>
                      <a:pt x="0" y="65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4" y="19"/>
                      <a:pt x="84" y="42"/>
                    </a:cubicBezTo>
                    <a:cubicBezTo>
                      <a:pt x="84" y="65"/>
                      <a:pt x="65" y="84"/>
                      <a:pt x="42" y="84"/>
                    </a:cubicBezTo>
                    <a:close/>
                    <a:moveTo>
                      <a:pt x="42" y="12"/>
                    </a:moveTo>
                    <a:cubicBezTo>
                      <a:pt x="25" y="12"/>
                      <a:pt x="12" y="26"/>
                      <a:pt x="12" y="42"/>
                    </a:cubicBezTo>
                    <a:cubicBezTo>
                      <a:pt x="12" y="59"/>
                      <a:pt x="25" y="72"/>
                      <a:pt x="42" y="72"/>
                    </a:cubicBezTo>
                    <a:cubicBezTo>
                      <a:pt x="59" y="72"/>
                      <a:pt x="72" y="59"/>
                      <a:pt x="72" y="42"/>
                    </a:cubicBezTo>
                    <a:cubicBezTo>
                      <a:pt x="72" y="26"/>
                      <a:pt x="59" y="12"/>
                      <a:pt x="42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36" name="Freeform 134">
                <a:extLst>
                  <a:ext uri="{FF2B5EF4-FFF2-40B4-BE49-F238E27FC236}">
                    <a16:creationId xmlns:a16="http://schemas.microsoft.com/office/drawing/2014/main" id="{4C21A8F0-4397-0404-4CE3-DE605A111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6" y="2111"/>
                <a:ext cx="18" cy="54"/>
              </a:xfrm>
              <a:custGeom>
                <a:avLst/>
                <a:gdLst>
                  <a:gd name="T0" fmla="*/ 6 w 12"/>
                  <a:gd name="T1" fmla="*/ 36 h 36"/>
                  <a:gd name="T2" fmla="*/ 0 w 12"/>
                  <a:gd name="T3" fmla="*/ 30 h 36"/>
                  <a:gd name="T4" fmla="*/ 0 w 12"/>
                  <a:gd name="T5" fmla="*/ 6 h 36"/>
                  <a:gd name="T6" fmla="*/ 6 w 12"/>
                  <a:gd name="T7" fmla="*/ 0 h 36"/>
                  <a:gd name="T8" fmla="*/ 12 w 12"/>
                  <a:gd name="T9" fmla="*/ 6 h 36"/>
                  <a:gd name="T10" fmla="*/ 12 w 12"/>
                  <a:gd name="T11" fmla="*/ 30 h 36"/>
                  <a:gd name="T12" fmla="*/ 6 w 1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6">
                    <a:moveTo>
                      <a:pt x="6" y="36"/>
                    </a:move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3"/>
                      <a:pt x="9" y="36"/>
                      <a:pt x="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37" name="Freeform 135">
                <a:extLst>
                  <a:ext uri="{FF2B5EF4-FFF2-40B4-BE49-F238E27FC236}">
                    <a16:creationId xmlns:a16="http://schemas.microsoft.com/office/drawing/2014/main" id="{182A8C9D-ECA8-F580-8BBC-E0AFC5531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8" y="1986"/>
                <a:ext cx="18" cy="54"/>
              </a:xfrm>
              <a:custGeom>
                <a:avLst/>
                <a:gdLst>
                  <a:gd name="T0" fmla="*/ 6 w 12"/>
                  <a:gd name="T1" fmla="*/ 36 h 36"/>
                  <a:gd name="T2" fmla="*/ 0 w 12"/>
                  <a:gd name="T3" fmla="*/ 30 h 36"/>
                  <a:gd name="T4" fmla="*/ 0 w 12"/>
                  <a:gd name="T5" fmla="*/ 6 h 36"/>
                  <a:gd name="T6" fmla="*/ 6 w 12"/>
                  <a:gd name="T7" fmla="*/ 0 h 36"/>
                  <a:gd name="T8" fmla="*/ 12 w 12"/>
                  <a:gd name="T9" fmla="*/ 6 h 36"/>
                  <a:gd name="T10" fmla="*/ 12 w 12"/>
                  <a:gd name="T11" fmla="*/ 30 h 36"/>
                  <a:gd name="T12" fmla="*/ 6 w 12"/>
                  <a:gd name="T1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36">
                    <a:moveTo>
                      <a:pt x="6" y="36"/>
                    </a:moveTo>
                    <a:cubicBezTo>
                      <a:pt x="3" y="36"/>
                      <a:pt x="0" y="33"/>
                      <a:pt x="0" y="3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12" y="33"/>
                      <a:pt x="9" y="36"/>
                      <a:pt x="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  <p:grpSp>
          <p:nvGrpSpPr>
            <p:cNvPr id="7338" name="Group 166">
              <a:extLst>
                <a:ext uri="{FF2B5EF4-FFF2-40B4-BE49-F238E27FC236}">
                  <a16:creationId xmlns:a16="http://schemas.microsoft.com/office/drawing/2014/main" id="{B4C3E8EE-E121-D317-9EC5-D6891E0E41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46058" y="-2280973"/>
              <a:ext cx="477883" cy="485771"/>
              <a:chOff x="6728" y="3219"/>
              <a:chExt cx="424" cy="431"/>
            </a:xfrm>
            <a:solidFill>
              <a:srgbClr val="629DD1"/>
            </a:solidFill>
          </p:grpSpPr>
          <p:sp>
            <p:nvSpPr>
              <p:cNvPr id="7339" name="Rectangle 167">
                <a:extLst>
                  <a:ext uri="{FF2B5EF4-FFF2-40B4-BE49-F238E27FC236}">
                    <a16:creationId xmlns:a16="http://schemas.microsoft.com/office/drawing/2014/main" id="{F690B5B6-A010-BB02-8951-5E7963924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9" y="3430"/>
                <a:ext cx="18" cy="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40" name="Freeform 168">
                <a:extLst>
                  <a:ext uri="{FF2B5EF4-FFF2-40B4-BE49-F238E27FC236}">
                    <a16:creationId xmlns:a16="http://schemas.microsoft.com/office/drawing/2014/main" id="{B91D6A79-A0C4-F4EA-EB70-E9F500FEB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8" y="3430"/>
                <a:ext cx="211" cy="184"/>
              </a:xfrm>
              <a:custGeom>
                <a:avLst/>
                <a:gdLst>
                  <a:gd name="T0" fmla="*/ 138 w 138"/>
                  <a:gd name="T1" fmla="*/ 123 h 123"/>
                  <a:gd name="T2" fmla="*/ 6 w 138"/>
                  <a:gd name="T3" fmla="*/ 123 h 123"/>
                  <a:gd name="T4" fmla="*/ 0 w 138"/>
                  <a:gd name="T5" fmla="*/ 117 h 123"/>
                  <a:gd name="T6" fmla="*/ 0 w 138"/>
                  <a:gd name="T7" fmla="*/ 89 h 123"/>
                  <a:gd name="T8" fmla="*/ 28 w 138"/>
                  <a:gd name="T9" fmla="*/ 49 h 123"/>
                  <a:gd name="T10" fmla="*/ 84 w 138"/>
                  <a:gd name="T11" fmla="*/ 29 h 123"/>
                  <a:gd name="T12" fmla="*/ 84 w 138"/>
                  <a:gd name="T13" fmla="*/ 0 h 123"/>
                  <a:gd name="T14" fmla="*/ 96 w 138"/>
                  <a:gd name="T15" fmla="*/ 0 h 123"/>
                  <a:gd name="T16" fmla="*/ 96 w 138"/>
                  <a:gd name="T17" fmla="*/ 33 h 123"/>
                  <a:gd name="T18" fmla="*/ 92 w 138"/>
                  <a:gd name="T19" fmla="*/ 39 h 123"/>
                  <a:gd name="T20" fmla="*/ 32 w 138"/>
                  <a:gd name="T21" fmla="*/ 61 h 123"/>
                  <a:gd name="T22" fmla="*/ 12 w 138"/>
                  <a:gd name="T23" fmla="*/ 89 h 123"/>
                  <a:gd name="T24" fmla="*/ 12 w 138"/>
                  <a:gd name="T25" fmla="*/ 111 h 123"/>
                  <a:gd name="T26" fmla="*/ 138 w 138"/>
                  <a:gd name="T27" fmla="*/ 111 h 123"/>
                  <a:gd name="T28" fmla="*/ 138 w 138"/>
                  <a:gd name="T29" fmla="*/ 123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38" h="123">
                    <a:moveTo>
                      <a:pt x="138" y="123"/>
                    </a:moveTo>
                    <a:cubicBezTo>
                      <a:pt x="6" y="123"/>
                      <a:pt x="6" y="123"/>
                      <a:pt x="6" y="123"/>
                    </a:cubicBezTo>
                    <a:cubicBezTo>
                      <a:pt x="3" y="123"/>
                      <a:pt x="0" y="121"/>
                      <a:pt x="0" y="117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71"/>
                      <a:pt x="11" y="55"/>
                      <a:pt x="28" y="4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6" y="33"/>
                      <a:pt x="96" y="33"/>
                      <a:pt x="96" y="33"/>
                    </a:cubicBezTo>
                    <a:cubicBezTo>
                      <a:pt x="96" y="36"/>
                      <a:pt x="94" y="38"/>
                      <a:pt x="92" y="39"/>
                    </a:cubicBezTo>
                    <a:cubicBezTo>
                      <a:pt x="32" y="61"/>
                      <a:pt x="32" y="61"/>
                      <a:pt x="32" y="61"/>
                    </a:cubicBezTo>
                    <a:cubicBezTo>
                      <a:pt x="20" y="65"/>
                      <a:pt x="12" y="76"/>
                      <a:pt x="12" y="89"/>
                    </a:cubicBezTo>
                    <a:cubicBezTo>
                      <a:pt x="12" y="111"/>
                      <a:pt x="12" y="111"/>
                      <a:pt x="12" y="111"/>
                    </a:cubicBezTo>
                    <a:cubicBezTo>
                      <a:pt x="138" y="111"/>
                      <a:pt x="138" y="111"/>
                      <a:pt x="138" y="111"/>
                    </a:cubicBezTo>
                    <a:lnTo>
                      <a:pt x="138" y="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41" name="Freeform 169">
                <a:extLst>
                  <a:ext uri="{FF2B5EF4-FFF2-40B4-BE49-F238E27FC236}">
                    <a16:creationId xmlns:a16="http://schemas.microsoft.com/office/drawing/2014/main" id="{AC71BDF2-3A4C-2F55-BEEA-2711665E76A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1" y="3219"/>
                <a:ext cx="202" cy="234"/>
              </a:xfrm>
              <a:custGeom>
                <a:avLst/>
                <a:gdLst>
                  <a:gd name="T0" fmla="*/ 66 w 132"/>
                  <a:gd name="T1" fmla="*/ 156 h 156"/>
                  <a:gd name="T2" fmla="*/ 0 w 132"/>
                  <a:gd name="T3" fmla="*/ 78 h 156"/>
                  <a:gd name="T4" fmla="*/ 66 w 132"/>
                  <a:gd name="T5" fmla="*/ 0 h 156"/>
                  <a:gd name="T6" fmla="*/ 132 w 132"/>
                  <a:gd name="T7" fmla="*/ 78 h 156"/>
                  <a:gd name="T8" fmla="*/ 66 w 132"/>
                  <a:gd name="T9" fmla="*/ 156 h 156"/>
                  <a:gd name="T10" fmla="*/ 66 w 132"/>
                  <a:gd name="T11" fmla="*/ 12 h 156"/>
                  <a:gd name="T12" fmla="*/ 12 w 132"/>
                  <a:gd name="T13" fmla="*/ 78 h 156"/>
                  <a:gd name="T14" fmla="*/ 66 w 132"/>
                  <a:gd name="T15" fmla="*/ 144 h 156"/>
                  <a:gd name="T16" fmla="*/ 120 w 132"/>
                  <a:gd name="T17" fmla="*/ 78 h 156"/>
                  <a:gd name="T18" fmla="*/ 66 w 132"/>
                  <a:gd name="T19" fmla="*/ 1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2" h="156">
                    <a:moveTo>
                      <a:pt x="66" y="156"/>
                    </a:moveTo>
                    <a:cubicBezTo>
                      <a:pt x="29" y="156"/>
                      <a:pt x="0" y="121"/>
                      <a:pt x="0" y="78"/>
                    </a:cubicBezTo>
                    <a:cubicBezTo>
                      <a:pt x="0" y="35"/>
                      <a:pt x="29" y="0"/>
                      <a:pt x="66" y="0"/>
                    </a:cubicBezTo>
                    <a:cubicBezTo>
                      <a:pt x="102" y="0"/>
                      <a:pt x="132" y="35"/>
                      <a:pt x="132" y="78"/>
                    </a:cubicBezTo>
                    <a:cubicBezTo>
                      <a:pt x="132" y="121"/>
                      <a:pt x="102" y="156"/>
                      <a:pt x="66" y="156"/>
                    </a:cubicBezTo>
                    <a:close/>
                    <a:moveTo>
                      <a:pt x="66" y="12"/>
                    </a:moveTo>
                    <a:cubicBezTo>
                      <a:pt x="36" y="12"/>
                      <a:pt x="12" y="42"/>
                      <a:pt x="12" y="78"/>
                    </a:cubicBezTo>
                    <a:cubicBezTo>
                      <a:pt x="12" y="115"/>
                      <a:pt x="36" y="144"/>
                      <a:pt x="66" y="144"/>
                    </a:cubicBezTo>
                    <a:cubicBezTo>
                      <a:pt x="96" y="144"/>
                      <a:pt x="120" y="115"/>
                      <a:pt x="120" y="78"/>
                    </a:cubicBezTo>
                    <a:cubicBezTo>
                      <a:pt x="120" y="42"/>
                      <a:pt x="96" y="12"/>
                      <a:pt x="6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42" name="Freeform 170">
                <a:extLst>
                  <a:ext uri="{FF2B5EF4-FFF2-40B4-BE49-F238E27FC236}">
                    <a16:creationId xmlns:a16="http://schemas.microsoft.com/office/drawing/2014/main" id="{92AFA5FC-6860-6FB0-6108-9AC59973F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7" y="3284"/>
                <a:ext cx="187" cy="54"/>
              </a:xfrm>
              <a:custGeom>
                <a:avLst/>
                <a:gdLst>
                  <a:gd name="T0" fmla="*/ 106 w 122"/>
                  <a:gd name="T1" fmla="*/ 36 h 36"/>
                  <a:gd name="T2" fmla="*/ 71 w 122"/>
                  <a:gd name="T3" fmla="*/ 17 h 36"/>
                  <a:gd name="T4" fmla="*/ 26 w 122"/>
                  <a:gd name="T5" fmla="*/ 35 h 36"/>
                  <a:gd name="T6" fmla="*/ 0 w 122"/>
                  <a:gd name="T7" fmla="*/ 29 h 36"/>
                  <a:gd name="T8" fmla="*/ 5 w 122"/>
                  <a:gd name="T9" fmla="*/ 19 h 36"/>
                  <a:gd name="T10" fmla="*/ 26 w 122"/>
                  <a:gd name="T11" fmla="*/ 23 h 36"/>
                  <a:gd name="T12" fmla="*/ 66 w 122"/>
                  <a:gd name="T13" fmla="*/ 4 h 36"/>
                  <a:gd name="T14" fmla="*/ 71 w 122"/>
                  <a:gd name="T15" fmla="*/ 0 h 36"/>
                  <a:gd name="T16" fmla="*/ 76 w 122"/>
                  <a:gd name="T17" fmla="*/ 3 h 36"/>
                  <a:gd name="T18" fmla="*/ 115 w 122"/>
                  <a:gd name="T19" fmla="*/ 24 h 36"/>
                  <a:gd name="T20" fmla="*/ 119 w 122"/>
                  <a:gd name="T21" fmla="*/ 23 h 36"/>
                  <a:gd name="T22" fmla="*/ 121 w 122"/>
                  <a:gd name="T23" fmla="*/ 23 h 36"/>
                  <a:gd name="T24" fmla="*/ 122 w 122"/>
                  <a:gd name="T25" fmla="*/ 35 h 36"/>
                  <a:gd name="T26" fmla="*/ 119 w 122"/>
                  <a:gd name="T27" fmla="*/ 35 h 36"/>
                  <a:gd name="T28" fmla="*/ 117 w 122"/>
                  <a:gd name="T29" fmla="*/ 35 h 36"/>
                  <a:gd name="T30" fmla="*/ 106 w 122"/>
                  <a:gd name="T31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36">
                    <a:moveTo>
                      <a:pt x="106" y="36"/>
                    </a:moveTo>
                    <a:cubicBezTo>
                      <a:pt x="91" y="36"/>
                      <a:pt x="80" y="30"/>
                      <a:pt x="71" y="17"/>
                    </a:cubicBezTo>
                    <a:cubicBezTo>
                      <a:pt x="60" y="28"/>
                      <a:pt x="42" y="35"/>
                      <a:pt x="26" y="35"/>
                    </a:cubicBezTo>
                    <a:cubicBezTo>
                      <a:pt x="16" y="35"/>
                      <a:pt x="8" y="33"/>
                      <a:pt x="0" y="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12" y="22"/>
                      <a:pt x="18" y="23"/>
                      <a:pt x="26" y="23"/>
                    </a:cubicBezTo>
                    <a:cubicBezTo>
                      <a:pt x="41" y="23"/>
                      <a:pt x="60" y="14"/>
                      <a:pt x="66" y="4"/>
                    </a:cubicBezTo>
                    <a:cubicBezTo>
                      <a:pt x="67" y="2"/>
                      <a:pt x="69" y="0"/>
                      <a:pt x="71" y="0"/>
                    </a:cubicBezTo>
                    <a:cubicBezTo>
                      <a:pt x="73" y="0"/>
                      <a:pt x="75" y="1"/>
                      <a:pt x="76" y="3"/>
                    </a:cubicBezTo>
                    <a:cubicBezTo>
                      <a:pt x="86" y="21"/>
                      <a:pt x="97" y="27"/>
                      <a:pt x="115" y="24"/>
                    </a:cubicBezTo>
                    <a:cubicBezTo>
                      <a:pt x="116" y="23"/>
                      <a:pt x="118" y="23"/>
                      <a:pt x="119" y="23"/>
                    </a:cubicBezTo>
                    <a:cubicBezTo>
                      <a:pt x="120" y="23"/>
                      <a:pt x="120" y="23"/>
                      <a:pt x="121" y="23"/>
                    </a:cubicBezTo>
                    <a:cubicBezTo>
                      <a:pt x="122" y="35"/>
                      <a:pt x="122" y="35"/>
                      <a:pt x="122" y="35"/>
                    </a:cubicBezTo>
                    <a:cubicBezTo>
                      <a:pt x="121" y="35"/>
                      <a:pt x="120" y="35"/>
                      <a:pt x="119" y="35"/>
                    </a:cubicBezTo>
                    <a:cubicBezTo>
                      <a:pt x="118" y="35"/>
                      <a:pt x="117" y="35"/>
                      <a:pt x="117" y="35"/>
                    </a:cubicBezTo>
                    <a:cubicBezTo>
                      <a:pt x="113" y="36"/>
                      <a:pt x="109" y="36"/>
                      <a:pt x="106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43" name="Freeform 171">
                <a:extLst>
                  <a:ext uri="{FF2B5EF4-FFF2-40B4-BE49-F238E27FC236}">
                    <a16:creationId xmlns:a16="http://schemas.microsoft.com/office/drawing/2014/main" id="{12895D25-014A-180A-C312-A4FE591D25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5" y="3524"/>
                <a:ext cx="74" cy="72"/>
              </a:xfrm>
              <a:custGeom>
                <a:avLst/>
                <a:gdLst>
                  <a:gd name="T0" fmla="*/ 24 w 48"/>
                  <a:gd name="T1" fmla="*/ 48 h 48"/>
                  <a:gd name="T2" fmla="*/ 0 w 48"/>
                  <a:gd name="T3" fmla="*/ 24 h 48"/>
                  <a:gd name="T4" fmla="*/ 24 w 48"/>
                  <a:gd name="T5" fmla="*/ 0 h 48"/>
                  <a:gd name="T6" fmla="*/ 48 w 48"/>
                  <a:gd name="T7" fmla="*/ 24 h 48"/>
                  <a:gd name="T8" fmla="*/ 24 w 48"/>
                  <a:gd name="T9" fmla="*/ 48 h 48"/>
                  <a:gd name="T10" fmla="*/ 24 w 48"/>
                  <a:gd name="T11" fmla="*/ 12 h 48"/>
                  <a:gd name="T12" fmla="*/ 12 w 48"/>
                  <a:gd name="T13" fmla="*/ 24 h 48"/>
                  <a:gd name="T14" fmla="*/ 24 w 48"/>
                  <a:gd name="T15" fmla="*/ 36 h 48"/>
                  <a:gd name="T16" fmla="*/ 36 w 48"/>
                  <a:gd name="T17" fmla="*/ 24 h 48"/>
                  <a:gd name="T18" fmla="*/ 24 w 48"/>
                  <a:gd name="T1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48">
                    <a:moveTo>
                      <a:pt x="24" y="48"/>
                    </a:moveTo>
                    <a:cubicBezTo>
                      <a:pt x="11" y="48"/>
                      <a:pt x="0" y="38"/>
                      <a:pt x="0" y="24"/>
                    </a:cubicBezTo>
                    <a:cubicBezTo>
                      <a:pt x="0" y="11"/>
                      <a:pt x="11" y="0"/>
                      <a:pt x="24" y="0"/>
                    </a:cubicBezTo>
                    <a:cubicBezTo>
                      <a:pt x="37" y="0"/>
                      <a:pt x="48" y="11"/>
                      <a:pt x="48" y="24"/>
                    </a:cubicBezTo>
                    <a:cubicBezTo>
                      <a:pt x="48" y="38"/>
                      <a:pt x="37" y="48"/>
                      <a:pt x="24" y="48"/>
                    </a:cubicBezTo>
                    <a:close/>
                    <a:moveTo>
                      <a:pt x="24" y="12"/>
                    </a:moveTo>
                    <a:cubicBezTo>
                      <a:pt x="17" y="12"/>
                      <a:pt x="12" y="18"/>
                      <a:pt x="12" y="24"/>
                    </a:cubicBezTo>
                    <a:cubicBezTo>
                      <a:pt x="12" y="31"/>
                      <a:pt x="17" y="36"/>
                      <a:pt x="24" y="36"/>
                    </a:cubicBezTo>
                    <a:cubicBezTo>
                      <a:pt x="30" y="36"/>
                      <a:pt x="36" y="31"/>
                      <a:pt x="36" y="24"/>
                    </a:cubicBezTo>
                    <a:cubicBezTo>
                      <a:pt x="36" y="18"/>
                      <a:pt x="30" y="12"/>
                      <a:pt x="24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44" name="Freeform 172">
                <a:extLst>
                  <a:ext uri="{FF2B5EF4-FFF2-40B4-BE49-F238E27FC236}">
                    <a16:creationId xmlns:a16="http://schemas.microsoft.com/office/drawing/2014/main" id="{A0A85272-6A3B-5F58-74A4-4656A6079A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70" y="3471"/>
                <a:ext cx="182" cy="179"/>
              </a:xfrm>
              <a:custGeom>
                <a:avLst/>
                <a:gdLst>
                  <a:gd name="T0" fmla="*/ 46 w 119"/>
                  <a:gd name="T1" fmla="*/ 120 h 120"/>
                  <a:gd name="T2" fmla="*/ 40 w 119"/>
                  <a:gd name="T3" fmla="*/ 105 h 120"/>
                  <a:gd name="T4" fmla="*/ 22 w 119"/>
                  <a:gd name="T5" fmla="*/ 103 h 120"/>
                  <a:gd name="T6" fmla="*/ 14 w 119"/>
                  <a:gd name="T7" fmla="*/ 101 h 120"/>
                  <a:gd name="T8" fmla="*/ 1 w 119"/>
                  <a:gd name="T9" fmla="*/ 75 h 120"/>
                  <a:gd name="T10" fmla="*/ 12 w 119"/>
                  <a:gd name="T11" fmla="*/ 67 h 120"/>
                  <a:gd name="T12" fmla="*/ 12 w 119"/>
                  <a:gd name="T13" fmla="*/ 54 h 120"/>
                  <a:gd name="T14" fmla="*/ 2 w 119"/>
                  <a:gd name="T15" fmla="*/ 41 h 120"/>
                  <a:gd name="T16" fmla="*/ 17 w 119"/>
                  <a:gd name="T17" fmla="*/ 17 h 120"/>
                  <a:gd name="T18" fmla="*/ 29 w 119"/>
                  <a:gd name="T19" fmla="*/ 23 h 120"/>
                  <a:gd name="T20" fmla="*/ 40 w 119"/>
                  <a:gd name="T21" fmla="*/ 6 h 120"/>
                  <a:gd name="T22" fmla="*/ 70 w 119"/>
                  <a:gd name="T23" fmla="*/ 0 h 120"/>
                  <a:gd name="T24" fmla="*/ 76 w 119"/>
                  <a:gd name="T25" fmla="*/ 16 h 120"/>
                  <a:gd name="T26" fmla="*/ 98 w 119"/>
                  <a:gd name="T27" fmla="*/ 18 h 120"/>
                  <a:gd name="T28" fmla="*/ 118 w 119"/>
                  <a:gd name="T29" fmla="*/ 41 h 120"/>
                  <a:gd name="T30" fmla="*/ 116 w 119"/>
                  <a:gd name="T31" fmla="*/ 49 h 120"/>
                  <a:gd name="T32" fmla="*/ 108 w 119"/>
                  <a:gd name="T33" fmla="*/ 60 h 120"/>
                  <a:gd name="T34" fmla="*/ 115 w 119"/>
                  <a:gd name="T35" fmla="*/ 72 h 120"/>
                  <a:gd name="T36" fmla="*/ 118 w 119"/>
                  <a:gd name="T37" fmla="*/ 80 h 120"/>
                  <a:gd name="T38" fmla="*/ 97 w 119"/>
                  <a:gd name="T39" fmla="*/ 103 h 120"/>
                  <a:gd name="T40" fmla="*/ 76 w 119"/>
                  <a:gd name="T41" fmla="*/ 105 h 120"/>
                  <a:gd name="T42" fmla="*/ 70 w 119"/>
                  <a:gd name="T43" fmla="*/ 120 h 120"/>
                  <a:gd name="T44" fmla="*/ 64 w 119"/>
                  <a:gd name="T45" fmla="*/ 108 h 120"/>
                  <a:gd name="T46" fmla="*/ 68 w 119"/>
                  <a:gd name="T47" fmla="*/ 95 h 120"/>
                  <a:gd name="T48" fmla="*/ 91 w 119"/>
                  <a:gd name="T49" fmla="*/ 86 h 120"/>
                  <a:gd name="T50" fmla="*/ 104 w 119"/>
                  <a:gd name="T51" fmla="*/ 79 h 120"/>
                  <a:gd name="T52" fmla="*/ 95 w 119"/>
                  <a:gd name="T53" fmla="*/ 69 h 120"/>
                  <a:gd name="T54" fmla="*/ 95 w 119"/>
                  <a:gd name="T55" fmla="*/ 52 h 120"/>
                  <a:gd name="T56" fmla="*/ 104 w 119"/>
                  <a:gd name="T57" fmla="*/ 42 h 120"/>
                  <a:gd name="T58" fmla="*/ 91 w 119"/>
                  <a:gd name="T59" fmla="*/ 35 h 120"/>
                  <a:gd name="T60" fmla="*/ 68 w 119"/>
                  <a:gd name="T61" fmla="*/ 26 h 120"/>
                  <a:gd name="T62" fmla="*/ 64 w 119"/>
                  <a:gd name="T63" fmla="*/ 12 h 120"/>
                  <a:gd name="T64" fmla="*/ 52 w 119"/>
                  <a:gd name="T65" fmla="*/ 20 h 120"/>
                  <a:gd name="T66" fmla="*/ 34 w 119"/>
                  <a:gd name="T67" fmla="*/ 34 h 120"/>
                  <a:gd name="T68" fmla="*/ 21 w 119"/>
                  <a:gd name="T69" fmla="*/ 31 h 120"/>
                  <a:gd name="T70" fmla="*/ 22 w 119"/>
                  <a:gd name="T71" fmla="*/ 46 h 120"/>
                  <a:gd name="T72" fmla="*/ 24 w 119"/>
                  <a:gd name="T73" fmla="*/ 60 h 120"/>
                  <a:gd name="T74" fmla="*/ 22 w 119"/>
                  <a:gd name="T75" fmla="*/ 75 h 120"/>
                  <a:gd name="T76" fmla="*/ 21 w 119"/>
                  <a:gd name="T77" fmla="*/ 89 h 120"/>
                  <a:gd name="T78" fmla="*/ 34 w 119"/>
                  <a:gd name="T79" fmla="*/ 87 h 120"/>
                  <a:gd name="T80" fmla="*/ 52 w 119"/>
                  <a:gd name="T81" fmla="*/ 101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9" h="120">
                    <a:moveTo>
                      <a:pt x="70" y="120"/>
                    </a:moveTo>
                    <a:cubicBezTo>
                      <a:pt x="46" y="120"/>
                      <a:pt x="46" y="120"/>
                      <a:pt x="46" y="120"/>
                    </a:cubicBezTo>
                    <a:cubicBezTo>
                      <a:pt x="43" y="120"/>
                      <a:pt x="40" y="118"/>
                      <a:pt x="40" y="114"/>
                    </a:cubicBezTo>
                    <a:cubicBezTo>
                      <a:pt x="40" y="105"/>
                      <a:pt x="40" y="105"/>
                      <a:pt x="40" y="105"/>
                    </a:cubicBezTo>
                    <a:cubicBezTo>
                      <a:pt x="36" y="103"/>
                      <a:pt x="33" y="101"/>
                      <a:pt x="29" y="98"/>
                    </a:cubicBezTo>
                    <a:cubicBezTo>
                      <a:pt x="22" y="103"/>
                      <a:pt x="22" y="103"/>
                      <a:pt x="22" y="103"/>
                    </a:cubicBezTo>
                    <a:cubicBezTo>
                      <a:pt x="21" y="104"/>
                      <a:pt x="19" y="104"/>
                      <a:pt x="18" y="104"/>
                    </a:cubicBezTo>
                    <a:cubicBezTo>
                      <a:pt x="16" y="103"/>
                      <a:pt x="15" y="102"/>
                      <a:pt x="14" y="101"/>
                    </a:cubicBezTo>
                    <a:cubicBezTo>
                      <a:pt x="2" y="80"/>
                      <a:pt x="2" y="80"/>
                      <a:pt x="2" y="80"/>
                    </a:cubicBezTo>
                    <a:cubicBezTo>
                      <a:pt x="1" y="79"/>
                      <a:pt x="1" y="77"/>
                      <a:pt x="1" y="75"/>
                    </a:cubicBezTo>
                    <a:cubicBezTo>
                      <a:pt x="2" y="74"/>
                      <a:pt x="3" y="73"/>
                      <a:pt x="4" y="72"/>
                    </a:cubicBezTo>
                    <a:cubicBezTo>
                      <a:pt x="12" y="67"/>
                      <a:pt x="12" y="67"/>
                      <a:pt x="12" y="67"/>
                    </a:cubicBezTo>
                    <a:cubicBezTo>
                      <a:pt x="12" y="65"/>
                      <a:pt x="12" y="63"/>
                      <a:pt x="12" y="60"/>
                    </a:cubicBezTo>
                    <a:cubicBezTo>
                      <a:pt x="12" y="58"/>
                      <a:pt x="12" y="56"/>
                      <a:pt x="12" y="54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1" y="47"/>
                      <a:pt x="0" y="44"/>
                      <a:pt x="2" y="41"/>
                    </a:cubicBezTo>
                    <a:cubicBezTo>
                      <a:pt x="13" y="20"/>
                      <a:pt x="13" y="20"/>
                      <a:pt x="13" y="20"/>
                    </a:cubicBezTo>
                    <a:cubicBezTo>
                      <a:pt x="14" y="19"/>
                      <a:pt x="16" y="18"/>
                      <a:pt x="17" y="17"/>
                    </a:cubicBezTo>
                    <a:cubicBezTo>
                      <a:pt x="19" y="17"/>
                      <a:pt x="20" y="17"/>
                      <a:pt x="22" y="18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33" y="20"/>
                      <a:pt x="36" y="18"/>
                      <a:pt x="40" y="16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40" y="3"/>
                      <a:pt x="43" y="0"/>
                      <a:pt x="46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3" y="0"/>
                      <a:pt x="76" y="3"/>
                      <a:pt x="76" y="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9" y="17"/>
                      <a:pt x="84" y="20"/>
                      <a:pt x="88" y="23"/>
                    </a:cubicBezTo>
                    <a:cubicBezTo>
                      <a:pt x="98" y="18"/>
                      <a:pt x="98" y="18"/>
                      <a:pt x="98" y="18"/>
                    </a:cubicBezTo>
                    <a:cubicBezTo>
                      <a:pt x="101" y="16"/>
                      <a:pt x="104" y="17"/>
                      <a:pt x="106" y="20"/>
                    </a:cubicBezTo>
                    <a:cubicBezTo>
                      <a:pt x="118" y="41"/>
                      <a:pt x="118" y="41"/>
                      <a:pt x="118" y="41"/>
                    </a:cubicBezTo>
                    <a:cubicBezTo>
                      <a:pt x="119" y="42"/>
                      <a:pt x="119" y="44"/>
                      <a:pt x="118" y="45"/>
                    </a:cubicBezTo>
                    <a:cubicBezTo>
                      <a:pt x="118" y="47"/>
                      <a:pt x="117" y="48"/>
                      <a:pt x="116" y="49"/>
                    </a:cubicBezTo>
                    <a:cubicBezTo>
                      <a:pt x="107" y="54"/>
                      <a:pt x="107" y="54"/>
                      <a:pt x="107" y="54"/>
                    </a:cubicBezTo>
                    <a:cubicBezTo>
                      <a:pt x="108" y="56"/>
                      <a:pt x="108" y="58"/>
                      <a:pt x="108" y="60"/>
                    </a:cubicBezTo>
                    <a:cubicBezTo>
                      <a:pt x="108" y="63"/>
                      <a:pt x="108" y="65"/>
                      <a:pt x="107" y="67"/>
                    </a:cubicBezTo>
                    <a:cubicBezTo>
                      <a:pt x="115" y="72"/>
                      <a:pt x="115" y="72"/>
                      <a:pt x="115" y="72"/>
                    </a:cubicBezTo>
                    <a:cubicBezTo>
                      <a:pt x="117" y="73"/>
                      <a:pt x="118" y="74"/>
                      <a:pt x="118" y="76"/>
                    </a:cubicBezTo>
                    <a:cubicBezTo>
                      <a:pt x="119" y="77"/>
                      <a:pt x="118" y="79"/>
                      <a:pt x="118" y="80"/>
                    </a:cubicBezTo>
                    <a:cubicBezTo>
                      <a:pt x="105" y="101"/>
                      <a:pt x="105" y="101"/>
                      <a:pt x="105" y="101"/>
                    </a:cubicBezTo>
                    <a:cubicBezTo>
                      <a:pt x="104" y="104"/>
                      <a:pt x="100" y="105"/>
                      <a:pt x="97" y="103"/>
                    </a:cubicBezTo>
                    <a:cubicBezTo>
                      <a:pt x="88" y="98"/>
                      <a:pt x="88" y="98"/>
                      <a:pt x="88" y="98"/>
                    </a:cubicBezTo>
                    <a:cubicBezTo>
                      <a:pt x="84" y="101"/>
                      <a:pt x="79" y="103"/>
                      <a:pt x="76" y="105"/>
                    </a:cubicBezTo>
                    <a:cubicBezTo>
                      <a:pt x="76" y="114"/>
                      <a:pt x="76" y="114"/>
                      <a:pt x="76" y="114"/>
                    </a:cubicBezTo>
                    <a:cubicBezTo>
                      <a:pt x="76" y="118"/>
                      <a:pt x="73" y="120"/>
                      <a:pt x="70" y="120"/>
                    </a:cubicBezTo>
                    <a:close/>
                    <a:moveTo>
                      <a:pt x="52" y="108"/>
                    </a:moveTo>
                    <a:cubicBezTo>
                      <a:pt x="64" y="108"/>
                      <a:pt x="64" y="108"/>
                      <a:pt x="64" y="108"/>
                    </a:cubicBezTo>
                    <a:cubicBezTo>
                      <a:pt x="64" y="101"/>
                      <a:pt x="64" y="101"/>
                      <a:pt x="64" y="101"/>
                    </a:cubicBezTo>
                    <a:cubicBezTo>
                      <a:pt x="64" y="98"/>
                      <a:pt x="66" y="96"/>
                      <a:pt x="68" y="95"/>
                    </a:cubicBezTo>
                    <a:cubicBezTo>
                      <a:pt x="74" y="93"/>
                      <a:pt x="80" y="90"/>
                      <a:pt x="84" y="87"/>
                    </a:cubicBezTo>
                    <a:cubicBezTo>
                      <a:pt x="85" y="85"/>
                      <a:pt x="88" y="84"/>
                      <a:pt x="91" y="86"/>
                    </a:cubicBezTo>
                    <a:cubicBezTo>
                      <a:pt x="98" y="90"/>
                      <a:pt x="98" y="90"/>
                      <a:pt x="98" y="90"/>
                    </a:cubicBezTo>
                    <a:cubicBezTo>
                      <a:pt x="104" y="79"/>
                      <a:pt x="104" y="79"/>
                      <a:pt x="104" y="79"/>
                    </a:cubicBezTo>
                    <a:cubicBezTo>
                      <a:pt x="98" y="75"/>
                      <a:pt x="98" y="75"/>
                      <a:pt x="98" y="75"/>
                    </a:cubicBezTo>
                    <a:cubicBezTo>
                      <a:pt x="95" y="74"/>
                      <a:pt x="94" y="71"/>
                      <a:pt x="95" y="69"/>
                    </a:cubicBezTo>
                    <a:cubicBezTo>
                      <a:pt x="96" y="65"/>
                      <a:pt x="96" y="63"/>
                      <a:pt x="96" y="60"/>
                    </a:cubicBezTo>
                    <a:cubicBezTo>
                      <a:pt x="96" y="58"/>
                      <a:pt x="96" y="55"/>
                      <a:pt x="95" y="52"/>
                    </a:cubicBezTo>
                    <a:cubicBezTo>
                      <a:pt x="94" y="50"/>
                      <a:pt x="95" y="47"/>
                      <a:pt x="98" y="46"/>
                    </a:cubicBezTo>
                    <a:cubicBezTo>
                      <a:pt x="104" y="42"/>
                      <a:pt x="104" y="42"/>
                      <a:pt x="104" y="42"/>
                    </a:cubicBezTo>
                    <a:cubicBezTo>
                      <a:pt x="98" y="31"/>
                      <a:pt x="98" y="31"/>
                      <a:pt x="98" y="31"/>
                    </a:cubicBezTo>
                    <a:cubicBezTo>
                      <a:pt x="91" y="35"/>
                      <a:pt x="91" y="35"/>
                      <a:pt x="91" y="35"/>
                    </a:cubicBezTo>
                    <a:cubicBezTo>
                      <a:pt x="88" y="36"/>
                      <a:pt x="85" y="36"/>
                      <a:pt x="84" y="34"/>
                    </a:cubicBezTo>
                    <a:cubicBezTo>
                      <a:pt x="80" y="31"/>
                      <a:pt x="74" y="28"/>
                      <a:pt x="68" y="26"/>
                    </a:cubicBezTo>
                    <a:cubicBezTo>
                      <a:pt x="66" y="25"/>
                      <a:pt x="64" y="23"/>
                      <a:pt x="64" y="20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52" y="23"/>
                      <a:pt x="50" y="25"/>
                      <a:pt x="48" y="26"/>
                    </a:cubicBezTo>
                    <a:cubicBezTo>
                      <a:pt x="43" y="27"/>
                      <a:pt x="39" y="30"/>
                      <a:pt x="34" y="34"/>
                    </a:cubicBezTo>
                    <a:cubicBezTo>
                      <a:pt x="32" y="36"/>
                      <a:pt x="29" y="36"/>
                      <a:pt x="27" y="35"/>
                    </a:cubicBezTo>
                    <a:cubicBezTo>
                      <a:pt x="21" y="31"/>
                      <a:pt x="21" y="31"/>
                      <a:pt x="21" y="31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22" y="46"/>
                      <a:pt x="22" y="46"/>
                      <a:pt x="22" y="46"/>
                    </a:cubicBezTo>
                    <a:cubicBezTo>
                      <a:pt x="24" y="47"/>
                      <a:pt x="25" y="50"/>
                      <a:pt x="25" y="52"/>
                    </a:cubicBezTo>
                    <a:cubicBezTo>
                      <a:pt x="24" y="55"/>
                      <a:pt x="24" y="58"/>
                      <a:pt x="24" y="60"/>
                    </a:cubicBezTo>
                    <a:cubicBezTo>
                      <a:pt x="24" y="63"/>
                      <a:pt x="24" y="66"/>
                      <a:pt x="25" y="69"/>
                    </a:cubicBezTo>
                    <a:cubicBezTo>
                      <a:pt x="25" y="71"/>
                      <a:pt x="24" y="74"/>
                      <a:pt x="22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21" y="89"/>
                      <a:pt x="21" y="89"/>
                      <a:pt x="21" y="89"/>
                    </a:cubicBezTo>
                    <a:cubicBezTo>
                      <a:pt x="27" y="86"/>
                      <a:pt x="27" y="86"/>
                      <a:pt x="27" y="86"/>
                    </a:cubicBezTo>
                    <a:cubicBezTo>
                      <a:pt x="29" y="84"/>
                      <a:pt x="32" y="85"/>
                      <a:pt x="34" y="87"/>
                    </a:cubicBezTo>
                    <a:cubicBezTo>
                      <a:pt x="39" y="91"/>
                      <a:pt x="43" y="93"/>
                      <a:pt x="48" y="95"/>
                    </a:cubicBezTo>
                    <a:cubicBezTo>
                      <a:pt x="50" y="96"/>
                      <a:pt x="52" y="98"/>
                      <a:pt x="52" y="101"/>
                    </a:cubicBezTo>
                    <a:lnTo>
                      <a:pt x="52" y="1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  <p:grpSp>
          <p:nvGrpSpPr>
            <p:cNvPr id="7345" name="Group 19">
              <a:extLst>
                <a:ext uri="{FF2B5EF4-FFF2-40B4-BE49-F238E27FC236}">
                  <a16:creationId xmlns:a16="http://schemas.microsoft.com/office/drawing/2014/main" id="{3B44EA13-AB80-9A0B-07DA-0BCDFF3EC0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46058" y="-1674431"/>
              <a:ext cx="477883" cy="479004"/>
              <a:chOff x="3437" y="440"/>
              <a:chExt cx="426" cy="427"/>
            </a:xfrm>
            <a:solidFill>
              <a:srgbClr val="629DD1"/>
            </a:solidFill>
          </p:grpSpPr>
          <p:sp>
            <p:nvSpPr>
              <p:cNvPr id="7346" name="Freeform 20">
                <a:extLst>
                  <a:ext uri="{FF2B5EF4-FFF2-40B4-BE49-F238E27FC236}">
                    <a16:creationId xmlns:a16="http://schemas.microsoft.com/office/drawing/2014/main" id="{0EB99EE1-62FD-3922-7F33-8053C3664C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17" y="520"/>
                <a:ext cx="268" cy="267"/>
              </a:xfrm>
              <a:custGeom>
                <a:avLst/>
                <a:gdLst>
                  <a:gd name="T0" fmla="*/ 144 w 181"/>
                  <a:gd name="T1" fmla="*/ 180 h 180"/>
                  <a:gd name="T2" fmla="*/ 141 w 181"/>
                  <a:gd name="T3" fmla="*/ 179 h 180"/>
                  <a:gd name="T4" fmla="*/ 90 w 181"/>
                  <a:gd name="T5" fmla="*/ 139 h 180"/>
                  <a:gd name="T6" fmla="*/ 40 w 181"/>
                  <a:gd name="T7" fmla="*/ 179 h 180"/>
                  <a:gd name="T8" fmla="*/ 33 w 181"/>
                  <a:gd name="T9" fmla="*/ 179 h 180"/>
                  <a:gd name="T10" fmla="*/ 30 w 181"/>
                  <a:gd name="T11" fmla="*/ 172 h 180"/>
                  <a:gd name="T12" fmla="*/ 48 w 181"/>
                  <a:gd name="T13" fmla="*/ 110 h 180"/>
                  <a:gd name="T14" fmla="*/ 2 w 181"/>
                  <a:gd name="T15" fmla="*/ 64 h 180"/>
                  <a:gd name="T16" fmla="*/ 1 w 181"/>
                  <a:gd name="T17" fmla="*/ 58 h 180"/>
                  <a:gd name="T18" fmla="*/ 6 w 181"/>
                  <a:gd name="T19" fmla="*/ 54 h 180"/>
                  <a:gd name="T20" fmla="*/ 62 w 181"/>
                  <a:gd name="T21" fmla="*/ 54 h 180"/>
                  <a:gd name="T22" fmla="*/ 85 w 181"/>
                  <a:gd name="T23" fmla="*/ 3 h 180"/>
                  <a:gd name="T24" fmla="*/ 90 w 181"/>
                  <a:gd name="T25" fmla="*/ 0 h 180"/>
                  <a:gd name="T26" fmla="*/ 96 w 181"/>
                  <a:gd name="T27" fmla="*/ 3 h 180"/>
                  <a:gd name="T28" fmla="*/ 118 w 181"/>
                  <a:gd name="T29" fmla="*/ 54 h 180"/>
                  <a:gd name="T30" fmla="*/ 174 w 181"/>
                  <a:gd name="T31" fmla="*/ 54 h 180"/>
                  <a:gd name="T32" fmla="*/ 180 w 181"/>
                  <a:gd name="T33" fmla="*/ 58 h 180"/>
                  <a:gd name="T34" fmla="*/ 178 w 181"/>
                  <a:gd name="T35" fmla="*/ 64 h 180"/>
                  <a:gd name="T36" fmla="*/ 133 w 181"/>
                  <a:gd name="T37" fmla="*/ 110 h 180"/>
                  <a:gd name="T38" fmla="*/ 150 w 181"/>
                  <a:gd name="T39" fmla="*/ 172 h 180"/>
                  <a:gd name="T40" fmla="*/ 148 w 181"/>
                  <a:gd name="T41" fmla="*/ 179 h 180"/>
                  <a:gd name="T42" fmla="*/ 144 w 181"/>
                  <a:gd name="T43" fmla="*/ 180 h 180"/>
                  <a:gd name="T44" fmla="*/ 90 w 181"/>
                  <a:gd name="T45" fmla="*/ 126 h 180"/>
                  <a:gd name="T46" fmla="*/ 94 w 181"/>
                  <a:gd name="T47" fmla="*/ 127 h 180"/>
                  <a:gd name="T48" fmla="*/ 134 w 181"/>
                  <a:gd name="T49" fmla="*/ 158 h 180"/>
                  <a:gd name="T50" fmla="*/ 120 w 181"/>
                  <a:gd name="T51" fmla="*/ 109 h 180"/>
                  <a:gd name="T52" fmla="*/ 122 w 181"/>
                  <a:gd name="T53" fmla="*/ 104 h 180"/>
                  <a:gd name="T54" fmla="*/ 160 w 181"/>
                  <a:gd name="T55" fmla="*/ 66 h 180"/>
                  <a:gd name="T56" fmla="*/ 114 w 181"/>
                  <a:gd name="T57" fmla="*/ 66 h 180"/>
                  <a:gd name="T58" fmla="*/ 109 w 181"/>
                  <a:gd name="T59" fmla="*/ 62 h 180"/>
                  <a:gd name="T60" fmla="*/ 90 w 181"/>
                  <a:gd name="T61" fmla="*/ 21 h 180"/>
                  <a:gd name="T62" fmla="*/ 72 w 181"/>
                  <a:gd name="T63" fmla="*/ 62 h 180"/>
                  <a:gd name="T64" fmla="*/ 66 w 181"/>
                  <a:gd name="T65" fmla="*/ 66 h 180"/>
                  <a:gd name="T66" fmla="*/ 21 w 181"/>
                  <a:gd name="T67" fmla="*/ 66 h 180"/>
                  <a:gd name="T68" fmla="*/ 58 w 181"/>
                  <a:gd name="T69" fmla="*/ 104 h 180"/>
                  <a:gd name="T70" fmla="*/ 60 w 181"/>
                  <a:gd name="T71" fmla="*/ 109 h 180"/>
                  <a:gd name="T72" fmla="*/ 47 w 181"/>
                  <a:gd name="T73" fmla="*/ 158 h 180"/>
                  <a:gd name="T74" fmla="*/ 87 w 181"/>
                  <a:gd name="T75" fmla="*/ 127 h 180"/>
                  <a:gd name="T76" fmla="*/ 90 w 181"/>
                  <a:gd name="T77" fmla="*/ 126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81" h="180">
                    <a:moveTo>
                      <a:pt x="144" y="180"/>
                    </a:moveTo>
                    <a:cubicBezTo>
                      <a:pt x="143" y="180"/>
                      <a:pt x="142" y="179"/>
                      <a:pt x="141" y="179"/>
                    </a:cubicBezTo>
                    <a:cubicBezTo>
                      <a:pt x="90" y="139"/>
                      <a:pt x="90" y="139"/>
                      <a:pt x="90" y="139"/>
                    </a:cubicBezTo>
                    <a:cubicBezTo>
                      <a:pt x="40" y="179"/>
                      <a:pt x="40" y="179"/>
                      <a:pt x="40" y="179"/>
                    </a:cubicBezTo>
                    <a:cubicBezTo>
                      <a:pt x="38" y="180"/>
                      <a:pt x="35" y="180"/>
                      <a:pt x="33" y="179"/>
                    </a:cubicBezTo>
                    <a:cubicBezTo>
                      <a:pt x="31" y="177"/>
                      <a:pt x="30" y="175"/>
                      <a:pt x="30" y="172"/>
                    </a:cubicBezTo>
                    <a:cubicBezTo>
                      <a:pt x="48" y="110"/>
                      <a:pt x="48" y="110"/>
                      <a:pt x="48" y="110"/>
                    </a:cubicBezTo>
                    <a:cubicBezTo>
                      <a:pt x="2" y="64"/>
                      <a:pt x="2" y="64"/>
                      <a:pt x="2" y="64"/>
                    </a:cubicBezTo>
                    <a:cubicBezTo>
                      <a:pt x="0" y="62"/>
                      <a:pt x="0" y="60"/>
                      <a:pt x="1" y="58"/>
                    </a:cubicBezTo>
                    <a:cubicBezTo>
                      <a:pt x="2" y="55"/>
                      <a:pt x="4" y="54"/>
                      <a:pt x="6" y="54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85" y="3"/>
                      <a:pt x="85" y="3"/>
                      <a:pt x="85" y="3"/>
                    </a:cubicBezTo>
                    <a:cubicBezTo>
                      <a:pt x="86" y="1"/>
                      <a:pt x="88" y="0"/>
                      <a:pt x="90" y="0"/>
                    </a:cubicBezTo>
                    <a:cubicBezTo>
                      <a:pt x="93" y="0"/>
                      <a:pt x="95" y="1"/>
                      <a:pt x="96" y="3"/>
                    </a:cubicBezTo>
                    <a:cubicBezTo>
                      <a:pt x="118" y="54"/>
                      <a:pt x="118" y="54"/>
                      <a:pt x="118" y="54"/>
                    </a:cubicBezTo>
                    <a:cubicBezTo>
                      <a:pt x="174" y="54"/>
                      <a:pt x="174" y="54"/>
                      <a:pt x="174" y="54"/>
                    </a:cubicBezTo>
                    <a:cubicBezTo>
                      <a:pt x="177" y="54"/>
                      <a:pt x="179" y="55"/>
                      <a:pt x="180" y="58"/>
                    </a:cubicBezTo>
                    <a:cubicBezTo>
                      <a:pt x="181" y="60"/>
                      <a:pt x="180" y="62"/>
                      <a:pt x="178" y="64"/>
                    </a:cubicBezTo>
                    <a:cubicBezTo>
                      <a:pt x="133" y="110"/>
                      <a:pt x="133" y="110"/>
                      <a:pt x="133" y="110"/>
                    </a:cubicBezTo>
                    <a:cubicBezTo>
                      <a:pt x="150" y="172"/>
                      <a:pt x="150" y="172"/>
                      <a:pt x="150" y="172"/>
                    </a:cubicBezTo>
                    <a:cubicBezTo>
                      <a:pt x="151" y="175"/>
                      <a:pt x="150" y="177"/>
                      <a:pt x="148" y="179"/>
                    </a:cubicBezTo>
                    <a:cubicBezTo>
                      <a:pt x="147" y="180"/>
                      <a:pt x="145" y="180"/>
                      <a:pt x="144" y="180"/>
                    </a:cubicBezTo>
                    <a:close/>
                    <a:moveTo>
                      <a:pt x="90" y="126"/>
                    </a:moveTo>
                    <a:cubicBezTo>
                      <a:pt x="92" y="126"/>
                      <a:pt x="93" y="126"/>
                      <a:pt x="94" y="127"/>
                    </a:cubicBezTo>
                    <a:cubicBezTo>
                      <a:pt x="134" y="158"/>
                      <a:pt x="134" y="158"/>
                      <a:pt x="134" y="158"/>
                    </a:cubicBezTo>
                    <a:cubicBezTo>
                      <a:pt x="120" y="109"/>
                      <a:pt x="120" y="109"/>
                      <a:pt x="120" y="109"/>
                    </a:cubicBezTo>
                    <a:cubicBezTo>
                      <a:pt x="120" y="107"/>
                      <a:pt x="120" y="105"/>
                      <a:pt x="122" y="104"/>
                    </a:cubicBezTo>
                    <a:cubicBezTo>
                      <a:pt x="160" y="66"/>
                      <a:pt x="160" y="66"/>
                      <a:pt x="160" y="66"/>
                    </a:cubicBezTo>
                    <a:cubicBezTo>
                      <a:pt x="114" y="66"/>
                      <a:pt x="114" y="66"/>
                      <a:pt x="114" y="66"/>
                    </a:cubicBezTo>
                    <a:cubicBezTo>
                      <a:pt x="112" y="66"/>
                      <a:pt x="110" y="64"/>
                      <a:pt x="109" y="62"/>
                    </a:cubicBezTo>
                    <a:cubicBezTo>
                      <a:pt x="90" y="21"/>
                      <a:pt x="90" y="21"/>
                      <a:pt x="90" y="21"/>
                    </a:cubicBezTo>
                    <a:cubicBezTo>
                      <a:pt x="72" y="62"/>
                      <a:pt x="72" y="62"/>
                      <a:pt x="72" y="62"/>
                    </a:cubicBezTo>
                    <a:cubicBezTo>
                      <a:pt x="71" y="64"/>
                      <a:pt x="69" y="66"/>
                      <a:pt x="66" y="66"/>
                    </a:cubicBezTo>
                    <a:cubicBezTo>
                      <a:pt x="21" y="66"/>
                      <a:pt x="21" y="66"/>
                      <a:pt x="21" y="66"/>
                    </a:cubicBezTo>
                    <a:cubicBezTo>
                      <a:pt x="58" y="104"/>
                      <a:pt x="58" y="104"/>
                      <a:pt x="58" y="104"/>
                    </a:cubicBezTo>
                    <a:cubicBezTo>
                      <a:pt x="60" y="105"/>
                      <a:pt x="61" y="107"/>
                      <a:pt x="60" y="109"/>
                    </a:cubicBezTo>
                    <a:cubicBezTo>
                      <a:pt x="47" y="158"/>
                      <a:pt x="47" y="158"/>
                      <a:pt x="47" y="158"/>
                    </a:cubicBezTo>
                    <a:cubicBezTo>
                      <a:pt x="87" y="127"/>
                      <a:pt x="87" y="127"/>
                      <a:pt x="87" y="127"/>
                    </a:cubicBezTo>
                    <a:cubicBezTo>
                      <a:pt x="88" y="126"/>
                      <a:pt x="89" y="126"/>
                      <a:pt x="90" y="1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47" name="Freeform 21">
                <a:extLst>
                  <a:ext uri="{FF2B5EF4-FFF2-40B4-BE49-F238E27FC236}">
                    <a16:creationId xmlns:a16="http://schemas.microsoft.com/office/drawing/2014/main" id="{C8C569A7-C700-465F-82D7-0410B33DB7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37" y="440"/>
                <a:ext cx="426" cy="427"/>
              </a:xfrm>
              <a:custGeom>
                <a:avLst/>
                <a:gdLst>
                  <a:gd name="T0" fmla="*/ 234 w 288"/>
                  <a:gd name="T1" fmla="*/ 288 h 288"/>
                  <a:gd name="T2" fmla="*/ 54 w 288"/>
                  <a:gd name="T3" fmla="*/ 288 h 288"/>
                  <a:gd name="T4" fmla="*/ 0 w 288"/>
                  <a:gd name="T5" fmla="*/ 234 h 288"/>
                  <a:gd name="T6" fmla="*/ 0 w 288"/>
                  <a:gd name="T7" fmla="*/ 54 h 288"/>
                  <a:gd name="T8" fmla="*/ 54 w 288"/>
                  <a:gd name="T9" fmla="*/ 0 h 288"/>
                  <a:gd name="T10" fmla="*/ 234 w 288"/>
                  <a:gd name="T11" fmla="*/ 0 h 288"/>
                  <a:gd name="T12" fmla="*/ 288 w 288"/>
                  <a:gd name="T13" fmla="*/ 54 h 288"/>
                  <a:gd name="T14" fmla="*/ 288 w 288"/>
                  <a:gd name="T15" fmla="*/ 234 h 288"/>
                  <a:gd name="T16" fmla="*/ 234 w 288"/>
                  <a:gd name="T17" fmla="*/ 288 h 288"/>
                  <a:gd name="T18" fmla="*/ 54 w 288"/>
                  <a:gd name="T19" fmla="*/ 12 h 288"/>
                  <a:gd name="T20" fmla="*/ 12 w 288"/>
                  <a:gd name="T21" fmla="*/ 54 h 288"/>
                  <a:gd name="T22" fmla="*/ 12 w 288"/>
                  <a:gd name="T23" fmla="*/ 234 h 288"/>
                  <a:gd name="T24" fmla="*/ 54 w 288"/>
                  <a:gd name="T25" fmla="*/ 276 h 288"/>
                  <a:gd name="T26" fmla="*/ 234 w 288"/>
                  <a:gd name="T27" fmla="*/ 276 h 288"/>
                  <a:gd name="T28" fmla="*/ 276 w 288"/>
                  <a:gd name="T29" fmla="*/ 234 h 288"/>
                  <a:gd name="T30" fmla="*/ 276 w 288"/>
                  <a:gd name="T31" fmla="*/ 54 h 288"/>
                  <a:gd name="T32" fmla="*/ 234 w 288"/>
                  <a:gd name="T33" fmla="*/ 12 h 288"/>
                  <a:gd name="T34" fmla="*/ 54 w 288"/>
                  <a:gd name="T35" fmla="*/ 12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88" h="288">
                    <a:moveTo>
                      <a:pt x="234" y="288"/>
                    </a:moveTo>
                    <a:cubicBezTo>
                      <a:pt x="54" y="288"/>
                      <a:pt x="54" y="288"/>
                      <a:pt x="54" y="288"/>
                    </a:cubicBezTo>
                    <a:cubicBezTo>
                      <a:pt x="24" y="288"/>
                      <a:pt x="0" y="264"/>
                      <a:pt x="0" y="23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24"/>
                      <a:pt x="24" y="0"/>
                      <a:pt x="54" y="0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64" y="0"/>
                      <a:pt x="288" y="24"/>
                      <a:pt x="288" y="54"/>
                    </a:cubicBezTo>
                    <a:cubicBezTo>
                      <a:pt x="288" y="234"/>
                      <a:pt x="288" y="234"/>
                      <a:pt x="288" y="234"/>
                    </a:cubicBezTo>
                    <a:cubicBezTo>
                      <a:pt x="288" y="264"/>
                      <a:pt x="264" y="288"/>
                      <a:pt x="234" y="288"/>
                    </a:cubicBezTo>
                    <a:close/>
                    <a:moveTo>
                      <a:pt x="54" y="12"/>
                    </a:moveTo>
                    <a:cubicBezTo>
                      <a:pt x="31" y="12"/>
                      <a:pt x="12" y="31"/>
                      <a:pt x="12" y="54"/>
                    </a:cubicBezTo>
                    <a:cubicBezTo>
                      <a:pt x="12" y="234"/>
                      <a:pt x="12" y="234"/>
                      <a:pt x="12" y="234"/>
                    </a:cubicBezTo>
                    <a:cubicBezTo>
                      <a:pt x="12" y="257"/>
                      <a:pt x="31" y="276"/>
                      <a:pt x="54" y="276"/>
                    </a:cubicBezTo>
                    <a:cubicBezTo>
                      <a:pt x="234" y="276"/>
                      <a:pt x="234" y="276"/>
                      <a:pt x="234" y="276"/>
                    </a:cubicBezTo>
                    <a:cubicBezTo>
                      <a:pt x="257" y="276"/>
                      <a:pt x="276" y="257"/>
                      <a:pt x="276" y="234"/>
                    </a:cubicBezTo>
                    <a:cubicBezTo>
                      <a:pt x="276" y="54"/>
                      <a:pt x="276" y="54"/>
                      <a:pt x="276" y="54"/>
                    </a:cubicBezTo>
                    <a:cubicBezTo>
                      <a:pt x="276" y="31"/>
                      <a:pt x="257" y="12"/>
                      <a:pt x="234" y="12"/>
                    </a:cubicBezTo>
                    <a:lnTo>
                      <a:pt x="54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  <p:grpSp>
          <p:nvGrpSpPr>
            <p:cNvPr id="7348" name="Group 166">
              <a:extLst>
                <a:ext uri="{FF2B5EF4-FFF2-40B4-BE49-F238E27FC236}">
                  <a16:creationId xmlns:a16="http://schemas.microsoft.com/office/drawing/2014/main" id="{886D594A-0961-AFB2-D5EE-D46C68A5F6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46058" y="-1074655"/>
              <a:ext cx="477883" cy="460506"/>
              <a:chOff x="5499" y="2997"/>
              <a:chExt cx="440" cy="424"/>
            </a:xfrm>
            <a:solidFill>
              <a:srgbClr val="629DD1"/>
            </a:solidFill>
          </p:grpSpPr>
          <p:sp>
            <p:nvSpPr>
              <p:cNvPr id="7349" name="Freeform 167">
                <a:extLst>
                  <a:ext uri="{FF2B5EF4-FFF2-40B4-BE49-F238E27FC236}">
                    <a16:creationId xmlns:a16="http://schemas.microsoft.com/office/drawing/2014/main" id="{97756037-78F1-C4C1-CCD6-46F2C00F8C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499" y="2997"/>
                <a:ext cx="439" cy="424"/>
              </a:xfrm>
              <a:custGeom>
                <a:avLst/>
                <a:gdLst>
                  <a:gd name="T0" fmla="*/ 244 w 297"/>
                  <a:gd name="T1" fmla="*/ 287 h 287"/>
                  <a:gd name="T2" fmla="*/ 296 w 297"/>
                  <a:gd name="T3" fmla="*/ 223 h 287"/>
                  <a:gd name="T4" fmla="*/ 290 w 297"/>
                  <a:gd name="T5" fmla="*/ 218 h 287"/>
                  <a:gd name="T6" fmla="*/ 285 w 297"/>
                  <a:gd name="T7" fmla="*/ 225 h 287"/>
                  <a:gd name="T8" fmla="*/ 244 w 297"/>
                  <a:gd name="T9" fmla="*/ 276 h 287"/>
                  <a:gd name="T10" fmla="*/ 244 w 297"/>
                  <a:gd name="T11" fmla="*/ 192 h 287"/>
                  <a:gd name="T12" fmla="*/ 259 w 297"/>
                  <a:gd name="T13" fmla="*/ 188 h 287"/>
                  <a:gd name="T14" fmla="*/ 244 w 297"/>
                  <a:gd name="T15" fmla="*/ 181 h 287"/>
                  <a:gd name="T16" fmla="*/ 205 w 297"/>
                  <a:gd name="T17" fmla="*/ 198 h 287"/>
                  <a:gd name="T18" fmla="*/ 171 w 297"/>
                  <a:gd name="T19" fmla="*/ 171 h 287"/>
                  <a:gd name="T20" fmla="*/ 173 w 297"/>
                  <a:gd name="T21" fmla="*/ 161 h 287"/>
                  <a:gd name="T22" fmla="*/ 154 w 297"/>
                  <a:gd name="T23" fmla="*/ 137 h 287"/>
                  <a:gd name="T24" fmla="*/ 155 w 297"/>
                  <a:gd name="T25" fmla="*/ 106 h 287"/>
                  <a:gd name="T26" fmla="*/ 149 w 297"/>
                  <a:gd name="T27" fmla="*/ 0 h 287"/>
                  <a:gd name="T28" fmla="*/ 143 w 297"/>
                  <a:gd name="T29" fmla="*/ 106 h 287"/>
                  <a:gd name="T30" fmla="*/ 143 w 297"/>
                  <a:gd name="T31" fmla="*/ 137 h 287"/>
                  <a:gd name="T32" fmla="*/ 124 w 297"/>
                  <a:gd name="T33" fmla="*/ 161 h 287"/>
                  <a:gd name="T34" fmla="*/ 127 w 297"/>
                  <a:gd name="T35" fmla="*/ 171 h 287"/>
                  <a:gd name="T36" fmla="*/ 93 w 297"/>
                  <a:gd name="T37" fmla="*/ 198 h 287"/>
                  <a:gd name="T38" fmla="*/ 0 w 297"/>
                  <a:gd name="T39" fmla="*/ 234 h 287"/>
                  <a:gd name="T40" fmla="*/ 107 w 297"/>
                  <a:gd name="T41" fmla="*/ 234 h 287"/>
                  <a:gd name="T42" fmla="*/ 99 w 297"/>
                  <a:gd name="T43" fmla="*/ 207 h 287"/>
                  <a:gd name="T44" fmla="*/ 133 w 297"/>
                  <a:gd name="T45" fmla="*/ 180 h 287"/>
                  <a:gd name="T46" fmla="*/ 149 w 297"/>
                  <a:gd name="T47" fmla="*/ 185 h 287"/>
                  <a:gd name="T48" fmla="*/ 165 w 297"/>
                  <a:gd name="T49" fmla="*/ 179 h 287"/>
                  <a:gd name="T50" fmla="*/ 198 w 297"/>
                  <a:gd name="T51" fmla="*/ 207 h 287"/>
                  <a:gd name="T52" fmla="*/ 54 w 297"/>
                  <a:gd name="T53" fmla="*/ 276 h 287"/>
                  <a:gd name="T54" fmla="*/ 54 w 297"/>
                  <a:gd name="T55" fmla="*/ 192 h 287"/>
                  <a:gd name="T56" fmla="*/ 54 w 297"/>
                  <a:gd name="T57" fmla="*/ 276 h 287"/>
                  <a:gd name="T58" fmla="*/ 149 w 297"/>
                  <a:gd name="T59" fmla="*/ 11 h 287"/>
                  <a:gd name="T60" fmla="*/ 149 w 297"/>
                  <a:gd name="T61" fmla="*/ 95 h 287"/>
                  <a:gd name="T62" fmla="*/ 149 w 297"/>
                  <a:gd name="T63" fmla="*/ 175 h 287"/>
                  <a:gd name="T64" fmla="*/ 149 w 297"/>
                  <a:gd name="T65" fmla="*/ 147 h 287"/>
                  <a:gd name="T66" fmla="*/ 149 w 297"/>
                  <a:gd name="T67" fmla="*/ 175 h 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97" h="287">
                    <a:moveTo>
                      <a:pt x="191" y="234"/>
                    </a:moveTo>
                    <a:cubicBezTo>
                      <a:pt x="191" y="263"/>
                      <a:pt x="215" y="287"/>
                      <a:pt x="244" y="287"/>
                    </a:cubicBezTo>
                    <a:cubicBezTo>
                      <a:pt x="273" y="287"/>
                      <a:pt x="297" y="263"/>
                      <a:pt x="297" y="234"/>
                    </a:cubicBezTo>
                    <a:cubicBezTo>
                      <a:pt x="297" y="230"/>
                      <a:pt x="297" y="226"/>
                      <a:pt x="296" y="223"/>
                    </a:cubicBezTo>
                    <a:cubicBezTo>
                      <a:pt x="296" y="221"/>
                      <a:pt x="295" y="220"/>
                      <a:pt x="294" y="219"/>
                    </a:cubicBezTo>
                    <a:cubicBezTo>
                      <a:pt x="292" y="218"/>
                      <a:pt x="291" y="218"/>
                      <a:pt x="290" y="218"/>
                    </a:cubicBezTo>
                    <a:cubicBezTo>
                      <a:pt x="288" y="219"/>
                      <a:pt x="287" y="220"/>
                      <a:pt x="286" y="221"/>
                    </a:cubicBezTo>
                    <a:cubicBezTo>
                      <a:pt x="285" y="222"/>
                      <a:pt x="285" y="224"/>
                      <a:pt x="285" y="225"/>
                    </a:cubicBezTo>
                    <a:cubicBezTo>
                      <a:pt x="286" y="228"/>
                      <a:pt x="286" y="231"/>
                      <a:pt x="286" y="234"/>
                    </a:cubicBezTo>
                    <a:cubicBezTo>
                      <a:pt x="286" y="257"/>
                      <a:pt x="267" y="276"/>
                      <a:pt x="244" y="276"/>
                    </a:cubicBezTo>
                    <a:cubicBezTo>
                      <a:pt x="221" y="276"/>
                      <a:pt x="202" y="257"/>
                      <a:pt x="202" y="234"/>
                    </a:cubicBezTo>
                    <a:cubicBezTo>
                      <a:pt x="202" y="210"/>
                      <a:pt x="221" y="192"/>
                      <a:pt x="244" y="192"/>
                    </a:cubicBezTo>
                    <a:cubicBezTo>
                      <a:pt x="247" y="192"/>
                      <a:pt x="250" y="192"/>
                      <a:pt x="253" y="192"/>
                    </a:cubicBezTo>
                    <a:cubicBezTo>
                      <a:pt x="256" y="193"/>
                      <a:pt x="258" y="191"/>
                      <a:pt x="259" y="188"/>
                    </a:cubicBezTo>
                    <a:cubicBezTo>
                      <a:pt x="260" y="185"/>
                      <a:pt x="258" y="182"/>
                      <a:pt x="255" y="182"/>
                    </a:cubicBezTo>
                    <a:cubicBezTo>
                      <a:pt x="251" y="181"/>
                      <a:pt x="248" y="181"/>
                      <a:pt x="244" y="181"/>
                    </a:cubicBezTo>
                    <a:cubicBezTo>
                      <a:pt x="229" y="181"/>
                      <a:pt x="215" y="187"/>
                      <a:pt x="205" y="198"/>
                    </a:cubicBezTo>
                    <a:cubicBezTo>
                      <a:pt x="205" y="198"/>
                      <a:pt x="205" y="198"/>
                      <a:pt x="205" y="198"/>
                    </a:cubicBezTo>
                    <a:cubicBezTo>
                      <a:pt x="205" y="198"/>
                      <a:pt x="205" y="198"/>
                      <a:pt x="205" y="198"/>
                    </a:cubicBezTo>
                    <a:cubicBezTo>
                      <a:pt x="171" y="171"/>
                      <a:pt x="171" y="171"/>
                      <a:pt x="171" y="171"/>
                    </a:cubicBezTo>
                    <a:cubicBezTo>
                      <a:pt x="171" y="170"/>
                      <a:pt x="171" y="170"/>
                      <a:pt x="171" y="170"/>
                    </a:cubicBezTo>
                    <a:cubicBezTo>
                      <a:pt x="173" y="167"/>
                      <a:pt x="173" y="164"/>
                      <a:pt x="173" y="161"/>
                    </a:cubicBezTo>
                    <a:cubicBezTo>
                      <a:pt x="173" y="150"/>
                      <a:pt x="166" y="140"/>
                      <a:pt x="155" y="137"/>
                    </a:cubicBezTo>
                    <a:cubicBezTo>
                      <a:pt x="154" y="137"/>
                      <a:pt x="154" y="137"/>
                      <a:pt x="154" y="137"/>
                    </a:cubicBezTo>
                    <a:cubicBezTo>
                      <a:pt x="154" y="106"/>
                      <a:pt x="154" y="106"/>
                      <a:pt x="154" y="106"/>
                    </a:cubicBezTo>
                    <a:cubicBezTo>
                      <a:pt x="155" y="106"/>
                      <a:pt x="155" y="106"/>
                      <a:pt x="155" y="106"/>
                    </a:cubicBezTo>
                    <a:cubicBezTo>
                      <a:pt x="182" y="103"/>
                      <a:pt x="202" y="80"/>
                      <a:pt x="202" y="53"/>
                    </a:cubicBezTo>
                    <a:cubicBezTo>
                      <a:pt x="202" y="24"/>
                      <a:pt x="178" y="0"/>
                      <a:pt x="149" y="0"/>
                    </a:cubicBezTo>
                    <a:cubicBezTo>
                      <a:pt x="120" y="0"/>
                      <a:pt x="96" y="24"/>
                      <a:pt x="96" y="53"/>
                    </a:cubicBezTo>
                    <a:cubicBezTo>
                      <a:pt x="96" y="80"/>
                      <a:pt x="116" y="103"/>
                      <a:pt x="143" y="106"/>
                    </a:cubicBezTo>
                    <a:cubicBezTo>
                      <a:pt x="143" y="106"/>
                      <a:pt x="143" y="106"/>
                      <a:pt x="143" y="106"/>
                    </a:cubicBezTo>
                    <a:cubicBezTo>
                      <a:pt x="143" y="137"/>
                      <a:pt x="143" y="137"/>
                      <a:pt x="143" y="137"/>
                    </a:cubicBezTo>
                    <a:cubicBezTo>
                      <a:pt x="143" y="137"/>
                      <a:pt x="143" y="137"/>
                      <a:pt x="143" y="137"/>
                    </a:cubicBezTo>
                    <a:cubicBezTo>
                      <a:pt x="132" y="140"/>
                      <a:pt x="124" y="150"/>
                      <a:pt x="124" y="161"/>
                    </a:cubicBezTo>
                    <a:cubicBezTo>
                      <a:pt x="124" y="164"/>
                      <a:pt x="125" y="168"/>
                      <a:pt x="126" y="171"/>
                    </a:cubicBezTo>
                    <a:cubicBezTo>
                      <a:pt x="127" y="171"/>
                      <a:pt x="127" y="171"/>
                      <a:pt x="127" y="171"/>
                    </a:cubicBezTo>
                    <a:cubicBezTo>
                      <a:pt x="93" y="198"/>
                      <a:pt x="93" y="198"/>
                      <a:pt x="93" y="198"/>
                    </a:cubicBezTo>
                    <a:cubicBezTo>
                      <a:pt x="93" y="198"/>
                      <a:pt x="93" y="198"/>
                      <a:pt x="93" y="198"/>
                    </a:cubicBezTo>
                    <a:cubicBezTo>
                      <a:pt x="83" y="187"/>
                      <a:pt x="68" y="181"/>
                      <a:pt x="54" y="181"/>
                    </a:cubicBezTo>
                    <a:cubicBezTo>
                      <a:pt x="24" y="181"/>
                      <a:pt x="0" y="204"/>
                      <a:pt x="0" y="234"/>
                    </a:cubicBezTo>
                    <a:cubicBezTo>
                      <a:pt x="0" y="263"/>
                      <a:pt x="24" y="287"/>
                      <a:pt x="54" y="287"/>
                    </a:cubicBezTo>
                    <a:cubicBezTo>
                      <a:pt x="83" y="287"/>
                      <a:pt x="107" y="263"/>
                      <a:pt x="107" y="234"/>
                    </a:cubicBezTo>
                    <a:cubicBezTo>
                      <a:pt x="107" y="225"/>
                      <a:pt x="104" y="216"/>
                      <a:pt x="100" y="208"/>
                    </a:cubicBezTo>
                    <a:cubicBezTo>
                      <a:pt x="99" y="207"/>
                      <a:pt x="99" y="207"/>
                      <a:pt x="99" y="207"/>
                    </a:cubicBezTo>
                    <a:cubicBezTo>
                      <a:pt x="100" y="207"/>
                      <a:pt x="100" y="207"/>
                      <a:pt x="100" y="207"/>
                    </a:cubicBezTo>
                    <a:cubicBezTo>
                      <a:pt x="133" y="180"/>
                      <a:pt x="133" y="180"/>
                      <a:pt x="133" y="180"/>
                    </a:cubicBezTo>
                    <a:cubicBezTo>
                      <a:pt x="133" y="180"/>
                      <a:pt x="133" y="180"/>
                      <a:pt x="133" y="180"/>
                    </a:cubicBezTo>
                    <a:cubicBezTo>
                      <a:pt x="138" y="184"/>
                      <a:pt x="143" y="185"/>
                      <a:pt x="149" y="185"/>
                    </a:cubicBezTo>
                    <a:cubicBezTo>
                      <a:pt x="155" y="185"/>
                      <a:pt x="160" y="183"/>
                      <a:pt x="165" y="180"/>
                    </a:cubicBezTo>
                    <a:cubicBezTo>
                      <a:pt x="165" y="179"/>
                      <a:pt x="165" y="179"/>
                      <a:pt x="165" y="179"/>
                    </a:cubicBezTo>
                    <a:cubicBezTo>
                      <a:pt x="198" y="207"/>
                      <a:pt x="198" y="207"/>
                      <a:pt x="198" y="207"/>
                    </a:cubicBezTo>
                    <a:cubicBezTo>
                      <a:pt x="198" y="207"/>
                      <a:pt x="198" y="207"/>
                      <a:pt x="198" y="207"/>
                    </a:cubicBezTo>
                    <a:cubicBezTo>
                      <a:pt x="194" y="215"/>
                      <a:pt x="191" y="224"/>
                      <a:pt x="191" y="234"/>
                    </a:cubicBezTo>
                    <a:close/>
                    <a:moveTo>
                      <a:pt x="54" y="276"/>
                    </a:moveTo>
                    <a:cubicBezTo>
                      <a:pt x="30" y="276"/>
                      <a:pt x="11" y="257"/>
                      <a:pt x="11" y="234"/>
                    </a:cubicBezTo>
                    <a:cubicBezTo>
                      <a:pt x="11" y="210"/>
                      <a:pt x="30" y="192"/>
                      <a:pt x="54" y="192"/>
                    </a:cubicBezTo>
                    <a:cubicBezTo>
                      <a:pt x="77" y="192"/>
                      <a:pt x="96" y="210"/>
                      <a:pt x="96" y="234"/>
                    </a:cubicBezTo>
                    <a:cubicBezTo>
                      <a:pt x="96" y="257"/>
                      <a:pt x="77" y="276"/>
                      <a:pt x="54" y="276"/>
                    </a:cubicBezTo>
                    <a:close/>
                    <a:moveTo>
                      <a:pt x="107" y="53"/>
                    </a:moveTo>
                    <a:cubicBezTo>
                      <a:pt x="107" y="30"/>
                      <a:pt x="126" y="11"/>
                      <a:pt x="149" y="11"/>
                    </a:cubicBezTo>
                    <a:cubicBezTo>
                      <a:pt x="172" y="11"/>
                      <a:pt x="191" y="30"/>
                      <a:pt x="191" y="53"/>
                    </a:cubicBezTo>
                    <a:cubicBezTo>
                      <a:pt x="191" y="76"/>
                      <a:pt x="172" y="95"/>
                      <a:pt x="149" y="95"/>
                    </a:cubicBezTo>
                    <a:cubicBezTo>
                      <a:pt x="126" y="95"/>
                      <a:pt x="107" y="76"/>
                      <a:pt x="107" y="53"/>
                    </a:cubicBezTo>
                    <a:close/>
                    <a:moveTo>
                      <a:pt x="149" y="175"/>
                    </a:moveTo>
                    <a:cubicBezTo>
                      <a:pt x="141" y="175"/>
                      <a:pt x="135" y="168"/>
                      <a:pt x="135" y="161"/>
                    </a:cubicBezTo>
                    <a:cubicBezTo>
                      <a:pt x="135" y="153"/>
                      <a:pt x="141" y="147"/>
                      <a:pt x="149" y="147"/>
                    </a:cubicBezTo>
                    <a:cubicBezTo>
                      <a:pt x="156" y="147"/>
                      <a:pt x="162" y="153"/>
                      <a:pt x="162" y="161"/>
                    </a:cubicBezTo>
                    <a:cubicBezTo>
                      <a:pt x="162" y="168"/>
                      <a:pt x="156" y="175"/>
                      <a:pt x="149" y="17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50" name="Freeform 168">
                <a:extLst>
                  <a:ext uri="{FF2B5EF4-FFF2-40B4-BE49-F238E27FC236}">
                    <a16:creationId xmlns:a16="http://schemas.microsoft.com/office/drawing/2014/main" id="{F7F25D82-3E8D-7D3C-6625-5F3355103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9" y="3264"/>
                <a:ext cx="90" cy="89"/>
              </a:xfrm>
              <a:custGeom>
                <a:avLst/>
                <a:gdLst>
                  <a:gd name="T0" fmla="*/ 60 w 61"/>
                  <a:gd name="T1" fmla="*/ 14 h 60"/>
                  <a:gd name="T2" fmla="*/ 55 w 61"/>
                  <a:gd name="T3" fmla="*/ 11 h 60"/>
                  <a:gd name="T4" fmla="*/ 49 w 61"/>
                  <a:gd name="T5" fmla="*/ 11 h 60"/>
                  <a:gd name="T6" fmla="*/ 49 w 61"/>
                  <a:gd name="T7" fmla="*/ 5 h 60"/>
                  <a:gd name="T8" fmla="*/ 45 w 61"/>
                  <a:gd name="T9" fmla="*/ 0 h 60"/>
                  <a:gd name="T10" fmla="*/ 43 w 61"/>
                  <a:gd name="T11" fmla="*/ 0 h 60"/>
                  <a:gd name="T12" fmla="*/ 40 w 61"/>
                  <a:gd name="T13" fmla="*/ 1 h 60"/>
                  <a:gd name="T14" fmla="*/ 28 w 61"/>
                  <a:gd name="T15" fmla="*/ 13 h 60"/>
                  <a:gd name="T16" fmla="*/ 27 w 61"/>
                  <a:gd name="T17" fmla="*/ 17 h 60"/>
                  <a:gd name="T18" fmla="*/ 27 w 61"/>
                  <a:gd name="T19" fmla="*/ 26 h 60"/>
                  <a:gd name="T20" fmla="*/ 7 w 61"/>
                  <a:gd name="T21" fmla="*/ 45 h 60"/>
                  <a:gd name="T22" fmla="*/ 7 w 61"/>
                  <a:gd name="T23" fmla="*/ 45 h 60"/>
                  <a:gd name="T24" fmla="*/ 0 w 61"/>
                  <a:gd name="T25" fmla="*/ 53 h 60"/>
                  <a:gd name="T26" fmla="*/ 7 w 61"/>
                  <a:gd name="T27" fmla="*/ 60 h 60"/>
                  <a:gd name="T28" fmla="*/ 14 w 61"/>
                  <a:gd name="T29" fmla="*/ 53 h 60"/>
                  <a:gd name="T30" fmla="*/ 14 w 61"/>
                  <a:gd name="T31" fmla="*/ 53 h 60"/>
                  <a:gd name="T32" fmla="*/ 34 w 61"/>
                  <a:gd name="T33" fmla="*/ 33 h 60"/>
                  <a:gd name="T34" fmla="*/ 43 w 61"/>
                  <a:gd name="T35" fmla="*/ 33 h 60"/>
                  <a:gd name="T36" fmla="*/ 47 w 61"/>
                  <a:gd name="T37" fmla="*/ 32 h 60"/>
                  <a:gd name="T38" fmla="*/ 59 w 61"/>
                  <a:gd name="T39" fmla="*/ 20 h 60"/>
                  <a:gd name="T40" fmla="*/ 60 w 61"/>
                  <a:gd name="T41" fmla="*/ 1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1" h="60">
                    <a:moveTo>
                      <a:pt x="60" y="14"/>
                    </a:moveTo>
                    <a:cubicBezTo>
                      <a:pt x="59" y="12"/>
                      <a:pt x="57" y="11"/>
                      <a:pt x="55" y="11"/>
                    </a:cubicBezTo>
                    <a:cubicBezTo>
                      <a:pt x="49" y="11"/>
                      <a:pt x="49" y="11"/>
                      <a:pt x="49" y="11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9" y="3"/>
                      <a:pt x="47" y="1"/>
                      <a:pt x="45" y="0"/>
                    </a:cubicBezTo>
                    <a:cubicBezTo>
                      <a:pt x="45" y="0"/>
                      <a:pt x="44" y="0"/>
                      <a:pt x="43" y="0"/>
                    </a:cubicBezTo>
                    <a:cubicBezTo>
                      <a:pt x="42" y="0"/>
                      <a:pt x="41" y="0"/>
                      <a:pt x="40" y="1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7" y="14"/>
                      <a:pt x="27" y="15"/>
                      <a:pt x="27" y="17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3" y="46"/>
                      <a:pt x="0" y="49"/>
                      <a:pt x="0" y="53"/>
                    </a:cubicBezTo>
                    <a:cubicBezTo>
                      <a:pt x="0" y="57"/>
                      <a:pt x="3" y="60"/>
                      <a:pt x="7" y="60"/>
                    </a:cubicBezTo>
                    <a:cubicBezTo>
                      <a:pt x="11" y="60"/>
                      <a:pt x="14" y="57"/>
                      <a:pt x="14" y="53"/>
                    </a:cubicBezTo>
                    <a:cubicBezTo>
                      <a:pt x="14" y="53"/>
                      <a:pt x="14" y="53"/>
                      <a:pt x="14" y="53"/>
                    </a:cubicBezTo>
                    <a:cubicBezTo>
                      <a:pt x="34" y="33"/>
                      <a:pt x="34" y="33"/>
                      <a:pt x="34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5" y="33"/>
                      <a:pt x="46" y="33"/>
                      <a:pt x="47" y="32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60" y="19"/>
                      <a:pt x="61" y="16"/>
                      <a:pt x="60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51" name="Freeform 169">
                <a:extLst>
                  <a:ext uri="{FF2B5EF4-FFF2-40B4-BE49-F238E27FC236}">
                    <a16:creationId xmlns:a16="http://schemas.microsoft.com/office/drawing/2014/main" id="{79E2579F-20EC-7836-AADF-1B38C432AD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13" y="3295"/>
                <a:ext cx="92" cy="94"/>
              </a:xfrm>
              <a:custGeom>
                <a:avLst/>
                <a:gdLst>
                  <a:gd name="T0" fmla="*/ 31 w 62"/>
                  <a:gd name="T1" fmla="*/ 12 h 63"/>
                  <a:gd name="T2" fmla="*/ 37 w 62"/>
                  <a:gd name="T3" fmla="*/ 6 h 63"/>
                  <a:gd name="T4" fmla="*/ 31 w 62"/>
                  <a:gd name="T5" fmla="*/ 0 h 63"/>
                  <a:gd name="T6" fmla="*/ 0 w 62"/>
                  <a:gd name="T7" fmla="*/ 32 h 63"/>
                  <a:gd name="T8" fmla="*/ 31 w 62"/>
                  <a:gd name="T9" fmla="*/ 63 h 63"/>
                  <a:gd name="T10" fmla="*/ 62 w 62"/>
                  <a:gd name="T11" fmla="*/ 32 h 63"/>
                  <a:gd name="T12" fmla="*/ 57 w 62"/>
                  <a:gd name="T13" fmla="*/ 26 h 63"/>
                  <a:gd name="T14" fmla="*/ 51 w 62"/>
                  <a:gd name="T15" fmla="*/ 32 h 63"/>
                  <a:gd name="T16" fmla="*/ 31 w 62"/>
                  <a:gd name="T17" fmla="*/ 51 h 63"/>
                  <a:gd name="T18" fmla="*/ 12 w 62"/>
                  <a:gd name="T19" fmla="*/ 32 h 63"/>
                  <a:gd name="T20" fmla="*/ 31 w 62"/>
                  <a:gd name="T21" fmla="*/ 1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2" h="63">
                    <a:moveTo>
                      <a:pt x="31" y="12"/>
                    </a:moveTo>
                    <a:cubicBezTo>
                      <a:pt x="34" y="12"/>
                      <a:pt x="37" y="10"/>
                      <a:pt x="37" y="6"/>
                    </a:cubicBezTo>
                    <a:cubicBezTo>
                      <a:pt x="37" y="3"/>
                      <a:pt x="34" y="0"/>
                      <a:pt x="31" y="0"/>
                    </a:cubicBezTo>
                    <a:cubicBezTo>
                      <a:pt x="14" y="0"/>
                      <a:pt x="0" y="14"/>
                      <a:pt x="0" y="32"/>
                    </a:cubicBezTo>
                    <a:cubicBezTo>
                      <a:pt x="0" y="49"/>
                      <a:pt x="14" y="63"/>
                      <a:pt x="31" y="63"/>
                    </a:cubicBezTo>
                    <a:cubicBezTo>
                      <a:pt x="48" y="63"/>
                      <a:pt x="62" y="49"/>
                      <a:pt x="62" y="32"/>
                    </a:cubicBezTo>
                    <a:cubicBezTo>
                      <a:pt x="62" y="28"/>
                      <a:pt x="60" y="26"/>
                      <a:pt x="57" y="26"/>
                    </a:cubicBezTo>
                    <a:cubicBezTo>
                      <a:pt x="53" y="26"/>
                      <a:pt x="51" y="28"/>
                      <a:pt x="51" y="32"/>
                    </a:cubicBezTo>
                    <a:cubicBezTo>
                      <a:pt x="51" y="42"/>
                      <a:pt x="42" y="51"/>
                      <a:pt x="31" y="51"/>
                    </a:cubicBezTo>
                    <a:cubicBezTo>
                      <a:pt x="20" y="51"/>
                      <a:pt x="12" y="42"/>
                      <a:pt x="12" y="32"/>
                    </a:cubicBezTo>
                    <a:cubicBezTo>
                      <a:pt x="12" y="21"/>
                      <a:pt x="20" y="12"/>
                      <a:pt x="31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52" name="Freeform 170">
                <a:extLst>
                  <a:ext uri="{FF2B5EF4-FFF2-40B4-BE49-F238E27FC236}">
                    <a16:creationId xmlns:a16="http://schemas.microsoft.com/office/drawing/2014/main" id="{0C00B6A4-74ED-8277-BB02-25BCB424E8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812" y="3295"/>
                <a:ext cx="95" cy="94"/>
              </a:xfrm>
              <a:custGeom>
                <a:avLst/>
                <a:gdLst>
                  <a:gd name="T0" fmla="*/ 32 w 64"/>
                  <a:gd name="T1" fmla="*/ 63 h 63"/>
                  <a:gd name="T2" fmla="*/ 0 w 64"/>
                  <a:gd name="T3" fmla="*/ 32 h 63"/>
                  <a:gd name="T4" fmla="*/ 32 w 64"/>
                  <a:gd name="T5" fmla="*/ 0 h 63"/>
                  <a:gd name="T6" fmla="*/ 38 w 64"/>
                  <a:gd name="T7" fmla="*/ 6 h 63"/>
                  <a:gd name="T8" fmla="*/ 32 w 64"/>
                  <a:gd name="T9" fmla="*/ 13 h 63"/>
                  <a:gd name="T10" fmla="*/ 13 w 64"/>
                  <a:gd name="T11" fmla="*/ 32 h 63"/>
                  <a:gd name="T12" fmla="*/ 32 w 64"/>
                  <a:gd name="T13" fmla="*/ 51 h 63"/>
                  <a:gd name="T14" fmla="*/ 51 w 64"/>
                  <a:gd name="T15" fmla="*/ 32 h 63"/>
                  <a:gd name="T16" fmla="*/ 58 w 64"/>
                  <a:gd name="T17" fmla="*/ 25 h 63"/>
                  <a:gd name="T18" fmla="*/ 64 w 64"/>
                  <a:gd name="T19" fmla="*/ 32 h 63"/>
                  <a:gd name="T20" fmla="*/ 32 w 64"/>
                  <a:gd name="T21" fmla="*/ 63 h 63"/>
                  <a:gd name="T22" fmla="*/ 32 w 64"/>
                  <a:gd name="T23" fmla="*/ 1 h 63"/>
                  <a:gd name="T24" fmla="*/ 1 w 64"/>
                  <a:gd name="T25" fmla="*/ 32 h 63"/>
                  <a:gd name="T26" fmla="*/ 32 w 64"/>
                  <a:gd name="T27" fmla="*/ 63 h 63"/>
                  <a:gd name="T28" fmla="*/ 63 w 64"/>
                  <a:gd name="T29" fmla="*/ 32 h 63"/>
                  <a:gd name="T30" fmla="*/ 58 w 64"/>
                  <a:gd name="T31" fmla="*/ 26 h 63"/>
                  <a:gd name="T32" fmla="*/ 52 w 64"/>
                  <a:gd name="T33" fmla="*/ 32 h 63"/>
                  <a:gd name="T34" fmla="*/ 32 w 64"/>
                  <a:gd name="T35" fmla="*/ 52 h 63"/>
                  <a:gd name="T36" fmla="*/ 12 w 64"/>
                  <a:gd name="T37" fmla="*/ 32 h 63"/>
                  <a:gd name="T38" fmla="*/ 32 w 64"/>
                  <a:gd name="T39" fmla="*/ 12 h 63"/>
                  <a:gd name="T40" fmla="*/ 38 w 64"/>
                  <a:gd name="T41" fmla="*/ 6 h 63"/>
                  <a:gd name="T42" fmla="*/ 32 w 64"/>
                  <a:gd name="T43" fmla="*/ 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4" h="63">
                    <a:moveTo>
                      <a:pt x="32" y="63"/>
                    </a:moveTo>
                    <a:cubicBezTo>
                      <a:pt x="15" y="63"/>
                      <a:pt x="0" y="49"/>
                      <a:pt x="0" y="32"/>
                    </a:cubicBezTo>
                    <a:cubicBezTo>
                      <a:pt x="0" y="14"/>
                      <a:pt x="15" y="0"/>
                      <a:pt x="32" y="0"/>
                    </a:cubicBezTo>
                    <a:cubicBezTo>
                      <a:pt x="36" y="0"/>
                      <a:pt x="38" y="3"/>
                      <a:pt x="38" y="6"/>
                    </a:cubicBezTo>
                    <a:cubicBezTo>
                      <a:pt x="38" y="10"/>
                      <a:pt x="36" y="13"/>
                      <a:pt x="32" y="13"/>
                    </a:cubicBezTo>
                    <a:cubicBezTo>
                      <a:pt x="22" y="13"/>
                      <a:pt x="13" y="21"/>
                      <a:pt x="13" y="32"/>
                    </a:cubicBezTo>
                    <a:cubicBezTo>
                      <a:pt x="13" y="42"/>
                      <a:pt x="22" y="51"/>
                      <a:pt x="32" y="51"/>
                    </a:cubicBezTo>
                    <a:cubicBezTo>
                      <a:pt x="43" y="51"/>
                      <a:pt x="51" y="42"/>
                      <a:pt x="51" y="32"/>
                    </a:cubicBezTo>
                    <a:cubicBezTo>
                      <a:pt x="51" y="28"/>
                      <a:pt x="54" y="25"/>
                      <a:pt x="58" y="25"/>
                    </a:cubicBezTo>
                    <a:cubicBezTo>
                      <a:pt x="61" y="25"/>
                      <a:pt x="64" y="28"/>
                      <a:pt x="64" y="32"/>
                    </a:cubicBezTo>
                    <a:cubicBezTo>
                      <a:pt x="64" y="49"/>
                      <a:pt x="50" y="63"/>
                      <a:pt x="32" y="63"/>
                    </a:cubicBezTo>
                    <a:close/>
                    <a:moveTo>
                      <a:pt x="32" y="1"/>
                    </a:moveTo>
                    <a:cubicBezTo>
                      <a:pt x="15" y="1"/>
                      <a:pt x="1" y="15"/>
                      <a:pt x="1" y="32"/>
                    </a:cubicBezTo>
                    <a:cubicBezTo>
                      <a:pt x="1" y="49"/>
                      <a:pt x="15" y="63"/>
                      <a:pt x="32" y="63"/>
                    </a:cubicBezTo>
                    <a:cubicBezTo>
                      <a:pt x="49" y="63"/>
                      <a:pt x="63" y="49"/>
                      <a:pt x="63" y="32"/>
                    </a:cubicBezTo>
                    <a:cubicBezTo>
                      <a:pt x="63" y="29"/>
                      <a:pt x="61" y="26"/>
                      <a:pt x="58" y="26"/>
                    </a:cubicBezTo>
                    <a:cubicBezTo>
                      <a:pt x="55" y="26"/>
                      <a:pt x="52" y="29"/>
                      <a:pt x="52" y="32"/>
                    </a:cubicBezTo>
                    <a:cubicBezTo>
                      <a:pt x="52" y="43"/>
                      <a:pt x="43" y="52"/>
                      <a:pt x="32" y="52"/>
                    </a:cubicBezTo>
                    <a:cubicBezTo>
                      <a:pt x="21" y="52"/>
                      <a:pt x="12" y="43"/>
                      <a:pt x="12" y="32"/>
                    </a:cubicBezTo>
                    <a:cubicBezTo>
                      <a:pt x="12" y="21"/>
                      <a:pt x="21" y="12"/>
                      <a:pt x="32" y="12"/>
                    </a:cubicBezTo>
                    <a:cubicBezTo>
                      <a:pt x="35" y="12"/>
                      <a:pt x="38" y="9"/>
                      <a:pt x="38" y="6"/>
                    </a:cubicBezTo>
                    <a:cubicBezTo>
                      <a:pt x="38" y="3"/>
                      <a:pt x="35" y="1"/>
                      <a:pt x="3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53" name="Freeform 171">
                <a:extLst>
                  <a:ext uri="{FF2B5EF4-FFF2-40B4-BE49-F238E27FC236}">
                    <a16:creationId xmlns:a16="http://schemas.microsoft.com/office/drawing/2014/main" id="{6624E660-0F7E-93D2-F5BD-84659B528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5" y="3026"/>
                <a:ext cx="46" cy="98"/>
              </a:xfrm>
              <a:custGeom>
                <a:avLst/>
                <a:gdLst>
                  <a:gd name="T0" fmla="*/ 16 w 31"/>
                  <a:gd name="T1" fmla="*/ 66 h 66"/>
                  <a:gd name="T2" fmla="*/ 21 w 31"/>
                  <a:gd name="T3" fmla="*/ 61 h 66"/>
                  <a:gd name="T4" fmla="*/ 21 w 31"/>
                  <a:gd name="T5" fmla="*/ 59 h 66"/>
                  <a:gd name="T6" fmla="*/ 21 w 31"/>
                  <a:gd name="T7" fmla="*/ 58 h 66"/>
                  <a:gd name="T8" fmla="*/ 31 w 31"/>
                  <a:gd name="T9" fmla="*/ 44 h 66"/>
                  <a:gd name="T10" fmla="*/ 16 w 31"/>
                  <a:gd name="T11" fmla="*/ 28 h 66"/>
                  <a:gd name="T12" fmla="*/ 10 w 31"/>
                  <a:gd name="T13" fmla="*/ 23 h 66"/>
                  <a:gd name="T14" fmla="*/ 16 w 31"/>
                  <a:gd name="T15" fmla="*/ 17 h 66"/>
                  <a:gd name="T16" fmla="*/ 16 w 31"/>
                  <a:gd name="T17" fmla="*/ 17 h 66"/>
                  <a:gd name="T18" fmla="*/ 21 w 31"/>
                  <a:gd name="T19" fmla="*/ 23 h 66"/>
                  <a:gd name="T20" fmla="*/ 26 w 31"/>
                  <a:gd name="T21" fmla="*/ 28 h 66"/>
                  <a:gd name="T22" fmla="*/ 31 w 31"/>
                  <a:gd name="T23" fmla="*/ 23 h 66"/>
                  <a:gd name="T24" fmla="*/ 21 w 31"/>
                  <a:gd name="T25" fmla="*/ 8 h 66"/>
                  <a:gd name="T26" fmla="*/ 21 w 31"/>
                  <a:gd name="T27" fmla="*/ 8 h 66"/>
                  <a:gd name="T28" fmla="*/ 21 w 31"/>
                  <a:gd name="T29" fmla="*/ 5 h 66"/>
                  <a:gd name="T30" fmla="*/ 16 w 31"/>
                  <a:gd name="T31" fmla="*/ 0 h 66"/>
                  <a:gd name="T32" fmla="*/ 11 w 31"/>
                  <a:gd name="T33" fmla="*/ 5 h 66"/>
                  <a:gd name="T34" fmla="*/ 11 w 31"/>
                  <a:gd name="T35" fmla="*/ 8 h 66"/>
                  <a:gd name="T36" fmla="*/ 11 w 31"/>
                  <a:gd name="T37" fmla="*/ 8 h 66"/>
                  <a:gd name="T38" fmla="*/ 0 w 31"/>
                  <a:gd name="T39" fmla="*/ 23 h 66"/>
                  <a:gd name="T40" fmla="*/ 16 w 31"/>
                  <a:gd name="T41" fmla="*/ 38 h 66"/>
                  <a:gd name="T42" fmla="*/ 21 w 31"/>
                  <a:gd name="T43" fmla="*/ 44 h 66"/>
                  <a:gd name="T44" fmla="*/ 16 w 31"/>
                  <a:gd name="T45" fmla="*/ 49 h 66"/>
                  <a:gd name="T46" fmla="*/ 10 w 31"/>
                  <a:gd name="T47" fmla="*/ 44 h 66"/>
                  <a:gd name="T48" fmla="*/ 5 w 31"/>
                  <a:gd name="T49" fmla="*/ 39 h 66"/>
                  <a:gd name="T50" fmla="*/ 0 w 31"/>
                  <a:gd name="T51" fmla="*/ 44 h 66"/>
                  <a:gd name="T52" fmla="*/ 11 w 31"/>
                  <a:gd name="T53" fmla="*/ 58 h 66"/>
                  <a:gd name="T54" fmla="*/ 11 w 31"/>
                  <a:gd name="T55" fmla="*/ 59 h 66"/>
                  <a:gd name="T56" fmla="*/ 11 w 31"/>
                  <a:gd name="T57" fmla="*/ 61 h 66"/>
                  <a:gd name="T58" fmla="*/ 16 w 31"/>
                  <a:gd name="T59" fmla="*/ 66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1" h="66">
                    <a:moveTo>
                      <a:pt x="16" y="66"/>
                    </a:moveTo>
                    <a:cubicBezTo>
                      <a:pt x="19" y="66"/>
                      <a:pt x="21" y="64"/>
                      <a:pt x="21" y="61"/>
                    </a:cubicBezTo>
                    <a:cubicBezTo>
                      <a:pt x="21" y="59"/>
                      <a:pt x="21" y="59"/>
                      <a:pt x="21" y="59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7" y="56"/>
                      <a:pt x="31" y="50"/>
                      <a:pt x="31" y="44"/>
                    </a:cubicBezTo>
                    <a:cubicBezTo>
                      <a:pt x="31" y="35"/>
                      <a:pt x="24" y="28"/>
                      <a:pt x="16" y="28"/>
                    </a:cubicBezTo>
                    <a:cubicBezTo>
                      <a:pt x="13" y="28"/>
                      <a:pt x="10" y="26"/>
                      <a:pt x="10" y="23"/>
                    </a:cubicBezTo>
                    <a:cubicBezTo>
                      <a:pt x="10" y="20"/>
                      <a:pt x="13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9" y="17"/>
                      <a:pt x="21" y="19"/>
                      <a:pt x="21" y="23"/>
                    </a:cubicBezTo>
                    <a:cubicBezTo>
                      <a:pt x="21" y="25"/>
                      <a:pt x="24" y="28"/>
                      <a:pt x="26" y="28"/>
                    </a:cubicBezTo>
                    <a:cubicBezTo>
                      <a:pt x="29" y="28"/>
                      <a:pt x="31" y="25"/>
                      <a:pt x="31" y="23"/>
                    </a:cubicBezTo>
                    <a:cubicBezTo>
                      <a:pt x="31" y="16"/>
                      <a:pt x="27" y="10"/>
                      <a:pt x="21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21" y="2"/>
                      <a:pt x="19" y="0"/>
                      <a:pt x="16" y="0"/>
                    </a:cubicBezTo>
                    <a:cubicBezTo>
                      <a:pt x="13" y="0"/>
                      <a:pt x="11" y="2"/>
                      <a:pt x="11" y="5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4" y="10"/>
                      <a:pt x="0" y="16"/>
                      <a:pt x="0" y="23"/>
                    </a:cubicBezTo>
                    <a:cubicBezTo>
                      <a:pt x="0" y="31"/>
                      <a:pt x="7" y="38"/>
                      <a:pt x="16" y="38"/>
                    </a:cubicBezTo>
                    <a:cubicBezTo>
                      <a:pt x="19" y="38"/>
                      <a:pt x="21" y="41"/>
                      <a:pt x="21" y="44"/>
                    </a:cubicBezTo>
                    <a:cubicBezTo>
                      <a:pt x="21" y="47"/>
                      <a:pt x="19" y="49"/>
                      <a:pt x="16" y="49"/>
                    </a:cubicBezTo>
                    <a:cubicBezTo>
                      <a:pt x="13" y="49"/>
                      <a:pt x="10" y="47"/>
                      <a:pt x="10" y="44"/>
                    </a:cubicBezTo>
                    <a:cubicBezTo>
                      <a:pt x="10" y="41"/>
                      <a:pt x="8" y="39"/>
                      <a:pt x="5" y="39"/>
                    </a:cubicBezTo>
                    <a:cubicBezTo>
                      <a:pt x="2" y="39"/>
                      <a:pt x="0" y="41"/>
                      <a:pt x="0" y="44"/>
                    </a:cubicBezTo>
                    <a:cubicBezTo>
                      <a:pt x="0" y="50"/>
                      <a:pt x="4" y="56"/>
                      <a:pt x="11" y="58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4"/>
                      <a:pt x="13" y="66"/>
                      <a:pt x="16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  <p:sp>
            <p:nvSpPr>
              <p:cNvPr id="7354" name="Freeform 172">
                <a:extLst>
                  <a:ext uri="{FF2B5EF4-FFF2-40B4-BE49-F238E27FC236}">
                    <a16:creationId xmlns:a16="http://schemas.microsoft.com/office/drawing/2014/main" id="{5B557D91-7099-19BC-EBB2-0072C84C88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24" y="3295"/>
                <a:ext cx="108" cy="82"/>
              </a:xfrm>
              <a:custGeom>
                <a:avLst/>
                <a:gdLst>
                  <a:gd name="T0" fmla="*/ 67 w 73"/>
                  <a:gd name="T1" fmla="*/ 32 h 55"/>
                  <a:gd name="T2" fmla="*/ 66 w 73"/>
                  <a:gd name="T3" fmla="*/ 32 h 55"/>
                  <a:gd name="T4" fmla="*/ 65 w 73"/>
                  <a:gd name="T5" fmla="*/ 32 h 55"/>
                  <a:gd name="T6" fmla="*/ 47 w 73"/>
                  <a:gd name="T7" fmla="*/ 10 h 55"/>
                  <a:gd name="T8" fmla="*/ 47 w 73"/>
                  <a:gd name="T9" fmla="*/ 10 h 55"/>
                  <a:gd name="T10" fmla="*/ 47 w 73"/>
                  <a:gd name="T11" fmla="*/ 10 h 55"/>
                  <a:gd name="T12" fmla="*/ 37 w 73"/>
                  <a:gd name="T13" fmla="*/ 0 h 55"/>
                  <a:gd name="T14" fmla="*/ 27 w 73"/>
                  <a:gd name="T15" fmla="*/ 10 h 55"/>
                  <a:gd name="T16" fmla="*/ 27 w 73"/>
                  <a:gd name="T17" fmla="*/ 10 h 55"/>
                  <a:gd name="T18" fmla="*/ 26 w 73"/>
                  <a:gd name="T19" fmla="*/ 10 h 55"/>
                  <a:gd name="T20" fmla="*/ 8 w 73"/>
                  <a:gd name="T21" fmla="*/ 32 h 55"/>
                  <a:gd name="T22" fmla="*/ 8 w 73"/>
                  <a:gd name="T23" fmla="*/ 32 h 55"/>
                  <a:gd name="T24" fmla="*/ 6 w 73"/>
                  <a:gd name="T25" fmla="*/ 32 h 55"/>
                  <a:gd name="T26" fmla="*/ 0 w 73"/>
                  <a:gd name="T27" fmla="*/ 38 h 55"/>
                  <a:gd name="T28" fmla="*/ 6 w 73"/>
                  <a:gd name="T29" fmla="*/ 44 h 55"/>
                  <a:gd name="T30" fmla="*/ 6 w 73"/>
                  <a:gd name="T31" fmla="*/ 44 h 55"/>
                  <a:gd name="T32" fmla="*/ 13 w 73"/>
                  <a:gd name="T33" fmla="*/ 53 h 55"/>
                  <a:gd name="T34" fmla="*/ 18 w 73"/>
                  <a:gd name="T35" fmla="*/ 55 h 55"/>
                  <a:gd name="T36" fmla="*/ 55 w 73"/>
                  <a:gd name="T37" fmla="*/ 55 h 55"/>
                  <a:gd name="T38" fmla="*/ 60 w 73"/>
                  <a:gd name="T39" fmla="*/ 53 h 55"/>
                  <a:gd name="T40" fmla="*/ 67 w 73"/>
                  <a:gd name="T41" fmla="*/ 44 h 55"/>
                  <a:gd name="T42" fmla="*/ 67 w 73"/>
                  <a:gd name="T43" fmla="*/ 44 h 55"/>
                  <a:gd name="T44" fmla="*/ 73 w 73"/>
                  <a:gd name="T45" fmla="*/ 38 h 55"/>
                  <a:gd name="T46" fmla="*/ 67 w 73"/>
                  <a:gd name="T47" fmla="*/ 32 h 55"/>
                  <a:gd name="T48" fmla="*/ 17 w 73"/>
                  <a:gd name="T49" fmla="*/ 32 h 55"/>
                  <a:gd name="T50" fmla="*/ 37 w 73"/>
                  <a:gd name="T51" fmla="*/ 18 h 55"/>
                  <a:gd name="T52" fmla="*/ 56 w 73"/>
                  <a:gd name="T53" fmla="*/ 32 h 55"/>
                  <a:gd name="T54" fmla="*/ 56 w 73"/>
                  <a:gd name="T55" fmla="*/ 33 h 55"/>
                  <a:gd name="T56" fmla="*/ 17 w 73"/>
                  <a:gd name="T57" fmla="*/ 33 h 55"/>
                  <a:gd name="T58" fmla="*/ 17 w 73"/>
                  <a:gd name="T59" fmla="*/ 32 h 55"/>
                  <a:gd name="T60" fmla="*/ 54 w 73"/>
                  <a:gd name="T61" fmla="*/ 45 h 55"/>
                  <a:gd name="T62" fmla="*/ 19 w 73"/>
                  <a:gd name="T63" fmla="*/ 45 h 55"/>
                  <a:gd name="T64" fmla="*/ 16 w 73"/>
                  <a:gd name="T65" fmla="*/ 42 h 55"/>
                  <a:gd name="T66" fmla="*/ 57 w 73"/>
                  <a:gd name="T67" fmla="*/ 42 h 55"/>
                  <a:gd name="T68" fmla="*/ 54 w 73"/>
                  <a:gd name="T69" fmla="*/ 4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73" h="55">
                    <a:moveTo>
                      <a:pt x="67" y="32"/>
                    </a:moveTo>
                    <a:cubicBezTo>
                      <a:pt x="66" y="32"/>
                      <a:pt x="66" y="32"/>
                      <a:pt x="66" y="32"/>
                    </a:cubicBezTo>
                    <a:cubicBezTo>
                      <a:pt x="65" y="32"/>
                      <a:pt x="65" y="32"/>
                      <a:pt x="65" y="32"/>
                    </a:cubicBezTo>
                    <a:cubicBezTo>
                      <a:pt x="64" y="22"/>
                      <a:pt x="57" y="14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6" y="4"/>
                      <a:pt x="42" y="0"/>
                      <a:pt x="37" y="0"/>
                    </a:cubicBezTo>
                    <a:cubicBezTo>
                      <a:pt x="31" y="0"/>
                      <a:pt x="27" y="4"/>
                      <a:pt x="27" y="10"/>
                    </a:cubicBezTo>
                    <a:cubicBezTo>
                      <a:pt x="27" y="10"/>
                      <a:pt x="27" y="10"/>
                      <a:pt x="27" y="10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16" y="14"/>
                      <a:pt x="9" y="22"/>
                      <a:pt x="8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3" y="32"/>
                      <a:pt x="0" y="35"/>
                      <a:pt x="0" y="38"/>
                    </a:cubicBezTo>
                    <a:cubicBezTo>
                      <a:pt x="0" y="41"/>
                      <a:pt x="2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13" y="53"/>
                      <a:pt x="13" y="53"/>
                      <a:pt x="13" y="53"/>
                    </a:cubicBezTo>
                    <a:cubicBezTo>
                      <a:pt x="14" y="54"/>
                      <a:pt x="16" y="55"/>
                      <a:pt x="18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7" y="55"/>
                      <a:pt x="58" y="54"/>
                      <a:pt x="60" y="53"/>
                    </a:cubicBezTo>
                    <a:cubicBezTo>
                      <a:pt x="67" y="44"/>
                      <a:pt x="67" y="44"/>
                      <a:pt x="67" y="44"/>
                    </a:cubicBezTo>
                    <a:cubicBezTo>
                      <a:pt x="67" y="44"/>
                      <a:pt x="67" y="44"/>
                      <a:pt x="67" y="44"/>
                    </a:cubicBezTo>
                    <a:cubicBezTo>
                      <a:pt x="71" y="44"/>
                      <a:pt x="73" y="41"/>
                      <a:pt x="73" y="38"/>
                    </a:cubicBezTo>
                    <a:cubicBezTo>
                      <a:pt x="73" y="35"/>
                      <a:pt x="71" y="32"/>
                      <a:pt x="67" y="32"/>
                    </a:cubicBezTo>
                    <a:close/>
                    <a:moveTo>
                      <a:pt x="17" y="32"/>
                    </a:moveTo>
                    <a:cubicBezTo>
                      <a:pt x="19" y="24"/>
                      <a:pt x="27" y="18"/>
                      <a:pt x="37" y="18"/>
                    </a:cubicBezTo>
                    <a:cubicBezTo>
                      <a:pt x="46" y="18"/>
                      <a:pt x="54" y="24"/>
                      <a:pt x="56" y="32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17" y="33"/>
                      <a:pt x="17" y="33"/>
                      <a:pt x="17" y="33"/>
                    </a:cubicBezTo>
                    <a:lnTo>
                      <a:pt x="17" y="32"/>
                    </a:lnTo>
                    <a:close/>
                    <a:moveTo>
                      <a:pt x="54" y="45"/>
                    </a:moveTo>
                    <a:cubicBezTo>
                      <a:pt x="19" y="45"/>
                      <a:pt x="19" y="45"/>
                      <a:pt x="19" y="45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57" y="42"/>
                      <a:pt x="57" y="42"/>
                      <a:pt x="57" y="42"/>
                    </a:cubicBezTo>
                    <a:lnTo>
                      <a:pt x="54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cs typeface="Arial" charset="0"/>
                </a:endParaRPr>
              </a:p>
            </p:txBody>
          </p:sp>
        </p:grpSp>
      </p:grpSp>
      <p:grpSp>
        <p:nvGrpSpPr>
          <p:cNvPr id="7355" name="Group 52">
            <a:extLst>
              <a:ext uri="{FF2B5EF4-FFF2-40B4-BE49-F238E27FC236}">
                <a16:creationId xmlns:a16="http://schemas.microsoft.com/office/drawing/2014/main" id="{E461CF86-A222-43C7-49A1-CF4303E283F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0485" y="-2256091"/>
            <a:ext cx="477883" cy="479005"/>
            <a:chOff x="2403" y="2996"/>
            <a:chExt cx="426" cy="427"/>
          </a:xfrm>
          <a:solidFill>
            <a:srgbClr val="297FD5"/>
          </a:solidFill>
        </p:grpSpPr>
        <p:sp>
          <p:nvSpPr>
            <p:cNvPr id="7356" name="Freeform 53">
              <a:extLst>
                <a:ext uri="{FF2B5EF4-FFF2-40B4-BE49-F238E27FC236}">
                  <a16:creationId xmlns:a16="http://schemas.microsoft.com/office/drawing/2014/main" id="{93F3BDF5-0C91-42D8-C32E-8F35BB24A5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3" y="2996"/>
              <a:ext cx="355" cy="160"/>
            </a:xfrm>
            <a:custGeom>
              <a:avLst/>
              <a:gdLst>
                <a:gd name="T0" fmla="*/ 120 w 240"/>
                <a:gd name="T1" fmla="*/ 108 h 108"/>
                <a:gd name="T2" fmla="*/ 0 w 240"/>
                <a:gd name="T3" fmla="*/ 54 h 108"/>
                <a:gd name="T4" fmla="*/ 120 w 240"/>
                <a:gd name="T5" fmla="*/ 0 h 108"/>
                <a:gd name="T6" fmla="*/ 240 w 240"/>
                <a:gd name="T7" fmla="*/ 54 h 108"/>
                <a:gd name="T8" fmla="*/ 120 w 240"/>
                <a:gd name="T9" fmla="*/ 108 h 108"/>
                <a:gd name="T10" fmla="*/ 120 w 240"/>
                <a:gd name="T11" fmla="*/ 12 h 108"/>
                <a:gd name="T12" fmla="*/ 12 w 240"/>
                <a:gd name="T13" fmla="*/ 54 h 108"/>
                <a:gd name="T14" fmla="*/ 120 w 240"/>
                <a:gd name="T15" fmla="*/ 96 h 108"/>
                <a:gd name="T16" fmla="*/ 228 w 240"/>
                <a:gd name="T17" fmla="*/ 54 h 108"/>
                <a:gd name="T18" fmla="*/ 120 w 240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108">
                  <a:moveTo>
                    <a:pt x="120" y="108"/>
                  </a:moveTo>
                  <a:cubicBezTo>
                    <a:pt x="53" y="108"/>
                    <a:pt x="0" y="84"/>
                    <a:pt x="0" y="54"/>
                  </a:cubicBezTo>
                  <a:cubicBezTo>
                    <a:pt x="0" y="24"/>
                    <a:pt x="53" y="0"/>
                    <a:pt x="120" y="0"/>
                  </a:cubicBezTo>
                  <a:cubicBezTo>
                    <a:pt x="188" y="0"/>
                    <a:pt x="240" y="24"/>
                    <a:pt x="240" y="54"/>
                  </a:cubicBezTo>
                  <a:cubicBezTo>
                    <a:pt x="240" y="84"/>
                    <a:pt x="188" y="108"/>
                    <a:pt x="120" y="108"/>
                  </a:cubicBezTo>
                  <a:close/>
                  <a:moveTo>
                    <a:pt x="120" y="12"/>
                  </a:moveTo>
                  <a:cubicBezTo>
                    <a:pt x="57" y="12"/>
                    <a:pt x="12" y="34"/>
                    <a:pt x="12" y="54"/>
                  </a:cubicBezTo>
                  <a:cubicBezTo>
                    <a:pt x="12" y="74"/>
                    <a:pt x="57" y="96"/>
                    <a:pt x="120" y="96"/>
                  </a:cubicBezTo>
                  <a:cubicBezTo>
                    <a:pt x="184" y="96"/>
                    <a:pt x="228" y="74"/>
                    <a:pt x="228" y="54"/>
                  </a:cubicBezTo>
                  <a:cubicBezTo>
                    <a:pt x="228" y="34"/>
                    <a:pt x="184" y="12"/>
                    <a:pt x="12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57" name="Freeform 54">
              <a:extLst>
                <a:ext uri="{FF2B5EF4-FFF2-40B4-BE49-F238E27FC236}">
                  <a16:creationId xmlns:a16="http://schemas.microsoft.com/office/drawing/2014/main" id="{D8BD038E-0E81-2FD5-1E40-DF735FC5F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" y="3138"/>
              <a:ext cx="187" cy="89"/>
            </a:xfrm>
            <a:custGeom>
              <a:avLst/>
              <a:gdLst>
                <a:gd name="T0" fmla="*/ 120 w 126"/>
                <a:gd name="T1" fmla="*/ 60 h 60"/>
                <a:gd name="T2" fmla="*/ 0 w 126"/>
                <a:gd name="T3" fmla="*/ 6 h 60"/>
                <a:gd name="T4" fmla="*/ 6 w 126"/>
                <a:gd name="T5" fmla="*/ 0 h 60"/>
                <a:gd name="T6" fmla="*/ 12 w 126"/>
                <a:gd name="T7" fmla="*/ 6 h 60"/>
                <a:gd name="T8" fmla="*/ 120 w 126"/>
                <a:gd name="T9" fmla="*/ 48 h 60"/>
                <a:gd name="T10" fmla="*/ 126 w 126"/>
                <a:gd name="T11" fmla="*/ 54 h 60"/>
                <a:gd name="T12" fmla="*/ 120 w 126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60">
                  <a:moveTo>
                    <a:pt x="120" y="60"/>
                  </a:moveTo>
                  <a:cubicBezTo>
                    <a:pt x="53" y="60"/>
                    <a:pt x="0" y="3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26"/>
                    <a:pt x="57" y="48"/>
                    <a:pt x="120" y="48"/>
                  </a:cubicBezTo>
                  <a:cubicBezTo>
                    <a:pt x="124" y="48"/>
                    <a:pt x="126" y="51"/>
                    <a:pt x="126" y="54"/>
                  </a:cubicBezTo>
                  <a:cubicBezTo>
                    <a:pt x="126" y="57"/>
                    <a:pt x="124" y="60"/>
                    <a:pt x="1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58" name="Freeform 55">
              <a:extLst>
                <a:ext uri="{FF2B5EF4-FFF2-40B4-BE49-F238E27FC236}">
                  <a16:creationId xmlns:a16="http://schemas.microsoft.com/office/drawing/2014/main" id="{CFDD27DA-E3E3-5310-1A86-C765877C6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" y="3218"/>
              <a:ext cx="161" cy="88"/>
            </a:xfrm>
            <a:custGeom>
              <a:avLst/>
              <a:gdLst>
                <a:gd name="T0" fmla="*/ 102 w 109"/>
                <a:gd name="T1" fmla="*/ 59 h 59"/>
                <a:gd name="T2" fmla="*/ 102 w 109"/>
                <a:gd name="T3" fmla="*/ 59 h 59"/>
                <a:gd name="T4" fmla="*/ 0 w 109"/>
                <a:gd name="T5" fmla="*/ 6 h 59"/>
                <a:gd name="T6" fmla="*/ 6 w 109"/>
                <a:gd name="T7" fmla="*/ 0 h 59"/>
                <a:gd name="T8" fmla="*/ 12 w 109"/>
                <a:gd name="T9" fmla="*/ 6 h 59"/>
                <a:gd name="T10" fmla="*/ 103 w 109"/>
                <a:gd name="T11" fmla="*/ 47 h 59"/>
                <a:gd name="T12" fmla="*/ 108 w 109"/>
                <a:gd name="T13" fmla="*/ 54 h 59"/>
                <a:gd name="T14" fmla="*/ 102 w 109"/>
                <a:gd name="T1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9" h="59">
                  <a:moveTo>
                    <a:pt x="102" y="59"/>
                  </a:moveTo>
                  <a:cubicBezTo>
                    <a:pt x="102" y="59"/>
                    <a:pt x="102" y="59"/>
                    <a:pt x="102" y="59"/>
                  </a:cubicBezTo>
                  <a:cubicBezTo>
                    <a:pt x="42" y="55"/>
                    <a:pt x="0" y="33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26"/>
                    <a:pt x="52" y="44"/>
                    <a:pt x="103" y="47"/>
                  </a:cubicBezTo>
                  <a:cubicBezTo>
                    <a:pt x="106" y="47"/>
                    <a:pt x="109" y="50"/>
                    <a:pt x="108" y="54"/>
                  </a:cubicBezTo>
                  <a:cubicBezTo>
                    <a:pt x="108" y="57"/>
                    <a:pt x="106" y="59"/>
                    <a:pt x="102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59" name="Freeform 56">
              <a:extLst>
                <a:ext uri="{FF2B5EF4-FFF2-40B4-BE49-F238E27FC236}">
                  <a16:creationId xmlns:a16="http://schemas.microsoft.com/office/drawing/2014/main" id="{94163FF8-59B6-4C70-6D7A-80564AD08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" y="3067"/>
              <a:ext cx="170" cy="320"/>
            </a:xfrm>
            <a:custGeom>
              <a:avLst/>
              <a:gdLst>
                <a:gd name="T0" fmla="*/ 108 w 115"/>
                <a:gd name="T1" fmla="*/ 216 h 216"/>
                <a:gd name="T2" fmla="*/ 108 w 115"/>
                <a:gd name="T3" fmla="*/ 216 h 216"/>
                <a:gd name="T4" fmla="*/ 0 w 115"/>
                <a:gd name="T5" fmla="*/ 162 h 216"/>
                <a:gd name="T6" fmla="*/ 0 w 115"/>
                <a:gd name="T7" fmla="*/ 6 h 216"/>
                <a:gd name="T8" fmla="*/ 6 w 115"/>
                <a:gd name="T9" fmla="*/ 0 h 216"/>
                <a:gd name="T10" fmla="*/ 12 w 115"/>
                <a:gd name="T11" fmla="*/ 6 h 216"/>
                <a:gd name="T12" fmla="*/ 12 w 115"/>
                <a:gd name="T13" fmla="*/ 162 h 216"/>
                <a:gd name="T14" fmla="*/ 109 w 115"/>
                <a:gd name="T15" fmla="*/ 204 h 216"/>
                <a:gd name="T16" fmla="*/ 114 w 115"/>
                <a:gd name="T17" fmla="*/ 210 h 216"/>
                <a:gd name="T18" fmla="*/ 108 w 115"/>
                <a:gd name="T19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216">
                  <a:moveTo>
                    <a:pt x="108" y="216"/>
                  </a:moveTo>
                  <a:cubicBezTo>
                    <a:pt x="108" y="216"/>
                    <a:pt x="108" y="216"/>
                    <a:pt x="108" y="216"/>
                  </a:cubicBezTo>
                  <a:cubicBezTo>
                    <a:pt x="46" y="213"/>
                    <a:pt x="0" y="190"/>
                    <a:pt x="0" y="16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80"/>
                    <a:pt x="49" y="201"/>
                    <a:pt x="109" y="204"/>
                  </a:cubicBezTo>
                  <a:cubicBezTo>
                    <a:pt x="112" y="204"/>
                    <a:pt x="115" y="207"/>
                    <a:pt x="114" y="210"/>
                  </a:cubicBezTo>
                  <a:cubicBezTo>
                    <a:pt x="114" y="213"/>
                    <a:pt x="112" y="216"/>
                    <a:pt x="108" y="2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60" name="Freeform 57">
              <a:extLst>
                <a:ext uri="{FF2B5EF4-FFF2-40B4-BE49-F238E27FC236}">
                  <a16:creationId xmlns:a16="http://schemas.microsoft.com/office/drawing/2014/main" id="{E8607E05-32A5-8010-BAFE-911E2E650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3067"/>
              <a:ext cx="18" cy="98"/>
            </a:xfrm>
            <a:custGeom>
              <a:avLst/>
              <a:gdLst>
                <a:gd name="T0" fmla="*/ 6 w 12"/>
                <a:gd name="T1" fmla="*/ 66 h 66"/>
                <a:gd name="T2" fmla="*/ 0 w 12"/>
                <a:gd name="T3" fmla="*/ 60 h 66"/>
                <a:gd name="T4" fmla="*/ 0 w 12"/>
                <a:gd name="T5" fmla="*/ 6 h 66"/>
                <a:gd name="T6" fmla="*/ 6 w 12"/>
                <a:gd name="T7" fmla="*/ 0 h 66"/>
                <a:gd name="T8" fmla="*/ 12 w 12"/>
                <a:gd name="T9" fmla="*/ 6 h 66"/>
                <a:gd name="T10" fmla="*/ 12 w 12"/>
                <a:gd name="T11" fmla="*/ 60 h 66"/>
                <a:gd name="T12" fmla="*/ 6 w 12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66">
                  <a:moveTo>
                    <a:pt x="6" y="66"/>
                  </a:moveTo>
                  <a:cubicBezTo>
                    <a:pt x="3" y="66"/>
                    <a:pt x="0" y="63"/>
                    <a:pt x="0" y="6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3"/>
                    <a:pt x="10" y="66"/>
                    <a:pt x="6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61" name="Freeform 58">
              <a:extLst>
                <a:ext uri="{FF2B5EF4-FFF2-40B4-BE49-F238E27FC236}">
                  <a16:creationId xmlns:a16="http://schemas.microsoft.com/office/drawing/2014/main" id="{EF1B931A-4316-07F8-AC93-D8C13BC533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8" y="3192"/>
              <a:ext cx="231" cy="231"/>
            </a:xfrm>
            <a:custGeom>
              <a:avLst/>
              <a:gdLst>
                <a:gd name="T0" fmla="*/ 78 w 156"/>
                <a:gd name="T1" fmla="*/ 156 h 156"/>
                <a:gd name="T2" fmla="*/ 0 w 156"/>
                <a:gd name="T3" fmla="*/ 78 h 156"/>
                <a:gd name="T4" fmla="*/ 78 w 156"/>
                <a:gd name="T5" fmla="*/ 0 h 156"/>
                <a:gd name="T6" fmla="*/ 156 w 156"/>
                <a:gd name="T7" fmla="*/ 78 h 156"/>
                <a:gd name="T8" fmla="*/ 78 w 156"/>
                <a:gd name="T9" fmla="*/ 156 h 156"/>
                <a:gd name="T10" fmla="*/ 78 w 156"/>
                <a:gd name="T11" fmla="*/ 12 h 156"/>
                <a:gd name="T12" fmla="*/ 12 w 156"/>
                <a:gd name="T13" fmla="*/ 78 h 156"/>
                <a:gd name="T14" fmla="*/ 78 w 156"/>
                <a:gd name="T15" fmla="*/ 144 h 156"/>
                <a:gd name="T16" fmla="*/ 144 w 156"/>
                <a:gd name="T17" fmla="*/ 78 h 156"/>
                <a:gd name="T18" fmla="*/ 78 w 156"/>
                <a:gd name="T19" fmla="*/ 1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6" h="156">
                  <a:moveTo>
                    <a:pt x="78" y="156"/>
                  </a:moveTo>
                  <a:cubicBezTo>
                    <a:pt x="35" y="156"/>
                    <a:pt x="0" y="121"/>
                    <a:pt x="0" y="78"/>
                  </a:cubicBezTo>
                  <a:cubicBezTo>
                    <a:pt x="0" y="35"/>
                    <a:pt x="35" y="0"/>
                    <a:pt x="78" y="0"/>
                  </a:cubicBezTo>
                  <a:cubicBezTo>
                    <a:pt x="121" y="0"/>
                    <a:pt x="156" y="35"/>
                    <a:pt x="156" y="78"/>
                  </a:cubicBezTo>
                  <a:cubicBezTo>
                    <a:pt x="156" y="121"/>
                    <a:pt x="121" y="156"/>
                    <a:pt x="78" y="156"/>
                  </a:cubicBezTo>
                  <a:close/>
                  <a:moveTo>
                    <a:pt x="78" y="12"/>
                  </a:moveTo>
                  <a:cubicBezTo>
                    <a:pt x="42" y="12"/>
                    <a:pt x="12" y="41"/>
                    <a:pt x="12" y="78"/>
                  </a:cubicBezTo>
                  <a:cubicBezTo>
                    <a:pt x="12" y="114"/>
                    <a:pt x="42" y="144"/>
                    <a:pt x="78" y="144"/>
                  </a:cubicBezTo>
                  <a:cubicBezTo>
                    <a:pt x="115" y="144"/>
                    <a:pt x="144" y="114"/>
                    <a:pt x="144" y="78"/>
                  </a:cubicBezTo>
                  <a:cubicBezTo>
                    <a:pt x="144" y="41"/>
                    <a:pt x="115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62" name="Oval 59">
              <a:extLst>
                <a:ext uri="{FF2B5EF4-FFF2-40B4-BE49-F238E27FC236}">
                  <a16:creationId xmlns:a16="http://schemas.microsoft.com/office/drawing/2014/main" id="{4A84F25B-87FE-0230-F80B-642E0B91D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3" y="3354"/>
              <a:ext cx="23" cy="2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63" name="Freeform 60">
              <a:extLst>
                <a:ext uri="{FF2B5EF4-FFF2-40B4-BE49-F238E27FC236}">
                  <a16:creationId xmlns:a16="http://schemas.microsoft.com/office/drawing/2014/main" id="{E730BA46-F641-2536-EC85-8CBC9C339D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3235"/>
              <a:ext cx="81" cy="112"/>
            </a:xfrm>
            <a:custGeom>
              <a:avLst/>
              <a:gdLst>
                <a:gd name="T0" fmla="*/ 27 w 55"/>
                <a:gd name="T1" fmla="*/ 76 h 76"/>
                <a:gd name="T2" fmla="*/ 21 w 55"/>
                <a:gd name="T3" fmla="*/ 70 h 76"/>
                <a:gd name="T4" fmla="*/ 21 w 55"/>
                <a:gd name="T5" fmla="*/ 49 h 76"/>
                <a:gd name="T6" fmla="*/ 27 w 55"/>
                <a:gd name="T7" fmla="*/ 43 h 76"/>
                <a:gd name="T8" fmla="*/ 43 w 55"/>
                <a:gd name="T9" fmla="*/ 28 h 76"/>
                <a:gd name="T10" fmla="*/ 27 w 55"/>
                <a:gd name="T11" fmla="*/ 12 h 76"/>
                <a:gd name="T12" fmla="*/ 12 w 55"/>
                <a:gd name="T13" fmla="*/ 28 h 76"/>
                <a:gd name="T14" fmla="*/ 6 w 55"/>
                <a:gd name="T15" fmla="*/ 34 h 76"/>
                <a:gd name="T16" fmla="*/ 0 w 55"/>
                <a:gd name="T17" fmla="*/ 28 h 76"/>
                <a:gd name="T18" fmla="*/ 27 w 55"/>
                <a:gd name="T19" fmla="*/ 0 h 76"/>
                <a:gd name="T20" fmla="*/ 55 w 55"/>
                <a:gd name="T21" fmla="*/ 28 h 76"/>
                <a:gd name="T22" fmla="*/ 33 w 55"/>
                <a:gd name="T23" fmla="*/ 54 h 76"/>
                <a:gd name="T24" fmla="*/ 33 w 55"/>
                <a:gd name="T25" fmla="*/ 70 h 76"/>
                <a:gd name="T26" fmla="*/ 27 w 55"/>
                <a:gd name="T27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" h="76">
                  <a:moveTo>
                    <a:pt x="27" y="76"/>
                  </a:moveTo>
                  <a:cubicBezTo>
                    <a:pt x="24" y="76"/>
                    <a:pt x="21" y="74"/>
                    <a:pt x="21" y="70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6"/>
                    <a:pt x="24" y="43"/>
                    <a:pt x="27" y="43"/>
                  </a:cubicBezTo>
                  <a:cubicBezTo>
                    <a:pt x="36" y="43"/>
                    <a:pt x="43" y="36"/>
                    <a:pt x="43" y="28"/>
                  </a:cubicBezTo>
                  <a:cubicBezTo>
                    <a:pt x="43" y="19"/>
                    <a:pt x="36" y="12"/>
                    <a:pt x="27" y="12"/>
                  </a:cubicBezTo>
                  <a:cubicBezTo>
                    <a:pt x="19" y="12"/>
                    <a:pt x="12" y="19"/>
                    <a:pt x="12" y="28"/>
                  </a:cubicBezTo>
                  <a:cubicBezTo>
                    <a:pt x="12" y="31"/>
                    <a:pt x="9" y="34"/>
                    <a:pt x="6" y="34"/>
                  </a:cubicBezTo>
                  <a:cubicBezTo>
                    <a:pt x="3" y="34"/>
                    <a:pt x="0" y="31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43" y="0"/>
                    <a:pt x="55" y="13"/>
                    <a:pt x="55" y="28"/>
                  </a:cubicBezTo>
                  <a:cubicBezTo>
                    <a:pt x="55" y="41"/>
                    <a:pt x="46" y="52"/>
                    <a:pt x="33" y="54"/>
                  </a:cubicBezTo>
                  <a:cubicBezTo>
                    <a:pt x="33" y="70"/>
                    <a:pt x="33" y="70"/>
                    <a:pt x="33" y="70"/>
                  </a:cubicBezTo>
                  <a:cubicBezTo>
                    <a:pt x="33" y="74"/>
                    <a:pt x="31" y="76"/>
                    <a:pt x="27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7364" name="Group 40">
            <a:extLst>
              <a:ext uri="{FF2B5EF4-FFF2-40B4-BE49-F238E27FC236}">
                <a16:creationId xmlns:a16="http://schemas.microsoft.com/office/drawing/2014/main" id="{A298DEA8-330F-98E8-0AA7-0305A95D119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0485" y="-1625913"/>
            <a:ext cx="477883" cy="482402"/>
            <a:chOff x="3437" y="2996"/>
            <a:chExt cx="423" cy="427"/>
          </a:xfrm>
          <a:solidFill>
            <a:srgbClr val="297FD5"/>
          </a:solidFill>
        </p:grpSpPr>
        <p:sp>
          <p:nvSpPr>
            <p:cNvPr id="7365" name="Freeform 41">
              <a:extLst>
                <a:ext uri="{FF2B5EF4-FFF2-40B4-BE49-F238E27FC236}">
                  <a16:creationId xmlns:a16="http://schemas.microsoft.com/office/drawing/2014/main" id="{A02DFA85-F3CD-FEEF-730B-ED3F8CE7E8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7" y="2996"/>
              <a:ext cx="355" cy="160"/>
            </a:xfrm>
            <a:custGeom>
              <a:avLst/>
              <a:gdLst>
                <a:gd name="T0" fmla="*/ 120 w 240"/>
                <a:gd name="T1" fmla="*/ 108 h 108"/>
                <a:gd name="T2" fmla="*/ 0 w 240"/>
                <a:gd name="T3" fmla="*/ 54 h 108"/>
                <a:gd name="T4" fmla="*/ 120 w 240"/>
                <a:gd name="T5" fmla="*/ 0 h 108"/>
                <a:gd name="T6" fmla="*/ 240 w 240"/>
                <a:gd name="T7" fmla="*/ 54 h 108"/>
                <a:gd name="T8" fmla="*/ 120 w 240"/>
                <a:gd name="T9" fmla="*/ 108 h 108"/>
                <a:gd name="T10" fmla="*/ 120 w 240"/>
                <a:gd name="T11" fmla="*/ 12 h 108"/>
                <a:gd name="T12" fmla="*/ 12 w 240"/>
                <a:gd name="T13" fmla="*/ 54 h 108"/>
                <a:gd name="T14" fmla="*/ 120 w 240"/>
                <a:gd name="T15" fmla="*/ 96 h 108"/>
                <a:gd name="T16" fmla="*/ 228 w 240"/>
                <a:gd name="T17" fmla="*/ 54 h 108"/>
                <a:gd name="T18" fmla="*/ 120 w 240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108">
                  <a:moveTo>
                    <a:pt x="120" y="108"/>
                  </a:moveTo>
                  <a:cubicBezTo>
                    <a:pt x="53" y="108"/>
                    <a:pt x="0" y="84"/>
                    <a:pt x="0" y="54"/>
                  </a:cubicBezTo>
                  <a:cubicBezTo>
                    <a:pt x="0" y="24"/>
                    <a:pt x="53" y="0"/>
                    <a:pt x="120" y="0"/>
                  </a:cubicBezTo>
                  <a:cubicBezTo>
                    <a:pt x="187" y="0"/>
                    <a:pt x="240" y="24"/>
                    <a:pt x="240" y="54"/>
                  </a:cubicBezTo>
                  <a:cubicBezTo>
                    <a:pt x="240" y="84"/>
                    <a:pt x="187" y="108"/>
                    <a:pt x="120" y="108"/>
                  </a:cubicBezTo>
                  <a:close/>
                  <a:moveTo>
                    <a:pt x="120" y="12"/>
                  </a:moveTo>
                  <a:cubicBezTo>
                    <a:pt x="57" y="12"/>
                    <a:pt x="12" y="34"/>
                    <a:pt x="12" y="54"/>
                  </a:cubicBezTo>
                  <a:cubicBezTo>
                    <a:pt x="12" y="74"/>
                    <a:pt x="57" y="96"/>
                    <a:pt x="120" y="96"/>
                  </a:cubicBezTo>
                  <a:cubicBezTo>
                    <a:pt x="184" y="96"/>
                    <a:pt x="228" y="74"/>
                    <a:pt x="228" y="54"/>
                  </a:cubicBezTo>
                  <a:cubicBezTo>
                    <a:pt x="228" y="34"/>
                    <a:pt x="184" y="12"/>
                    <a:pt x="12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66" name="Freeform 42">
              <a:extLst>
                <a:ext uri="{FF2B5EF4-FFF2-40B4-BE49-F238E27FC236}">
                  <a16:creationId xmlns:a16="http://schemas.microsoft.com/office/drawing/2014/main" id="{E20148B7-C403-758F-3ABC-797479051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7" y="3138"/>
              <a:ext cx="213" cy="89"/>
            </a:xfrm>
            <a:custGeom>
              <a:avLst/>
              <a:gdLst>
                <a:gd name="T0" fmla="*/ 120 w 144"/>
                <a:gd name="T1" fmla="*/ 60 h 60"/>
                <a:gd name="T2" fmla="*/ 0 w 144"/>
                <a:gd name="T3" fmla="*/ 6 h 60"/>
                <a:gd name="T4" fmla="*/ 6 w 144"/>
                <a:gd name="T5" fmla="*/ 0 h 60"/>
                <a:gd name="T6" fmla="*/ 12 w 144"/>
                <a:gd name="T7" fmla="*/ 6 h 60"/>
                <a:gd name="T8" fmla="*/ 120 w 144"/>
                <a:gd name="T9" fmla="*/ 48 h 60"/>
                <a:gd name="T10" fmla="*/ 138 w 144"/>
                <a:gd name="T11" fmla="*/ 47 h 60"/>
                <a:gd name="T12" fmla="*/ 144 w 144"/>
                <a:gd name="T13" fmla="*/ 53 h 60"/>
                <a:gd name="T14" fmla="*/ 139 w 144"/>
                <a:gd name="T15" fmla="*/ 59 h 60"/>
                <a:gd name="T16" fmla="*/ 120 w 144"/>
                <a:gd name="T1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60">
                  <a:moveTo>
                    <a:pt x="120" y="60"/>
                  </a:moveTo>
                  <a:cubicBezTo>
                    <a:pt x="53" y="60"/>
                    <a:pt x="0" y="3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26"/>
                    <a:pt x="57" y="48"/>
                    <a:pt x="120" y="48"/>
                  </a:cubicBezTo>
                  <a:cubicBezTo>
                    <a:pt x="126" y="48"/>
                    <a:pt x="132" y="48"/>
                    <a:pt x="138" y="47"/>
                  </a:cubicBezTo>
                  <a:cubicBezTo>
                    <a:pt x="141" y="47"/>
                    <a:pt x="144" y="50"/>
                    <a:pt x="144" y="53"/>
                  </a:cubicBezTo>
                  <a:cubicBezTo>
                    <a:pt x="144" y="56"/>
                    <a:pt x="142" y="59"/>
                    <a:pt x="139" y="59"/>
                  </a:cubicBezTo>
                  <a:cubicBezTo>
                    <a:pt x="132" y="60"/>
                    <a:pt x="126" y="60"/>
                    <a:pt x="1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67" name="Freeform 43">
              <a:extLst>
                <a:ext uri="{FF2B5EF4-FFF2-40B4-BE49-F238E27FC236}">
                  <a16:creationId xmlns:a16="http://schemas.microsoft.com/office/drawing/2014/main" id="{E2CEFDB2-ED5D-8B6B-1949-25B75E905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7" y="3218"/>
              <a:ext cx="186" cy="89"/>
            </a:xfrm>
            <a:custGeom>
              <a:avLst/>
              <a:gdLst>
                <a:gd name="T0" fmla="*/ 120 w 126"/>
                <a:gd name="T1" fmla="*/ 60 h 60"/>
                <a:gd name="T2" fmla="*/ 0 w 126"/>
                <a:gd name="T3" fmla="*/ 6 h 60"/>
                <a:gd name="T4" fmla="*/ 6 w 126"/>
                <a:gd name="T5" fmla="*/ 0 h 60"/>
                <a:gd name="T6" fmla="*/ 12 w 126"/>
                <a:gd name="T7" fmla="*/ 6 h 60"/>
                <a:gd name="T8" fmla="*/ 120 w 126"/>
                <a:gd name="T9" fmla="*/ 48 h 60"/>
                <a:gd name="T10" fmla="*/ 126 w 126"/>
                <a:gd name="T11" fmla="*/ 54 h 60"/>
                <a:gd name="T12" fmla="*/ 120 w 126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60">
                  <a:moveTo>
                    <a:pt x="120" y="60"/>
                  </a:moveTo>
                  <a:cubicBezTo>
                    <a:pt x="53" y="60"/>
                    <a:pt x="0" y="3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26"/>
                    <a:pt x="57" y="48"/>
                    <a:pt x="120" y="48"/>
                  </a:cubicBezTo>
                  <a:cubicBezTo>
                    <a:pt x="124" y="48"/>
                    <a:pt x="126" y="51"/>
                    <a:pt x="126" y="54"/>
                  </a:cubicBezTo>
                  <a:cubicBezTo>
                    <a:pt x="126" y="57"/>
                    <a:pt x="124" y="60"/>
                    <a:pt x="1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68" name="Freeform 44">
              <a:extLst>
                <a:ext uri="{FF2B5EF4-FFF2-40B4-BE49-F238E27FC236}">
                  <a16:creationId xmlns:a16="http://schemas.microsoft.com/office/drawing/2014/main" id="{1946C18E-AF71-EE5C-0BD5-ECFB2C8D2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7" y="3067"/>
              <a:ext cx="186" cy="320"/>
            </a:xfrm>
            <a:custGeom>
              <a:avLst/>
              <a:gdLst>
                <a:gd name="T0" fmla="*/ 120 w 126"/>
                <a:gd name="T1" fmla="*/ 216 h 216"/>
                <a:gd name="T2" fmla="*/ 0 w 126"/>
                <a:gd name="T3" fmla="*/ 162 h 216"/>
                <a:gd name="T4" fmla="*/ 0 w 126"/>
                <a:gd name="T5" fmla="*/ 6 h 216"/>
                <a:gd name="T6" fmla="*/ 6 w 126"/>
                <a:gd name="T7" fmla="*/ 0 h 216"/>
                <a:gd name="T8" fmla="*/ 12 w 126"/>
                <a:gd name="T9" fmla="*/ 6 h 216"/>
                <a:gd name="T10" fmla="*/ 12 w 126"/>
                <a:gd name="T11" fmla="*/ 162 h 216"/>
                <a:gd name="T12" fmla="*/ 120 w 126"/>
                <a:gd name="T13" fmla="*/ 204 h 216"/>
                <a:gd name="T14" fmla="*/ 126 w 126"/>
                <a:gd name="T15" fmla="*/ 210 h 216"/>
                <a:gd name="T16" fmla="*/ 120 w 126"/>
                <a:gd name="T17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216">
                  <a:moveTo>
                    <a:pt x="120" y="216"/>
                  </a:moveTo>
                  <a:cubicBezTo>
                    <a:pt x="53" y="216"/>
                    <a:pt x="0" y="192"/>
                    <a:pt x="0" y="16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82"/>
                    <a:pt x="57" y="204"/>
                    <a:pt x="120" y="204"/>
                  </a:cubicBezTo>
                  <a:cubicBezTo>
                    <a:pt x="124" y="204"/>
                    <a:pt x="126" y="207"/>
                    <a:pt x="126" y="210"/>
                  </a:cubicBezTo>
                  <a:cubicBezTo>
                    <a:pt x="126" y="213"/>
                    <a:pt x="124" y="216"/>
                    <a:pt x="120" y="2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69" name="Freeform 45">
              <a:extLst>
                <a:ext uri="{FF2B5EF4-FFF2-40B4-BE49-F238E27FC236}">
                  <a16:creationId xmlns:a16="http://schemas.microsoft.com/office/drawing/2014/main" id="{B4F4C11C-3069-0A9B-309B-F20C7B623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" y="3067"/>
              <a:ext cx="18" cy="116"/>
            </a:xfrm>
            <a:custGeom>
              <a:avLst/>
              <a:gdLst>
                <a:gd name="T0" fmla="*/ 6 w 12"/>
                <a:gd name="T1" fmla="*/ 78 h 78"/>
                <a:gd name="T2" fmla="*/ 0 w 12"/>
                <a:gd name="T3" fmla="*/ 72 h 78"/>
                <a:gd name="T4" fmla="*/ 0 w 12"/>
                <a:gd name="T5" fmla="*/ 6 h 78"/>
                <a:gd name="T6" fmla="*/ 6 w 12"/>
                <a:gd name="T7" fmla="*/ 0 h 78"/>
                <a:gd name="T8" fmla="*/ 12 w 12"/>
                <a:gd name="T9" fmla="*/ 6 h 78"/>
                <a:gd name="T10" fmla="*/ 12 w 12"/>
                <a:gd name="T11" fmla="*/ 72 h 78"/>
                <a:gd name="T12" fmla="*/ 6 w 12"/>
                <a:gd name="T13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78">
                  <a:moveTo>
                    <a:pt x="6" y="78"/>
                  </a:moveTo>
                  <a:cubicBezTo>
                    <a:pt x="3" y="78"/>
                    <a:pt x="0" y="75"/>
                    <a:pt x="0" y="7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5"/>
                    <a:pt x="10" y="78"/>
                    <a:pt x="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70" name="Freeform 46">
              <a:extLst>
                <a:ext uri="{FF2B5EF4-FFF2-40B4-BE49-F238E27FC236}">
                  <a16:creationId xmlns:a16="http://schemas.microsoft.com/office/drawing/2014/main" id="{B4863908-0729-075C-1037-93FD28CB2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3254"/>
              <a:ext cx="62" cy="62"/>
            </a:xfrm>
            <a:custGeom>
              <a:avLst/>
              <a:gdLst>
                <a:gd name="T0" fmla="*/ 36 w 42"/>
                <a:gd name="T1" fmla="*/ 42 h 42"/>
                <a:gd name="T2" fmla="*/ 6 w 42"/>
                <a:gd name="T3" fmla="*/ 42 h 42"/>
                <a:gd name="T4" fmla="*/ 0 w 42"/>
                <a:gd name="T5" fmla="*/ 36 h 42"/>
                <a:gd name="T6" fmla="*/ 6 w 42"/>
                <a:gd name="T7" fmla="*/ 30 h 42"/>
                <a:gd name="T8" fmla="*/ 30 w 42"/>
                <a:gd name="T9" fmla="*/ 30 h 42"/>
                <a:gd name="T10" fmla="*/ 30 w 42"/>
                <a:gd name="T11" fmla="*/ 6 h 42"/>
                <a:gd name="T12" fmla="*/ 36 w 42"/>
                <a:gd name="T13" fmla="*/ 0 h 42"/>
                <a:gd name="T14" fmla="*/ 42 w 42"/>
                <a:gd name="T15" fmla="*/ 6 h 42"/>
                <a:gd name="T16" fmla="*/ 42 w 42"/>
                <a:gd name="T17" fmla="*/ 36 h 42"/>
                <a:gd name="T18" fmla="*/ 36 w 42"/>
                <a:gd name="T19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42">
                  <a:moveTo>
                    <a:pt x="36" y="42"/>
                  </a:moveTo>
                  <a:cubicBezTo>
                    <a:pt x="6" y="42"/>
                    <a:pt x="6" y="42"/>
                    <a:pt x="6" y="42"/>
                  </a:cubicBezTo>
                  <a:cubicBezTo>
                    <a:pt x="3" y="42"/>
                    <a:pt x="0" y="39"/>
                    <a:pt x="0" y="36"/>
                  </a:cubicBezTo>
                  <a:cubicBezTo>
                    <a:pt x="0" y="33"/>
                    <a:pt x="3" y="30"/>
                    <a:pt x="6" y="30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3"/>
                    <a:pt x="33" y="0"/>
                    <a:pt x="36" y="0"/>
                  </a:cubicBezTo>
                  <a:cubicBezTo>
                    <a:pt x="40" y="0"/>
                    <a:pt x="42" y="3"/>
                    <a:pt x="42" y="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9"/>
                    <a:pt x="40" y="42"/>
                    <a:pt x="36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71" name="Freeform 47">
              <a:extLst>
                <a:ext uri="{FF2B5EF4-FFF2-40B4-BE49-F238E27FC236}">
                  <a16:creationId xmlns:a16="http://schemas.microsoft.com/office/drawing/2014/main" id="{DC09C54C-1DD7-CC17-C4C4-9E2C9B6FA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0" y="3245"/>
              <a:ext cx="174" cy="72"/>
            </a:xfrm>
            <a:custGeom>
              <a:avLst/>
              <a:gdLst>
                <a:gd name="T0" fmla="*/ 7 w 118"/>
                <a:gd name="T1" fmla="*/ 48 h 49"/>
                <a:gd name="T2" fmla="*/ 5 w 118"/>
                <a:gd name="T3" fmla="*/ 48 h 49"/>
                <a:gd name="T4" fmla="*/ 2 w 118"/>
                <a:gd name="T5" fmla="*/ 40 h 49"/>
                <a:gd name="T6" fmla="*/ 58 w 118"/>
                <a:gd name="T7" fmla="*/ 0 h 49"/>
                <a:gd name="T8" fmla="*/ 117 w 118"/>
                <a:gd name="T9" fmla="*/ 40 h 49"/>
                <a:gd name="T10" fmla="*/ 114 w 118"/>
                <a:gd name="T11" fmla="*/ 47 h 49"/>
                <a:gd name="T12" fmla="*/ 106 w 118"/>
                <a:gd name="T13" fmla="*/ 44 h 49"/>
                <a:gd name="T14" fmla="*/ 58 w 118"/>
                <a:gd name="T15" fmla="*/ 12 h 49"/>
                <a:gd name="T16" fmla="*/ 13 w 118"/>
                <a:gd name="T17" fmla="*/ 44 h 49"/>
                <a:gd name="T18" fmla="*/ 7 w 118"/>
                <a:gd name="T19" fmla="*/ 4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8" h="49">
                  <a:moveTo>
                    <a:pt x="7" y="48"/>
                  </a:moveTo>
                  <a:cubicBezTo>
                    <a:pt x="7" y="48"/>
                    <a:pt x="6" y="48"/>
                    <a:pt x="5" y="48"/>
                  </a:cubicBezTo>
                  <a:cubicBezTo>
                    <a:pt x="2" y="47"/>
                    <a:pt x="0" y="43"/>
                    <a:pt x="2" y="40"/>
                  </a:cubicBezTo>
                  <a:cubicBezTo>
                    <a:pt x="10" y="16"/>
                    <a:pt x="33" y="0"/>
                    <a:pt x="58" y="0"/>
                  </a:cubicBezTo>
                  <a:cubicBezTo>
                    <a:pt x="84" y="0"/>
                    <a:pt x="109" y="17"/>
                    <a:pt x="117" y="40"/>
                  </a:cubicBezTo>
                  <a:cubicBezTo>
                    <a:pt x="118" y="43"/>
                    <a:pt x="117" y="46"/>
                    <a:pt x="114" y="47"/>
                  </a:cubicBezTo>
                  <a:cubicBezTo>
                    <a:pt x="111" y="49"/>
                    <a:pt x="107" y="47"/>
                    <a:pt x="106" y="44"/>
                  </a:cubicBezTo>
                  <a:cubicBezTo>
                    <a:pt x="100" y="25"/>
                    <a:pt x="79" y="12"/>
                    <a:pt x="58" y="12"/>
                  </a:cubicBezTo>
                  <a:cubicBezTo>
                    <a:pt x="38" y="12"/>
                    <a:pt x="20" y="25"/>
                    <a:pt x="13" y="44"/>
                  </a:cubicBezTo>
                  <a:cubicBezTo>
                    <a:pt x="12" y="46"/>
                    <a:pt x="10" y="48"/>
                    <a:pt x="7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72" name="Freeform 48">
              <a:extLst>
                <a:ext uri="{FF2B5EF4-FFF2-40B4-BE49-F238E27FC236}">
                  <a16:creationId xmlns:a16="http://schemas.microsoft.com/office/drawing/2014/main" id="{D1924479-A32A-676E-FE00-A6112F082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3352"/>
              <a:ext cx="62" cy="62"/>
            </a:xfrm>
            <a:custGeom>
              <a:avLst/>
              <a:gdLst>
                <a:gd name="T0" fmla="*/ 6 w 42"/>
                <a:gd name="T1" fmla="*/ 42 h 42"/>
                <a:gd name="T2" fmla="*/ 0 w 42"/>
                <a:gd name="T3" fmla="*/ 36 h 42"/>
                <a:gd name="T4" fmla="*/ 0 w 42"/>
                <a:gd name="T5" fmla="*/ 6 h 42"/>
                <a:gd name="T6" fmla="*/ 6 w 42"/>
                <a:gd name="T7" fmla="*/ 0 h 42"/>
                <a:gd name="T8" fmla="*/ 36 w 42"/>
                <a:gd name="T9" fmla="*/ 0 h 42"/>
                <a:gd name="T10" fmla="*/ 42 w 42"/>
                <a:gd name="T11" fmla="*/ 6 h 42"/>
                <a:gd name="T12" fmla="*/ 36 w 42"/>
                <a:gd name="T13" fmla="*/ 12 h 42"/>
                <a:gd name="T14" fmla="*/ 12 w 42"/>
                <a:gd name="T15" fmla="*/ 12 h 42"/>
                <a:gd name="T16" fmla="*/ 12 w 42"/>
                <a:gd name="T17" fmla="*/ 36 h 42"/>
                <a:gd name="T18" fmla="*/ 6 w 42"/>
                <a:gd name="T19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42">
                  <a:moveTo>
                    <a:pt x="6" y="42"/>
                  </a:moveTo>
                  <a:cubicBezTo>
                    <a:pt x="3" y="42"/>
                    <a:pt x="0" y="39"/>
                    <a:pt x="0" y="3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9" y="0"/>
                    <a:pt x="42" y="2"/>
                    <a:pt x="42" y="6"/>
                  </a:cubicBezTo>
                  <a:cubicBezTo>
                    <a:pt x="42" y="9"/>
                    <a:pt x="39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39"/>
                    <a:pt x="9" y="42"/>
                    <a:pt x="6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73" name="Freeform 49">
              <a:extLst>
                <a:ext uri="{FF2B5EF4-FFF2-40B4-BE49-F238E27FC236}">
                  <a16:creationId xmlns:a16="http://schemas.microsoft.com/office/drawing/2014/main" id="{CB43D14B-31F8-E6AB-6336-6EE72A296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3350"/>
              <a:ext cx="175" cy="73"/>
            </a:xfrm>
            <a:custGeom>
              <a:avLst/>
              <a:gdLst>
                <a:gd name="T0" fmla="*/ 60 w 118"/>
                <a:gd name="T1" fmla="*/ 49 h 49"/>
                <a:gd name="T2" fmla="*/ 1 w 118"/>
                <a:gd name="T3" fmla="*/ 9 h 49"/>
                <a:gd name="T4" fmla="*/ 5 w 118"/>
                <a:gd name="T5" fmla="*/ 1 h 49"/>
                <a:gd name="T6" fmla="*/ 12 w 118"/>
                <a:gd name="T7" fmla="*/ 5 h 49"/>
                <a:gd name="T8" fmla="*/ 60 w 118"/>
                <a:gd name="T9" fmla="*/ 37 h 49"/>
                <a:gd name="T10" fmla="*/ 105 w 118"/>
                <a:gd name="T11" fmla="*/ 5 h 49"/>
                <a:gd name="T12" fmla="*/ 113 w 118"/>
                <a:gd name="T13" fmla="*/ 1 h 49"/>
                <a:gd name="T14" fmla="*/ 117 w 118"/>
                <a:gd name="T15" fmla="*/ 9 h 49"/>
                <a:gd name="T16" fmla="*/ 60 w 118"/>
                <a:gd name="T17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49">
                  <a:moveTo>
                    <a:pt x="60" y="49"/>
                  </a:moveTo>
                  <a:cubicBezTo>
                    <a:pt x="34" y="49"/>
                    <a:pt x="9" y="32"/>
                    <a:pt x="1" y="9"/>
                  </a:cubicBezTo>
                  <a:cubicBezTo>
                    <a:pt x="0" y="6"/>
                    <a:pt x="2" y="2"/>
                    <a:pt x="5" y="1"/>
                  </a:cubicBezTo>
                  <a:cubicBezTo>
                    <a:pt x="8" y="0"/>
                    <a:pt x="11" y="2"/>
                    <a:pt x="12" y="5"/>
                  </a:cubicBezTo>
                  <a:cubicBezTo>
                    <a:pt x="19" y="23"/>
                    <a:pt x="39" y="37"/>
                    <a:pt x="60" y="37"/>
                  </a:cubicBezTo>
                  <a:cubicBezTo>
                    <a:pt x="80" y="37"/>
                    <a:pt x="99" y="24"/>
                    <a:pt x="105" y="5"/>
                  </a:cubicBezTo>
                  <a:cubicBezTo>
                    <a:pt x="107" y="2"/>
                    <a:pt x="110" y="0"/>
                    <a:pt x="113" y="1"/>
                  </a:cubicBezTo>
                  <a:cubicBezTo>
                    <a:pt x="116" y="2"/>
                    <a:pt x="118" y="6"/>
                    <a:pt x="117" y="9"/>
                  </a:cubicBezTo>
                  <a:cubicBezTo>
                    <a:pt x="108" y="33"/>
                    <a:pt x="86" y="49"/>
                    <a:pt x="60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7374" name="Group 19">
            <a:extLst>
              <a:ext uri="{FF2B5EF4-FFF2-40B4-BE49-F238E27FC236}">
                <a16:creationId xmlns:a16="http://schemas.microsoft.com/office/drawing/2014/main" id="{00A70154-62DF-D1CF-E89C-90FB57A9849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0485" y="-992338"/>
            <a:ext cx="477883" cy="477883"/>
            <a:chOff x="5501" y="2996"/>
            <a:chExt cx="427" cy="427"/>
          </a:xfrm>
          <a:solidFill>
            <a:srgbClr val="297FD5"/>
          </a:solidFill>
        </p:grpSpPr>
        <p:sp>
          <p:nvSpPr>
            <p:cNvPr id="7375" name="Freeform 20">
              <a:extLst>
                <a:ext uri="{FF2B5EF4-FFF2-40B4-BE49-F238E27FC236}">
                  <a16:creationId xmlns:a16="http://schemas.microsoft.com/office/drawing/2014/main" id="{27147A36-9A58-BA69-022C-CC6DCC60EA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01" y="2996"/>
              <a:ext cx="355" cy="160"/>
            </a:xfrm>
            <a:custGeom>
              <a:avLst/>
              <a:gdLst>
                <a:gd name="T0" fmla="*/ 120 w 240"/>
                <a:gd name="T1" fmla="*/ 108 h 108"/>
                <a:gd name="T2" fmla="*/ 0 w 240"/>
                <a:gd name="T3" fmla="*/ 54 h 108"/>
                <a:gd name="T4" fmla="*/ 120 w 240"/>
                <a:gd name="T5" fmla="*/ 0 h 108"/>
                <a:gd name="T6" fmla="*/ 240 w 240"/>
                <a:gd name="T7" fmla="*/ 54 h 108"/>
                <a:gd name="T8" fmla="*/ 120 w 240"/>
                <a:gd name="T9" fmla="*/ 108 h 108"/>
                <a:gd name="T10" fmla="*/ 120 w 240"/>
                <a:gd name="T11" fmla="*/ 12 h 108"/>
                <a:gd name="T12" fmla="*/ 12 w 240"/>
                <a:gd name="T13" fmla="*/ 54 h 108"/>
                <a:gd name="T14" fmla="*/ 120 w 240"/>
                <a:gd name="T15" fmla="*/ 96 h 108"/>
                <a:gd name="T16" fmla="*/ 228 w 240"/>
                <a:gd name="T17" fmla="*/ 54 h 108"/>
                <a:gd name="T18" fmla="*/ 120 w 240"/>
                <a:gd name="T19" fmla="*/ 1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108">
                  <a:moveTo>
                    <a:pt x="120" y="108"/>
                  </a:moveTo>
                  <a:cubicBezTo>
                    <a:pt x="53" y="108"/>
                    <a:pt x="0" y="84"/>
                    <a:pt x="0" y="54"/>
                  </a:cubicBezTo>
                  <a:cubicBezTo>
                    <a:pt x="0" y="24"/>
                    <a:pt x="53" y="0"/>
                    <a:pt x="120" y="0"/>
                  </a:cubicBezTo>
                  <a:cubicBezTo>
                    <a:pt x="187" y="0"/>
                    <a:pt x="240" y="24"/>
                    <a:pt x="240" y="54"/>
                  </a:cubicBezTo>
                  <a:cubicBezTo>
                    <a:pt x="240" y="84"/>
                    <a:pt x="187" y="108"/>
                    <a:pt x="120" y="108"/>
                  </a:cubicBezTo>
                  <a:close/>
                  <a:moveTo>
                    <a:pt x="120" y="12"/>
                  </a:moveTo>
                  <a:cubicBezTo>
                    <a:pt x="56" y="12"/>
                    <a:pt x="12" y="34"/>
                    <a:pt x="12" y="54"/>
                  </a:cubicBezTo>
                  <a:cubicBezTo>
                    <a:pt x="12" y="74"/>
                    <a:pt x="56" y="96"/>
                    <a:pt x="120" y="96"/>
                  </a:cubicBezTo>
                  <a:cubicBezTo>
                    <a:pt x="184" y="96"/>
                    <a:pt x="228" y="74"/>
                    <a:pt x="228" y="54"/>
                  </a:cubicBezTo>
                  <a:cubicBezTo>
                    <a:pt x="228" y="34"/>
                    <a:pt x="184" y="12"/>
                    <a:pt x="12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76" name="Freeform 21">
              <a:extLst>
                <a:ext uri="{FF2B5EF4-FFF2-40B4-BE49-F238E27FC236}">
                  <a16:creationId xmlns:a16="http://schemas.microsoft.com/office/drawing/2014/main" id="{114495EC-AAD9-4CE1-4ECF-96CB3C723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1" y="3138"/>
              <a:ext cx="213" cy="89"/>
            </a:xfrm>
            <a:custGeom>
              <a:avLst/>
              <a:gdLst>
                <a:gd name="T0" fmla="*/ 120 w 144"/>
                <a:gd name="T1" fmla="*/ 60 h 60"/>
                <a:gd name="T2" fmla="*/ 0 w 144"/>
                <a:gd name="T3" fmla="*/ 6 h 60"/>
                <a:gd name="T4" fmla="*/ 6 w 144"/>
                <a:gd name="T5" fmla="*/ 0 h 60"/>
                <a:gd name="T6" fmla="*/ 12 w 144"/>
                <a:gd name="T7" fmla="*/ 6 h 60"/>
                <a:gd name="T8" fmla="*/ 120 w 144"/>
                <a:gd name="T9" fmla="*/ 48 h 60"/>
                <a:gd name="T10" fmla="*/ 138 w 144"/>
                <a:gd name="T11" fmla="*/ 47 h 60"/>
                <a:gd name="T12" fmla="*/ 144 w 144"/>
                <a:gd name="T13" fmla="*/ 53 h 60"/>
                <a:gd name="T14" fmla="*/ 138 w 144"/>
                <a:gd name="T15" fmla="*/ 59 h 60"/>
                <a:gd name="T16" fmla="*/ 120 w 144"/>
                <a:gd name="T1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4" h="60">
                  <a:moveTo>
                    <a:pt x="120" y="60"/>
                  </a:moveTo>
                  <a:cubicBezTo>
                    <a:pt x="53" y="60"/>
                    <a:pt x="0" y="3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6"/>
                    <a:pt x="56" y="48"/>
                    <a:pt x="120" y="48"/>
                  </a:cubicBezTo>
                  <a:cubicBezTo>
                    <a:pt x="126" y="48"/>
                    <a:pt x="132" y="48"/>
                    <a:pt x="138" y="47"/>
                  </a:cubicBezTo>
                  <a:cubicBezTo>
                    <a:pt x="141" y="47"/>
                    <a:pt x="144" y="50"/>
                    <a:pt x="144" y="53"/>
                  </a:cubicBezTo>
                  <a:cubicBezTo>
                    <a:pt x="144" y="56"/>
                    <a:pt x="142" y="59"/>
                    <a:pt x="138" y="59"/>
                  </a:cubicBezTo>
                  <a:cubicBezTo>
                    <a:pt x="132" y="60"/>
                    <a:pt x="126" y="60"/>
                    <a:pt x="1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77" name="Freeform 22">
              <a:extLst>
                <a:ext uri="{FF2B5EF4-FFF2-40B4-BE49-F238E27FC236}">
                  <a16:creationId xmlns:a16="http://schemas.microsoft.com/office/drawing/2014/main" id="{36B99EA2-DDC8-93EF-7624-C49C965BA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1" y="3218"/>
              <a:ext cx="186" cy="89"/>
            </a:xfrm>
            <a:custGeom>
              <a:avLst/>
              <a:gdLst>
                <a:gd name="T0" fmla="*/ 120 w 126"/>
                <a:gd name="T1" fmla="*/ 60 h 60"/>
                <a:gd name="T2" fmla="*/ 0 w 126"/>
                <a:gd name="T3" fmla="*/ 6 h 60"/>
                <a:gd name="T4" fmla="*/ 6 w 126"/>
                <a:gd name="T5" fmla="*/ 0 h 60"/>
                <a:gd name="T6" fmla="*/ 12 w 126"/>
                <a:gd name="T7" fmla="*/ 6 h 60"/>
                <a:gd name="T8" fmla="*/ 120 w 126"/>
                <a:gd name="T9" fmla="*/ 48 h 60"/>
                <a:gd name="T10" fmla="*/ 126 w 126"/>
                <a:gd name="T11" fmla="*/ 54 h 60"/>
                <a:gd name="T12" fmla="*/ 120 w 126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6" h="60">
                  <a:moveTo>
                    <a:pt x="120" y="60"/>
                  </a:moveTo>
                  <a:cubicBezTo>
                    <a:pt x="53" y="60"/>
                    <a:pt x="0" y="3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26"/>
                    <a:pt x="56" y="48"/>
                    <a:pt x="120" y="48"/>
                  </a:cubicBezTo>
                  <a:cubicBezTo>
                    <a:pt x="123" y="48"/>
                    <a:pt x="126" y="51"/>
                    <a:pt x="126" y="54"/>
                  </a:cubicBezTo>
                  <a:cubicBezTo>
                    <a:pt x="126" y="57"/>
                    <a:pt x="123" y="60"/>
                    <a:pt x="120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78" name="Freeform 23">
              <a:extLst>
                <a:ext uri="{FF2B5EF4-FFF2-40B4-BE49-F238E27FC236}">
                  <a16:creationId xmlns:a16="http://schemas.microsoft.com/office/drawing/2014/main" id="{7D893EEA-A11B-E9A9-386E-1E89C3D49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1" y="3067"/>
              <a:ext cx="186" cy="320"/>
            </a:xfrm>
            <a:custGeom>
              <a:avLst/>
              <a:gdLst>
                <a:gd name="T0" fmla="*/ 120 w 126"/>
                <a:gd name="T1" fmla="*/ 216 h 216"/>
                <a:gd name="T2" fmla="*/ 0 w 126"/>
                <a:gd name="T3" fmla="*/ 162 h 216"/>
                <a:gd name="T4" fmla="*/ 0 w 126"/>
                <a:gd name="T5" fmla="*/ 6 h 216"/>
                <a:gd name="T6" fmla="*/ 6 w 126"/>
                <a:gd name="T7" fmla="*/ 0 h 216"/>
                <a:gd name="T8" fmla="*/ 12 w 126"/>
                <a:gd name="T9" fmla="*/ 6 h 216"/>
                <a:gd name="T10" fmla="*/ 12 w 126"/>
                <a:gd name="T11" fmla="*/ 162 h 216"/>
                <a:gd name="T12" fmla="*/ 120 w 126"/>
                <a:gd name="T13" fmla="*/ 204 h 216"/>
                <a:gd name="T14" fmla="*/ 126 w 126"/>
                <a:gd name="T15" fmla="*/ 210 h 216"/>
                <a:gd name="T16" fmla="*/ 120 w 126"/>
                <a:gd name="T17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6" h="216">
                  <a:moveTo>
                    <a:pt x="120" y="216"/>
                  </a:moveTo>
                  <a:cubicBezTo>
                    <a:pt x="53" y="216"/>
                    <a:pt x="0" y="192"/>
                    <a:pt x="0" y="16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62"/>
                    <a:pt x="12" y="162"/>
                    <a:pt x="12" y="162"/>
                  </a:cubicBezTo>
                  <a:cubicBezTo>
                    <a:pt x="12" y="182"/>
                    <a:pt x="56" y="204"/>
                    <a:pt x="120" y="204"/>
                  </a:cubicBezTo>
                  <a:cubicBezTo>
                    <a:pt x="123" y="204"/>
                    <a:pt x="126" y="207"/>
                    <a:pt x="126" y="210"/>
                  </a:cubicBezTo>
                  <a:cubicBezTo>
                    <a:pt x="126" y="213"/>
                    <a:pt x="123" y="216"/>
                    <a:pt x="120" y="2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79" name="Freeform 24">
              <a:extLst>
                <a:ext uri="{FF2B5EF4-FFF2-40B4-BE49-F238E27FC236}">
                  <a16:creationId xmlns:a16="http://schemas.microsoft.com/office/drawing/2014/main" id="{6D225D51-C50F-E754-14AC-98E68A178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8" y="3067"/>
              <a:ext cx="18" cy="116"/>
            </a:xfrm>
            <a:custGeom>
              <a:avLst/>
              <a:gdLst>
                <a:gd name="T0" fmla="*/ 6 w 12"/>
                <a:gd name="T1" fmla="*/ 78 h 78"/>
                <a:gd name="T2" fmla="*/ 0 w 12"/>
                <a:gd name="T3" fmla="*/ 72 h 78"/>
                <a:gd name="T4" fmla="*/ 0 w 12"/>
                <a:gd name="T5" fmla="*/ 6 h 78"/>
                <a:gd name="T6" fmla="*/ 6 w 12"/>
                <a:gd name="T7" fmla="*/ 0 h 78"/>
                <a:gd name="T8" fmla="*/ 12 w 12"/>
                <a:gd name="T9" fmla="*/ 6 h 78"/>
                <a:gd name="T10" fmla="*/ 12 w 12"/>
                <a:gd name="T11" fmla="*/ 72 h 78"/>
                <a:gd name="T12" fmla="*/ 6 w 12"/>
                <a:gd name="T13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78">
                  <a:moveTo>
                    <a:pt x="6" y="78"/>
                  </a:moveTo>
                  <a:cubicBezTo>
                    <a:pt x="3" y="78"/>
                    <a:pt x="0" y="75"/>
                    <a:pt x="0" y="7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5"/>
                    <a:pt x="9" y="78"/>
                    <a:pt x="6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80" name="Freeform 25">
              <a:extLst>
                <a:ext uri="{FF2B5EF4-FFF2-40B4-BE49-F238E27FC236}">
                  <a16:creationId xmlns:a16="http://schemas.microsoft.com/office/drawing/2014/main" id="{AFE4661D-3F11-A1B6-6BAC-2593B36BEF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12" y="3209"/>
              <a:ext cx="216" cy="214"/>
            </a:xfrm>
            <a:custGeom>
              <a:avLst/>
              <a:gdLst>
                <a:gd name="T0" fmla="*/ 55 w 146"/>
                <a:gd name="T1" fmla="*/ 144 h 144"/>
                <a:gd name="T2" fmla="*/ 49 w 146"/>
                <a:gd name="T3" fmla="*/ 127 h 144"/>
                <a:gd name="T4" fmla="*/ 28 w 146"/>
                <a:gd name="T5" fmla="*/ 126 h 144"/>
                <a:gd name="T6" fmla="*/ 2 w 146"/>
                <a:gd name="T7" fmla="*/ 92 h 144"/>
                <a:gd name="T8" fmla="*/ 13 w 146"/>
                <a:gd name="T9" fmla="*/ 79 h 144"/>
                <a:gd name="T10" fmla="*/ 13 w 146"/>
                <a:gd name="T11" fmla="*/ 65 h 144"/>
                <a:gd name="T12" fmla="*/ 2 w 146"/>
                <a:gd name="T13" fmla="*/ 51 h 144"/>
                <a:gd name="T14" fmla="*/ 28 w 146"/>
                <a:gd name="T15" fmla="*/ 18 h 144"/>
                <a:gd name="T16" fmla="*/ 49 w 146"/>
                <a:gd name="T17" fmla="*/ 17 h 144"/>
                <a:gd name="T18" fmla="*/ 55 w 146"/>
                <a:gd name="T19" fmla="*/ 0 h 144"/>
                <a:gd name="T20" fmla="*/ 97 w 146"/>
                <a:gd name="T21" fmla="*/ 6 h 144"/>
                <a:gd name="T22" fmla="*/ 109 w 146"/>
                <a:gd name="T23" fmla="*/ 24 h 144"/>
                <a:gd name="T24" fmla="*/ 123 w 146"/>
                <a:gd name="T25" fmla="*/ 17 h 144"/>
                <a:gd name="T26" fmla="*/ 144 w 146"/>
                <a:gd name="T27" fmla="*/ 51 h 144"/>
                <a:gd name="T28" fmla="*/ 132 w 146"/>
                <a:gd name="T29" fmla="*/ 65 h 144"/>
                <a:gd name="T30" fmla="*/ 132 w 146"/>
                <a:gd name="T31" fmla="*/ 79 h 144"/>
                <a:gd name="T32" fmla="*/ 144 w 146"/>
                <a:gd name="T33" fmla="*/ 92 h 144"/>
                <a:gd name="T34" fmla="*/ 123 w 146"/>
                <a:gd name="T35" fmla="*/ 126 h 144"/>
                <a:gd name="T36" fmla="*/ 109 w 146"/>
                <a:gd name="T37" fmla="*/ 120 h 144"/>
                <a:gd name="T38" fmla="*/ 97 w 146"/>
                <a:gd name="T39" fmla="*/ 138 h 144"/>
                <a:gd name="T40" fmla="*/ 61 w 146"/>
                <a:gd name="T41" fmla="*/ 132 h 144"/>
                <a:gd name="T42" fmla="*/ 85 w 146"/>
                <a:gd name="T43" fmla="*/ 123 h 144"/>
                <a:gd name="T44" fmla="*/ 104 w 146"/>
                <a:gd name="T45" fmla="*/ 108 h 144"/>
                <a:gd name="T46" fmla="*/ 119 w 146"/>
                <a:gd name="T47" fmla="*/ 112 h 144"/>
                <a:gd name="T48" fmla="*/ 123 w 146"/>
                <a:gd name="T49" fmla="*/ 87 h 144"/>
                <a:gd name="T50" fmla="*/ 121 w 146"/>
                <a:gd name="T51" fmla="*/ 72 h 144"/>
                <a:gd name="T52" fmla="*/ 123 w 146"/>
                <a:gd name="T53" fmla="*/ 57 h 144"/>
                <a:gd name="T54" fmla="*/ 119 w 146"/>
                <a:gd name="T55" fmla="*/ 31 h 144"/>
                <a:gd name="T56" fmla="*/ 104 w 146"/>
                <a:gd name="T57" fmla="*/ 35 h 144"/>
                <a:gd name="T58" fmla="*/ 85 w 146"/>
                <a:gd name="T59" fmla="*/ 21 h 144"/>
                <a:gd name="T60" fmla="*/ 61 w 146"/>
                <a:gd name="T61" fmla="*/ 12 h 144"/>
                <a:gd name="T62" fmla="*/ 57 w 146"/>
                <a:gd name="T63" fmla="*/ 27 h 144"/>
                <a:gd name="T64" fmla="*/ 35 w 146"/>
                <a:gd name="T65" fmla="*/ 36 h 144"/>
                <a:gd name="T66" fmla="*/ 15 w 146"/>
                <a:gd name="T67" fmla="*/ 52 h 144"/>
                <a:gd name="T68" fmla="*/ 26 w 146"/>
                <a:gd name="T69" fmla="*/ 63 h 144"/>
                <a:gd name="T70" fmla="*/ 26 w 146"/>
                <a:gd name="T71" fmla="*/ 81 h 144"/>
                <a:gd name="T72" fmla="*/ 15 w 146"/>
                <a:gd name="T73" fmla="*/ 91 h 144"/>
                <a:gd name="T74" fmla="*/ 35 w 146"/>
                <a:gd name="T75" fmla="*/ 108 h 144"/>
                <a:gd name="T76" fmla="*/ 57 w 146"/>
                <a:gd name="T77" fmla="*/ 117 h 144"/>
                <a:gd name="T78" fmla="*/ 61 w 146"/>
                <a:gd name="T79" fmla="*/ 132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46" h="144">
                  <a:moveTo>
                    <a:pt x="91" y="144"/>
                  </a:moveTo>
                  <a:cubicBezTo>
                    <a:pt x="55" y="144"/>
                    <a:pt x="55" y="144"/>
                    <a:pt x="55" y="144"/>
                  </a:cubicBezTo>
                  <a:cubicBezTo>
                    <a:pt x="52" y="144"/>
                    <a:pt x="49" y="141"/>
                    <a:pt x="49" y="138"/>
                  </a:cubicBezTo>
                  <a:cubicBezTo>
                    <a:pt x="49" y="127"/>
                    <a:pt x="49" y="127"/>
                    <a:pt x="49" y="127"/>
                  </a:cubicBezTo>
                  <a:cubicBezTo>
                    <a:pt x="45" y="125"/>
                    <a:pt x="41" y="123"/>
                    <a:pt x="37" y="120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5" y="127"/>
                    <a:pt x="21" y="126"/>
                    <a:pt x="20" y="123"/>
                  </a:cubicBezTo>
                  <a:cubicBezTo>
                    <a:pt x="2" y="92"/>
                    <a:pt x="2" y="92"/>
                    <a:pt x="2" y="92"/>
                  </a:cubicBezTo>
                  <a:cubicBezTo>
                    <a:pt x="0" y="89"/>
                    <a:pt x="1" y="86"/>
                    <a:pt x="4" y="84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3" y="76"/>
                    <a:pt x="13" y="74"/>
                    <a:pt x="13" y="72"/>
                  </a:cubicBezTo>
                  <a:cubicBezTo>
                    <a:pt x="13" y="70"/>
                    <a:pt x="13" y="67"/>
                    <a:pt x="13" y="65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1" y="58"/>
                    <a:pt x="0" y="54"/>
                    <a:pt x="2" y="51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17"/>
                    <a:pt x="25" y="16"/>
                    <a:pt x="28" y="18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41" y="21"/>
                    <a:pt x="45" y="19"/>
                    <a:pt x="49" y="17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3"/>
                    <a:pt x="52" y="0"/>
                    <a:pt x="55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94" y="0"/>
                    <a:pt x="97" y="3"/>
                    <a:pt x="97" y="6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101" y="19"/>
                    <a:pt x="105" y="21"/>
                    <a:pt x="109" y="24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19" y="17"/>
                    <a:pt x="121" y="17"/>
                    <a:pt x="123" y="17"/>
                  </a:cubicBezTo>
                  <a:cubicBezTo>
                    <a:pt x="124" y="18"/>
                    <a:pt x="125" y="19"/>
                    <a:pt x="126" y="20"/>
                  </a:cubicBezTo>
                  <a:cubicBezTo>
                    <a:pt x="144" y="51"/>
                    <a:pt x="144" y="51"/>
                    <a:pt x="144" y="51"/>
                  </a:cubicBezTo>
                  <a:cubicBezTo>
                    <a:pt x="146" y="54"/>
                    <a:pt x="145" y="58"/>
                    <a:pt x="142" y="60"/>
                  </a:cubicBezTo>
                  <a:cubicBezTo>
                    <a:pt x="132" y="65"/>
                    <a:pt x="132" y="65"/>
                    <a:pt x="132" y="65"/>
                  </a:cubicBezTo>
                  <a:cubicBezTo>
                    <a:pt x="133" y="67"/>
                    <a:pt x="133" y="70"/>
                    <a:pt x="133" y="72"/>
                  </a:cubicBezTo>
                  <a:cubicBezTo>
                    <a:pt x="133" y="74"/>
                    <a:pt x="133" y="76"/>
                    <a:pt x="132" y="79"/>
                  </a:cubicBezTo>
                  <a:cubicBezTo>
                    <a:pt x="142" y="84"/>
                    <a:pt x="142" y="84"/>
                    <a:pt x="142" y="84"/>
                  </a:cubicBezTo>
                  <a:cubicBezTo>
                    <a:pt x="145" y="86"/>
                    <a:pt x="146" y="89"/>
                    <a:pt x="144" y="92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5" y="125"/>
                    <a:pt x="124" y="126"/>
                    <a:pt x="123" y="126"/>
                  </a:cubicBezTo>
                  <a:cubicBezTo>
                    <a:pt x="121" y="127"/>
                    <a:pt x="119" y="126"/>
                    <a:pt x="118" y="126"/>
                  </a:cubicBezTo>
                  <a:cubicBezTo>
                    <a:pt x="109" y="120"/>
                    <a:pt x="109" y="120"/>
                    <a:pt x="109" y="120"/>
                  </a:cubicBezTo>
                  <a:cubicBezTo>
                    <a:pt x="105" y="123"/>
                    <a:pt x="101" y="125"/>
                    <a:pt x="97" y="127"/>
                  </a:cubicBezTo>
                  <a:cubicBezTo>
                    <a:pt x="97" y="138"/>
                    <a:pt x="97" y="138"/>
                    <a:pt x="97" y="138"/>
                  </a:cubicBezTo>
                  <a:cubicBezTo>
                    <a:pt x="97" y="141"/>
                    <a:pt x="94" y="144"/>
                    <a:pt x="91" y="144"/>
                  </a:cubicBezTo>
                  <a:close/>
                  <a:moveTo>
                    <a:pt x="61" y="132"/>
                  </a:moveTo>
                  <a:cubicBezTo>
                    <a:pt x="85" y="132"/>
                    <a:pt x="85" y="132"/>
                    <a:pt x="85" y="132"/>
                  </a:cubicBezTo>
                  <a:cubicBezTo>
                    <a:pt x="85" y="123"/>
                    <a:pt x="85" y="123"/>
                    <a:pt x="85" y="123"/>
                  </a:cubicBezTo>
                  <a:cubicBezTo>
                    <a:pt x="85" y="120"/>
                    <a:pt x="87" y="118"/>
                    <a:pt x="89" y="117"/>
                  </a:cubicBezTo>
                  <a:cubicBezTo>
                    <a:pt x="95" y="115"/>
                    <a:pt x="100" y="112"/>
                    <a:pt x="104" y="108"/>
                  </a:cubicBezTo>
                  <a:cubicBezTo>
                    <a:pt x="106" y="107"/>
                    <a:pt x="109" y="106"/>
                    <a:pt x="111" y="108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31" y="91"/>
                    <a:pt x="131" y="91"/>
                    <a:pt x="131" y="91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1" y="86"/>
                    <a:pt x="120" y="83"/>
                    <a:pt x="120" y="81"/>
                  </a:cubicBezTo>
                  <a:cubicBezTo>
                    <a:pt x="121" y="78"/>
                    <a:pt x="121" y="75"/>
                    <a:pt x="121" y="72"/>
                  </a:cubicBezTo>
                  <a:cubicBezTo>
                    <a:pt x="121" y="69"/>
                    <a:pt x="121" y="66"/>
                    <a:pt x="120" y="63"/>
                  </a:cubicBezTo>
                  <a:cubicBezTo>
                    <a:pt x="120" y="61"/>
                    <a:pt x="121" y="58"/>
                    <a:pt x="123" y="57"/>
                  </a:cubicBezTo>
                  <a:cubicBezTo>
                    <a:pt x="131" y="52"/>
                    <a:pt x="131" y="52"/>
                    <a:pt x="131" y="52"/>
                  </a:cubicBezTo>
                  <a:cubicBezTo>
                    <a:pt x="119" y="31"/>
                    <a:pt x="119" y="31"/>
                    <a:pt x="119" y="31"/>
                  </a:cubicBezTo>
                  <a:cubicBezTo>
                    <a:pt x="111" y="36"/>
                    <a:pt x="111" y="36"/>
                    <a:pt x="111" y="36"/>
                  </a:cubicBezTo>
                  <a:cubicBezTo>
                    <a:pt x="109" y="37"/>
                    <a:pt x="106" y="37"/>
                    <a:pt x="104" y="35"/>
                  </a:cubicBezTo>
                  <a:cubicBezTo>
                    <a:pt x="100" y="32"/>
                    <a:pt x="95" y="29"/>
                    <a:pt x="89" y="27"/>
                  </a:cubicBezTo>
                  <a:cubicBezTo>
                    <a:pt x="87" y="26"/>
                    <a:pt x="85" y="23"/>
                    <a:pt x="85" y="21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21"/>
                    <a:pt x="61" y="21"/>
                    <a:pt x="61" y="21"/>
                  </a:cubicBezTo>
                  <a:cubicBezTo>
                    <a:pt x="61" y="23"/>
                    <a:pt x="59" y="26"/>
                    <a:pt x="57" y="27"/>
                  </a:cubicBezTo>
                  <a:cubicBezTo>
                    <a:pt x="51" y="29"/>
                    <a:pt x="46" y="32"/>
                    <a:pt x="42" y="35"/>
                  </a:cubicBezTo>
                  <a:cubicBezTo>
                    <a:pt x="40" y="37"/>
                    <a:pt x="37" y="37"/>
                    <a:pt x="35" y="36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5" y="58"/>
                    <a:pt x="26" y="61"/>
                    <a:pt x="26" y="63"/>
                  </a:cubicBezTo>
                  <a:cubicBezTo>
                    <a:pt x="25" y="66"/>
                    <a:pt x="25" y="69"/>
                    <a:pt x="25" y="72"/>
                  </a:cubicBezTo>
                  <a:cubicBezTo>
                    <a:pt x="25" y="75"/>
                    <a:pt x="25" y="78"/>
                    <a:pt x="26" y="81"/>
                  </a:cubicBezTo>
                  <a:cubicBezTo>
                    <a:pt x="26" y="83"/>
                    <a:pt x="25" y="86"/>
                    <a:pt x="23" y="87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27" y="112"/>
                    <a:pt x="27" y="112"/>
                    <a:pt x="27" y="112"/>
                  </a:cubicBezTo>
                  <a:cubicBezTo>
                    <a:pt x="35" y="108"/>
                    <a:pt x="35" y="108"/>
                    <a:pt x="35" y="108"/>
                  </a:cubicBezTo>
                  <a:cubicBezTo>
                    <a:pt x="37" y="106"/>
                    <a:pt x="40" y="107"/>
                    <a:pt x="42" y="108"/>
                  </a:cubicBezTo>
                  <a:cubicBezTo>
                    <a:pt x="46" y="112"/>
                    <a:pt x="51" y="115"/>
                    <a:pt x="57" y="117"/>
                  </a:cubicBezTo>
                  <a:cubicBezTo>
                    <a:pt x="59" y="118"/>
                    <a:pt x="61" y="120"/>
                    <a:pt x="61" y="123"/>
                  </a:cubicBezTo>
                  <a:lnTo>
                    <a:pt x="61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81" name="Freeform 26">
              <a:extLst>
                <a:ext uri="{FF2B5EF4-FFF2-40B4-BE49-F238E27FC236}">
                  <a16:creationId xmlns:a16="http://schemas.microsoft.com/office/drawing/2014/main" id="{6F235572-16A7-BAF8-8EEB-B7A90C1042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76" y="3272"/>
              <a:ext cx="89" cy="88"/>
            </a:xfrm>
            <a:custGeom>
              <a:avLst/>
              <a:gdLst>
                <a:gd name="T0" fmla="*/ 30 w 60"/>
                <a:gd name="T1" fmla="*/ 60 h 60"/>
                <a:gd name="T2" fmla="*/ 0 w 60"/>
                <a:gd name="T3" fmla="*/ 30 h 60"/>
                <a:gd name="T4" fmla="*/ 30 w 60"/>
                <a:gd name="T5" fmla="*/ 0 h 60"/>
                <a:gd name="T6" fmla="*/ 60 w 60"/>
                <a:gd name="T7" fmla="*/ 30 h 60"/>
                <a:gd name="T8" fmla="*/ 30 w 60"/>
                <a:gd name="T9" fmla="*/ 60 h 60"/>
                <a:gd name="T10" fmla="*/ 30 w 60"/>
                <a:gd name="T11" fmla="*/ 12 h 60"/>
                <a:gd name="T12" fmla="*/ 12 w 60"/>
                <a:gd name="T13" fmla="*/ 30 h 60"/>
                <a:gd name="T14" fmla="*/ 30 w 60"/>
                <a:gd name="T15" fmla="*/ 48 h 60"/>
                <a:gd name="T16" fmla="*/ 48 w 60"/>
                <a:gd name="T17" fmla="*/ 30 h 60"/>
                <a:gd name="T18" fmla="*/ 30 w 60"/>
                <a:gd name="T19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60"/>
                  </a:moveTo>
                  <a:cubicBezTo>
                    <a:pt x="13" y="60"/>
                    <a:pt x="0" y="46"/>
                    <a:pt x="0" y="30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46" y="0"/>
                    <a:pt x="60" y="13"/>
                    <a:pt x="60" y="30"/>
                  </a:cubicBezTo>
                  <a:cubicBezTo>
                    <a:pt x="60" y="46"/>
                    <a:pt x="46" y="60"/>
                    <a:pt x="30" y="60"/>
                  </a:cubicBezTo>
                  <a:close/>
                  <a:moveTo>
                    <a:pt x="30" y="12"/>
                  </a:moveTo>
                  <a:cubicBezTo>
                    <a:pt x="20" y="12"/>
                    <a:pt x="12" y="20"/>
                    <a:pt x="12" y="30"/>
                  </a:cubicBezTo>
                  <a:cubicBezTo>
                    <a:pt x="12" y="40"/>
                    <a:pt x="20" y="48"/>
                    <a:pt x="30" y="48"/>
                  </a:cubicBezTo>
                  <a:cubicBezTo>
                    <a:pt x="40" y="48"/>
                    <a:pt x="48" y="40"/>
                    <a:pt x="48" y="30"/>
                  </a:cubicBezTo>
                  <a:cubicBezTo>
                    <a:pt x="48" y="20"/>
                    <a:pt x="40" y="12"/>
                    <a:pt x="3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7382" name="Group 10">
            <a:extLst>
              <a:ext uri="{FF2B5EF4-FFF2-40B4-BE49-F238E27FC236}">
                <a16:creationId xmlns:a16="http://schemas.microsoft.com/office/drawing/2014/main" id="{2EBF6B6E-3329-56EC-F5AA-E2B1C1FBB20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0485" y="-2886321"/>
            <a:ext cx="477883" cy="479057"/>
            <a:chOff x="1383" y="448"/>
            <a:chExt cx="408" cy="409"/>
          </a:xfrm>
          <a:solidFill>
            <a:srgbClr val="297FD5"/>
          </a:solidFill>
        </p:grpSpPr>
        <p:sp>
          <p:nvSpPr>
            <p:cNvPr id="7383" name="Freeform 11">
              <a:extLst>
                <a:ext uri="{FF2B5EF4-FFF2-40B4-BE49-F238E27FC236}">
                  <a16:creationId xmlns:a16="http://schemas.microsoft.com/office/drawing/2014/main" id="{FEC888BA-9523-7BDE-6F19-2FA405D16B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83" y="448"/>
              <a:ext cx="408" cy="409"/>
            </a:xfrm>
            <a:custGeom>
              <a:avLst/>
              <a:gdLst>
                <a:gd name="T0" fmla="*/ 138 w 276"/>
                <a:gd name="T1" fmla="*/ 276 h 276"/>
                <a:gd name="T2" fmla="*/ 0 w 276"/>
                <a:gd name="T3" fmla="*/ 138 h 276"/>
                <a:gd name="T4" fmla="*/ 138 w 276"/>
                <a:gd name="T5" fmla="*/ 0 h 276"/>
                <a:gd name="T6" fmla="*/ 276 w 276"/>
                <a:gd name="T7" fmla="*/ 138 h 276"/>
                <a:gd name="T8" fmla="*/ 138 w 276"/>
                <a:gd name="T9" fmla="*/ 276 h 276"/>
                <a:gd name="T10" fmla="*/ 138 w 276"/>
                <a:gd name="T11" fmla="*/ 12 h 276"/>
                <a:gd name="T12" fmla="*/ 12 w 276"/>
                <a:gd name="T13" fmla="*/ 138 h 276"/>
                <a:gd name="T14" fmla="*/ 138 w 276"/>
                <a:gd name="T15" fmla="*/ 264 h 276"/>
                <a:gd name="T16" fmla="*/ 264 w 276"/>
                <a:gd name="T17" fmla="*/ 138 h 276"/>
                <a:gd name="T18" fmla="*/ 138 w 276"/>
                <a:gd name="T19" fmla="*/ 12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6" h="276">
                  <a:moveTo>
                    <a:pt x="138" y="276"/>
                  </a:moveTo>
                  <a:cubicBezTo>
                    <a:pt x="62" y="276"/>
                    <a:pt x="0" y="214"/>
                    <a:pt x="0" y="138"/>
                  </a:cubicBezTo>
                  <a:cubicBezTo>
                    <a:pt x="0" y="62"/>
                    <a:pt x="62" y="0"/>
                    <a:pt x="138" y="0"/>
                  </a:cubicBezTo>
                  <a:cubicBezTo>
                    <a:pt x="215" y="0"/>
                    <a:pt x="276" y="62"/>
                    <a:pt x="276" y="138"/>
                  </a:cubicBezTo>
                  <a:cubicBezTo>
                    <a:pt x="276" y="214"/>
                    <a:pt x="215" y="276"/>
                    <a:pt x="138" y="276"/>
                  </a:cubicBezTo>
                  <a:close/>
                  <a:moveTo>
                    <a:pt x="138" y="12"/>
                  </a:moveTo>
                  <a:cubicBezTo>
                    <a:pt x="69" y="12"/>
                    <a:pt x="12" y="68"/>
                    <a:pt x="12" y="138"/>
                  </a:cubicBezTo>
                  <a:cubicBezTo>
                    <a:pt x="12" y="207"/>
                    <a:pt x="69" y="264"/>
                    <a:pt x="138" y="264"/>
                  </a:cubicBezTo>
                  <a:cubicBezTo>
                    <a:pt x="208" y="264"/>
                    <a:pt x="264" y="207"/>
                    <a:pt x="264" y="138"/>
                  </a:cubicBezTo>
                  <a:cubicBezTo>
                    <a:pt x="264" y="68"/>
                    <a:pt x="208" y="12"/>
                    <a:pt x="13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84" name="Freeform 12">
              <a:extLst>
                <a:ext uri="{FF2B5EF4-FFF2-40B4-BE49-F238E27FC236}">
                  <a16:creationId xmlns:a16="http://schemas.microsoft.com/office/drawing/2014/main" id="{07A912D3-DCC9-A81B-2FDD-82EBCDB9F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768"/>
              <a:ext cx="124" cy="18"/>
            </a:xfrm>
            <a:custGeom>
              <a:avLst/>
              <a:gdLst>
                <a:gd name="T0" fmla="*/ 78 w 84"/>
                <a:gd name="T1" fmla="*/ 12 h 12"/>
                <a:gd name="T2" fmla="*/ 6 w 84"/>
                <a:gd name="T3" fmla="*/ 12 h 12"/>
                <a:gd name="T4" fmla="*/ 0 w 84"/>
                <a:gd name="T5" fmla="*/ 6 h 12"/>
                <a:gd name="T6" fmla="*/ 6 w 84"/>
                <a:gd name="T7" fmla="*/ 0 h 12"/>
                <a:gd name="T8" fmla="*/ 78 w 84"/>
                <a:gd name="T9" fmla="*/ 0 h 12"/>
                <a:gd name="T10" fmla="*/ 84 w 84"/>
                <a:gd name="T11" fmla="*/ 6 h 12"/>
                <a:gd name="T12" fmla="*/ 78 w 84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2">
                  <a:moveTo>
                    <a:pt x="78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2" y="0"/>
                    <a:pt x="84" y="3"/>
                    <a:pt x="84" y="6"/>
                  </a:cubicBezTo>
                  <a:cubicBezTo>
                    <a:pt x="84" y="9"/>
                    <a:pt x="82" y="12"/>
                    <a:pt x="7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85" name="Freeform 13">
              <a:extLst>
                <a:ext uri="{FF2B5EF4-FFF2-40B4-BE49-F238E27FC236}">
                  <a16:creationId xmlns:a16="http://schemas.microsoft.com/office/drawing/2014/main" id="{3F610E5A-397D-C162-7373-F12008B61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3" y="608"/>
              <a:ext cx="53" cy="169"/>
            </a:xfrm>
            <a:custGeom>
              <a:avLst/>
              <a:gdLst>
                <a:gd name="T0" fmla="*/ 30 w 36"/>
                <a:gd name="T1" fmla="*/ 114 h 114"/>
                <a:gd name="T2" fmla="*/ 24 w 36"/>
                <a:gd name="T3" fmla="*/ 108 h 114"/>
                <a:gd name="T4" fmla="*/ 24 w 36"/>
                <a:gd name="T5" fmla="*/ 12 h 114"/>
                <a:gd name="T6" fmla="*/ 6 w 36"/>
                <a:gd name="T7" fmla="*/ 12 h 114"/>
                <a:gd name="T8" fmla="*/ 0 w 36"/>
                <a:gd name="T9" fmla="*/ 6 h 114"/>
                <a:gd name="T10" fmla="*/ 6 w 36"/>
                <a:gd name="T11" fmla="*/ 0 h 114"/>
                <a:gd name="T12" fmla="*/ 30 w 36"/>
                <a:gd name="T13" fmla="*/ 0 h 114"/>
                <a:gd name="T14" fmla="*/ 36 w 36"/>
                <a:gd name="T15" fmla="*/ 6 h 114"/>
                <a:gd name="T16" fmla="*/ 36 w 36"/>
                <a:gd name="T17" fmla="*/ 108 h 114"/>
                <a:gd name="T18" fmla="*/ 30 w 36"/>
                <a:gd name="T19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114">
                  <a:moveTo>
                    <a:pt x="30" y="114"/>
                  </a:moveTo>
                  <a:cubicBezTo>
                    <a:pt x="27" y="114"/>
                    <a:pt x="24" y="111"/>
                    <a:pt x="24" y="108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111"/>
                    <a:pt x="34" y="114"/>
                    <a:pt x="30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386" name="Oval 14">
              <a:extLst>
                <a:ext uri="{FF2B5EF4-FFF2-40B4-BE49-F238E27FC236}">
                  <a16:creationId xmlns:a16="http://schemas.microsoft.com/office/drawing/2014/main" id="{6773C6DA-698C-7614-FB55-4C0B74F1E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1" y="528"/>
              <a:ext cx="35" cy="3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pic>
        <p:nvPicPr>
          <p:cNvPr id="7420" name="Picture 7419">
            <a:extLst>
              <a:ext uri="{FF2B5EF4-FFF2-40B4-BE49-F238E27FC236}">
                <a16:creationId xmlns:a16="http://schemas.microsoft.com/office/drawing/2014/main" id="{8EF15EBA-AB20-02C1-120A-5747D1B10B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3427" y="2618075"/>
            <a:ext cx="1454457" cy="1770012"/>
          </a:xfrm>
          <a:prstGeom prst="rect">
            <a:avLst/>
          </a:prstGeom>
        </p:spPr>
      </p:pic>
      <p:pic>
        <p:nvPicPr>
          <p:cNvPr id="7421" name="Picture 7420">
            <a:extLst>
              <a:ext uri="{FF2B5EF4-FFF2-40B4-BE49-F238E27FC236}">
                <a16:creationId xmlns:a16="http://schemas.microsoft.com/office/drawing/2014/main" id="{91756577-D857-8150-4924-4D95E4F69D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7796" y="5143164"/>
            <a:ext cx="1163421" cy="1494950"/>
          </a:xfrm>
          <a:prstGeom prst="rect">
            <a:avLst/>
          </a:prstGeom>
        </p:spPr>
      </p:pic>
      <p:sp>
        <p:nvSpPr>
          <p:cNvPr id="7422" name="TextBox 7421">
            <a:extLst>
              <a:ext uri="{FF2B5EF4-FFF2-40B4-BE49-F238E27FC236}">
                <a16:creationId xmlns:a16="http://schemas.microsoft.com/office/drawing/2014/main" id="{532D3969-4CA2-AE85-ACB8-C1E12507FE1D}"/>
              </a:ext>
            </a:extLst>
          </p:cNvPr>
          <p:cNvSpPr txBox="1"/>
          <p:nvPr/>
        </p:nvSpPr>
        <p:spPr>
          <a:xfrm>
            <a:off x="10469880" y="1634311"/>
            <a:ext cx="11196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Finalize methodology</a:t>
            </a:r>
          </a:p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i="1">
                <a:solidFill>
                  <a:srgbClr val="000000"/>
                </a:solidFill>
                <a:latin typeface="+mj-lt"/>
              </a:rPr>
              <a:t>Review with 3 clubs and update</a:t>
            </a:r>
            <a:endParaRPr lang="en-US" sz="800" i="1">
              <a:latin typeface="+mj-lt"/>
            </a:endParaRPr>
          </a:p>
        </p:txBody>
      </p:sp>
      <p:sp>
        <p:nvSpPr>
          <p:cNvPr id="7423" name="TextBox 7422">
            <a:extLst>
              <a:ext uri="{FF2B5EF4-FFF2-40B4-BE49-F238E27FC236}">
                <a16:creationId xmlns:a16="http://schemas.microsoft.com/office/drawing/2014/main" id="{E44A80C5-19EC-E122-BAC4-BE7D09EB117C}"/>
              </a:ext>
            </a:extLst>
          </p:cNvPr>
          <p:cNvSpPr txBox="1"/>
          <p:nvPr/>
        </p:nvSpPr>
        <p:spPr>
          <a:xfrm>
            <a:off x="10469880" y="2788949"/>
            <a:ext cx="11196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Develop backend ingestion engine</a:t>
            </a:r>
          </a:p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i="1">
                <a:solidFill>
                  <a:srgbClr val="000000"/>
                </a:solidFill>
                <a:latin typeface="+mj-lt"/>
              </a:rPr>
              <a:t>Develop frontend surveys</a:t>
            </a:r>
            <a:endParaRPr lang="en-US" sz="800" i="1">
              <a:latin typeface="+mj-lt"/>
            </a:endParaRPr>
          </a:p>
        </p:txBody>
      </p:sp>
      <p:sp>
        <p:nvSpPr>
          <p:cNvPr id="7424" name="TextBox 7423">
            <a:extLst>
              <a:ext uri="{FF2B5EF4-FFF2-40B4-BE49-F238E27FC236}">
                <a16:creationId xmlns:a16="http://schemas.microsoft.com/office/drawing/2014/main" id="{B274D64C-CDE4-4FAF-54BA-EA0BC08F4CA4}"/>
              </a:ext>
            </a:extLst>
          </p:cNvPr>
          <p:cNvSpPr txBox="1"/>
          <p:nvPr/>
        </p:nvSpPr>
        <p:spPr>
          <a:xfrm>
            <a:off x="10480860" y="4047117"/>
            <a:ext cx="11196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Build out methodology system logic</a:t>
            </a:r>
          </a:p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i="1">
                <a:solidFill>
                  <a:srgbClr val="000000"/>
                </a:solidFill>
                <a:latin typeface="+mj-lt"/>
              </a:rPr>
              <a:t>Test logic for production</a:t>
            </a:r>
            <a:endParaRPr lang="en-US" sz="800" i="1">
              <a:latin typeface="+mj-lt"/>
            </a:endParaRPr>
          </a:p>
        </p:txBody>
      </p:sp>
      <p:sp>
        <p:nvSpPr>
          <p:cNvPr id="7425" name="TextBox 7424">
            <a:extLst>
              <a:ext uri="{FF2B5EF4-FFF2-40B4-BE49-F238E27FC236}">
                <a16:creationId xmlns:a16="http://schemas.microsoft.com/office/drawing/2014/main" id="{E819015C-D255-220D-9685-6E590DE2B419}"/>
              </a:ext>
            </a:extLst>
          </p:cNvPr>
          <p:cNvSpPr txBox="1"/>
          <p:nvPr/>
        </p:nvSpPr>
        <p:spPr>
          <a:xfrm>
            <a:off x="10527047" y="5187281"/>
            <a:ext cx="11196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b="0" i="1" u="none" strike="noStrike">
                <a:solidFill>
                  <a:srgbClr val="000000"/>
                </a:solidFill>
                <a:effectLst/>
                <a:latin typeface="+mj-lt"/>
              </a:rPr>
              <a:t>Send ou</a:t>
            </a:r>
            <a:r>
              <a:rPr lang="en-US" sz="800" i="1">
                <a:solidFill>
                  <a:srgbClr val="000000"/>
                </a:solidFill>
                <a:latin typeface="+mj-lt"/>
              </a:rPr>
              <a:t>t 32 team surveys</a:t>
            </a:r>
            <a:endParaRPr lang="en-US" sz="800" b="0" i="1" u="none" strike="noStrike">
              <a:solidFill>
                <a:srgbClr val="000000"/>
              </a:solidFill>
              <a:effectLst/>
              <a:latin typeface="+mj-lt"/>
            </a:endParaRPr>
          </a:p>
          <a:p>
            <a:pPr marL="91440" lvl="1" indent="-91440">
              <a:buFont typeface="Arial" panose="020B0604020202020204" pitchFamily="34" charset="0"/>
              <a:buChar char="•"/>
            </a:pPr>
            <a:r>
              <a:rPr lang="en-US" sz="800" i="1">
                <a:solidFill>
                  <a:srgbClr val="000000"/>
                </a:solidFill>
                <a:latin typeface="+mj-lt"/>
              </a:rPr>
              <a:t>Automatic dashboard updates</a:t>
            </a:r>
            <a:endParaRPr lang="en-US" sz="800" i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9205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C3E75A4-B483-83F9-0A7E-D3CA66D41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B79E1BF1-91BD-5F09-9AC9-6E13F8D476F6}"/>
              </a:ext>
            </a:extLst>
          </p:cNvPr>
          <p:cNvSpPr txBox="1"/>
          <p:nvPr/>
        </p:nvSpPr>
        <p:spPr>
          <a:xfrm>
            <a:off x="309479" y="798613"/>
            <a:ext cx="8070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Graphik" panose="020B0503030202060203" pitchFamily="34" charset="0"/>
              </a:rPr>
              <a:t>From Input to Impact: Scoring Simplified</a:t>
            </a:r>
          </a:p>
        </p:txBody>
      </p:sp>
      <p:sp>
        <p:nvSpPr>
          <p:cNvPr id="7202" name="TextBox 7201">
            <a:extLst>
              <a:ext uri="{FF2B5EF4-FFF2-40B4-BE49-F238E27FC236}">
                <a16:creationId xmlns:a16="http://schemas.microsoft.com/office/drawing/2014/main" id="{49B49EF1-B9B0-A01E-DEA1-37F28A2F2FA4}"/>
              </a:ext>
            </a:extLst>
          </p:cNvPr>
          <p:cNvSpPr txBox="1"/>
          <p:nvPr/>
        </p:nvSpPr>
        <p:spPr>
          <a:xfrm>
            <a:off x="754438" y="3482595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7203" name="TextBox 7202">
            <a:extLst>
              <a:ext uri="{FF2B5EF4-FFF2-40B4-BE49-F238E27FC236}">
                <a16:creationId xmlns:a16="http://schemas.microsoft.com/office/drawing/2014/main" id="{49EA20B3-C3C1-BAC6-DBC1-5646B6ED4B22}"/>
              </a:ext>
            </a:extLst>
          </p:cNvPr>
          <p:cNvSpPr txBox="1"/>
          <p:nvPr/>
        </p:nvSpPr>
        <p:spPr>
          <a:xfrm>
            <a:off x="573678" y="2937544"/>
            <a:ext cx="3038204" cy="11859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400050" indent="-400050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/>
              <a:t>Ingest VOF survey data</a:t>
            </a:r>
          </a:p>
          <a:p>
            <a:pPr marL="400050" indent="-400050" algn="l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/>
              <a:t>Refine survey questions</a:t>
            </a:r>
          </a:p>
          <a:p>
            <a:pPr marL="400050" indent="-400050" algn="l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 noProof="0"/>
              <a:t>Refine methodology</a:t>
            </a:r>
          </a:p>
          <a:p>
            <a:pPr marL="400050" indent="-400050" algn="l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/>
              <a:t>Validate survey and methodology with NFL teams</a:t>
            </a:r>
          </a:p>
          <a:p>
            <a:pPr marL="400050" indent="-400050" algn="l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 noProof="0"/>
              <a:t>Develop </a:t>
            </a:r>
            <a:r>
              <a:rPr lang="en-US" sz="1300"/>
              <a:t>Survey guides</a:t>
            </a:r>
          </a:p>
          <a:p>
            <a:pPr marL="400050" indent="-400050" algn="l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 noProof="0"/>
              <a:t>Develop Dashboard guides</a:t>
            </a:r>
          </a:p>
        </p:txBody>
      </p:sp>
      <p:sp>
        <p:nvSpPr>
          <p:cNvPr id="7205" name="TextBox 7204">
            <a:extLst>
              <a:ext uri="{FF2B5EF4-FFF2-40B4-BE49-F238E27FC236}">
                <a16:creationId xmlns:a16="http://schemas.microsoft.com/office/drawing/2014/main" id="{EA5DAD79-BB93-4645-6BBC-F10D36BC613F}"/>
              </a:ext>
            </a:extLst>
          </p:cNvPr>
          <p:cNvSpPr txBox="1"/>
          <p:nvPr/>
        </p:nvSpPr>
        <p:spPr>
          <a:xfrm>
            <a:off x="4596580" y="3465785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7206" name="TextBox 7205">
            <a:extLst>
              <a:ext uri="{FF2B5EF4-FFF2-40B4-BE49-F238E27FC236}">
                <a16:creationId xmlns:a16="http://schemas.microsoft.com/office/drawing/2014/main" id="{44269355-AB48-F787-BAD0-C6BAAF50B041}"/>
              </a:ext>
            </a:extLst>
          </p:cNvPr>
          <p:cNvSpPr txBox="1"/>
          <p:nvPr/>
        </p:nvSpPr>
        <p:spPr>
          <a:xfrm>
            <a:off x="4376935" y="2937544"/>
            <a:ext cx="2865113" cy="2756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400050" indent="-400050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 noProof="0"/>
              <a:t>Develop How-To guide for Survey</a:t>
            </a:r>
          </a:p>
          <a:p>
            <a:pPr marL="400050" indent="-400050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 noProof="0"/>
              <a:t>Build Google Forms Surveys per team</a:t>
            </a:r>
          </a:p>
          <a:p>
            <a:pPr marL="400050" indent="-400050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/>
              <a:t>Build back-end survey system logic</a:t>
            </a:r>
          </a:p>
          <a:p>
            <a:pPr marL="400050" indent="-400050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 noProof="0"/>
              <a:t>Build Dashboard</a:t>
            </a:r>
          </a:p>
          <a:p>
            <a:pPr marL="400050" indent="-400050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/>
              <a:t>Develop Dashboard guides </a:t>
            </a:r>
          </a:p>
          <a:p>
            <a:pPr marL="400050" indent="-400050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/>
              <a:t>Test survey ingestion and dashboard</a:t>
            </a:r>
            <a:endParaRPr lang="en-US" sz="1300" noProof="0"/>
          </a:p>
        </p:txBody>
      </p:sp>
      <p:sp>
        <p:nvSpPr>
          <p:cNvPr id="7214" name="TextBox 7213">
            <a:extLst>
              <a:ext uri="{FF2B5EF4-FFF2-40B4-BE49-F238E27FC236}">
                <a16:creationId xmlns:a16="http://schemas.microsoft.com/office/drawing/2014/main" id="{1D6A06CB-2B58-20B8-E2C3-2788CBB35B76}"/>
              </a:ext>
            </a:extLst>
          </p:cNvPr>
          <p:cNvSpPr txBox="1"/>
          <p:nvPr/>
        </p:nvSpPr>
        <p:spPr>
          <a:xfrm>
            <a:off x="8263549" y="2937545"/>
            <a:ext cx="2709251" cy="19890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400050" indent="-400050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/>
              <a:t>Dashboard go-live</a:t>
            </a:r>
          </a:p>
          <a:p>
            <a:pPr marL="400050" indent="-400050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/>
              <a:t>Survey go-live</a:t>
            </a:r>
          </a:p>
          <a:p>
            <a:pPr marL="400050" indent="-400050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/>
              <a:t>Monitor survey results and dashboard</a:t>
            </a:r>
          </a:p>
          <a:p>
            <a:pPr marL="400050" indent="-400050" defTabSz="228600">
              <a:spcAft>
                <a:spcPts val="1200"/>
              </a:spcAft>
              <a:buFont typeface="+mj-lt"/>
              <a:buAutoNum type="romanUcPeriod"/>
            </a:pPr>
            <a:r>
              <a:rPr lang="en-US" sz="1300"/>
              <a:t>Club reach-outs if needed for corrections</a:t>
            </a:r>
          </a:p>
          <a:p>
            <a:pPr marL="342900" indent="-342900" defTabSz="228600">
              <a:spcAft>
                <a:spcPts val="1200"/>
              </a:spcAft>
              <a:buFont typeface="+mj-lt"/>
              <a:buAutoNum type="romanUcPeriod"/>
            </a:pPr>
            <a:endParaRPr lang="en-US" sz="1300"/>
          </a:p>
          <a:p>
            <a:pPr defTabSz="228600">
              <a:spcAft>
                <a:spcPts val="1200"/>
              </a:spcAft>
            </a:pPr>
            <a:endParaRPr lang="en-US" sz="1300"/>
          </a:p>
          <a:p>
            <a:pPr defTabSz="228600">
              <a:spcAft>
                <a:spcPts val="1200"/>
              </a:spcAft>
            </a:pPr>
            <a:endParaRPr lang="en-US" sz="1300"/>
          </a:p>
          <a:p>
            <a:pPr defTabSz="228600">
              <a:spcAft>
                <a:spcPts val="1200"/>
              </a:spcAft>
            </a:pPr>
            <a:endParaRPr lang="en-US" sz="1300"/>
          </a:p>
          <a:p>
            <a:pPr defTabSz="228600">
              <a:spcAft>
                <a:spcPts val="1200"/>
              </a:spcAft>
            </a:pPr>
            <a:endParaRPr lang="en-US" sz="13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1CFDED-8823-A800-270A-CEB22028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571500"/>
          </a:xfrm>
        </p:spPr>
        <p:txBody>
          <a:bodyPr/>
          <a:lstStyle/>
          <a:p>
            <a:r>
              <a:rPr lang="en-US"/>
              <a:t>Phase 2 Details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F410AB-805C-68C4-EDD9-E33328AB10F9}"/>
              </a:ext>
            </a:extLst>
          </p:cNvPr>
          <p:cNvSpPr>
            <a:spLocks noChangeAspect="1"/>
          </p:cNvSpPr>
          <p:nvPr/>
        </p:nvSpPr>
        <p:spPr>
          <a:xfrm>
            <a:off x="413629" y="2294499"/>
            <a:ext cx="3198252" cy="519038"/>
          </a:xfrm>
          <a:prstGeom prst="roundRect">
            <a:avLst>
              <a:gd name="adj" fmla="val 4335"/>
            </a:avLst>
          </a:prstGeom>
          <a:solidFill>
            <a:schemeClr val="bg1"/>
          </a:solidFill>
          <a:ln>
            <a:solidFill>
              <a:srgbClr val="297FD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>
                <a:solidFill>
                  <a:srgbClr val="297FD5"/>
                </a:solidFill>
              </a:rPr>
              <a:t>Survey Design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48091F-45DE-DDC7-2E9D-2FD876C90369}"/>
              </a:ext>
            </a:extLst>
          </p:cNvPr>
          <p:cNvSpPr>
            <a:spLocks noChangeAspect="1"/>
          </p:cNvSpPr>
          <p:nvPr/>
        </p:nvSpPr>
        <p:spPr>
          <a:xfrm>
            <a:off x="4258837" y="2294499"/>
            <a:ext cx="3211143" cy="519038"/>
          </a:xfrm>
          <a:prstGeom prst="roundRect">
            <a:avLst>
              <a:gd name="adj" fmla="val 4335"/>
            </a:avLst>
          </a:prstGeom>
          <a:solidFill>
            <a:schemeClr val="bg1"/>
          </a:solidFill>
          <a:ln>
            <a:solidFill>
              <a:srgbClr val="297FD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>
                <a:solidFill>
                  <a:srgbClr val="297FD5"/>
                </a:solidFill>
              </a:rPr>
              <a:t>Dashboard Build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7B30653-2A15-F59A-D699-CC132BF3D1DB}"/>
              </a:ext>
            </a:extLst>
          </p:cNvPr>
          <p:cNvSpPr/>
          <p:nvPr/>
        </p:nvSpPr>
        <p:spPr>
          <a:xfrm>
            <a:off x="8125875" y="2294499"/>
            <a:ext cx="3198253" cy="519038"/>
          </a:xfrm>
          <a:prstGeom prst="roundRect">
            <a:avLst>
              <a:gd name="adj" fmla="val 4335"/>
            </a:avLst>
          </a:prstGeom>
          <a:solidFill>
            <a:schemeClr val="bg1"/>
          </a:solidFill>
          <a:ln>
            <a:solidFill>
              <a:srgbClr val="297FD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>
                <a:solidFill>
                  <a:srgbClr val="297FD5"/>
                </a:solidFill>
              </a:rPr>
              <a:t>Go-Live</a:t>
            </a:r>
          </a:p>
        </p:txBody>
      </p:sp>
      <p:grpSp>
        <p:nvGrpSpPr>
          <p:cNvPr id="23" name="Group 89">
            <a:extLst>
              <a:ext uri="{FF2B5EF4-FFF2-40B4-BE49-F238E27FC236}">
                <a16:creationId xmlns:a16="http://schemas.microsoft.com/office/drawing/2014/main" id="{60921484-7379-CA2A-4B1B-E0D4B8BA7A7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7049" y="2341232"/>
            <a:ext cx="365760" cy="365760"/>
            <a:chOff x="6539" y="440"/>
            <a:chExt cx="426" cy="426"/>
          </a:xfrm>
          <a:solidFill>
            <a:srgbClr val="297FD5"/>
          </a:solidFill>
        </p:grpSpPr>
        <p:sp>
          <p:nvSpPr>
            <p:cNvPr id="24" name="Freeform 90">
              <a:extLst>
                <a:ext uri="{FF2B5EF4-FFF2-40B4-BE49-F238E27FC236}">
                  <a16:creationId xmlns:a16="http://schemas.microsoft.com/office/drawing/2014/main" id="{A208F23A-5178-47C2-4841-2640097620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2" y="653"/>
              <a:ext cx="213" cy="213"/>
            </a:xfrm>
            <a:custGeom>
              <a:avLst/>
              <a:gdLst>
                <a:gd name="T0" fmla="*/ 6 w 144"/>
                <a:gd name="T1" fmla="*/ 144 h 144"/>
                <a:gd name="T2" fmla="*/ 2 w 144"/>
                <a:gd name="T3" fmla="*/ 143 h 144"/>
                <a:gd name="T4" fmla="*/ 1 w 144"/>
                <a:gd name="T5" fmla="*/ 137 h 144"/>
                <a:gd name="T6" fmla="*/ 13 w 144"/>
                <a:gd name="T7" fmla="*/ 95 h 144"/>
                <a:gd name="T8" fmla="*/ 14 w 144"/>
                <a:gd name="T9" fmla="*/ 92 h 144"/>
                <a:gd name="T10" fmla="*/ 104 w 144"/>
                <a:gd name="T11" fmla="*/ 2 h 144"/>
                <a:gd name="T12" fmla="*/ 113 w 144"/>
                <a:gd name="T13" fmla="*/ 2 h 144"/>
                <a:gd name="T14" fmla="*/ 143 w 144"/>
                <a:gd name="T15" fmla="*/ 32 h 144"/>
                <a:gd name="T16" fmla="*/ 144 w 144"/>
                <a:gd name="T17" fmla="*/ 36 h 144"/>
                <a:gd name="T18" fmla="*/ 143 w 144"/>
                <a:gd name="T19" fmla="*/ 41 h 144"/>
                <a:gd name="T20" fmla="*/ 53 w 144"/>
                <a:gd name="T21" fmla="*/ 131 h 144"/>
                <a:gd name="T22" fmla="*/ 50 w 144"/>
                <a:gd name="T23" fmla="*/ 132 h 144"/>
                <a:gd name="T24" fmla="*/ 8 w 144"/>
                <a:gd name="T25" fmla="*/ 144 h 144"/>
                <a:gd name="T26" fmla="*/ 6 w 144"/>
                <a:gd name="T27" fmla="*/ 144 h 144"/>
                <a:gd name="T28" fmla="*/ 24 w 144"/>
                <a:gd name="T29" fmla="*/ 100 h 144"/>
                <a:gd name="T30" fmla="*/ 15 w 144"/>
                <a:gd name="T31" fmla="*/ 130 h 144"/>
                <a:gd name="T32" fmla="*/ 45 w 144"/>
                <a:gd name="T33" fmla="*/ 121 h 144"/>
                <a:gd name="T34" fmla="*/ 130 w 144"/>
                <a:gd name="T35" fmla="*/ 36 h 144"/>
                <a:gd name="T36" fmla="*/ 108 w 144"/>
                <a:gd name="T37" fmla="*/ 15 h 144"/>
                <a:gd name="T38" fmla="*/ 24 w 144"/>
                <a:gd name="T39" fmla="*/ 100 h 144"/>
                <a:gd name="T40" fmla="*/ 48 w 144"/>
                <a:gd name="T41" fmla="*/ 126 h 144"/>
                <a:gd name="T42" fmla="*/ 48 w 144"/>
                <a:gd name="T43" fmla="*/ 12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4" h="144">
                  <a:moveTo>
                    <a:pt x="6" y="144"/>
                  </a:moveTo>
                  <a:cubicBezTo>
                    <a:pt x="5" y="144"/>
                    <a:pt x="3" y="144"/>
                    <a:pt x="2" y="143"/>
                  </a:cubicBezTo>
                  <a:cubicBezTo>
                    <a:pt x="1" y="141"/>
                    <a:pt x="0" y="139"/>
                    <a:pt x="1" y="137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13" y="94"/>
                    <a:pt x="13" y="93"/>
                    <a:pt x="14" y="92"/>
                  </a:cubicBezTo>
                  <a:cubicBezTo>
                    <a:pt x="104" y="2"/>
                    <a:pt x="104" y="2"/>
                    <a:pt x="104" y="2"/>
                  </a:cubicBezTo>
                  <a:cubicBezTo>
                    <a:pt x="107" y="0"/>
                    <a:pt x="110" y="0"/>
                    <a:pt x="113" y="2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4" y="33"/>
                    <a:pt x="144" y="35"/>
                    <a:pt x="144" y="36"/>
                  </a:cubicBezTo>
                  <a:cubicBezTo>
                    <a:pt x="144" y="38"/>
                    <a:pt x="144" y="40"/>
                    <a:pt x="143" y="41"/>
                  </a:cubicBezTo>
                  <a:cubicBezTo>
                    <a:pt x="53" y="131"/>
                    <a:pt x="53" y="131"/>
                    <a:pt x="53" y="131"/>
                  </a:cubicBezTo>
                  <a:cubicBezTo>
                    <a:pt x="52" y="131"/>
                    <a:pt x="51" y="132"/>
                    <a:pt x="50" y="132"/>
                  </a:cubicBezTo>
                  <a:cubicBezTo>
                    <a:pt x="8" y="144"/>
                    <a:pt x="8" y="144"/>
                    <a:pt x="8" y="144"/>
                  </a:cubicBezTo>
                  <a:cubicBezTo>
                    <a:pt x="8" y="144"/>
                    <a:pt x="7" y="144"/>
                    <a:pt x="6" y="144"/>
                  </a:cubicBezTo>
                  <a:close/>
                  <a:moveTo>
                    <a:pt x="24" y="100"/>
                  </a:moveTo>
                  <a:cubicBezTo>
                    <a:pt x="15" y="130"/>
                    <a:pt x="15" y="130"/>
                    <a:pt x="15" y="130"/>
                  </a:cubicBezTo>
                  <a:cubicBezTo>
                    <a:pt x="45" y="121"/>
                    <a:pt x="45" y="121"/>
                    <a:pt x="45" y="121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08" y="15"/>
                    <a:pt x="108" y="15"/>
                    <a:pt x="108" y="15"/>
                  </a:cubicBezTo>
                  <a:lnTo>
                    <a:pt x="24" y="100"/>
                  </a:lnTo>
                  <a:close/>
                  <a:moveTo>
                    <a:pt x="48" y="126"/>
                  </a:moveTo>
                  <a:cubicBezTo>
                    <a:pt x="48" y="126"/>
                    <a:pt x="48" y="126"/>
                    <a:pt x="48" y="126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25" name="Freeform 91">
              <a:extLst>
                <a:ext uri="{FF2B5EF4-FFF2-40B4-BE49-F238E27FC236}">
                  <a16:creationId xmlns:a16="http://schemas.microsoft.com/office/drawing/2014/main" id="{FC042118-C94E-F6C5-C596-FF384F23E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1" y="692"/>
              <a:ext cx="57" cy="57"/>
            </a:xfrm>
            <a:custGeom>
              <a:avLst/>
              <a:gdLst>
                <a:gd name="T0" fmla="*/ 44 w 57"/>
                <a:gd name="T1" fmla="*/ 57 h 57"/>
                <a:gd name="T2" fmla="*/ 0 w 57"/>
                <a:gd name="T3" fmla="*/ 13 h 57"/>
                <a:gd name="T4" fmla="*/ 13 w 57"/>
                <a:gd name="T5" fmla="*/ 0 h 57"/>
                <a:gd name="T6" fmla="*/ 57 w 57"/>
                <a:gd name="T7" fmla="*/ 44 h 57"/>
                <a:gd name="T8" fmla="*/ 44 w 57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7">
                  <a:moveTo>
                    <a:pt x="44" y="57"/>
                  </a:moveTo>
                  <a:lnTo>
                    <a:pt x="0" y="13"/>
                  </a:lnTo>
                  <a:lnTo>
                    <a:pt x="13" y="0"/>
                  </a:lnTo>
                  <a:lnTo>
                    <a:pt x="57" y="44"/>
                  </a:lnTo>
                  <a:lnTo>
                    <a:pt x="44" y="57"/>
                  </a:ln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27" name="Freeform 92">
              <a:extLst>
                <a:ext uri="{FF2B5EF4-FFF2-40B4-BE49-F238E27FC236}">
                  <a16:creationId xmlns:a16="http://schemas.microsoft.com/office/drawing/2014/main" id="{08C45FA5-2B35-F189-ED73-599E3AA81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" y="786"/>
              <a:ext cx="64" cy="62"/>
            </a:xfrm>
            <a:custGeom>
              <a:avLst/>
              <a:gdLst>
                <a:gd name="T0" fmla="*/ 36 w 43"/>
                <a:gd name="T1" fmla="*/ 42 h 42"/>
                <a:gd name="T2" fmla="*/ 32 w 43"/>
                <a:gd name="T3" fmla="*/ 41 h 42"/>
                <a:gd name="T4" fmla="*/ 2 w 43"/>
                <a:gd name="T5" fmla="*/ 11 h 42"/>
                <a:gd name="T6" fmla="*/ 2 w 43"/>
                <a:gd name="T7" fmla="*/ 2 h 42"/>
                <a:gd name="T8" fmla="*/ 11 w 43"/>
                <a:gd name="T9" fmla="*/ 2 h 42"/>
                <a:gd name="T10" fmla="*/ 41 w 43"/>
                <a:gd name="T11" fmla="*/ 32 h 42"/>
                <a:gd name="T12" fmla="*/ 41 w 43"/>
                <a:gd name="T13" fmla="*/ 41 h 42"/>
                <a:gd name="T14" fmla="*/ 36 w 43"/>
                <a:gd name="T1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2">
                  <a:moveTo>
                    <a:pt x="36" y="42"/>
                  </a:moveTo>
                  <a:cubicBezTo>
                    <a:pt x="35" y="42"/>
                    <a:pt x="33" y="42"/>
                    <a:pt x="32" y="4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8"/>
                    <a:pt x="0" y="5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3" y="35"/>
                    <a:pt x="43" y="38"/>
                    <a:pt x="41" y="41"/>
                  </a:cubicBezTo>
                  <a:cubicBezTo>
                    <a:pt x="39" y="42"/>
                    <a:pt x="38" y="42"/>
                    <a:pt x="36" y="42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32" name="Freeform 93">
              <a:extLst>
                <a:ext uri="{FF2B5EF4-FFF2-40B4-BE49-F238E27FC236}">
                  <a16:creationId xmlns:a16="http://schemas.microsoft.com/office/drawing/2014/main" id="{E28E9B38-705C-C879-686A-C9E925B9E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0" y="618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33" name="Freeform 94">
              <a:extLst>
                <a:ext uri="{FF2B5EF4-FFF2-40B4-BE49-F238E27FC236}">
                  <a16:creationId xmlns:a16="http://schemas.microsoft.com/office/drawing/2014/main" id="{88269233-1811-E6FC-7FCE-54F32660A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0" y="689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34" name="Freeform 95">
              <a:extLst>
                <a:ext uri="{FF2B5EF4-FFF2-40B4-BE49-F238E27FC236}">
                  <a16:creationId xmlns:a16="http://schemas.microsoft.com/office/drawing/2014/main" id="{A8B5D9C8-8606-FCEE-F507-D00617828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3" y="582"/>
              <a:ext cx="90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1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9 w 61"/>
                <a:gd name="T15" fmla="*/ 2 h 42"/>
                <a:gd name="T16" fmla="*/ 59 w 61"/>
                <a:gd name="T17" fmla="*/ 11 h 42"/>
                <a:gd name="T18" fmla="*/ 29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5" y="12"/>
                    <a:pt x="8" y="12"/>
                    <a:pt x="11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3" y="0"/>
                    <a:pt x="56" y="0"/>
                    <a:pt x="59" y="2"/>
                  </a:cubicBezTo>
                  <a:cubicBezTo>
                    <a:pt x="61" y="5"/>
                    <a:pt x="61" y="8"/>
                    <a:pt x="59" y="1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8" y="42"/>
                    <a:pt x="26" y="42"/>
                    <a:pt x="24" y="42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37" name="Freeform 96">
              <a:extLst>
                <a:ext uri="{FF2B5EF4-FFF2-40B4-BE49-F238E27FC236}">
                  <a16:creationId xmlns:a16="http://schemas.microsoft.com/office/drawing/2014/main" id="{F163C6FC-2400-F8C7-07A9-66321272C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3" y="653"/>
              <a:ext cx="90" cy="64"/>
            </a:xfrm>
            <a:custGeom>
              <a:avLst/>
              <a:gdLst>
                <a:gd name="T0" fmla="*/ 24 w 61"/>
                <a:gd name="T1" fmla="*/ 43 h 43"/>
                <a:gd name="T2" fmla="*/ 20 w 61"/>
                <a:gd name="T3" fmla="*/ 41 h 43"/>
                <a:gd name="T4" fmla="*/ 2 w 61"/>
                <a:gd name="T5" fmla="*/ 23 h 43"/>
                <a:gd name="T6" fmla="*/ 2 w 61"/>
                <a:gd name="T7" fmla="*/ 14 h 43"/>
                <a:gd name="T8" fmla="*/ 11 w 61"/>
                <a:gd name="T9" fmla="*/ 14 h 43"/>
                <a:gd name="T10" fmla="*/ 24 w 61"/>
                <a:gd name="T11" fmla="*/ 28 h 43"/>
                <a:gd name="T12" fmla="*/ 50 w 61"/>
                <a:gd name="T13" fmla="*/ 2 h 43"/>
                <a:gd name="T14" fmla="*/ 59 w 61"/>
                <a:gd name="T15" fmla="*/ 2 h 43"/>
                <a:gd name="T16" fmla="*/ 59 w 61"/>
                <a:gd name="T17" fmla="*/ 11 h 43"/>
                <a:gd name="T18" fmla="*/ 29 w 61"/>
                <a:gd name="T19" fmla="*/ 41 h 43"/>
                <a:gd name="T20" fmla="*/ 24 w 61"/>
                <a:gd name="T21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3">
                  <a:moveTo>
                    <a:pt x="24" y="43"/>
                  </a:moveTo>
                  <a:cubicBezTo>
                    <a:pt x="23" y="43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1"/>
                    <a:pt x="0" y="17"/>
                    <a:pt x="2" y="14"/>
                  </a:cubicBezTo>
                  <a:cubicBezTo>
                    <a:pt x="5" y="12"/>
                    <a:pt x="8" y="12"/>
                    <a:pt x="11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3" y="0"/>
                    <a:pt x="56" y="0"/>
                    <a:pt x="59" y="2"/>
                  </a:cubicBezTo>
                  <a:cubicBezTo>
                    <a:pt x="61" y="5"/>
                    <a:pt x="61" y="9"/>
                    <a:pt x="59" y="1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8" y="42"/>
                    <a:pt x="26" y="43"/>
                    <a:pt x="24" y="43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38" name="Freeform 97">
              <a:extLst>
                <a:ext uri="{FF2B5EF4-FFF2-40B4-BE49-F238E27FC236}">
                  <a16:creationId xmlns:a16="http://schemas.microsoft.com/office/drawing/2014/main" id="{05E0ADA6-E87F-D32D-D327-F9F968E95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9" y="440"/>
              <a:ext cx="302" cy="391"/>
            </a:xfrm>
            <a:custGeom>
              <a:avLst/>
              <a:gdLst>
                <a:gd name="T0" fmla="*/ 108 w 204"/>
                <a:gd name="T1" fmla="*/ 264 h 264"/>
                <a:gd name="T2" fmla="*/ 6 w 204"/>
                <a:gd name="T3" fmla="*/ 264 h 264"/>
                <a:gd name="T4" fmla="*/ 0 w 204"/>
                <a:gd name="T5" fmla="*/ 258 h 264"/>
                <a:gd name="T6" fmla="*/ 0 w 204"/>
                <a:gd name="T7" fmla="*/ 6 h 264"/>
                <a:gd name="T8" fmla="*/ 6 w 204"/>
                <a:gd name="T9" fmla="*/ 0 h 264"/>
                <a:gd name="T10" fmla="*/ 138 w 204"/>
                <a:gd name="T11" fmla="*/ 0 h 264"/>
                <a:gd name="T12" fmla="*/ 143 w 204"/>
                <a:gd name="T13" fmla="*/ 2 h 264"/>
                <a:gd name="T14" fmla="*/ 203 w 204"/>
                <a:gd name="T15" fmla="*/ 62 h 264"/>
                <a:gd name="T16" fmla="*/ 204 w 204"/>
                <a:gd name="T17" fmla="*/ 66 h 264"/>
                <a:gd name="T18" fmla="*/ 204 w 204"/>
                <a:gd name="T19" fmla="*/ 156 h 264"/>
                <a:gd name="T20" fmla="*/ 192 w 204"/>
                <a:gd name="T21" fmla="*/ 156 h 264"/>
                <a:gd name="T22" fmla="*/ 192 w 204"/>
                <a:gd name="T23" fmla="*/ 69 h 264"/>
                <a:gd name="T24" fmla="*/ 136 w 204"/>
                <a:gd name="T25" fmla="*/ 12 h 264"/>
                <a:gd name="T26" fmla="*/ 12 w 204"/>
                <a:gd name="T27" fmla="*/ 12 h 264"/>
                <a:gd name="T28" fmla="*/ 12 w 204"/>
                <a:gd name="T29" fmla="*/ 252 h 264"/>
                <a:gd name="T30" fmla="*/ 108 w 204"/>
                <a:gd name="T31" fmla="*/ 252 h 264"/>
                <a:gd name="T32" fmla="*/ 108 w 204"/>
                <a:gd name="T33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4" h="264">
                  <a:moveTo>
                    <a:pt x="108" y="264"/>
                  </a:moveTo>
                  <a:cubicBezTo>
                    <a:pt x="6" y="264"/>
                    <a:pt x="6" y="264"/>
                    <a:pt x="6" y="264"/>
                  </a:cubicBezTo>
                  <a:cubicBezTo>
                    <a:pt x="3" y="264"/>
                    <a:pt x="0" y="262"/>
                    <a:pt x="0" y="25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2" y="1"/>
                    <a:pt x="143" y="2"/>
                  </a:cubicBezTo>
                  <a:cubicBezTo>
                    <a:pt x="203" y="62"/>
                    <a:pt x="203" y="62"/>
                    <a:pt x="203" y="62"/>
                  </a:cubicBezTo>
                  <a:cubicBezTo>
                    <a:pt x="204" y="63"/>
                    <a:pt x="204" y="65"/>
                    <a:pt x="204" y="66"/>
                  </a:cubicBezTo>
                  <a:cubicBezTo>
                    <a:pt x="204" y="156"/>
                    <a:pt x="204" y="156"/>
                    <a:pt x="204" y="156"/>
                  </a:cubicBezTo>
                  <a:cubicBezTo>
                    <a:pt x="192" y="156"/>
                    <a:pt x="192" y="156"/>
                    <a:pt x="192" y="156"/>
                  </a:cubicBezTo>
                  <a:cubicBezTo>
                    <a:pt x="192" y="69"/>
                    <a:pt x="192" y="69"/>
                    <a:pt x="192" y="69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252"/>
                    <a:pt x="12" y="252"/>
                    <a:pt x="12" y="252"/>
                  </a:cubicBezTo>
                  <a:cubicBezTo>
                    <a:pt x="108" y="252"/>
                    <a:pt x="108" y="252"/>
                    <a:pt x="108" y="252"/>
                  </a:cubicBezTo>
                  <a:lnTo>
                    <a:pt x="108" y="264"/>
                  </a:ln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39" name="Freeform 98">
              <a:extLst>
                <a:ext uri="{FF2B5EF4-FFF2-40B4-BE49-F238E27FC236}">
                  <a16:creationId xmlns:a16="http://schemas.microsoft.com/office/drawing/2014/main" id="{ABE7F279-6E2D-6C6D-48E2-E8BB2D465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4" y="440"/>
              <a:ext cx="107" cy="107"/>
            </a:xfrm>
            <a:custGeom>
              <a:avLst/>
              <a:gdLst>
                <a:gd name="T0" fmla="*/ 66 w 72"/>
                <a:gd name="T1" fmla="*/ 72 h 72"/>
                <a:gd name="T2" fmla="*/ 6 w 72"/>
                <a:gd name="T3" fmla="*/ 72 h 72"/>
                <a:gd name="T4" fmla="*/ 0 w 72"/>
                <a:gd name="T5" fmla="*/ 66 h 72"/>
                <a:gd name="T6" fmla="*/ 0 w 72"/>
                <a:gd name="T7" fmla="*/ 6 h 72"/>
                <a:gd name="T8" fmla="*/ 6 w 72"/>
                <a:gd name="T9" fmla="*/ 0 h 72"/>
                <a:gd name="T10" fmla="*/ 12 w 72"/>
                <a:gd name="T11" fmla="*/ 6 h 72"/>
                <a:gd name="T12" fmla="*/ 12 w 72"/>
                <a:gd name="T13" fmla="*/ 60 h 72"/>
                <a:gd name="T14" fmla="*/ 66 w 72"/>
                <a:gd name="T15" fmla="*/ 60 h 72"/>
                <a:gd name="T16" fmla="*/ 72 w 72"/>
                <a:gd name="T17" fmla="*/ 66 h 72"/>
                <a:gd name="T18" fmla="*/ 66 w 72"/>
                <a:gd name="T1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66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70" y="60"/>
                    <a:pt x="72" y="63"/>
                    <a:pt x="72" y="66"/>
                  </a:cubicBezTo>
                  <a:cubicBezTo>
                    <a:pt x="72" y="70"/>
                    <a:pt x="70" y="72"/>
                    <a:pt x="66" y="72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  <p:grpSp>
        <p:nvGrpSpPr>
          <p:cNvPr id="40" name="Group 199">
            <a:extLst>
              <a:ext uri="{FF2B5EF4-FFF2-40B4-BE49-F238E27FC236}">
                <a16:creationId xmlns:a16="http://schemas.microsoft.com/office/drawing/2014/main" id="{9328CEAF-BA7B-C095-5BAC-AE88C39FAB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34623" y="2372068"/>
            <a:ext cx="365760" cy="334924"/>
            <a:chOff x="3435" y="3010"/>
            <a:chExt cx="427" cy="391"/>
          </a:xfrm>
          <a:solidFill>
            <a:srgbClr val="297FD5"/>
          </a:solidFill>
        </p:grpSpPr>
        <p:sp>
          <p:nvSpPr>
            <p:cNvPr id="41" name="Freeform 200">
              <a:extLst>
                <a:ext uri="{FF2B5EF4-FFF2-40B4-BE49-F238E27FC236}">
                  <a16:creationId xmlns:a16="http://schemas.microsoft.com/office/drawing/2014/main" id="{154F088A-69A4-F9DB-13AF-1050E6F3AC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35" y="3010"/>
              <a:ext cx="427" cy="391"/>
            </a:xfrm>
            <a:custGeom>
              <a:avLst/>
              <a:gdLst>
                <a:gd name="T0" fmla="*/ 258 w 288"/>
                <a:gd name="T1" fmla="*/ 264 h 264"/>
                <a:gd name="T2" fmla="*/ 30 w 288"/>
                <a:gd name="T3" fmla="*/ 264 h 264"/>
                <a:gd name="T4" fmla="*/ 0 w 288"/>
                <a:gd name="T5" fmla="*/ 234 h 264"/>
                <a:gd name="T6" fmla="*/ 0 w 288"/>
                <a:gd name="T7" fmla="*/ 30 h 264"/>
                <a:gd name="T8" fmla="*/ 30 w 288"/>
                <a:gd name="T9" fmla="*/ 0 h 264"/>
                <a:gd name="T10" fmla="*/ 258 w 288"/>
                <a:gd name="T11" fmla="*/ 0 h 264"/>
                <a:gd name="T12" fmla="*/ 288 w 288"/>
                <a:gd name="T13" fmla="*/ 30 h 264"/>
                <a:gd name="T14" fmla="*/ 288 w 288"/>
                <a:gd name="T15" fmla="*/ 234 h 264"/>
                <a:gd name="T16" fmla="*/ 258 w 288"/>
                <a:gd name="T17" fmla="*/ 264 h 264"/>
                <a:gd name="T18" fmla="*/ 30 w 288"/>
                <a:gd name="T19" fmla="*/ 12 h 264"/>
                <a:gd name="T20" fmla="*/ 12 w 288"/>
                <a:gd name="T21" fmla="*/ 30 h 264"/>
                <a:gd name="T22" fmla="*/ 12 w 288"/>
                <a:gd name="T23" fmla="*/ 234 h 264"/>
                <a:gd name="T24" fmla="*/ 30 w 288"/>
                <a:gd name="T25" fmla="*/ 252 h 264"/>
                <a:gd name="T26" fmla="*/ 258 w 288"/>
                <a:gd name="T27" fmla="*/ 252 h 264"/>
                <a:gd name="T28" fmla="*/ 276 w 288"/>
                <a:gd name="T29" fmla="*/ 234 h 264"/>
                <a:gd name="T30" fmla="*/ 276 w 288"/>
                <a:gd name="T31" fmla="*/ 30 h 264"/>
                <a:gd name="T32" fmla="*/ 258 w 288"/>
                <a:gd name="T33" fmla="*/ 12 h 264"/>
                <a:gd name="T34" fmla="*/ 30 w 288"/>
                <a:gd name="T35" fmla="*/ 12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64">
                  <a:moveTo>
                    <a:pt x="258" y="264"/>
                  </a:moveTo>
                  <a:cubicBezTo>
                    <a:pt x="30" y="264"/>
                    <a:pt x="30" y="264"/>
                    <a:pt x="30" y="264"/>
                  </a:cubicBezTo>
                  <a:cubicBezTo>
                    <a:pt x="14" y="264"/>
                    <a:pt x="0" y="251"/>
                    <a:pt x="0" y="234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258" y="0"/>
                    <a:pt x="258" y="0"/>
                    <a:pt x="258" y="0"/>
                  </a:cubicBezTo>
                  <a:cubicBezTo>
                    <a:pt x="275" y="0"/>
                    <a:pt x="288" y="13"/>
                    <a:pt x="288" y="30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51"/>
                    <a:pt x="275" y="264"/>
                    <a:pt x="258" y="264"/>
                  </a:cubicBezTo>
                  <a:close/>
                  <a:moveTo>
                    <a:pt x="30" y="12"/>
                  </a:moveTo>
                  <a:cubicBezTo>
                    <a:pt x="21" y="12"/>
                    <a:pt x="12" y="20"/>
                    <a:pt x="12" y="30"/>
                  </a:cubicBezTo>
                  <a:cubicBezTo>
                    <a:pt x="12" y="234"/>
                    <a:pt x="12" y="234"/>
                    <a:pt x="12" y="234"/>
                  </a:cubicBezTo>
                  <a:cubicBezTo>
                    <a:pt x="12" y="244"/>
                    <a:pt x="21" y="252"/>
                    <a:pt x="30" y="252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68" y="252"/>
                    <a:pt x="276" y="244"/>
                    <a:pt x="276" y="234"/>
                  </a:cubicBezTo>
                  <a:cubicBezTo>
                    <a:pt x="276" y="30"/>
                    <a:pt x="276" y="30"/>
                    <a:pt x="276" y="30"/>
                  </a:cubicBezTo>
                  <a:cubicBezTo>
                    <a:pt x="276" y="20"/>
                    <a:pt x="268" y="12"/>
                    <a:pt x="258" y="12"/>
                  </a:cubicBezTo>
                  <a:lnTo>
                    <a:pt x="30" y="12"/>
                  </a:ln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42" name="Freeform 201">
              <a:extLst>
                <a:ext uri="{FF2B5EF4-FFF2-40B4-BE49-F238E27FC236}">
                  <a16:creationId xmlns:a16="http://schemas.microsoft.com/office/drawing/2014/main" id="{C59AD3F6-B1D4-B60F-B9D7-253F0356B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3099"/>
              <a:ext cx="427" cy="18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8" y="3"/>
                    <a:pt x="288" y="6"/>
                  </a:cubicBezTo>
                  <a:cubicBezTo>
                    <a:pt x="288" y="9"/>
                    <a:pt x="286" y="12"/>
                    <a:pt x="282" y="12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189" name="Oval 202">
              <a:extLst>
                <a:ext uri="{FF2B5EF4-FFF2-40B4-BE49-F238E27FC236}">
                  <a16:creationId xmlns:a16="http://schemas.microsoft.com/office/drawing/2014/main" id="{CF2D547D-77A4-8E43-FDB4-EA59FFFBB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9" y="3046"/>
              <a:ext cx="35" cy="35"/>
            </a:xfrm>
            <a:prstGeom prst="ellipse">
              <a:avLst/>
            </a:pr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215" name="Oval 203">
              <a:extLst>
                <a:ext uri="{FF2B5EF4-FFF2-40B4-BE49-F238E27FC236}">
                  <a16:creationId xmlns:a16="http://schemas.microsoft.com/office/drawing/2014/main" id="{BCF47337-7233-A851-6595-5EF3D0DAF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2" y="3046"/>
              <a:ext cx="36" cy="35"/>
            </a:xfrm>
            <a:prstGeom prst="ellipse">
              <a:avLst/>
            </a:pr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216" name="Oval 204">
              <a:extLst>
                <a:ext uri="{FF2B5EF4-FFF2-40B4-BE49-F238E27FC236}">
                  <a16:creationId xmlns:a16="http://schemas.microsoft.com/office/drawing/2014/main" id="{C3AF584D-4295-C25B-0F16-72B6CCAF4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3046"/>
              <a:ext cx="36" cy="35"/>
            </a:xfrm>
            <a:prstGeom prst="ellipse">
              <a:avLst/>
            </a:pr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217" name="Freeform 205">
              <a:extLst>
                <a:ext uri="{FF2B5EF4-FFF2-40B4-BE49-F238E27FC236}">
                  <a16:creationId xmlns:a16="http://schemas.microsoft.com/office/drawing/2014/main" id="{350F9DEB-1B5C-6FEE-B4BD-C51CDBE0AB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80" y="3152"/>
              <a:ext cx="195" cy="196"/>
            </a:xfrm>
            <a:custGeom>
              <a:avLst/>
              <a:gdLst>
                <a:gd name="T0" fmla="*/ 66 w 132"/>
                <a:gd name="T1" fmla="*/ 132 h 132"/>
                <a:gd name="T2" fmla="*/ 0 w 132"/>
                <a:gd name="T3" fmla="*/ 66 h 132"/>
                <a:gd name="T4" fmla="*/ 66 w 132"/>
                <a:gd name="T5" fmla="*/ 0 h 132"/>
                <a:gd name="T6" fmla="*/ 132 w 132"/>
                <a:gd name="T7" fmla="*/ 66 h 132"/>
                <a:gd name="T8" fmla="*/ 66 w 132"/>
                <a:gd name="T9" fmla="*/ 132 h 132"/>
                <a:gd name="T10" fmla="*/ 66 w 132"/>
                <a:gd name="T11" fmla="*/ 12 h 132"/>
                <a:gd name="T12" fmla="*/ 12 w 132"/>
                <a:gd name="T13" fmla="*/ 66 h 132"/>
                <a:gd name="T14" fmla="*/ 66 w 132"/>
                <a:gd name="T15" fmla="*/ 120 h 132"/>
                <a:gd name="T16" fmla="*/ 120 w 132"/>
                <a:gd name="T17" fmla="*/ 66 h 132"/>
                <a:gd name="T18" fmla="*/ 66 w 132"/>
                <a:gd name="T19" fmla="*/ 1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2" h="132">
                  <a:moveTo>
                    <a:pt x="66" y="132"/>
                  </a:moveTo>
                  <a:cubicBezTo>
                    <a:pt x="30" y="132"/>
                    <a:pt x="0" y="102"/>
                    <a:pt x="0" y="66"/>
                  </a:cubicBezTo>
                  <a:cubicBezTo>
                    <a:pt x="0" y="30"/>
                    <a:pt x="30" y="0"/>
                    <a:pt x="66" y="0"/>
                  </a:cubicBezTo>
                  <a:cubicBezTo>
                    <a:pt x="103" y="0"/>
                    <a:pt x="132" y="30"/>
                    <a:pt x="132" y="66"/>
                  </a:cubicBezTo>
                  <a:cubicBezTo>
                    <a:pt x="132" y="102"/>
                    <a:pt x="103" y="132"/>
                    <a:pt x="66" y="132"/>
                  </a:cubicBezTo>
                  <a:close/>
                  <a:moveTo>
                    <a:pt x="66" y="12"/>
                  </a:moveTo>
                  <a:cubicBezTo>
                    <a:pt x="37" y="12"/>
                    <a:pt x="12" y="36"/>
                    <a:pt x="12" y="66"/>
                  </a:cubicBezTo>
                  <a:cubicBezTo>
                    <a:pt x="12" y="96"/>
                    <a:pt x="37" y="120"/>
                    <a:pt x="66" y="120"/>
                  </a:cubicBezTo>
                  <a:cubicBezTo>
                    <a:pt x="96" y="120"/>
                    <a:pt x="120" y="96"/>
                    <a:pt x="120" y="66"/>
                  </a:cubicBezTo>
                  <a:cubicBezTo>
                    <a:pt x="120" y="36"/>
                    <a:pt x="96" y="12"/>
                    <a:pt x="66" y="12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218" name="Freeform 206">
              <a:extLst>
                <a:ext uri="{FF2B5EF4-FFF2-40B4-BE49-F238E27FC236}">
                  <a16:creationId xmlns:a16="http://schemas.microsoft.com/office/drawing/2014/main" id="{C5DB4BBF-868D-C1B1-4342-D84C74884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3167"/>
              <a:ext cx="77" cy="160"/>
            </a:xfrm>
            <a:custGeom>
              <a:avLst/>
              <a:gdLst>
                <a:gd name="T0" fmla="*/ 45 w 52"/>
                <a:gd name="T1" fmla="*/ 108 h 108"/>
                <a:gd name="T2" fmla="*/ 40 w 52"/>
                <a:gd name="T3" fmla="*/ 106 h 108"/>
                <a:gd name="T4" fmla="*/ 2 w 52"/>
                <a:gd name="T5" fmla="*/ 60 h 108"/>
                <a:gd name="T6" fmla="*/ 1 w 52"/>
                <a:gd name="T7" fmla="*/ 53 h 108"/>
                <a:gd name="T8" fmla="*/ 35 w 52"/>
                <a:gd name="T9" fmla="*/ 3 h 108"/>
                <a:gd name="T10" fmla="*/ 44 w 52"/>
                <a:gd name="T11" fmla="*/ 2 h 108"/>
                <a:gd name="T12" fmla="*/ 45 w 52"/>
                <a:gd name="T13" fmla="*/ 10 h 108"/>
                <a:gd name="T14" fmla="*/ 14 w 52"/>
                <a:gd name="T15" fmla="*/ 56 h 108"/>
                <a:gd name="T16" fmla="*/ 50 w 52"/>
                <a:gd name="T17" fmla="*/ 98 h 108"/>
                <a:gd name="T18" fmla="*/ 49 w 52"/>
                <a:gd name="T19" fmla="*/ 107 h 108"/>
                <a:gd name="T20" fmla="*/ 45 w 52"/>
                <a:gd name="T21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" h="108">
                  <a:moveTo>
                    <a:pt x="45" y="108"/>
                  </a:moveTo>
                  <a:cubicBezTo>
                    <a:pt x="43" y="108"/>
                    <a:pt x="41" y="107"/>
                    <a:pt x="40" y="106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0" y="58"/>
                    <a:pt x="0" y="55"/>
                    <a:pt x="1" y="5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7" y="0"/>
                    <a:pt x="41" y="0"/>
                    <a:pt x="44" y="2"/>
                  </a:cubicBezTo>
                  <a:cubicBezTo>
                    <a:pt x="46" y="3"/>
                    <a:pt x="47" y="7"/>
                    <a:pt x="45" y="1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50" y="98"/>
                    <a:pt x="50" y="98"/>
                    <a:pt x="50" y="98"/>
                  </a:cubicBezTo>
                  <a:cubicBezTo>
                    <a:pt x="52" y="101"/>
                    <a:pt x="51" y="105"/>
                    <a:pt x="49" y="107"/>
                  </a:cubicBezTo>
                  <a:cubicBezTo>
                    <a:pt x="48" y="108"/>
                    <a:pt x="46" y="108"/>
                    <a:pt x="45" y="108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219" name="Freeform 207">
              <a:extLst>
                <a:ext uri="{FF2B5EF4-FFF2-40B4-BE49-F238E27FC236}">
                  <a16:creationId xmlns:a16="http://schemas.microsoft.com/office/drawing/2014/main" id="{6B9E8BBC-C76F-CB26-7A5D-40221E468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0" y="3241"/>
              <a:ext cx="106" cy="18"/>
            </a:xfrm>
            <a:custGeom>
              <a:avLst/>
              <a:gdLst>
                <a:gd name="T0" fmla="*/ 66 w 72"/>
                <a:gd name="T1" fmla="*/ 12 h 12"/>
                <a:gd name="T2" fmla="*/ 6 w 72"/>
                <a:gd name="T3" fmla="*/ 12 h 12"/>
                <a:gd name="T4" fmla="*/ 0 w 72"/>
                <a:gd name="T5" fmla="*/ 6 h 12"/>
                <a:gd name="T6" fmla="*/ 6 w 72"/>
                <a:gd name="T7" fmla="*/ 0 h 12"/>
                <a:gd name="T8" fmla="*/ 66 w 72"/>
                <a:gd name="T9" fmla="*/ 0 h 12"/>
                <a:gd name="T10" fmla="*/ 72 w 72"/>
                <a:gd name="T11" fmla="*/ 6 h 12"/>
                <a:gd name="T12" fmla="*/ 66 w 7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12">
                  <a:moveTo>
                    <a:pt x="6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3"/>
                    <a:pt x="72" y="6"/>
                  </a:cubicBezTo>
                  <a:cubicBezTo>
                    <a:pt x="72" y="9"/>
                    <a:pt x="70" y="12"/>
                    <a:pt x="66" y="12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220" name="Rectangle 208">
              <a:extLst>
                <a:ext uri="{FF2B5EF4-FFF2-40B4-BE49-F238E27FC236}">
                  <a16:creationId xmlns:a16="http://schemas.microsoft.com/office/drawing/2014/main" id="{24702CEC-3C31-2089-3969-BEEEF6777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170"/>
              <a:ext cx="107" cy="18"/>
            </a:xfrm>
            <a:prstGeom prst="rect">
              <a:avLst/>
            </a:prstGeom>
            <a:grpFill/>
            <a:ln w="9525">
              <a:solidFill>
                <a:srgbClr val="297FD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221" name="Rectangle 209">
              <a:extLst>
                <a:ext uri="{FF2B5EF4-FFF2-40B4-BE49-F238E27FC236}">
                  <a16:creationId xmlns:a16="http://schemas.microsoft.com/office/drawing/2014/main" id="{EA133C8D-DD93-D11F-18C7-4A9F42B1B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223"/>
              <a:ext cx="107" cy="18"/>
            </a:xfrm>
            <a:prstGeom prst="rect">
              <a:avLst/>
            </a:prstGeom>
            <a:grpFill/>
            <a:ln w="9525">
              <a:solidFill>
                <a:srgbClr val="297FD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222" name="Rectangle 210">
              <a:extLst>
                <a:ext uri="{FF2B5EF4-FFF2-40B4-BE49-F238E27FC236}">
                  <a16:creationId xmlns:a16="http://schemas.microsoft.com/office/drawing/2014/main" id="{53207CEC-0AA8-89C3-919D-B952FCBF0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276"/>
              <a:ext cx="107" cy="18"/>
            </a:xfrm>
            <a:prstGeom prst="rect">
              <a:avLst/>
            </a:prstGeom>
            <a:grpFill/>
            <a:ln w="9525">
              <a:solidFill>
                <a:srgbClr val="297FD5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  <p:grpSp>
        <p:nvGrpSpPr>
          <p:cNvPr id="7223" name="Group 109">
            <a:extLst>
              <a:ext uri="{FF2B5EF4-FFF2-40B4-BE49-F238E27FC236}">
                <a16:creationId xmlns:a16="http://schemas.microsoft.com/office/drawing/2014/main" id="{2371A9E6-7854-A19B-EEB5-0AE246FE5E7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08274" y="2342128"/>
            <a:ext cx="365760" cy="364864"/>
            <a:chOff x="2412" y="1730"/>
            <a:chExt cx="408" cy="407"/>
          </a:xfrm>
          <a:solidFill>
            <a:srgbClr val="297FD5"/>
          </a:solidFill>
        </p:grpSpPr>
        <p:sp>
          <p:nvSpPr>
            <p:cNvPr id="7224" name="Freeform 110">
              <a:extLst>
                <a:ext uri="{FF2B5EF4-FFF2-40B4-BE49-F238E27FC236}">
                  <a16:creationId xmlns:a16="http://schemas.microsoft.com/office/drawing/2014/main" id="{6AE9EA4F-ABC3-ABDA-71FF-8AF08B1CE9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01" y="1730"/>
              <a:ext cx="319" cy="320"/>
            </a:xfrm>
            <a:custGeom>
              <a:avLst/>
              <a:gdLst>
                <a:gd name="T0" fmla="*/ 49 w 216"/>
                <a:gd name="T1" fmla="*/ 216 h 216"/>
                <a:gd name="T2" fmla="*/ 49 w 216"/>
                <a:gd name="T3" fmla="*/ 216 h 216"/>
                <a:gd name="T4" fmla="*/ 44 w 216"/>
                <a:gd name="T5" fmla="*/ 214 h 216"/>
                <a:gd name="T6" fmla="*/ 2 w 216"/>
                <a:gd name="T7" fmla="*/ 172 h 216"/>
                <a:gd name="T8" fmla="*/ 2 w 216"/>
                <a:gd name="T9" fmla="*/ 163 h 216"/>
                <a:gd name="T10" fmla="*/ 142 w 216"/>
                <a:gd name="T11" fmla="*/ 23 h 216"/>
                <a:gd name="T12" fmla="*/ 209 w 216"/>
                <a:gd name="T13" fmla="*/ 0 h 216"/>
                <a:gd name="T14" fmla="*/ 214 w 216"/>
                <a:gd name="T15" fmla="*/ 2 h 216"/>
                <a:gd name="T16" fmla="*/ 216 w 216"/>
                <a:gd name="T17" fmla="*/ 7 h 216"/>
                <a:gd name="T18" fmla="*/ 193 w 216"/>
                <a:gd name="T19" fmla="*/ 74 h 216"/>
                <a:gd name="T20" fmla="*/ 53 w 216"/>
                <a:gd name="T21" fmla="*/ 214 h 216"/>
                <a:gd name="T22" fmla="*/ 49 w 216"/>
                <a:gd name="T23" fmla="*/ 216 h 216"/>
                <a:gd name="T24" fmla="*/ 15 w 216"/>
                <a:gd name="T25" fmla="*/ 168 h 216"/>
                <a:gd name="T26" fmla="*/ 49 w 216"/>
                <a:gd name="T27" fmla="*/ 201 h 216"/>
                <a:gd name="T28" fmla="*/ 184 w 216"/>
                <a:gd name="T29" fmla="*/ 66 h 216"/>
                <a:gd name="T30" fmla="*/ 202 w 216"/>
                <a:gd name="T31" fmla="*/ 14 h 216"/>
                <a:gd name="T32" fmla="*/ 151 w 216"/>
                <a:gd name="T33" fmla="*/ 32 h 216"/>
                <a:gd name="T34" fmla="*/ 15 w 216"/>
                <a:gd name="T35" fmla="*/ 16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6" h="216">
                  <a:moveTo>
                    <a:pt x="49" y="216"/>
                  </a:moveTo>
                  <a:cubicBezTo>
                    <a:pt x="49" y="216"/>
                    <a:pt x="49" y="216"/>
                    <a:pt x="49" y="216"/>
                  </a:cubicBezTo>
                  <a:cubicBezTo>
                    <a:pt x="47" y="216"/>
                    <a:pt x="46" y="215"/>
                    <a:pt x="44" y="214"/>
                  </a:cubicBezTo>
                  <a:cubicBezTo>
                    <a:pt x="2" y="172"/>
                    <a:pt x="2" y="172"/>
                    <a:pt x="2" y="172"/>
                  </a:cubicBezTo>
                  <a:cubicBezTo>
                    <a:pt x="0" y="170"/>
                    <a:pt x="0" y="166"/>
                    <a:pt x="2" y="163"/>
                  </a:cubicBezTo>
                  <a:cubicBezTo>
                    <a:pt x="2" y="163"/>
                    <a:pt x="134" y="32"/>
                    <a:pt x="142" y="23"/>
                  </a:cubicBezTo>
                  <a:cubicBezTo>
                    <a:pt x="156" y="10"/>
                    <a:pt x="204" y="1"/>
                    <a:pt x="209" y="0"/>
                  </a:cubicBezTo>
                  <a:cubicBezTo>
                    <a:pt x="211" y="0"/>
                    <a:pt x="213" y="1"/>
                    <a:pt x="214" y="2"/>
                  </a:cubicBezTo>
                  <a:cubicBezTo>
                    <a:pt x="216" y="3"/>
                    <a:pt x="216" y="5"/>
                    <a:pt x="216" y="7"/>
                  </a:cubicBezTo>
                  <a:cubicBezTo>
                    <a:pt x="215" y="13"/>
                    <a:pt x="207" y="61"/>
                    <a:pt x="193" y="74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2" y="215"/>
                    <a:pt x="50" y="216"/>
                    <a:pt x="49" y="216"/>
                  </a:cubicBezTo>
                  <a:close/>
                  <a:moveTo>
                    <a:pt x="15" y="168"/>
                  </a:moveTo>
                  <a:cubicBezTo>
                    <a:pt x="49" y="201"/>
                    <a:pt x="49" y="201"/>
                    <a:pt x="49" y="201"/>
                  </a:cubicBezTo>
                  <a:cubicBezTo>
                    <a:pt x="184" y="66"/>
                    <a:pt x="184" y="66"/>
                    <a:pt x="184" y="66"/>
                  </a:cubicBezTo>
                  <a:cubicBezTo>
                    <a:pt x="192" y="59"/>
                    <a:pt x="199" y="33"/>
                    <a:pt x="202" y="14"/>
                  </a:cubicBezTo>
                  <a:cubicBezTo>
                    <a:pt x="183" y="18"/>
                    <a:pt x="158" y="25"/>
                    <a:pt x="151" y="32"/>
                  </a:cubicBezTo>
                  <a:cubicBezTo>
                    <a:pt x="143" y="39"/>
                    <a:pt x="38" y="145"/>
                    <a:pt x="15" y="168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225" name="Freeform 111">
              <a:extLst>
                <a:ext uri="{FF2B5EF4-FFF2-40B4-BE49-F238E27FC236}">
                  <a16:creationId xmlns:a16="http://schemas.microsoft.com/office/drawing/2014/main" id="{5CAFCFCA-527E-8D3A-F170-FF7B72544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1943"/>
              <a:ext cx="81" cy="82"/>
            </a:xfrm>
            <a:custGeom>
              <a:avLst/>
              <a:gdLst>
                <a:gd name="T0" fmla="*/ 49 w 55"/>
                <a:gd name="T1" fmla="*/ 55 h 55"/>
                <a:gd name="T2" fmla="*/ 44 w 55"/>
                <a:gd name="T3" fmla="*/ 53 h 55"/>
                <a:gd name="T4" fmla="*/ 2 w 55"/>
                <a:gd name="T5" fmla="*/ 11 h 55"/>
                <a:gd name="T6" fmla="*/ 2 w 55"/>
                <a:gd name="T7" fmla="*/ 2 h 55"/>
                <a:gd name="T8" fmla="*/ 11 w 55"/>
                <a:gd name="T9" fmla="*/ 2 h 55"/>
                <a:gd name="T10" fmla="*/ 53 w 55"/>
                <a:gd name="T11" fmla="*/ 45 h 55"/>
                <a:gd name="T12" fmla="*/ 53 w 55"/>
                <a:gd name="T13" fmla="*/ 53 h 55"/>
                <a:gd name="T14" fmla="*/ 49 w 55"/>
                <a:gd name="T15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55">
                  <a:moveTo>
                    <a:pt x="49" y="55"/>
                  </a:moveTo>
                  <a:cubicBezTo>
                    <a:pt x="47" y="55"/>
                    <a:pt x="46" y="54"/>
                    <a:pt x="44" y="5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5"/>
                    <a:pt x="2" y="2"/>
                  </a:cubicBezTo>
                  <a:cubicBezTo>
                    <a:pt x="5" y="0"/>
                    <a:pt x="8" y="0"/>
                    <a:pt x="11" y="2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5" y="47"/>
                    <a:pt x="55" y="51"/>
                    <a:pt x="53" y="53"/>
                  </a:cubicBezTo>
                  <a:cubicBezTo>
                    <a:pt x="52" y="54"/>
                    <a:pt x="50" y="55"/>
                    <a:pt x="49" y="55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226" name="Freeform 112">
              <a:extLst>
                <a:ext uri="{FF2B5EF4-FFF2-40B4-BE49-F238E27FC236}">
                  <a16:creationId xmlns:a16="http://schemas.microsoft.com/office/drawing/2014/main" id="{49254246-6E1D-6A55-C022-979329173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1937"/>
              <a:ext cx="112" cy="200"/>
            </a:xfrm>
            <a:custGeom>
              <a:avLst/>
              <a:gdLst>
                <a:gd name="T0" fmla="*/ 7 w 76"/>
                <a:gd name="T1" fmla="*/ 135 h 135"/>
                <a:gd name="T2" fmla="*/ 4 w 76"/>
                <a:gd name="T3" fmla="*/ 135 h 135"/>
                <a:gd name="T4" fmla="*/ 1 w 76"/>
                <a:gd name="T5" fmla="*/ 129 h 135"/>
                <a:gd name="T6" fmla="*/ 9 w 76"/>
                <a:gd name="T7" fmla="*/ 61 h 135"/>
                <a:gd name="T8" fmla="*/ 15 w 76"/>
                <a:gd name="T9" fmla="*/ 56 h 135"/>
                <a:gd name="T10" fmla="*/ 21 w 76"/>
                <a:gd name="T11" fmla="*/ 63 h 135"/>
                <a:gd name="T12" fmla="*/ 15 w 76"/>
                <a:gd name="T13" fmla="*/ 113 h 135"/>
                <a:gd name="T14" fmla="*/ 45 w 76"/>
                <a:gd name="T15" fmla="*/ 83 h 135"/>
                <a:gd name="T16" fmla="*/ 60 w 76"/>
                <a:gd name="T17" fmla="*/ 60 h 135"/>
                <a:gd name="T18" fmla="*/ 64 w 76"/>
                <a:gd name="T19" fmla="*/ 6 h 135"/>
                <a:gd name="T20" fmla="*/ 70 w 76"/>
                <a:gd name="T21" fmla="*/ 0 h 135"/>
                <a:gd name="T22" fmla="*/ 76 w 76"/>
                <a:gd name="T23" fmla="*/ 6 h 135"/>
                <a:gd name="T24" fmla="*/ 72 w 76"/>
                <a:gd name="T25" fmla="*/ 63 h 135"/>
                <a:gd name="T26" fmla="*/ 53 w 76"/>
                <a:gd name="T27" fmla="*/ 91 h 135"/>
                <a:gd name="T28" fmla="*/ 11 w 76"/>
                <a:gd name="T29" fmla="*/ 134 h 135"/>
                <a:gd name="T30" fmla="*/ 7 w 76"/>
                <a:gd name="T31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6" h="135">
                  <a:moveTo>
                    <a:pt x="7" y="135"/>
                  </a:moveTo>
                  <a:cubicBezTo>
                    <a:pt x="6" y="135"/>
                    <a:pt x="5" y="135"/>
                    <a:pt x="4" y="135"/>
                  </a:cubicBezTo>
                  <a:cubicBezTo>
                    <a:pt x="2" y="134"/>
                    <a:pt x="0" y="131"/>
                    <a:pt x="1" y="129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9" y="58"/>
                    <a:pt x="12" y="56"/>
                    <a:pt x="15" y="56"/>
                  </a:cubicBezTo>
                  <a:cubicBezTo>
                    <a:pt x="19" y="57"/>
                    <a:pt x="21" y="60"/>
                    <a:pt x="21" y="63"/>
                  </a:cubicBezTo>
                  <a:cubicBezTo>
                    <a:pt x="15" y="113"/>
                    <a:pt x="15" y="113"/>
                    <a:pt x="15" y="113"/>
                  </a:cubicBezTo>
                  <a:cubicBezTo>
                    <a:pt x="45" y="83"/>
                    <a:pt x="45" y="83"/>
                    <a:pt x="45" y="83"/>
                  </a:cubicBezTo>
                  <a:cubicBezTo>
                    <a:pt x="50" y="77"/>
                    <a:pt x="58" y="66"/>
                    <a:pt x="60" y="60"/>
                  </a:cubicBezTo>
                  <a:cubicBezTo>
                    <a:pt x="62" y="55"/>
                    <a:pt x="64" y="42"/>
                    <a:pt x="64" y="6"/>
                  </a:cubicBezTo>
                  <a:cubicBezTo>
                    <a:pt x="64" y="3"/>
                    <a:pt x="67" y="0"/>
                    <a:pt x="70" y="0"/>
                  </a:cubicBezTo>
                  <a:cubicBezTo>
                    <a:pt x="74" y="0"/>
                    <a:pt x="76" y="3"/>
                    <a:pt x="76" y="6"/>
                  </a:cubicBezTo>
                  <a:cubicBezTo>
                    <a:pt x="76" y="35"/>
                    <a:pt x="75" y="54"/>
                    <a:pt x="72" y="63"/>
                  </a:cubicBezTo>
                  <a:cubicBezTo>
                    <a:pt x="69" y="73"/>
                    <a:pt x="59" y="86"/>
                    <a:pt x="53" y="91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0" y="135"/>
                    <a:pt x="8" y="135"/>
                    <a:pt x="7" y="135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227" name="Freeform 113">
              <a:extLst>
                <a:ext uri="{FF2B5EF4-FFF2-40B4-BE49-F238E27FC236}">
                  <a16:creationId xmlns:a16="http://schemas.microsoft.com/office/drawing/2014/main" id="{4C4FE5F0-1F8D-A159-ACCB-EC977F12A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1875"/>
              <a:ext cx="201" cy="113"/>
            </a:xfrm>
            <a:custGeom>
              <a:avLst/>
              <a:gdLst>
                <a:gd name="T0" fmla="*/ 7 w 136"/>
                <a:gd name="T1" fmla="*/ 76 h 76"/>
                <a:gd name="T2" fmla="*/ 2 w 136"/>
                <a:gd name="T3" fmla="*/ 72 h 76"/>
                <a:gd name="T4" fmla="*/ 3 w 136"/>
                <a:gd name="T5" fmla="*/ 65 h 76"/>
                <a:gd name="T6" fmla="*/ 45 w 136"/>
                <a:gd name="T7" fmla="*/ 23 h 76"/>
                <a:gd name="T8" fmla="*/ 73 w 136"/>
                <a:gd name="T9" fmla="*/ 4 h 76"/>
                <a:gd name="T10" fmla="*/ 128 w 136"/>
                <a:gd name="T11" fmla="*/ 0 h 76"/>
                <a:gd name="T12" fmla="*/ 130 w 136"/>
                <a:gd name="T13" fmla="*/ 0 h 76"/>
                <a:gd name="T14" fmla="*/ 136 w 136"/>
                <a:gd name="T15" fmla="*/ 6 h 76"/>
                <a:gd name="T16" fmla="*/ 130 w 136"/>
                <a:gd name="T17" fmla="*/ 12 h 76"/>
                <a:gd name="T18" fmla="*/ 128 w 136"/>
                <a:gd name="T19" fmla="*/ 12 h 76"/>
                <a:gd name="T20" fmla="*/ 76 w 136"/>
                <a:gd name="T21" fmla="*/ 15 h 76"/>
                <a:gd name="T22" fmla="*/ 54 w 136"/>
                <a:gd name="T23" fmla="*/ 31 h 76"/>
                <a:gd name="T24" fmla="*/ 23 w 136"/>
                <a:gd name="T25" fmla="*/ 61 h 76"/>
                <a:gd name="T26" fmla="*/ 74 w 136"/>
                <a:gd name="T27" fmla="*/ 55 h 76"/>
                <a:gd name="T28" fmla="*/ 81 w 136"/>
                <a:gd name="T29" fmla="*/ 61 h 76"/>
                <a:gd name="T30" fmla="*/ 75 w 136"/>
                <a:gd name="T31" fmla="*/ 67 h 76"/>
                <a:gd name="T32" fmla="*/ 8 w 136"/>
                <a:gd name="T33" fmla="*/ 76 h 76"/>
                <a:gd name="T34" fmla="*/ 7 w 136"/>
                <a:gd name="T3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76">
                  <a:moveTo>
                    <a:pt x="7" y="76"/>
                  </a:moveTo>
                  <a:cubicBezTo>
                    <a:pt x="5" y="76"/>
                    <a:pt x="3" y="74"/>
                    <a:pt x="2" y="72"/>
                  </a:cubicBezTo>
                  <a:cubicBezTo>
                    <a:pt x="0" y="70"/>
                    <a:pt x="1" y="67"/>
                    <a:pt x="3" y="65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51" y="17"/>
                    <a:pt x="63" y="7"/>
                    <a:pt x="73" y="4"/>
                  </a:cubicBezTo>
                  <a:cubicBezTo>
                    <a:pt x="84" y="0"/>
                    <a:pt x="110" y="0"/>
                    <a:pt x="128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3" y="0"/>
                    <a:pt x="136" y="3"/>
                    <a:pt x="136" y="6"/>
                  </a:cubicBezTo>
                  <a:cubicBezTo>
                    <a:pt x="136" y="9"/>
                    <a:pt x="133" y="12"/>
                    <a:pt x="130" y="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01" y="12"/>
                    <a:pt x="84" y="13"/>
                    <a:pt x="76" y="15"/>
                  </a:cubicBezTo>
                  <a:cubicBezTo>
                    <a:pt x="70" y="18"/>
                    <a:pt x="60" y="25"/>
                    <a:pt x="54" y="31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7" y="55"/>
                    <a:pt x="80" y="57"/>
                    <a:pt x="81" y="61"/>
                  </a:cubicBezTo>
                  <a:cubicBezTo>
                    <a:pt x="81" y="64"/>
                    <a:pt x="79" y="67"/>
                    <a:pt x="75" y="6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7" y="76"/>
                    <a:pt x="7" y="76"/>
                    <a:pt x="7" y="76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  <p:sp>
          <p:nvSpPr>
            <p:cNvPr id="7228" name="Freeform 114">
              <a:extLst>
                <a:ext uri="{FF2B5EF4-FFF2-40B4-BE49-F238E27FC236}">
                  <a16:creationId xmlns:a16="http://schemas.microsoft.com/office/drawing/2014/main" id="{E69DCC1F-4E40-705A-73B9-678447592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0" y="1995"/>
              <a:ext cx="131" cy="136"/>
            </a:xfrm>
            <a:custGeom>
              <a:avLst/>
              <a:gdLst>
                <a:gd name="T0" fmla="*/ 6 w 89"/>
                <a:gd name="T1" fmla="*/ 92 h 92"/>
                <a:gd name="T2" fmla="*/ 2 w 89"/>
                <a:gd name="T3" fmla="*/ 91 h 92"/>
                <a:gd name="T4" fmla="*/ 0 w 89"/>
                <a:gd name="T5" fmla="*/ 85 h 92"/>
                <a:gd name="T6" fmla="*/ 27 w 89"/>
                <a:gd name="T7" fmla="*/ 14 h 92"/>
                <a:gd name="T8" fmla="*/ 66 w 89"/>
                <a:gd name="T9" fmla="*/ 10 h 92"/>
                <a:gd name="T10" fmla="*/ 66 w 89"/>
                <a:gd name="T11" fmla="*/ 18 h 92"/>
                <a:gd name="T12" fmla="*/ 57 w 89"/>
                <a:gd name="T13" fmla="*/ 18 h 92"/>
                <a:gd name="T14" fmla="*/ 36 w 89"/>
                <a:gd name="T15" fmla="*/ 22 h 92"/>
                <a:gd name="T16" fmla="*/ 15 w 89"/>
                <a:gd name="T17" fmla="*/ 78 h 92"/>
                <a:gd name="T18" fmla="*/ 70 w 89"/>
                <a:gd name="T19" fmla="*/ 56 h 92"/>
                <a:gd name="T20" fmla="*/ 77 w 89"/>
                <a:gd name="T21" fmla="*/ 42 h 92"/>
                <a:gd name="T22" fmla="*/ 74 w 89"/>
                <a:gd name="T23" fmla="*/ 35 h 92"/>
                <a:gd name="T24" fmla="*/ 74 w 89"/>
                <a:gd name="T25" fmla="*/ 27 h 92"/>
                <a:gd name="T26" fmla="*/ 83 w 89"/>
                <a:gd name="T27" fmla="*/ 27 h 92"/>
                <a:gd name="T28" fmla="*/ 89 w 89"/>
                <a:gd name="T29" fmla="*/ 42 h 92"/>
                <a:gd name="T30" fmla="*/ 78 w 89"/>
                <a:gd name="T31" fmla="*/ 65 h 92"/>
                <a:gd name="T32" fmla="*/ 8 w 89"/>
                <a:gd name="T33" fmla="*/ 92 h 92"/>
                <a:gd name="T34" fmla="*/ 6 w 89"/>
                <a:gd name="T35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9" h="92">
                  <a:moveTo>
                    <a:pt x="6" y="92"/>
                  </a:moveTo>
                  <a:cubicBezTo>
                    <a:pt x="5" y="92"/>
                    <a:pt x="3" y="92"/>
                    <a:pt x="2" y="91"/>
                  </a:cubicBezTo>
                  <a:cubicBezTo>
                    <a:pt x="0" y="89"/>
                    <a:pt x="0" y="87"/>
                    <a:pt x="0" y="85"/>
                  </a:cubicBezTo>
                  <a:cubicBezTo>
                    <a:pt x="2" y="79"/>
                    <a:pt x="15" y="27"/>
                    <a:pt x="27" y="14"/>
                  </a:cubicBezTo>
                  <a:cubicBezTo>
                    <a:pt x="40" y="1"/>
                    <a:pt x="55" y="0"/>
                    <a:pt x="66" y="10"/>
                  </a:cubicBezTo>
                  <a:cubicBezTo>
                    <a:pt x="68" y="12"/>
                    <a:pt x="68" y="16"/>
                    <a:pt x="66" y="18"/>
                  </a:cubicBezTo>
                  <a:cubicBezTo>
                    <a:pt x="63" y="21"/>
                    <a:pt x="59" y="21"/>
                    <a:pt x="57" y="18"/>
                  </a:cubicBezTo>
                  <a:cubicBezTo>
                    <a:pt x="49" y="10"/>
                    <a:pt x="38" y="20"/>
                    <a:pt x="36" y="22"/>
                  </a:cubicBezTo>
                  <a:cubicBezTo>
                    <a:pt x="29" y="29"/>
                    <a:pt x="20" y="57"/>
                    <a:pt x="15" y="78"/>
                  </a:cubicBezTo>
                  <a:cubicBezTo>
                    <a:pt x="36" y="72"/>
                    <a:pt x="63" y="63"/>
                    <a:pt x="70" y="56"/>
                  </a:cubicBezTo>
                  <a:cubicBezTo>
                    <a:pt x="74" y="52"/>
                    <a:pt x="77" y="47"/>
                    <a:pt x="77" y="42"/>
                  </a:cubicBezTo>
                  <a:cubicBezTo>
                    <a:pt x="77" y="40"/>
                    <a:pt x="76" y="37"/>
                    <a:pt x="74" y="35"/>
                  </a:cubicBezTo>
                  <a:cubicBezTo>
                    <a:pt x="72" y="33"/>
                    <a:pt x="72" y="29"/>
                    <a:pt x="74" y="27"/>
                  </a:cubicBezTo>
                  <a:cubicBezTo>
                    <a:pt x="76" y="24"/>
                    <a:pt x="80" y="24"/>
                    <a:pt x="83" y="27"/>
                  </a:cubicBezTo>
                  <a:cubicBezTo>
                    <a:pt x="87" y="31"/>
                    <a:pt x="89" y="36"/>
                    <a:pt x="89" y="42"/>
                  </a:cubicBezTo>
                  <a:cubicBezTo>
                    <a:pt x="89" y="50"/>
                    <a:pt x="85" y="58"/>
                    <a:pt x="78" y="65"/>
                  </a:cubicBezTo>
                  <a:cubicBezTo>
                    <a:pt x="66" y="77"/>
                    <a:pt x="14" y="91"/>
                    <a:pt x="8" y="92"/>
                  </a:cubicBezTo>
                  <a:cubicBezTo>
                    <a:pt x="7" y="92"/>
                    <a:pt x="7" y="92"/>
                    <a:pt x="6" y="92"/>
                  </a:cubicBezTo>
                  <a:close/>
                </a:path>
              </a:pathLst>
            </a:custGeom>
            <a:grpFill/>
            <a:ln w="9525">
              <a:solidFill>
                <a:srgbClr val="297FD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4749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6B54582-BEDD-A40E-EFCD-BCED63D0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BD07BF-3238-DE22-5DF1-BA3DD410CD65}"/>
              </a:ext>
            </a:extLst>
          </p:cNvPr>
          <p:cNvSpPr/>
          <p:nvPr/>
        </p:nvSpPr>
        <p:spPr>
          <a:xfrm>
            <a:off x="7475974" y="1"/>
            <a:ext cx="4732342" cy="68580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Rectangle: Rounded Corners 11">
            <a:extLst>
              <a:ext uri="{FF2B5EF4-FFF2-40B4-BE49-F238E27FC236}">
                <a16:creationId xmlns:a16="http://schemas.microsoft.com/office/drawing/2014/main" id="{DF027220-8ADB-CE86-4801-12BC76300D9A}"/>
              </a:ext>
            </a:extLst>
          </p:cNvPr>
          <p:cNvSpPr/>
          <p:nvPr/>
        </p:nvSpPr>
        <p:spPr>
          <a:xfrm rot="5400000">
            <a:off x="9174389" y="-1698415"/>
            <a:ext cx="1335503" cy="4732344"/>
          </a:xfrm>
          <a:prstGeom prst="homePlate">
            <a:avLst>
              <a:gd name="adj" fmla="val 17268"/>
            </a:avLst>
          </a:prstGeom>
          <a:solidFill>
            <a:srgbClr val="00339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F577BFC-9D52-2475-07A6-AE6AC15A3C6D}"/>
              </a:ext>
            </a:extLst>
          </p:cNvPr>
          <p:cNvSpPr txBox="1"/>
          <p:nvPr/>
        </p:nvSpPr>
        <p:spPr>
          <a:xfrm>
            <a:off x="7137537" y="6400604"/>
            <a:ext cx="4318719" cy="25603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algn="r">
              <a:lnSpc>
                <a:spcPct val="90000"/>
              </a:lnSpc>
              <a:defRPr sz="800"/>
            </a:lvl1pPr>
            <a:lvl2pPr marL="0" indent="0" algn="r">
              <a:defRPr sz="800"/>
            </a:lvl2pPr>
            <a:lvl3pPr marL="0" algn="r">
              <a:defRPr sz="800"/>
            </a:lvl3pPr>
            <a:lvl4pPr marL="0" algn="r">
              <a:defRPr sz="800"/>
            </a:lvl4pPr>
            <a:lvl5pPr marL="0" algn="r">
              <a:defRPr sz="800"/>
            </a:lvl5pPr>
            <a:lvl6pPr marL="0" indent="0" algn="r">
              <a:defRPr sz="800"/>
            </a:lvl6pPr>
            <a:lvl7pPr marL="0" algn="r">
              <a:defRPr sz="800"/>
            </a:lvl7pPr>
            <a:lvl8pPr marL="0" indent="0" algn="r">
              <a:defRPr sz="800"/>
            </a:lvl8pPr>
            <a:lvl9pPr marL="0" algn="r">
              <a:spcBef>
                <a:spcPts val="0"/>
              </a:spcBef>
              <a:defRPr sz="800"/>
            </a:lvl9pPr>
          </a:lstStyle>
          <a:p>
            <a:pPr defTabSz="228600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>
                <a:solidFill>
                  <a:srgbClr val="013269"/>
                </a:solidFill>
                <a:latin typeface="Graphik Light" panose="020B0403030202060203" pitchFamily="34" charset="77"/>
              </a:rPr>
              <a:t>Copyright © 2025 Accenture. All rights reserved.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67E4ABB-7EF8-B236-5150-47532624919B}"/>
              </a:ext>
            </a:extLst>
          </p:cNvPr>
          <p:cNvSpPr/>
          <p:nvPr/>
        </p:nvSpPr>
        <p:spPr>
          <a:xfrm>
            <a:off x="198727" y="723482"/>
            <a:ext cx="7170799" cy="5475754"/>
          </a:xfrm>
          <a:prstGeom prst="rect">
            <a:avLst/>
          </a:prstGeom>
          <a:solidFill>
            <a:schemeClr val="bg1"/>
          </a:solidFill>
          <a:ln>
            <a:solidFill>
              <a:srgbClr val="374D8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3474720" bIns="91440" rtlCol="0" anchor="t"/>
          <a:lstStyle/>
          <a:p>
            <a:r>
              <a:rPr lang="en-US" b="1">
                <a:solidFill>
                  <a:schemeClr val="tx1"/>
                </a:solidFill>
              </a:rPr>
              <a:t>Phase 2 builds </a:t>
            </a:r>
            <a:r>
              <a:rPr lang="en-US">
                <a:solidFill>
                  <a:schemeClr val="tx1"/>
                </a:solidFill>
              </a:rPr>
              <a:t>on Phase 1 by refining </a:t>
            </a:r>
            <a:r>
              <a:rPr lang="en-US" b="1">
                <a:solidFill>
                  <a:schemeClr val="tx1"/>
                </a:solidFill>
              </a:rPr>
              <a:t>strategic vision</a:t>
            </a:r>
            <a:r>
              <a:rPr lang="en-US">
                <a:solidFill>
                  <a:schemeClr val="tx1"/>
                </a:solidFill>
              </a:rPr>
              <a:t> and business logic, integrating cross-team input for an </a:t>
            </a:r>
            <a:r>
              <a:rPr lang="en-US" b="1">
                <a:solidFill>
                  <a:schemeClr val="tx1"/>
                </a:solidFill>
              </a:rPr>
              <a:t>NFL-wide view</a:t>
            </a:r>
            <a:r>
              <a:rPr lang="en-US">
                <a:solidFill>
                  <a:schemeClr val="tx1"/>
                </a:solidFill>
              </a:rPr>
              <a:t>. Benchmarking global stadiums will </a:t>
            </a:r>
            <a:r>
              <a:rPr lang="en-US" b="1">
                <a:solidFill>
                  <a:schemeClr val="tx1"/>
                </a:solidFill>
              </a:rPr>
              <a:t>uncover performance gaps </a:t>
            </a:r>
            <a:r>
              <a:rPr lang="en-US">
                <a:solidFill>
                  <a:schemeClr val="tx1"/>
                </a:solidFill>
              </a:rPr>
              <a:t>and </a:t>
            </a:r>
            <a:r>
              <a:rPr lang="en-US" b="1">
                <a:solidFill>
                  <a:schemeClr val="tx1"/>
                </a:solidFill>
              </a:rPr>
              <a:t>provide recommendations </a:t>
            </a:r>
            <a:r>
              <a:rPr lang="en-US">
                <a:solidFill>
                  <a:schemeClr val="tx1"/>
                </a:solidFill>
              </a:rPr>
              <a:t>across technologies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494B107-7E75-7B17-9446-D1BE2F42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39" y="159742"/>
            <a:ext cx="10515600" cy="685800"/>
          </a:xfrm>
        </p:spPr>
        <p:txBody>
          <a:bodyPr/>
          <a:lstStyle/>
          <a:p>
            <a:r>
              <a:rPr lang="en-US" sz="3200" b="1"/>
              <a:t>Phase 2 Scope Overview</a:t>
            </a:r>
          </a:p>
        </p:txBody>
      </p:sp>
      <p:sp>
        <p:nvSpPr>
          <p:cNvPr id="56" name="Slide Number Placeholder 13">
            <a:extLst>
              <a:ext uri="{FF2B5EF4-FFF2-40B4-BE49-F238E27FC236}">
                <a16:creationId xmlns:a16="http://schemas.microsoft.com/office/drawing/2014/main" id="{0B540066-00CC-6C3A-3F83-5B34D0EF3FBB}"/>
              </a:ext>
            </a:extLst>
          </p:cNvPr>
          <p:cNvSpPr txBox="1">
            <a:spLocks/>
          </p:cNvSpPr>
          <p:nvPr/>
        </p:nvSpPr>
        <p:spPr>
          <a:xfrm>
            <a:off x="11698902" y="6442221"/>
            <a:ext cx="320749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96636F-A64E-6C4D-AE26-50A84E19B9C9}" type="slidenum">
              <a:rPr lang="en-US" sz="800">
                <a:solidFill>
                  <a:srgbClr val="96968A"/>
                </a:solidFill>
                <a:latin typeface="Avenir Next"/>
              </a:rPr>
              <a:pPr/>
              <a:t>20</a:t>
            </a:fld>
            <a:endParaRPr lang="en-US" sz="800">
              <a:solidFill>
                <a:srgbClr val="96968A"/>
              </a:solidFill>
              <a:latin typeface="Avenir Next"/>
            </a:endParaRPr>
          </a:p>
        </p:txBody>
      </p:sp>
      <p:pic>
        <p:nvPicPr>
          <p:cNvPr id="107" name="Picture 106" descr="NFL Logo (National Football League) and symbol, meaning, history, PNG, brand">
            <a:extLst>
              <a:ext uri="{FF2B5EF4-FFF2-40B4-BE49-F238E27FC236}">
                <a16:creationId xmlns:a16="http://schemas.microsoft.com/office/drawing/2014/main" id="{3EB0993A-5D64-CC9E-CE2F-7ECAB6792B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4" r="25471"/>
          <a:stretch/>
        </p:blipFill>
        <p:spPr bwMode="auto">
          <a:xfrm>
            <a:off x="1177499" y="6301271"/>
            <a:ext cx="272013" cy="37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107" descr="Accenture Song">
            <a:extLst>
              <a:ext uri="{FF2B5EF4-FFF2-40B4-BE49-F238E27FC236}">
                <a16:creationId xmlns:a16="http://schemas.microsoft.com/office/drawing/2014/main" id="{9009105C-4561-33CB-205B-990C35ACE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 contrast="100000"/>
                    </a14:imgEffect>
                  </a14:imgLayer>
                </a14:imgProps>
              </a:ext>
            </a:extLst>
          </a:blip>
          <a:srcRect t="1" r="33616" b="-1"/>
          <a:stretch/>
        </p:blipFill>
        <p:spPr>
          <a:xfrm>
            <a:off x="289368" y="6409289"/>
            <a:ext cx="720278" cy="1819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970AE1-CC9D-7602-1EB4-F41575D94212}"/>
              </a:ext>
            </a:extLst>
          </p:cNvPr>
          <p:cNvSpPr txBox="1"/>
          <p:nvPr/>
        </p:nvSpPr>
        <p:spPr>
          <a:xfrm>
            <a:off x="7475969" y="23510"/>
            <a:ext cx="4732348" cy="11522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/>
            </a:pPr>
            <a:r>
              <a:rPr lang="en-US" sz="2800" b="1">
                <a:solidFill>
                  <a:srgbClr val="FFFFFF"/>
                </a:solidFill>
                <a:latin typeface="Graphik"/>
              </a:rPr>
              <a:t>Opportunity areas through benchmarking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D290B3B-F580-A5E4-3678-4D103D0FA76B}"/>
              </a:ext>
            </a:extLst>
          </p:cNvPr>
          <p:cNvGrpSpPr/>
          <p:nvPr/>
        </p:nvGrpSpPr>
        <p:grpSpPr>
          <a:xfrm>
            <a:off x="7630838" y="1433774"/>
            <a:ext cx="2202125" cy="940639"/>
            <a:chOff x="1232714" y="5097979"/>
            <a:chExt cx="2202125" cy="9406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AE94C8-6D70-EF24-15C2-1A30E499E991}"/>
                </a:ext>
              </a:extLst>
            </p:cNvPr>
            <p:cNvSpPr/>
            <p:nvPr/>
          </p:nvSpPr>
          <p:spPr>
            <a:xfrm>
              <a:off x="1489929" y="5251303"/>
              <a:ext cx="1944910" cy="787315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NFL Focus               Areas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865985-AF75-0310-0A9B-0B0376D85D21}"/>
                </a:ext>
              </a:extLst>
            </p:cNvPr>
            <p:cNvGrpSpPr/>
            <p:nvPr/>
          </p:nvGrpSpPr>
          <p:grpSpPr>
            <a:xfrm>
              <a:off x="1232714" y="5097979"/>
              <a:ext cx="548640" cy="548640"/>
              <a:chOff x="1146147" y="-1959269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23" name="Graphic 22" descr="Shield with solid fill">
                <a:extLst>
                  <a:ext uri="{FF2B5EF4-FFF2-40B4-BE49-F238E27FC236}">
                    <a16:creationId xmlns:a16="http://schemas.microsoft.com/office/drawing/2014/main" id="{20BC84FC-6141-01F5-FB65-6C2E57B575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146147" y="-1959269"/>
                <a:ext cx="548640" cy="548640"/>
              </a:xfrm>
              <a:prstGeom prst="rect">
                <a:avLst/>
              </a:prstGeom>
            </p:spPr>
          </p:pic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ABD7D08-533F-6014-2A28-F8BD426FA32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37577" y="-1892195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1</a:t>
                </a: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A68FFC2-C93B-9008-6420-695CC7DE6507}"/>
              </a:ext>
            </a:extLst>
          </p:cNvPr>
          <p:cNvGrpSpPr/>
          <p:nvPr/>
        </p:nvGrpSpPr>
        <p:grpSpPr>
          <a:xfrm>
            <a:off x="9809847" y="1433774"/>
            <a:ext cx="2201543" cy="940639"/>
            <a:chOff x="3932469" y="5097979"/>
            <a:chExt cx="2201543" cy="9406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EA85F1F-6506-8EEA-82E2-F55B8C02B2F2}"/>
                </a:ext>
              </a:extLst>
            </p:cNvPr>
            <p:cNvSpPr/>
            <p:nvPr/>
          </p:nvSpPr>
          <p:spPr>
            <a:xfrm>
              <a:off x="4189102" y="5251303"/>
              <a:ext cx="1944910" cy="787315"/>
            </a:xfrm>
            <a:prstGeom prst="rect">
              <a:avLst/>
            </a:prstGeom>
            <a:solidFill>
              <a:srgbClr val="D50707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Fan Survey                Improvements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5856649-9DF5-BC37-F95B-BDE34AA00670}"/>
                </a:ext>
              </a:extLst>
            </p:cNvPr>
            <p:cNvGrpSpPr/>
            <p:nvPr/>
          </p:nvGrpSpPr>
          <p:grpSpPr>
            <a:xfrm>
              <a:off x="3932469" y="5097979"/>
              <a:ext cx="548640" cy="548640"/>
              <a:chOff x="2531566" y="-1959269"/>
              <a:chExt cx="548640" cy="54864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pic>
            <p:nvPicPr>
              <p:cNvPr id="30" name="Graphic 29" descr="Shield with solid fill">
                <a:extLst>
                  <a:ext uri="{FF2B5EF4-FFF2-40B4-BE49-F238E27FC236}">
                    <a16:creationId xmlns:a16="http://schemas.microsoft.com/office/drawing/2014/main" id="{9BF0E7FB-5C00-254B-FE93-5D5D8F1C3F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531566" y="-1959269"/>
                <a:ext cx="548640" cy="548640"/>
              </a:xfrm>
              <a:prstGeom prst="rect">
                <a:avLst/>
              </a:prstGeom>
            </p:spPr>
          </p:pic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8D9B577-CAA2-413B-299C-5AF2F5B4ED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24922" y="-1892195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2</a:t>
                </a: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830E702-9670-3516-7A02-B23718631F7E}"/>
              </a:ext>
            </a:extLst>
          </p:cNvPr>
          <p:cNvGrpSpPr/>
          <p:nvPr/>
        </p:nvGrpSpPr>
        <p:grpSpPr>
          <a:xfrm>
            <a:off x="7630838" y="2546153"/>
            <a:ext cx="2196248" cy="940639"/>
            <a:chOff x="6636937" y="5097979"/>
            <a:chExt cx="2196248" cy="94063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660D660-8045-5722-C147-5BDE6EC12341}"/>
                </a:ext>
              </a:extLst>
            </p:cNvPr>
            <p:cNvSpPr/>
            <p:nvPr/>
          </p:nvSpPr>
          <p:spPr>
            <a:xfrm>
              <a:off x="6888275" y="5251303"/>
              <a:ext cx="1944910" cy="787315"/>
            </a:xfrm>
            <a:prstGeom prst="rect">
              <a:avLst/>
            </a:prstGeom>
            <a:solidFill>
              <a:srgbClr val="D50707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Operational Efficiency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B77225B-6560-13B9-D3ED-CCC9A5C5775B}"/>
                </a:ext>
              </a:extLst>
            </p:cNvPr>
            <p:cNvGrpSpPr/>
            <p:nvPr/>
          </p:nvGrpSpPr>
          <p:grpSpPr>
            <a:xfrm>
              <a:off x="6636937" y="5097979"/>
              <a:ext cx="548640" cy="548640"/>
              <a:chOff x="3661242" y="-1938742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33" name="Graphic 32" descr="Shield with solid fill">
                <a:extLst>
                  <a:ext uri="{FF2B5EF4-FFF2-40B4-BE49-F238E27FC236}">
                    <a16:creationId xmlns:a16="http://schemas.microsoft.com/office/drawing/2014/main" id="{0F11F941-09F2-84E7-6EA2-B1D5A5C7C1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661242" y="-1938742"/>
                <a:ext cx="548640" cy="548640"/>
              </a:xfrm>
              <a:prstGeom prst="rect">
                <a:avLst/>
              </a:prstGeom>
            </p:spPr>
          </p:pic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792D6B1-BA35-247D-3057-ADE7022F3D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52682" y="-1867829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3</a:t>
                </a: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3C1180B-90DA-145D-9C90-25A0F0F14601}"/>
              </a:ext>
            </a:extLst>
          </p:cNvPr>
          <p:cNvGrpSpPr/>
          <p:nvPr/>
        </p:nvGrpSpPr>
        <p:grpSpPr>
          <a:xfrm>
            <a:off x="9809847" y="2546153"/>
            <a:ext cx="2209804" cy="940639"/>
            <a:chOff x="9322554" y="5097979"/>
            <a:chExt cx="2209804" cy="94063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EEC4FB-770D-2765-F114-CAD47265228B}"/>
                </a:ext>
              </a:extLst>
            </p:cNvPr>
            <p:cNvSpPr/>
            <p:nvPr/>
          </p:nvSpPr>
          <p:spPr>
            <a:xfrm>
              <a:off x="9587448" y="5251303"/>
              <a:ext cx="1944910" cy="787315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Sustainability &amp; Innovation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187A7D8-7200-10CD-BF77-651DE7F592CC}"/>
                </a:ext>
              </a:extLst>
            </p:cNvPr>
            <p:cNvGrpSpPr/>
            <p:nvPr/>
          </p:nvGrpSpPr>
          <p:grpSpPr>
            <a:xfrm>
              <a:off x="9322554" y="5097979"/>
              <a:ext cx="548640" cy="548640"/>
              <a:chOff x="4800368" y="-1903315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36" name="Graphic 35" descr="Shield with solid fill">
                <a:extLst>
                  <a:ext uri="{FF2B5EF4-FFF2-40B4-BE49-F238E27FC236}">
                    <a16:creationId xmlns:a16="http://schemas.microsoft.com/office/drawing/2014/main" id="{2CC20E02-4354-B8B4-CE6D-89583154DE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800368" y="-1903315"/>
                <a:ext cx="548640" cy="548640"/>
              </a:xfrm>
              <a:prstGeom prst="rect">
                <a:avLst/>
              </a:prstGeom>
            </p:spPr>
          </p:pic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4F91A54-AD2C-55C9-D120-15FCAC77C9B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76800" y="-1816438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4</a:t>
                </a: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2C0229D-38E4-2E2C-D005-B1062743D0E5}"/>
              </a:ext>
            </a:extLst>
          </p:cNvPr>
          <p:cNvGrpSpPr/>
          <p:nvPr/>
        </p:nvGrpSpPr>
        <p:grpSpPr>
          <a:xfrm>
            <a:off x="7630838" y="3658532"/>
            <a:ext cx="2202125" cy="938051"/>
            <a:chOff x="1232714" y="7332492"/>
            <a:chExt cx="2202125" cy="9380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903257-E693-FCA5-F538-256D9CED79AD}"/>
                </a:ext>
              </a:extLst>
            </p:cNvPr>
            <p:cNvSpPr/>
            <p:nvPr/>
          </p:nvSpPr>
          <p:spPr>
            <a:xfrm>
              <a:off x="1489929" y="7483228"/>
              <a:ext cx="1944910" cy="787315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Connectivity &amp; Infrastructure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8C696F4-6DD9-ABEA-416C-157BA6BF9134}"/>
                </a:ext>
              </a:extLst>
            </p:cNvPr>
            <p:cNvGrpSpPr/>
            <p:nvPr/>
          </p:nvGrpSpPr>
          <p:grpSpPr>
            <a:xfrm>
              <a:off x="1232714" y="7332492"/>
              <a:ext cx="548640" cy="548640"/>
              <a:chOff x="5833865" y="-1953577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42" name="Graphic 41" descr="Shield with solid fill">
                <a:extLst>
                  <a:ext uri="{FF2B5EF4-FFF2-40B4-BE49-F238E27FC236}">
                    <a16:creationId xmlns:a16="http://schemas.microsoft.com/office/drawing/2014/main" id="{EACEA204-4FB1-D038-7228-8AE2FF5EFA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833865" y="-1953577"/>
                <a:ext cx="548640" cy="548640"/>
              </a:xfrm>
              <a:prstGeom prst="rect">
                <a:avLst/>
              </a:prstGeom>
            </p:spPr>
          </p:pic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C80CFEE-9D1E-414A-63C4-2BB25B649A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25305" y="-1867829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5</a:t>
                </a: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A299460-41C4-578E-EE7F-3687E2D4C8FC}"/>
              </a:ext>
            </a:extLst>
          </p:cNvPr>
          <p:cNvGrpSpPr/>
          <p:nvPr/>
        </p:nvGrpSpPr>
        <p:grpSpPr>
          <a:xfrm>
            <a:off x="9809847" y="3658532"/>
            <a:ext cx="2201543" cy="938051"/>
            <a:chOff x="3932469" y="7332492"/>
            <a:chExt cx="2201543" cy="93805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52B9369-0F24-FC1A-45AE-1364828A2950}"/>
                </a:ext>
              </a:extLst>
            </p:cNvPr>
            <p:cNvSpPr/>
            <p:nvPr/>
          </p:nvSpPr>
          <p:spPr>
            <a:xfrm>
              <a:off x="4189102" y="7483228"/>
              <a:ext cx="1944910" cy="787315"/>
            </a:xfrm>
            <a:prstGeom prst="rect">
              <a:avLst/>
            </a:prstGeom>
            <a:solidFill>
              <a:srgbClr val="D50707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Engagement &amp; Personalization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92A9F0-E11E-B13C-188D-5AFB0591AF44}"/>
                </a:ext>
              </a:extLst>
            </p:cNvPr>
            <p:cNvGrpSpPr/>
            <p:nvPr/>
          </p:nvGrpSpPr>
          <p:grpSpPr>
            <a:xfrm>
              <a:off x="3932469" y="7332492"/>
              <a:ext cx="548640" cy="548640"/>
              <a:chOff x="7005406" y="-1892195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45" name="Graphic 44" descr="Shield with solid fill">
                <a:extLst>
                  <a:ext uri="{FF2B5EF4-FFF2-40B4-BE49-F238E27FC236}">
                    <a16:creationId xmlns:a16="http://schemas.microsoft.com/office/drawing/2014/main" id="{8511CC29-B099-438B-0754-6A35F12930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005406" y="-1892195"/>
                <a:ext cx="548640" cy="548640"/>
              </a:xfrm>
              <a:prstGeom prst="rect">
                <a:avLst/>
              </a:prstGeom>
            </p:spPr>
          </p:pic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DBE84D6-7DC5-2AB8-8C1C-2B54B487EA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96846" y="-1811875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6</a:t>
                </a: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8EB539D-D2E2-349A-0299-E20602C0C3A7}"/>
              </a:ext>
            </a:extLst>
          </p:cNvPr>
          <p:cNvGrpSpPr/>
          <p:nvPr/>
        </p:nvGrpSpPr>
        <p:grpSpPr>
          <a:xfrm>
            <a:off x="7630838" y="4768322"/>
            <a:ext cx="2196248" cy="938051"/>
            <a:chOff x="6636937" y="7332492"/>
            <a:chExt cx="2196248" cy="93805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726AC90-7380-5DE6-E0BA-5939410DA821}"/>
                </a:ext>
              </a:extLst>
            </p:cNvPr>
            <p:cNvSpPr/>
            <p:nvPr/>
          </p:nvSpPr>
          <p:spPr>
            <a:xfrm>
              <a:off x="6888275" y="7483228"/>
              <a:ext cx="1944910" cy="787315"/>
            </a:xfrm>
            <a:prstGeom prst="rect">
              <a:avLst/>
            </a:prstGeom>
            <a:solidFill>
              <a:srgbClr val="D50707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Transaction &amp; Commerce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FF38390-4CE2-FE3D-CBCB-EE7FD49AC70C}"/>
                </a:ext>
              </a:extLst>
            </p:cNvPr>
            <p:cNvGrpSpPr/>
            <p:nvPr/>
          </p:nvGrpSpPr>
          <p:grpSpPr>
            <a:xfrm>
              <a:off x="6636937" y="7332492"/>
              <a:ext cx="548640" cy="548640"/>
              <a:chOff x="8093170" y="-1903315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48" name="Graphic 47" descr="Shield with solid fill">
                <a:extLst>
                  <a:ext uri="{FF2B5EF4-FFF2-40B4-BE49-F238E27FC236}">
                    <a16:creationId xmlns:a16="http://schemas.microsoft.com/office/drawing/2014/main" id="{EF7796C7-5A42-ABFE-CC32-B38060327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093170" y="-1903315"/>
                <a:ext cx="548640" cy="548640"/>
              </a:xfrm>
              <a:prstGeom prst="rect">
                <a:avLst/>
              </a:prstGeom>
            </p:spPr>
          </p:pic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7B1159F-DDDA-AF1D-7B41-EA306F6BE0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80733" y="-1816438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7</a:t>
                </a: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3532917-DF8C-E9E8-7ED5-58CE7F843831}"/>
              </a:ext>
            </a:extLst>
          </p:cNvPr>
          <p:cNvGrpSpPr/>
          <p:nvPr/>
        </p:nvGrpSpPr>
        <p:grpSpPr>
          <a:xfrm>
            <a:off x="9809847" y="4768322"/>
            <a:ext cx="2209804" cy="938051"/>
            <a:chOff x="9322554" y="7332492"/>
            <a:chExt cx="2209804" cy="93805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B281DF-8080-6A8C-282F-A47065ABBDB3}"/>
                </a:ext>
              </a:extLst>
            </p:cNvPr>
            <p:cNvSpPr/>
            <p:nvPr/>
          </p:nvSpPr>
          <p:spPr>
            <a:xfrm>
              <a:off x="9587448" y="7483228"/>
              <a:ext cx="1944910" cy="787315"/>
            </a:xfrm>
            <a:prstGeom prst="rect">
              <a:avLst/>
            </a:prstGeom>
            <a:solidFill>
              <a:srgbClr val="002F8E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1600" b="1"/>
                <a:t>Immersive Experiences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D46CD93-B86C-D068-2157-64E4A2AA37AE}"/>
                </a:ext>
              </a:extLst>
            </p:cNvPr>
            <p:cNvGrpSpPr/>
            <p:nvPr/>
          </p:nvGrpSpPr>
          <p:grpSpPr>
            <a:xfrm>
              <a:off x="9322554" y="7332492"/>
              <a:ext cx="548640" cy="548640"/>
              <a:chOff x="9225384" y="-1953567"/>
              <a:chExt cx="548640" cy="54864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pic>
            <p:nvPicPr>
              <p:cNvPr id="51" name="Graphic 50" descr="Shield with solid fill">
                <a:extLst>
                  <a:ext uri="{FF2B5EF4-FFF2-40B4-BE49-F238E27FC236}">
                    <a16:creationId xmlns:a16="http://schemas.microsoft.com/office/drawing/2014/main" id="{F11DDB6A-C353-3249-E2FA-10C40B224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225384" y="-1953567"/>
                <a:ext cx="548640" cy="548640"/>
              </a:xfrm>
              <a:prstGeom prst="rect">
                <a:avLst/>
              </a:prstGeom>
            </p:spPr>
          </p:pic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6E3B178-CF8A-6E73-48AA-03E6F2C212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16824" y="-1878783"/>
                <a:ext cx="365760" cy="365760"/>
              </a:xfrm>
              <a:prstGeom prst="ellipse">
                <a:avLst/>
              </a:prstGeom>
              <a:noFill/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8</a:t>
                </a:r>
              </a:p>
            </p:txBody>
          </p:sp>
        </p:grpSp>
      </p:grpSp>
      <p:pic>
        <p:nvPicPr>
          <p:cNvPr id="115" name="Picture 114">
            <a:extLst>
              <a:ext uri="{FF2B5EF4-FFF2-40B4-BE49-F238E27FC236}">
                <a16:creationId xmlns:a16="http://schemas.microsoft.com/office/drawing/2014/main" id="{1E26A390-CB20-B417-25BE-680DD16205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9777" y="1292593"/>
            <a:ext cx="2812724" cy="145920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6" name="Rectangle 115">
            <a:extLst>
              <a:ext uri="{FF2B5EF4-FFF2-40B4-BE49-F238E27FC236}">
                <a16:creationId xmlns:a16="http://schemas.microsoft.com/office/drawing/2014/main" id="{47A689EB-92F0-CF90-698D-90E935577C10}"/>
              </a:ext>
            </a:extLst>
          </p:cNvPr>
          <p:cNvSpPr/>
          <p:nvPr/>
        </p:nvSpPr>
        <p:spPr>
          <a:xfrm>
            <a:off x="430055" y="3639053"/>
            <a:ext cx="6649435" cy="2408241"/>
          </a:xfrm>
          <a:prstGeom prst="rect">
            <a:avLst/>
          </a:prstGeom>
          <a:solidFill>
            <a:schemeClr val="bg1"/>
          </a:solidFill>
          <a:ln>
            <a:solidFill>
              <a:srgbClr val="374D8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t"/>
          <a:lstStyle/>
          <a:p>
            <a:r>
              <a:rPr lang="en-US" sz="1600" b="1">
                <a:solidFill>
                  <a:schemeClr val="tx1"/>
                </a:solidFill>
              </a:rPr>
              <a:t>Phase 2 Scope: </a:t>
            </a:r>
            <a:endParaRPr lang="en-US">
              <a:solidFill>
                <a:schemeClr val="tx1"/>
              </a:solidFill>
            </a:endParaRP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>
                <a:solidFill>
                  <a:schemeClr val="tx1"/>
                </a:solidFill>
              </a:rPr>
              <a:t>Update strategic vision and guiding principles for benchmarking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>
                <a:solidFill>
                  <a:schemeClr val="tx1"/>
                </a:solidFill>
              </a:rPr>
              <a:t>Develop four technology layer surveys (e.g. Infrastructure)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>
                <a:solidFill>
                  <a:schemeClr val="tx1"/>
                </a:solidFill>
              </a:rPr>
              <a:t>Integrate with voice of the fan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>
                <a:solidFill>
                  <a:schemeClr val="tx1"/>
                </a:solidFill>
              </a:rPr>
              <a:t>Benchmark against 3 international teams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>
                <a:solidFill>
                  <a:schemeClr val="tx1"/>
                </a:solidFill>
              </a:rPr>
              <a:t>Refine methodology and survey by iterating with 3 NFL teams</a:t>
            </a:r>
          </a:p>
          <a:p>
            <a:pPr marL="228600" indent="-228600">
              <a:buFont typeface="Wingdings" panose="05000000000000000000" pitchFamily="2" charset="2"/>
              <a:buChar char="ü"/>
            </a:pPr>
            <a:r>
              <a:rPr lang="en-US" sz="1600">
                <a:solidFill>
                  <a:schemeClr val="tx1"/>
                </a:solidFill>
              </a:rPr>
              <a:t>Build and launch a scoring dashboard and send out for all 32 teams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532D6CB-9BE9-05BF-C429-41C7D788CB22}"/>
              </a:ext>
            </a:extLst>
          </p:cNvPr>
          <p:cNvSpPr txBox="1"/>
          <p:nvPr/>
        </p:nvSpPr>
        <p:spPr>
          <a:xfrm>
            <a:off x="4219777" y="2946434"/>
            <a:ext cx="2859713" cy="482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Prototype dashboard based on survey 1.0 data </a:t>
            </a:r>
          </a:p>
        </p:txBody>
      </p:sp>
    </p:spTree>
    <p:extLst>
      <p:ext uri="{BB962C8B-B14F-4D97-AF65-F5344CB8AC3E}">
        <p14:creationId xmlns:p14="http://schemas.microsoft.com/office/powerpoint/2010/main" val="4019487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F912E-242A-18A4-BC65-16C31D26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791BBBC-2025-51E0-873E-F4967D890C54}"/>
              </a:ext>
            </a:extLst>
          </p:cNvPr>
          <p:cNvSpPr/>
          <p:nvPr/>
        </p:nvSpPr>
        <p:spPr>
          <a:xfrm>
            <a:off x="-498764" y="3832629"/>
            <a:ext cx="12690764" cy="389494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r>
              <a:rPr lang="en-US" sz="1000" b="1"/>
              <a:t>Infrastructure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What is the avg. infrastructure utilization of capacity on game day? | Avg of Wi-Fi, LAN, NH-DAS, Wired to Stadium | Single Select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What % of APs are Wi-Fi 6 enabled? | | Single Select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Average data volume per game? |  |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Network &amp; Connectivity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Wired/wireless communications connecting platforms, devices, and users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Wi‑Fi 6/6E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Stadium‑wide coverage enabling mobile ordering, navigation, and high‑density fan engagement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LAN / Core Network &amp; Utilization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Measurement of infrastructure utilization (Wi‑Fi, LAN, DAS, wired systems) and impact correlations (concessions, retail, ticketing, maintenance)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DAS / Cellular / 5G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Distributed Antenna System performance, modern bands, and </a:t>
            </a:r>
            <a:r>
              <a:rPr lang="en-US" sz="1000" err="1"/>
              <a:t>mmWave</a:t>
            </a:r>
            <a:r>
              <a:rPr lang="en-US" sz="1000"/>
              <a:t> coverage in bowl and concourses (referenced in survey questions and infrastructure layer)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Fiber &amp; Backhaul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Bandwidth capacity, redundancy, and circuit diversity underpinning all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Edge Compute Infrastructure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Supports computer vision, latency‑sensitive apps, and operational automation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Physical Devices &amp; Sensors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Cameras, sensors collecting interaction and source data for operational awareness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56F949-971B-3E17-4D16-0F1FAD3BE9B6}"/>
              </a:ext>
            </a:extLst>
          </p:cNvPr>
          <p:cNvSpPr/>
          <p:nvPr/>
        </p:nvSpPr>
        <p:spPr>
          <a:xfrm>
            <a:off x="1521229" y="183342"/>
            <a:ext cx="8141854" cy="324565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r>
              <a:rPr lang="en-US" sz="1000" b="1"/>
              <a:t>Technology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Cloud &amp; Edge Platform Services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Remote and scaled management of devices and experiences plus edge compute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Broadcast / Media Enablers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Support for live content capture, reliability, advertising inventory, and sponsor integration (via value-driver scoring)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IT Support / Service Operations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IT service calls, incident avoidance, uptime protection, staffing optimization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Operational Efficiency Services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security, parking, ticketing, etc.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Vendor support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Maturity of infra for supporting vendor actives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err="1"/>
          </a:p>
        </p:txBody>
      </p:sp>
    </p:spTree>
    <p:extLst>
      <p:ext uri="{BB962C8B-B14F-4D97-AF65-F5344CB8AC3E}">
        <p14:creationId xmlns:p14="http://schemas.microsoft.com/office/powerpoint/2010/main" val="1084679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6A04-F7B8-751A-1E86-93ACAA4F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31DAB1B-D386-4A35-7B88-C3D6D5453ABF}"/>
              </a:ext>
            </a:extLst>
          </p:cNvPr>
          <p:cNvSpPr/>
          <p:nvPr/>
        </p:nvSpPr>
        <p:spPr>
          <a:xfrm>
            <a:off x="381000" y="1657928"/>
            <a:ext cx="11430000" cy="187416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r>
              <a:rPr lang="en-US" sz="1000" b="1"/>
              <a:t>AI &amp; Innovation | Adoption, use case, performance, type questions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Facial recognition and authentication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Crowd control, incident response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Edge Compute capacity/ use cases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Predictive analytics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Revenue and operational savings (concessions demand, crowd flow, predictive maintenance)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err="1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481A67A-B6E9-7EBB-0F49-AF6273EFB832}"/>
              </a:ext>
            </a:extLst>
          </p:cNvPr>
          <p:cNvSpPr/>
          <p:nvPr/>
        </p:nvSpPr>
        <p:spPr>
          <a:xfrm>
            <a:off x="381000" y="3648634"/>
            <a:ext cx="11430000" cy="239656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r>
              <a:rPr lang="en-US" sz="1000" b="1"/>
              <a:t>Digital Services | Adoption, use case, performance, type questions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Integrated point of sale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Mobile Application integration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How integrated with fan experience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B2B tools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Advertising sponsors,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Ticketing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Customer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D8CD58-6D4E-459A-8E2A-DA2F4ABA0148}"/>
              </a:ext>
            </a:extLst>
          </p:cNvPr>
          <p:cNvSpPr/>
          <p:nvPr/>
        </p:nvSpPr>
        <p:spPr>
          <a:xfrm>
            <a:off x="10169969" y="416123"/>
            <a:ext cx="1024124" cy="1013748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3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F12144-3F9F-2DBB-D624-0A5DE9A3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FFF2-F7CE-6DC0-7103-28F25E799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571500"/>
          </a:xfrm>
        </p:spPr>
        <p:txBody>
          <a:bodyPr/>
          <a:lstStyle/>
          <a:p>
            <a:r>
              <a:rPr lang="en-US"/>
              <a:t>Business &amp; Operations Survey Insights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A4A9B642-D742-8EAB-D64A-07ED0656C317}"/>
              </a:ext>
            </a:extLst>
          </p:cNvPr>
          <p:cNvSpPr/>
          <p:nvPr/>
        </p:nvSpPr>
        <p:spPr>
          <a:xfrm>
            <a:off x="381000" y="1679948"/>
            <a:ext cx="3606800" cy="1465587"/>
          </a:xfrm>
          <a:prstGeom prst="roundRect">
            <a:avLst>
              <a:gd name="adj" fmla="val 5437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b="1" kern="0">
                <a:solidFill>
                  <a:schemeClr val="tx1"/>
                </a:solidFill>
                <a:latin typeface="Graphik" panose="020B0503030202060203" pitchFamily="34" charset="0"/>
              </a:rPr>
              <a:t>Stadium-Wide Wi-Fi 6/6E</a:t>
            </a:r>
          </a:p>
          <a:p>
            <a:pPr algn="ctr"/>
            <a:endParaRPr lang="en-US" sz="1200" b="1" kern="0">
              <a:solidFill>
                <a:schemeClr val="bg2">
                  <a:lumMod val="50000"/>
                </a:schemeClr>
              </a:solidFill>
              <a:latin typeface="Graphik" panose="020B0503030202060203" pitchFamily="34" charset="0"/>
            </a:endParaRPr>
          </a:p>
          <a:p>
            <a:pPr algn="ctr"/>
            <a:r>
              <a:rPr lang="en-US" sz="1200" b="1" kern="0">
                <a:solidFill>
                  <a:schemeClr val="bg2">
                    <a:lumMod val="50000"/>
                  </a:schemeClr>
                </a:solidFill>
                <a:latin typeface="Graphik" panose="020B0503030202060203" pitchFamily="34" charset="0"/>
              </a:rPr>
              <a:t>Direct Revenue Generation</a:t>
            </a:r>
            <a:endParaRPr lang="en-US" sz="1200" b="1" kern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BB6CDC7-8EF5-930F-5F3E-7AECB8BE9A8F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3337552"/>
          <a:ext cx="5653532" cy="2638043"/>
        </p:xfrm>
        <a:graphic>
          <a:graphicData uri="http://schemas.openxmlformats.org/drawingml/2006/table">
            <a:tbl>
              <a:tblPr/>
              <a:tblGrid>
                <a:gridCol w="1884511">
                  <a:extLst>
                    <a:ext uri="{9D8B030D-6E8A-4147-A177-3AD203B41FA5}">
                      <a16:colId xmlns:a16="http://schemas.microsoft.com/office/drawing/2014/main" val="1742645149"/>
                    </a:ext>
                  </a:extLst>
                </a:gridCol>
                <a:gridCol w="1293666">
                  <a:extLst>
                    <a:ext uri="{9D8B030D-6E8A-4147-A177-3AD203B41FA5}">
                      <a16:colId xmlns:a16="http://schemas.microsoft.com/office/drawing/2014/main" val="2417363212"/>
                    </a:ext>
                  </a:extLst>
                </a:gridCol>
                <a:gridCol w="2475355">
                  <a:extLst>
                    <a:ext uri="{9D8B030D-6E8A-4147-A177-3AD203B41FA5}">
                      <a16:colId xmlns:a16="http://schemas.microsoft.com/office/drawing/2014/main" val="1593958657"/>
                    </a:ext>
                  </a:extLst>
                </a:gridCol>
              </a:tblGrid>
              <a:tr h="425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Metric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Rating (1–5)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Rationale (short)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090284"/>
                  </a:ext>
                </a:extLst>
              </a:tr>
              <a:tr h="553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Incremental Revenue Potential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Drives mobile ordering, merch offers, seat upgrades at scale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68177"/>
                  </a:ext>
                </a:extLst>
              </a:tr>
              <a:tr h="553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Transaction Enablement Criticality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Not mandatory for POS, but vital for app-led purchases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561973"/>
                  </a:ext>
                </a:extLst>
              </a:tr>
              <a:tr h="553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Addressable Fan Reach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Impacts the vast majority of attendees with smartphones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13471"/>
                  </a:ext>
                </a:extLst>
              </a:tr>
              <a:tr h="553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Sponsor Monetization Uplift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Enables digital activations; incremental, not primary driver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04547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99CDB4F-EC0A-6066-9C50-1A35F2C9CB83}"/>
              </a:ext>
            </a:extLst>
          </p:cNvPr>
          <p:cNvGraphicFramePr>
            <a:graphicFrameLocks noGrp="1"/>
          </p:cNvGraphicFramePr>
          <p:nvPr/>
        </p:nvGraphicFramePr>
        <p:xfrm>
          <a:off x="6337300" y="3337552"/>
          <a:ext cx="5653533" cy="2638041"/>
        </p:xfrm>
        <a:graphic>
          <a:graphicData uri="http://schemas.openxmlformats.org/drawingml/2006/table">
            <a:tbl>
              <a:tblPr/>
              <a:tblGrid>
                <a:gridCol w="1549400">
                  <a:extLst>
                    <a:ext uri="{9D8B030D-6E8A-4147-A177-3AD203B41FA5}">
                      <a16:colId xmlns:a16="http://schemas.microsoft.com/office/drawing/2014/main" val="3682818736"/>
                    </a:ext>
                  </a:extLst>
                </a:gridCol>
                <a:gridCol w="1504416">
                  <a:extLst>
                    <a:ext uri="{9D8B030D-6E8A-4147-A177-3AD203B41FA5}">
                      <a16:colId xmlns:a16="http://schemas.microsoft.com/office/drawing/2014/main" val="3945265002"/>
                    </a:ext>
                  </a:extLst>
                </a:gridCol>
                <a:gridCol w="2599717">
                  <a:extLst>
                    <a:ext uri="{9D8B030D-6E8A-4147-A177-3AD203B41FA5}">
                      <a16:colId xmlns:a16="http://schemas.microsoft.com/office/drawing/2014/main" val="490244476"/>
                    </a:ext>
                  </a:extLst>
                </a:gridCol>
              </a:tblGrid>
              <a:tr h="419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Metric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Rating (1–5)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Rationale (short)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862639"/>
                  </a:ext>
                </a:extLst>
              </a:tr>
              <a:tr h="55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Cost Savings Potential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Cuts manual counts; optimizes staffing and routing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76242"/>
                  </a:ext>
                </a:extLst>
              </a:tr>
              <a:tr h="55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Automation/Substitution Level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Augments staff; partial automation of decisions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163767"/>
                  </a:ext>
                </a:extLst>
              </a:tr>
              <a:tr h="55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Incident/Downtime Avoidance Value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Early congestion/safety detection prevents delays/overtime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783959"/>
                  </a:ext>
                </a:extLst>
              </a:tr>
              <a:tr h="55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Resource Utilization Improvement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Improves gate allocation, concessions staffing, cleaning cycles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261636"/>
                  </a:ext>
                </a:extLst>
              </a:tr>
            </a:tbl>
          </a:graphicData>
        </a:graphic>
      </p:graphicFrame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1BA969DB-91FD-438F-3F2D-2A1ADFB86BB9}"/>
              </a:ext>
            </a:extLst>
          </p:cNvPr>
          <p:cNvSpPr/>
          <p:nvPr/>
        </p:nvSpPr>
        <p:spPr>
          <a:xfrm>
            <a:off x="6337300" y="1679948"/>
            <a:ext cx="3606800" cy="1465587"/>
          </a:xfrm>
          <a:prstGeom prst="roundRect">
            <a:avLst>
              <a:gd name="adj" fmla="val 5437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200" b="1" kern="0">
                <a:solidFill>
                  <a:schemeClr val="tx1"/>
                </a:solidFill>
                <a:latin typeface="Graphik" panose="020B0503030202060203" pitchFamily="34" charset="0"/>
              </a:rPr>
              <a:t>Computer-Vision &amp; Crowd Analytics (Cameras + Edge AI)</a:t>
            </a:r>
          </a:p>
          <a:p>
            <a:pPr algn="ctr"/>
            <a:endParaRPr lang="en-US" sz="1200" b="1" kern="0">
              <a:solidFill>
                <a:schemeClr val="bg2">
                  <a:lumMod val="50000"/>
                </a:schemeClr>
              </a:solidFill>
              <a:latin typeface="Graphik" panose="020B0503030202060203" pitchFamily="34" charset="0"/>
            </a:endParaRPr>
          </a:p>
          <a:p>
            <a:pPr algn="ctr"/>
            <a:r>
              <a:rPr lang="en-US" sz="1200" b="1" kern="0">
                <a:solidFill>
                  <a:schemeClr val="bg2">
                    <a:lumMod val="50000"/>
                  </a:schemeClr>
                </a:solidFill>
                <a:latin typeface="Graphik" panose="020B0503030202060203" pitchFamily="34" charset="0"/>
              </a:rPr>
              <a:t>Operational Efficiency &amp; Cost</a:t>
            </a:r>
            <a:endParaRPr lang="en-US" sz="1200" b="1" kern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60E29E44-65A7-E27A-544F-4B7F031389FF}"/>
              </a:ext>
            </a:extLst>
          </p:cNvPr>
          <p:cNvSpPr/>
          <p:nvPr/>
        </p:nvSpPr>
        <p:spPr>
          <a:xfrm>
            <a:off x="4078224" y="1679948"/>
            <a:ext cx="1956308" cy="1465587"/>
          </a:xfrm>
          <a:prstGeom prst="roundRect">
            <a:avLst>
              <a:gd name="adj" fmla="val 5437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3000" b="1" kern="0">
                <a:solidFill>
                  <a:schemeClr val="bg2">
                    <a:lumMod val="50000"/>
                  </a:schemeClr>
                </a:solidFill>
                <a:latin typeface="Graphik" panose="020B0503030202060203" pitchFamily="34" charset="0"/>
              </a:rPr>
              <a:t>4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61B4E135-09A3-F682-1731-59E7DA55FFE9}"/>
              </a:ext>
            </a:extLst>
          </p:cNvPr>
          <p:cNvSpPr/>
          <p:nvPr/>
        </p:nvSpPr>
        <p:spPr>
          <a:xfrm>
            <a:off x="10034525" y="1679948"/>
            <a:ext cx="1956308" cy="1465587"/>
          </a:xfrm>
          <a:prstGeom prst="roundRect">
            <a:avLst>
              <a:gd name="adj" fmla="val 5437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3000" b="1" kern="0">
                <a:solidFill>
                  <a:schemeClr val="bg2">
                    <a:lumMod val="50000"/>
                  </a:schemeClr>
                </a:solidFill>
                <a:latin typeface="Graphik" panose="020B0503030202060203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2456BF-8FC6-5764-B821-EE39AB962A96}"/>
              </a:ext>
            </a:extLst>
          </p:cNvPr>
          <p:cNvSpPr txBox="1"/>
          <p:nvPr/>
        </p:nvSpPr>
        <p:spPr>
          <a:xfrm>
            <a:off x="381000" y="863600"/>
            <a:ext cx="11430000" cy="7374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1400">
                <a:latin typeface="+mj-lt"/>
              </a:rPr>
              <a:t>We average the impact ratings in each bucket to create a unified score that reflects how strongly a capability supports that specific value area. Applying these scores across all buckets gives us a balanced assessment of the capability’s total business importance. This approach ensures we can objectively rank and prioritize technologies based on their true enterprise value.</a:t>
            </a:r>
          </a:p>
        </p:txBody>
      </p:sp>
    </p:spTree>
    <p:extLst>
      <p:ext uri="{BB962C8B-B14F-4D97-AF65-F5344CB8AC3E}">
        <p14:creationId xmlns:p14="http://schemas.microsoft.com/office/powerpoint/2010/main" val="10285249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5_Accenture 2020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9B8442824B424A9DF648E29676EC02" ma:contentTypeVersion="16" ma:contentTypeDescription="Create a new document." ma:contentTypeScope="" ma:versionID="7d99888dc72d541bc4efb721fd352536">
  <xsd:schema xmlns:xsd="http://www.w3.org/2001/XMLSchema" xmlns:xs="http://www.w3.org/2001/XMLSchema" xmlns:p="http://schemas.microsoft.com/office/2006/metadata/properties" xmlns:ns2="1efb543d-0e33-4cec-ae43-f5c3c5f80729" xmlns:ns3="9bbbbca1-e3e9-4b01-9899-80411ef6c58b" targetNamespace="http://schemas.microsoft.com/office/2006/metadata/properties" ma:root="true" ma:fieldsID="7c2a0f5e7615d6f8c61a1b23625ae1c3" ns2:_="" ns3:_="">
    <xsd:import namespace="1efb543d-0e33-4cec-ae43-f5c3c5f80729"/>
    <xsd:import namespace="9bbbbca1-e3e9-4b01-9899-80411ef6c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fb543d-0e33-4cec-ae43-f5c3c5f807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bbbca1-e3e9-4b01-9899-80411ef6c58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CCC3B8-DB39-47FD-BC00-1A33B16F7EB8}">
  <ds:schemaRefs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metadata/properties"/>
    <ds:schemaRef ds:uri="9bbbbca1-e3e9-4b01-9899-80411ef6c58b"/>
    <ds:schemaRef ds:uri="http://schemas.microsoft.com/office/2006/documentManagement/types"/>
    <ds:schemaRef ds:uri="http://schemas.openxmlformats.org/package/2006/metadata/core-properties"/>
    <ds:schemaRef ds:uri="1efb543d-0e33-4cec-ae43-f5c3c5f80729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E4EE7FD-F4CC-4265-8A82-39538B7655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9B9187-234C-4B85-93E2-D1108DD322F9}">
  <ds:schemaRefs>
    <ds:schemaRef ds:uri="1efb543d-0e33-4cec-ae43-f5c3c5f80729"/>
    <ds:schemaRef ds:uri="9bbbbca1-e3e9-4b01-9899-80411ef6c5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1360</TotalTime>
  <Words>3361</Words>
  <Application>Microsoft Macintosh PowerPoint</Application>
  <PresentationFormat>Widescreen</PresentationFormat>
  <Paragraphs>685</Paragraphs>
  <Slides>23</Slides>
  <Notes>11</Notes>
  <HiddenSlides>17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8" baseType="lpstr">
      <vt:lpstr>Aptos</vt:lpstr>
      <vt:lpstr>Arial</vt:lpstr>
      <vt:lpstr>Arial Black</vt:lpstr>
      <vt:lpstr>Avenir Next</vt:lpstr>
      <vt:lpstr>Calibri</vt:lpstr>
      <vt:lpstr>End Zone</vt:lpstr>
      <vt:lpstr>Graphik</vt:lpstr>
      <vt:lpstr>Graphik (Headings)</vt:lpstr>
      <vt:lpstr>Graphik Light</vt:lpstr>
      <vt:lpstr>Graphik Semibold</vt:lpstr>
      <vt:lpstr>Graphik-Light</vt:lpstr>
      <vt:lpstr>Segoe UI</vt:lpstr>
      <vt:lpstr>Wingdings</vt:lpstr>
      <vt:lpstr>5_Accenture 2020</vt:lpstr>
      <vt:lpstr>think-cell Slide</vt:lpstr>
      <vt:lpstr>PowerPoint Presentation</vt:lpstr>
      <vt:lpstr>Introducing the Team</vt:lpstr>
      <vt:lpstr>Stadium Technology Scorecard | Phase 2 Project Scope &amp; Opportunity Areas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Survey Development Business &amp; Operations Survey Insights</vt:lpstr>
      <vt:lpstr>Voice of the Fan Data</vt:lpstr>
      <vt:lpstr>Illustrative update to Scoring Weights</vt:lpstr>
      <vt:lpstr>Illustrative Survey Questions</vt:lpstr>
      <vt:lpstr>Next Steps</vt:lpstr>
      <vt:lpstr>Phase 2: Moving from Manual, Subjective Scoring to Automated, Defensible Benchmarking</vt:lpstr>
      <vt:lpstr>PowerPoint Presentation</vt:lpstr>
      <vt:lpstr>Phase 2 Roadmap</vt:lpstr>
      <vt:lpstr>PowerPoint Presentation</vt:lpstr>
      <vt:lpstr>Phase 2 Details</vt:lpstr>
      <vt:lpstr>Phase 2 Scope Overview</vt:lpstr>
      <vt:lpstr>PowerPoint Presentation</vt:lpstr>
      <vt:lpstr>PowerPoint Presentation</vt:lpstr>
      <vt:lpstr>Business &amp; Operations Survey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McConnell, Kieran</dc:creator>
  <cp:lastModifiedBy>Treiber III, Robert</cp:lastModifiedBy>
  <cp:revision>2</cp:revision>
  <dcterms:created xsi:type="dcterms:W3CDTF">2026-02-16T20:53:12Z</dcterms:created>
  <dcterms:modified xsi:type="dcterms:W3CDTF">2026-03-25T17:59:17Z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0x010100109B8442824B424A9DF648E29676EC02</vt:lpwstr>
  </property>
</Properties>
</file>